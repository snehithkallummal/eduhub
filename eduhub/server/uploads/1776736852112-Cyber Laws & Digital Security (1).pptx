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embeddedFontLst>
    <p:embeddedFont>
      <p:font typeface="Liter" charset="-122" pitchFamily="34"/>
      <p:regular r:id="rId20"/>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font" Target="fonts/font1.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pic>
        <p:nvPicPr>
          <p:cNvPr id="2" name="Image 0" descr="https://kimi-web-img.moonshot.cn/img/www.shutterstock.com/bda7dcf459e8605fdb085062adee7ae3fe6e89fb.jpg">    </p:cNvPr>
          <p:cNvPicPr>
            <a:picLocks noChangeAspect="1"/>
          </p:cNvPicPr>
          <p:nvPr/>
        </p:nvPicPr>
        <p:blipFill>
          <a:blip r:embed="rId1">
            <a:alphaModFix amt="40000"/>
          </a:blip>
          <a:srcRect l="0" r="0" t="30312" b="30313"/>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000000"/>
              </a:gs>
              <a:gs pos="50000">
                <a:srgbClr val="000000">
                  <a:alpha val="80000"/>
                </a:srgbClr>
              </a:gs>
              <a:gs pos="100000">
                <a:srgbClr val="000000">
                  <a:alpha val="0"/>
                </a:srgbClr>
              </a:gs>
            </a:gsLst>
            <a:lin ang="2700000" scaled="1"/>
          </a:gradFill>
          <a:ln/>
        </p:spPr>
      </p:sp>
      <p:sp>
        <p:nvSpPr>
          <p:cNvPr id="4" name="Shape 1"/>
          <p:cNvSpPr/>
          <p:nvPr/>
        </p:nvSpPr>
        <p:spPr>
          <a:xfrm>
            <a:off x="336459" y="714375"/>
            <a:ext cx="3467100" cy="419100"/>
          </a:xfrm>
          <a:custGeom>
            <a:avLst/>
            <a:gdLst/>
            <a:ahLst/>
            <a:cxnLst/>
            <a:rect l="l" t="t" r="r" b="b"/>
            <a:pathLst>
              <a:path w="3467100" h="419100">
                <a:moveTo>
                  <a:pt x="0" y="0"/>
                </a:moveTo>
                <a:lnTo>
                  <a:pt x="3467100" y="0"/>
                </a:lnTo>
                <a:lnTo>
                  <a:pt x="3467100" y="419100"/>
                </a:lnTo>
                <a:lnTo>
                  <a:pt x="0" y="419100"/>
                </a:lnTo>
                <a:lnTo>
                  <a:pt x="0" y="0"/>
                </a:lnTo>
                <a:close/>
              </a:path>
            </a:pathLst>
          </a:custGeom>
          <a:solidFill>
            <a:srgbClr val="DDFF00"/>
          </a:solidFill>
          <a:ln/>
        </p:spPr>
      </p:sp>
      <p:sp>
        <p:nvSpPr>
          <p:cNvPr id="5" name="Text 2"/>
          <p:cNvSpPr/>
          <p:nvPr/>
        </p:nvSpPr>
        <p:spPr>
          <a:xfrm>
            <a:off x="609600" y="790575"/>
            <a:ext cx="3105150" cy="266700"/>
          </a:xfrm>
          <a:prstGeom prst="rect">
            <a:avLst/>
          </a:prstGeom>
          <a:noFill/>
          <a:ln/>
        </p:spPr>
        <p:txBody>
          <a:bodyPr wrap="square" lIns="0" tIns="0" rIns="0" bIns="0" rtlCol="0" anchor="ctr"/>
          <a:lstStyle/>
          <a:p>
            <a:pPr>
              <a:lnSpc>
                <a:spcPct val="120000"/>
              </a:lnSpc>
            </a:pPr>
            <a:r>
              <a:rPr lang="en-US" sz="1500" b="1" spc="150" kern="0" dirty="0">
                <a:solidFill>
                  <a:srgbClr val="000000"/>
                </a:solidFill>
                <a:latin typeface="Liter" pitchFamily="34" charset="0"/>
                <a:ea typeface="Liter" pitchFamily="34" charset="-122"/>
                <a:cs typeface="Liter" pitchFamily="34" charset="-120"/>
              </a:rPr>
              <a:t>DIGITAL LEGAL FRAMEWORK</a:t>
            </a:r>
            <a:endParaRPr lang="en-US" sz="1600" dirty="0"/>
          </a:p>
        </p:txBody>
      </p:sp>
      <p:sp>
        <p:nvSpPr>
          <p:cNvPr id="6" name="Text 3"/>
          <p:cNvSpPr/>
          <p:nvPr/>
        </p:nvSpPr>
        <p:spPr>
          <a:xfrm>
            <a:off x="381000" y="1438275"/>
            <a:ext cx="11887200" cy="2743200"/>
          </a:xfrm>
          <a:prstGeom prst="rect">
            <a:avLst/>
          </a:prstGeom>
          <a:noFill/>
          <a:ln/>
        </p:spPr>
        <p:txBody>
          <a:bodyPr wrap="square" lIns="0" tIns="0" rIns="0" bIns="0" rtlCol="0" anchor="ctr"/>
          <a:lstStyle/>
          <a:p>
            <a:pPr>
              <a:lnSpc>
                <a:spcPct val="80000"/>
              </a:lnSpc>
            </a:pPr>
            <a:r>
              <a:rPr lang="en-US" sz="7200" b="1" dirty="0">
                <a:solidFill>
                  <a:srgbClr val="FFFFFF"/>
                </a:solidFill>
                <a:latin typeface="Liter" pitchFamily="34" charset="0"/>
                <a:ea typeface="Liter" pitchFamily="34" charset="-122"/>
                <a:cs typeface="Liter" pitchFamily="34" charset="-120"/>
              </a:rPr>
              <a:t>Cyber Laws</a:t>
            </a:r>
            <a:endParaRPr lang="en-US" sz="1600" dirty="0"/>
          </a:p>
          <a:p>
            <a:pPr>
              <a:lnSpc>
                <a:spcPct val="80000"/>
              </a:lnSpc>
            </a:pPr>
            <a:r>
              <a:rPr lang="en-US" sz="7200" b="1" dirty="0">
                <a:solidFill>
                  <a:srgbClr val="DDFF00"/>
                </a:solidFill>
                <a:latin typeface="Liter" pitchFamily="34" charset="0"/>
                <a:ea typeface="Liter" pitchFamily="34" charset="-122"/>
                <a:cs typeface="Liter" pitchFamily="34" charset="-120"/>
              </a:rPr>
              <a:t>&amp; Digital</a:t>
            </a:r>
            <a:endParaRPr lang="en-US" sz="1600" dirty="0"/>
          </a:p>
          <a:p>
            <a:pPr>
              <a:lnSpc>
                <a:spcPct val="80000"/>
              </a:lnSpc>
            </a:pPr>
            <a:r>
              <a:rPr lang="en-US" sz="7200" b="1" dirty="0">
                <a:solidFill>
                  <a:srgbClr val="FFFFFF"/>
                </a:solidFill>
                <a:latin typeface="Liter" pitchFamily="34" charset="0"/>
                <a:ea typeface="Liter" pitchFamily="34" charset="-122"/>
                <a:cs typeface="Liter" pitchFamily="34" charset="-120"/>
              </a:rPr>
              <a:t>Security</a:t>
            </a:r>
            <a:endParaRPr lang="en-US" sz="1600" dirty="0"/>
          </a:p>
        </p:txBody>
      </p:sp>
      <p:sp>
        <p:nvSpPr>
          <p:cNvPr id="7" name="Shape 4"/>
          <p:cNvSpPr/>
          <p:nvPr/>
        </p:nvSpPr>
        <p:spPr>
          <a:xfrm>
            <a:off x="381000" y="4410075"/>
            <a:ext cx="1219200" cy="76200"/>
          </a:xfrm>
          <a:custGeom>
            <a:avLst/>
            <a:gdLst/>
            <a:ahLst/>
            <a:cxnLst/>
            <a:rect l="l" t="t" r="r" b="b"/>
            <a:pathLst>
              <a:path w="1219200" h="76200">
                <a:moveTo>
                  <a:pt x="0" y="0"/>
                </a:moveTo>
                <a:lnTo>
                  <a:pt x="1219200" y="0"/>
                </a:lnTo>
                <a:lnTo>
                  <a:pt x="1219200" y="76200"/>
                </a:lnTo>
                <a:lnTo>
                  <a:pt x="0" y="76200"/>
                </a:lnTo>
                <a:lnTo>
                  <a:pt x="0" y="0"/>
                </a:lnTo>
                <a:close/>
              </a:path>
            </a:pathLst>
          </a:custGeom>
          <a:solidFill>
            <a:srgbClr val="DDFF00"/>
          </a:solidFill>
          <a:ln/>
        </p:spPr>
      </p:sp>
      <p:sp>
        <p:nvSpPr>
          <p:cNvPr id="8" name="Text 5"/>
          <p:cNvSpPr/>
          <p:nvPr/>
        </p:nvSpPr>
        <p:spPr>
          <a:xfrm>
            <a:off x="381000" y="4791075"/>
            <a:ext cx="6515100" cy="742950"/>
          </a:xfrm>
          <a:prstGeom prst="rect">
            <a:avLst/>
          </a:prstGeom>
          <a:noFill/>
          <a:ln/>
        </p:spPr>
        <p:txBody>
          <a:bodyPr wrap="square" lIns="0" tIns="0" rIns="0" bIns="0" rtlCol="0" anchor="ctr"/>
          <a:lstStyle/>
          <a:p>
            <a:pPr>
              <a:lnSpc>
                <a:spcPct val="140000"/>
              </a:lnSpc>
            </a:pPr>
            <a:r>
              <a:rPr lang="en-US" sz="1800" dirty="0">
                <a:solidFill>
                  <a:srgbClr val="FFFFFF">
                    <a:alpha val="90000"/>
                  </a:srgbClr>
                </a:solidFill>
                <a:latin typeface="Liter" pitchFamily="34" charset="0"/>
                <a:ea typeface="Liter" pitchFamily="34" charset="-122"/>
                <a:cs typeface="Liter" pitchFamily="34" charset="-120"/>
              </a:rPr>
              <a:t>A Comprehensive Guide to Cyber Laws, Cyber Crimes,</a:t>
            </a:r>
            <a:endParaRPr lang="en-US" sz="1600" dirty="0"/>
          </a:p>
          <a:p>
            <a:pPr>
              <a:lnSpc>
                <a:spcPct val="140000"/>
              </a:lnSpc>
            </a:pPr>
            <a:r>
              <a:rPr lang="en-US" sz="1800" dirty="0">
                <a:solidFill>
                  <a:srgbClr val="FFFFFF">
                    <a:alpha val="90000"/>
                  </a:srgbClr>
                </a:solidFill>
                <a:latin typeface="Liter" pitchFamily="34" charset="0"/>
                <a:ea typeface="Liter" pitchFamily="34" charset="-122"/>
                <a:cs typeface="Liter" pitchFamily="34" charset="-120"/>
              </a:rPr>
              <a:t>and E-Commerce Regulations</a:t>
            </a:r>
            <a:endParaRPr lang="en-US" sz="1600" dirty="0"/>
          </a:p>
        </p:txBody>
      </p:sp>
      <p:sp>
        <p:nvSpPr>
          <p:cNvPr id="9" name="Shape 6"/>
          <p:cNvSpPr/>
          <p:nvPr/>
        </p:nvSpPr>
        <p:spPr>
          <a:xfrm rot="720000">
            <a:off x="324289" y="5810689"/>
            <a:ext cx="609600" cy="609600"/>
          </a:xfrm>
          <a:custGeom>
            <a:avLst/>
            <a:gdLst/>
            <a:ahLst/>
            <a:cxnLst/>
            <a:rect l="l" t="t" r="r" b="b"/>
            <a:pathLst>
              <a:path w="609600" h="609600">
                <a:moveTo>
                  <a:pt x="0" y="0"/>
                </a:moveTo>
                <a:lnTo>
                  <a:pt x="609600" y="0"/>
                </a:lnTo>
                <a:lnTo>
                  <a:pt x="609600" y="609600"/>
                </a:lnTo>
                <a:lnTo>
                  <a:pt x="0" y="609600"/>
                </a:lnTo>
                <a:lnTo>
                  <a:pt x="0" y="0"/>
                </a:lnTo>
                <a:close/>
              </a:path>
            </a:pathLst>
          </a:custGeom>
          <a:solidFill>
            <a:srgbClr val="DDFF00"/>
          </a:solidFill>
          <a:ln/>
        </p:spPr>
      </p:sp>
      <p:sp>
        <p:nvSpPr>
          <p:cNvPr id="10" name="Shape 7"/>
          <p:cNvSpPr/>
          <p:nvPr/>
        </p:nvSpPr>
        <p:spPr>
          <a:xfrm>
            <a:off x="545306" y="6029325"/>
            <a:ext cx="285750" cy="285750"/>
          </a:xfrm>
          <a:custGeom>
            <a:avLst/>
            <a:gdLst/>
            <a:ahLst/>
            <a:cxnLst/>
            <a:rect l="l" t="t" r="r" b="b"/>
            <a:pathLst>
              <a:path w="285750" h="285750">
                <a:moveTo>
                  <a:pt x="142875" y="0"/>
                </a:moveTo>
                <a:cubicBezTo>
                  <a:pt x="145442" y="0"/>
                  <a:pt x="148010" y="558"/>
                  <a:pt x="150354" y="1619"/>
                </a:cubicBezTo>
                <a:lnTo>
                  <a:pt x="255501" y="46211"/>
                </a:lnTo>
                <a:cubicBezTo>
                  <a:pt x="267779" y="51402"/>
                  <a:pt x="276932" y="63512"/>
                  <a:pt x="276876" y="78135"/>
                </a:cubicBezTo>
                <a:cubicBezTo>
                  <a:pt x="276597" y="133499"/>
                  <a:pt x="253826" y="234795"/>
                  <a:pt x="157665" y="280839"/>
                </a:cubicBezTo>
                <a:cubicBezTo>
                  <a:pt x="148344" y="285304"/>
                  <a:pt x="137517" y="285304"/>
                  <a:pt x="128197" y="280839"/>
                </a:cubicBezTo>
                <a:cubicBezTo>
                  <a:pt x="31979" y="234795"/>
                  <a:pt x="9265" y="133499"/>
                  <a:pt x="8985" y="78135"/>
                </a:cubicBezTo>
                <a:cubicBezTo>
                  <a:pt x="8930" y="63512"/>
                  <a:pt x="18083" y="51402"/>
                  <a:pt x="30361" y="46211"/>
                </a:cubicBezTo>
                <a:lnTo>
                  <a:pt x="135452" y="1619"/>
                </a:lnTo>
                <a:cubicBezTo>
                  <a:pt x="137796" y="558"/>
                  <a:pt x="140308" y="0"/>
                  <a:pt x="142875" y="0"/>
                </a:cubicBezTo>
                <a:close/>
                <a:moveTo>
                  <a:pt x="142875" y="37281"/>
                </a:moveTo>
                <a:lnTo>
                  <a:pt x="142875" y="248301"/>
                </a:lnTo>
                <a:cubicBezTo>
                  <a:pt x="219894" y="211020"/>
                  <a:pt x="240599" y="128420"/>
                  <a:pt x="241102" y="78972"/>
                </a:cubicBezTo>
                <a:lnTo>
                  <a:pt x="142875" y="37337"/>
                </a:lnTo>
                <a:lnTo>
                  <a:pt x="142875" y="37337"/>
                </a:lnTo>
                <a:close/>
              </a:path>
            </a:pathLst>
          </a:custGeom>
          <a:solidFill>
            <a:srgbClr val="000000"/>
          </a:solidFill>
          <a:ln/>
        </p:spPr>
      </p:sp>
      <p:sp>
        <p:nvSpPr>
          <p:cNvPr id="11" name="Text 8"/>
          <p:cNvSpPr/>
          <p:nvPr/>
        </p:nvSpPr>
        <p:spPr>
          <a:xfrm>
            <a:off x="1143000" y="5943600"/>
            <a:ext cx="1752600" cy="266700"/>
          </a:xfrm>
          <a:prstGeom prst="rect">
            <a:avLst/>
          </a:prstGeom>
          <a:noFill/>
          <a:ln/>
        </p:spPr>
        <p:txBody>
          <a:bodyPr wrap="square" lIns="0" tIns="0" rIns="0" bIns="0" rtlCol="0" anchor="ctr"/>
          <a:lstStyle/>
          <a:p>
            <a:pPr>
              <a:lnSpc>
                <a:spcPct val="130000"/>
              </a:lnSpc>
            </a:pPr>
            <a:r>
              <a:rPr lang="en-US" sz="1350" b="1" dirty="0">
                <a:solidFill>
                  <a:srgbClr val="DDFF00"/>
                </a:solidFill>
                <a:latin typeface="Liter" pitchFamily="34" charset="0"/>
                <a:ea typeface="Liter" pitchFamily="34" charset="-122"/>
                <a:cs typeface="Liter" pitchFamily="34" charset="-120"/>
              </a:rPr>
              <a:t>PROTECT</a:t>
            </a:r>
            <a:endParaRPr lang="en-US" sz="1600" dirty="0"/>
          </a:p>
        </p:txBody>
      </p:sp>
      <p:sp>
        <p:nvSpPr>
          <p:cNvPr id="12" name="Text 9"/>
          <p:cNvSpPr/>
          <p:nvPr/>
        </p:nvSpPr>
        <p:spPr>
          <a:xfrm>
            <a:off x="1143000" y="6210300"/>
            <a:ext cx="1733550" cy="190500"/>
          </a:xfrm>
          <a:prstGeom prst="rect">
            <a:avLst/>
          </a:prstGeom>
          <a:noFill/>
          <a:ln/>
        </p:spPr>
        <p:txBody>
          <a:bodyPr wrap="square" lIns="0" tIns="0" rIns="0" bIns="0" rtlCol="0" anchor="ctr"/>
          <a:lstStyle/>
          <a:p>
            <a:pPr>
              <a:lnSpc>
                <a:spcPct val="120000"/>
              </a:lnSpc>
            </a:pPr>
            <a:r>
              <a:rPr lang="en-US" sz="1050" dirty="0">
                <a:solidFill>
                  <a:srgbClr val="FFFFFF">
                    <a:alpha val="70000"/>
                  </a:srgbClr>
                </a:solidFill>
                <a:latin typeface="Liter" pitchFamily="34" charset="0"/>
                <a:ea typeface="Liter" pitchFamily="34" charset="-122"/>
                <a:cs typeface="Liter" pitchFamily="34" charset="-120"/>
              </a:rPr>
              <a:t>SECURE • COMPLY • GROW</a:t>
            </a:r>
            <a:endParaRPr lang="en-US" sz="1600" dirty="0"/>
          </a:p>
        </p:txBody>
      </p:sp>
      <p:sp>
        <p:nvSpPr>
          <p:cNvPr id="13" name="Text 10"/>
          <p:cNvSpPr/>
          <p:nvPr/>
        </p:nvSpPr>
        <p:spPr>
          <a:xfrm>
            <a:off x="11424524" y="6286500"/>
            <a:ext cx="390525" cy="190500"/>
          </a:xfrm>
          <a:prstGeom prst="rect">
            <a:avLst/>
          </a:prstGeom>
          <a:noFill/>
          <a:ln/>
        </p:spPr>
        <p:txBody>
          <a:bodyPr wrap="square" lIns="0" tIns="0" rIns="0" bIns="0" rtlCol="0" anchor="ctr"/>
          <a:lstStyle/>
          <a:p>
            <a:pPr algn="r">
              <a:lnSpc>
                <a:spcPct val="120000"/>
              </a:lnSpc>
            </a:pPr>
            <a:r>
              <a:rPr lang="en-US" sz="1050" dirty="0">
                <a:solidFill>
                  <a:srgbClr val="FFFFFF">
                    <a:alpha val="50000"/>
                  </a:srgbClr>
                </a:solidFill>
                <a:latin typeface="Liter" pitchFamily="34" charset="0"/>
                <a:ea typeface="Liter" pitchFamily="34" charset="-122"/>
                <a:cs typeface="Liter" pitchFamily="34" charset="-120"/>
              </a:rPr>
              <a:t>2026</a:t>
            </a:r>
            <a:endParaRPr lang="en-US" sz="1600" dirty="0"/>
          </a:p>
        </p:txBody>
      </p:sp>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81000" y="476250"/>
            <a:ext cx="76200" cy="457200"/>
          </a:xfrm>
          <a:custGeom>
            <a:avLst/>
            <a:gdLst/>
            <a:ahLst/>
            <a:cxnLst/>
            <a:rect l="l" t="t" r="r" b="b"/>
            <a:pathLst>
              <a:path w="76200" h="457200">
                <a:moveTo>
                  <a:pt x="0" y="0"/>
                </a:moveTo>
                <a:lnTo>
                  <a:pt x="76200" y="0"/>
                </a:lnTo>
                <a:lnTo>
                  <a:pt x="76200" y="457200"/>
                </a:lnTo>
                <a:lnTo>
                  <a:pt x="0" y="457200"/>
                </a:lnTo>
                <a:lnTo>
                  <a:pt x="0" y="0"/>
                </a:lnTo>
                <a:close/>
              </a:path>
            </a:pathLst>
          </a:custGeom>
          <a:solidFill>
            <a:srgbClr val="DDFF00"/>
          </a:solidFill>
          <a:ln/>
        </p:spPr>
      </p:sp>
      <p:sp>
        <p:nvSpPr>
          <p:cNvPr id="3" name="Text 1"/>
          <p:cNvSpPr/>
          <p:nvPr/>
        </p:nvSpPr>
        <p:spPr>
          <a:xfrm>
            <a:off x="609600" y="381000"/>
            <a:ext cx="5486400" cy="190500"/>
          </a:xfrm>
          <a:prstGeom prst="rect">
            <a:avLst/>
          </a:prstGeom>
          <a:noFill/>
          <a:ln/>
        </p:spPr>
        <p:txBody>
          <a:bodyPr wrap="square" lIns="0" tIns="0" rIns="0" bIns="0" rtlCol="0" anchor="ctr"/>
          <a:lstStyle/>
          <a:p>
            <a:pPr>
              <a:lnSpc>
                <a:spcPct val="120000"/>
              </a:lnSpc>
            </a:pPr>
            <a:r>
              <a:rPr lang="en-US" sz="1050" b="1" spc="105" kern="0" dirty="0">
                <a:solidFill>
                  <a:srgbClr val="DDFF00"/>
                </a:solidFill>
                <a:latin typeface="Liter" pitchFamily="34" charset="0"/>
                <a:ea typeface="Liter" pitchFamily="34" charset="-122"/>
                <a:cs typeface="Liter" pitchFamily="34" charset="-120"/>
              </a:rPr>
              <a:t>CHAPTER 01</a:t>
            </a:r>
            <a:endParaRPr lang="en-US" sz="1600" dirty="0"/>
          </a:p>
        </p:txBody>
      </p:sp>
      <p:sp>
        <p:nvSpPr>
          <p:cNvPr id="4" name="Text 2"/>
          <p:cNvSpPr/>
          <p:nvPr/>
        </p:nvSpPr>
        <p:spPr>
          <a:xfrm>
            <a:off x="609600" y="571500"/>
            <a:ext cx="5648325" cy="457200"/>
          </a:xfrm>
          <a:prstGeom prst="rect">
            <a:avLst/>
          </a:prstGeom>
          <a:noFill/>
          <a:ln/>
        </p:spPr>
        <p:txBody>
          <a:bodyPr wrap="square" lIns="0" tIns="0" rIns="0" bIns="0" rtlCol="0" anchor="ctr"/>
          <a:lstStyle/>
          <a:p>
            <a:pPr>
              <a:lnSpc>
                <a:spcPct val="80000"/>
              </a:lnSpc>
            </a:pPr>
            <a:r>
              <a:rPr lang="en-US" sz="3600" b="1" dirty="0">
                <a:solidFill>
                  <a:srgbClr val="FFFFFF"/>
                </a:solidFill>
                <a:latin typeface="Liter" pitchFamily="34" charset="0"/>
                <a:ea typeface="Liter" pitchFamily="34" charset="-122"/>
                <a:cs typeface="Liter" pitchFamily="34" charset="-120"/>
              </a:rPr>
              <a:t>Introduction to Cyber Laws</a:t>
            </a:r>
            <a:endParaRPr lang="en-US" sz="1600" dirty="0"/>
          </a:p>
        </p:txBody>
      </p:sp>
      <p:sp>
        <p:nvSpPr>
          <p:cNvPr id="5" name="Shape 3"/>
          <p:cNvSpPr/>
          <p:nvPr/>
        </p:nvSpPr>
        <p:spPr>
          <a:xfrm>
            <a:off x="400050" y="1333500"/>
            <a:ext cx="5581650" cy="1257300"/>
          </a:xfrm>
          <a:custGeom>
            <a:avLst/>
            <a:gdLst/>
            <a:ahLst/>
            <a:cxnLst/>
            <a:rect l="l" t="t" r="r" b="b"/>
            <a:pathLst>
              <a:path w="5581650" h="1257300">
                <a:moveTo>
                  <a:pt x="0" y="0"/>
                </a:moveTo>
                <a:lnTo>
                  <a:pt x="5581650" y="0"/>
                </a:lnTo>
                <a:lnTo>
                  <a:pt x="5581650" y="1257300"/>
                </a:lnTo>
                <a:lnTo>
                  <a:pt x="0" y="1257300"/>
                </a:lnTo>
                <a:lnTo>
                  <a:pt x="0" y="0"/>
                </a:lnTo>
                <a:close/>
              </a:path>
            </a:pathLst>
          </a:custGeom>
          <a:solidFill>
            <a:srgbClr val="111111"/>
          </a:solidFill>
          <a:ln/>
        </p:spPr>
      </p:sp>
      <p:sp>
        <p:nvSpPr>
          <p:cNvPr id="6" name="Shape 4"/>
          <p:cNvSpPr/>
          <p:nvPr/>
        </p:nvSpPr>
        <p:spPr>
          <a:xfrm>
            <a:off x="400050" y="1333500"/>
            <a:ext cx="38100" cy="1257300"/>
          </a:xfrm>
          <a:custGeom>
            <a:avLst/>
            <a:gdLst/>
            <a:ahLst/>
            <a:cxnLst/>
            <a:rect l="l" t="t" r="r" b="b"/>
            <a:pathLst>
              <a:path w="38100" h="1257300">
                <a:moveTo>
                  <a:pt x="0" y="0"/>
                </a:moveTo>
                <a:lnTo>
                  <a:pt x="38100" y="0"/>
                </a:lnTo>
                <a:lnTo>
                  <a:pt x="38100" y="1257300"/>
                </a:lnTo>
                <a:lnTo>
                  <a:pt x="0" y="1257300"/>
                </a:lnTo>
                <a:lnTo>
                  <a:pt x="0" y="0"/>
                </a:lnTo>
                <a:close/>
              </a:path>
            </a:pathLst>
          </a:custGeom>
          <a:solidFill>
            <a:srgbClr val="DDFF00"/>
          </a:solidFill>
          <a:ln/>
        </p:spPr>
      </p:sp>
      <p:sp>
        <p:nvSpPr>
          <p:cNvPr id="7" name="Shape 5"/>
          <p:cNvSpPr/>
          <p:nvPr/>
        </p:nvSpPr>
        <p:spPr>
          <a:xfrm>
            <a:off x="621506" y="1562100"/>
            <a:ext cx="214313" cy="190500"/>
          </a:xfrm>
          <a:custGeom>
            <a:avLst/>
            <a:gdLst/>
            <a:ahLst/>
            <a:cxnLst/>
            <a:rect l="l" t="t" r="r" b="b"/>
            <a:pathLst>
              <a:path w="214313" h="190500">
                <a:moveTo>
                  <a:pt x="63103" y="57076"/>
                </a:moveTo>
                <a:lnTo>
                  <a:pt x="56145" y="50118"/>
                </a:lnTo>
                <a:cubicBezTo>
                  <a:pt x="51495" y="45467"/>
                  <a:pt x="51495" y="37914"/>
                  <a:pt x="56145" y="33263"/>
                </a:cubicBezTo>
                <a:lnTo>
                  <a:pt x="98822" y="-9451"/>
                </a:lnTo>
                <a:cubicBezTo>
                  <a:pt x="103473" y="-14101"/>
                  <a:pt x="111026" y="-14101"/>
                  <a:pt x="115677" y="-9451"/>
                </a:cubicBezTo>
                <a:lnTo>
                  <a:pt x="122634" y="-2456"/>
                </a:lnTo>
                <a:cubicBezTo>
                  <a:pt x="127285" y="2195"/>
                  <a:pt x="127285" y="9748"/>
                  <a:pt x="122634" y="14399"/>
                </a:cubicBezTo>
                <a:lnTo>
                  <a:pt x="79958" y="57076"/>
                </a:lnTo>
                <a:cubicBezTo>
                  <a:pt x="75307" y="61726"/>
                  <a:pt x="67754" y="61726"/>
                  <a:pt x="63103" y="57076"/>
                </a:cubicBezTo>
                <a:close/>
                <a:moveTo>
                  <a:pt x="102691" y="78767"/>
                </a:moveTo>
                <a:lnTo>
                  <a:pt x="91008" y="67084"/>
                </a:lnTo>
                <a:lnTo>
                  <a:pt x="132680" y="25412"/>
                </a:lnTo>
                <a:lnTo>
                  <a:pt x="177105" y="69838"/>
                </a:lnTo>
                <a:lnTo>
                  <a:pt x="135434" y="111509"/>
                </a:lnTo>
                <a:lnTo>
                  <a:pt x="123751" y="99826"/>
                </a:lnTo>
                <a:lnTo>
                  <a:pt x="37430" y="186147"/>
                </a:lnTo>
                <a:cubicBezTo>
                  <a:pt x="31626" y="191951"/>
                  <a:pt x="22213" y="191951"/>
                  <a:pt x="16371" y="186147"/>
                </a:cubicBezTo>
                <a:cubicBezTo>
                  <a:pt x="10530" y="180342"/>
                  <a:pt x="10567" y="170929"/>
                  <a:pt x="16371" y="165088"/>
                </a:cubicBezTo>
                <a:lnTo>
                  <a:pt x="102691" y="78767"/>
                </a:lnTo>
                <a:close/>
                <a:moveTo>
                  <a:pt x="145442" y="139378"/>
                </a:moveTo>
                <a:cubicBezTo>
                  <a:pt x="140791" y="134727"/>
                  <a:pt x="140791" y="127174"/>
                  <a:pt x="145442" y="122523"/>
                </a:cubicBezTo>
                <a:lnTo>
                  <a:pt x="188119" y="79846"/>
                </a:lnTo>
                <a:cubicBezTo>
                  <a:pt x="192770" y="75195"/>
                  <a:pt x="200323" y="75195"/>
                  <a:pt x="204974" y="79846"/>
                </a:cubicBezTo>
                <a:lnTo>
                  <a:pt x="211931" y="86804"/>
                </a:lnTo>
                <a:cubicBezTo>
                  <a:pt x="216582" y="91455"/>
                  <a:pt x="216582" y="99008"/>
                  <a:pt x="211931" y="103659"/>
                </a:cubicBezTo>
                <a:lnTo>
                  <a:pt x="169255" y="146372"/>
                </a:lnTo>
                <a:cubicBezTo>
                  <a:pt x="164604" y="151023"/>
                  <a:pt x="157051" y="151023"/>
                  <a:pt x="152400" y="146372"/>
                </a:cubicBezTo>
                <a:lnTo>
                  <a:pt x="145442" y="139415"/>
                </a:lnTo>
                <a:close/>
              </a:path>
            </a:pathLst>
          </a:custGeom>
          <a:solidFill>
            <a:srgbClr val="DDFF00"/>
          </a:solidFill>
          <a:ln/>
        </p:spPr>
      </p:sp>
      <p:sp>
        <p:nvSpPr>
          <p:cNvPr id="8" name="Text 6"/>
          <p:cNvSpPr/>
          <p:nvPr/>
        </p:nvSpPr>
        <p:spPr>
          <a:xfrm>
            <a:off x="847725" y="1524000"/>
            <a:ext cx="5038725" cy="266700"/>
          </a:xfrm>
          <a:prstGeom prst="rect">
            <a:avLst/>
          </a:prstGeom>
          <a:noFill/>
          <a:ln/>
        </p:spPr>
        <p:txBody>
          <a:bodyPr wrap="square" lIns="0" tIns="0" rIns="0" bIns="0" rtlCol="0" anchor="ctr"/>
          <a:lstStyle/>
          <a:p>
            <a:pPr>
              <a:lnSpc>
                <a:spcPct val="120000"/>
              </a:lnSpc>
            </a:pPr>
            <a:r>
              <a:rPr lang="en-US" sz="1500" b="1" dirty="0">
                <a:solidFill>
                  <a:srgbClr val="DDFF00"/>
                </a:solidFill>
                <a:latin typeface="Liter" pitchFamily="34" charset="0"/>
                <a:ea typeface="Liter" pitchFamily="34" charset="-122"/>
                <a:cs typeface="Liter" pitchFamily="34" charset="-120"/>
              </a:rPr>
              <a:t>What Are Cyber Laws?</a:t>
            </a:r>
            <a:endParaRPr lang="en-US" sz="1600" dirty="0"/>
          </a:p>
        </p:txBody>
      </p:sp>
      <p:sp>
        <p:nvSpPr>
          <p:cNvPr id="9" name="Text 7"/>
          <p:cNvSpPr/>
          <p:nvPr/>
        </p:nvSpPr>
        <p:spPr>
          <a:xfrm>
            <a:off x="609600" y="1905000"/>
            <a:ext cx="5257800" cy="495300"/>
          </a:xfrm>
          <a:prstGeom prst="rect">
            <a:avLst/>
          </a:prstGeom>
          <a:noFill/>
          <a:ln/>
        </p:spPr>
        <p:txBody>
          <a:bodyPr wrap="square" lIns="0" tIns="0" rIns="0" bIns="0" rtlCol="0" anchor="ctr"/>
          <a:lstStyle/>
          <a:p>
            <a:pPr>
              <a:lnSpc>
                <a:spcPct val="140000"/>
              </a:lnSpc>
            </a:pPr>
            <a:r>
              <a:rPr lang="en-US" sz="1200" dirty="0">
                <a:solidFill>
                  <a:srgbClr val="FFFFFF">
                    <a:alpha val="90000"/>
                  </a:srgbClr>
                </a:solidFill>
                <a:latin typeface="Liter" pitchFamily="34" charset="0"/>
                <a:ea typeface="Liter" pitchFamily="34" charset="-122"/>
                <a:cs typeface="Liter" pitchFamily="34" charset="-120"/>
              </a:rPr>
              <a:t>Cyber Laws refer to the </a:t>
            </a:r>
            <a:pPr>
              <a:lnSpc>
                <a:spcPct val="140000"/>
              </a:lnSpc>
            </a:pPr>
            <a:r>
              <a:rPr lang="en-US" sz="1200" dirty="0">
                <a:solidFill>
                  <a:srgbClr val="DDFF00"/>
                </a:solidFill>
                <a:highlight>
                  <a:srgbClr val="DDFF00">
                    <a:alpha val="20000"/>
                  </a:srgbClr>
                </a:highlight>
                <a:latin typeface="Liter" pitchFamily="34" charset="0"/>
                <a:ea typeface="Liter" pitchFamily="34" charset="-122"/>
                <a:cs typeface="Liter" pitchFamily="34" charset="-120"/>
              </a:rPr>
              <a:t>legal framework </a:t>
            </a:r>
            <a:pPr>
              <a:lnSpc>
                <a:spcPct val="140000"/>
              </a:lnSpc>
            </a:pPr>
            <a:r>
              <a:rPr lang="en-US" sz="1200" dirty="0">
                <a:solidFill>
                  <a:srgbClr val="FFFFFF">
                    <a:alpha val="90000"/>
                  </a:srgbClr>
                </a:solidFill>
                <a:latin typeface="Liter" pitchFamily="34" charset="0"/>
                <a:ea typeface="Liter" pitchFamily="34" charset="-122"/>
                <a:cs typeface="Liter" pitchFamily="34" charset="-120"/>
              </a:rPr>
              <a:t>that governs the use of computers, digital communication, internet services, and online transactions.</a:t>
            </a:r>
            <a:endParaRPr lang="en-US" sz="1600" dirty="0"/>
          </a:p>
        </p:txBody>
      </p:sp>
      <p:sp>
        <p:nvSpPr>
          <p:cNvPr id="10" name="Shape 8"/>
          <p:cNvSpPr/>
          <p:nvPr/>
        </p:nvSpPr>
        <p:spPr>
          <a:xfrm>
            <a:off x="400050" y="2743200"/>
            <a:ext cx="5581650" cy="2362200"/>
          </a:xfrm>
          <a:custGeom>
            <a:avLst/>
            <a:gdLst/>
            <a:ahLst/>
            <a:cxnLst/>
            <a:rect l="l" t="t" r="r" b="b"/>
            <a:pathLst>
              <a:path w="5581650" h="2362200">
                <a:moveTo>
                  <a:pt x="0" y="0"/>
                </a:moveTo>
                <a:lnTo>
                  <a:pt x="5581650" y="0"/>
                </a:lnTo>
                <a:lnTo>
                  <a:pt x="5581650" y="2362200"/>
                </a:lnTo>
                <a:lnTo>
                  <a:pt x="0" y="2362200"/>
                </a:lnTo>
                <a:lnTo>
                  <a:pt x="0" y="0"/>
                </a:lnTo>
                <a:close/>
              </a:path>
            </a:pathLst>
          </a:custGeom>
          <a:solidFill>
            <a:srgbClr val="111111"/>
          </a:solidFill>
          <a:ln/>
        </p:spPr>
      </p:sp>
      <p:sp>
        <p:nvSpPr>
          <p:cNvPr id="11" name="Shape 9"/>
          <p:cNvSpPr/>
          <p:nvPr/>
        </p:nvSpPr>
        <p:spPr>
          <a:xfrm>
            <a:off x="400050" y="2743200"/>
            <a:ext cx="38100" cy="2362200"/>
          </a:xfrm>
          <a:custGeom>
            <a:avLst/>
            <a:gdLst/>
            <a:ahLst/>
            <a:cxnLst/>
            <a:rect l="l" t="t" r="r" b="b"/>
            <a:pathLst>
              <a:path w="38100" h="2362200">
                <a:moveTo>
                  <a:pt x="0" y="0"/>
                </a:moveTo>
                <a:lnTo>
                  <a:pt x="38100" y="0"/>
                </a:lnTo>
                <a:lnTo>
                  <a:pt x="38100" y="2362200"/>
                </a:lnTo>
                <a:lnTo>
                  <a:pt x="0" y="2362200"/>
                </a:lnTo>
                <a:lnTo>
                  <a:pt x="0" y="0"/>
                </a:lnTo>
                <a:close/>
              </a:path>
            </a:pathLst>
          </a:custGeom>
          <a:solidFill>
            <a:srgbClr val="DDFF00"/>
          </a:solidFill>
          <a:ln/>
        </p:spPr>
      </p:sp>
      <p:sp>
        <p:nvSpPr>
          <p:cNvPr id="12" name="Shape 10"/>
          <p:cNvSpPr/>
          <p:nvPr/>
        </p:nvSpPr>
        <p:spPr>
          <a:xfrm>
            <a:off x="633413" y="2971800"/>
            <a:ext cx="190500" cy="190500"/>
          </a:xfrm>
          <a:custGeom>
            <a:avLst/>
            <a:gdLst/>
            <a:ahLst/>
            <a:cxnLst/>
            <a:rect l="l" t="t" r="r" b="b"/>
            <a:pathLst>
              <a:path w="190500" h="190500">
                <a:moveTo>
                  <a:pt x="49783" y="13506"/>
                </a:moveTo>
                <a:cubicBezTo>
                  <a:pt x="53839" y="16334"/>
                  <a:pt x="54806" y="21915"/>
                  <a:pt x="51978" y="25933"/>
                </a:cubicBezTo>
                <a:lnTo>
                  <a:pt x="31142" y="55699"/>
                </a:lnTo>
                <a:cubicBezTo>
                  <a:pt x="29617" y="57857"/>
                  <a:pt x="27236" y="59234"/>
                  <a:pt x="24594" y="59457"/>
                </a:cubicBezTo>
                <a:cubicBezTo>
                  <a:pt x="21952" y="59680"/>
                  <a:pt x="19348" y="58787"/>
                  <a:pt x="17487" y="56927"/>
                </a:cubicBezTo>
                <a:lnTo>
                  <a:pt x="2604" y="42044"/>
                </a:lnTo>
                <a:cubicBezTo>
                  <a:pt x="-856" y="38546"/>
                  <a:pt x="-856" y="32891"/>
                  <a:pt x="2604" y="29394"/>
                </a:cubicBezTo>
                <a:cubicBezTo>
                  <a:pt x="6065" y="25896"/>
                  <a:pt x="11757" y="25933"/>
                  <a:pt x="15255" y="29394"/>
                </a:cubicBezTo>
                <a:lnTo>
                  <a:pt x="22622" y="36761"/>
                </a:lnTo>
                <a:lnTo>
                  <a:pt x="37356" y="15701"/>
                </a:lnTo>
                <a:cubicBezTo>
                  <a:pt x="40184" y="11646"/>
                  <a:pt x="45765" y="10678"/>
                  <a:pt x="49783" y="13506"/>
                </a:cubicBezTo>
                <a:close/>
                <a:moveTo>
                  <a:pt x="49783" y="73037"/>
                </a:moveTo>
                <a:cubicBezTo>
                  <a:pt x="53839" y="75865"/>
                  <a:pt x="54806" y="81446"/>
                  <a:pt x="51978" y="85465"/>
                </a:cubicBezTo>
                <a:lnTo>
                  <a:pt x="31142" y="115230"/>
                </a:lnTo>
                <a:cubicBezTo>
                  <a:pt x="29617" y="117388"/>
                  <a:pt x="27236" y="118765"/>
                  <a:pt x="24594" y="118988"/>
                </a:cubicBezTo>
                <a:cubicBezTo>
                  <a:pt x="21952" y="119211"/>
                  <a:pt x="19348" y="118318"/>
                  <a:pt x="17487" y="116458"/>
                </a:cubicBezTo>
                <a:lnTo>
                  <a:pt x="2604" y="101575"/>
                </a:lnTo>
                <a:cubicBezTo>
                  <a:pt x="-893" y="98078"/>
                  <a:pt x="-893" y="92422"/>
                  <a:pt x="2604" y="88962"/>
                </a:cubicBezTo>
                <a:cubicBezTo>
                  <a:pt x="6102" y="85502"/>
                  <a:pt x="11757" y="85465"/>
                  <a:pt x="15218" y="88962"/>
                </a:cubicBezTo>
                <a:lnTo>
                  <a:pt x="22585" y="96329"/>
                </a:lnTo>
                <a:lnTo>
                  <a:pt x="37319" y="75270"/>
                </a:lnTo>
                <a:cubicBezTo>
                  <a:pt x="40146" y="71214"/>
                  <a:pt x="45727" y="70247"/>
                  <a:pt x="49746" y="73075"/>
                </a:cubicBezTo>
                <a:close/>
                <a:moveTo>
                  <a:pt x="83344" y="35719"/>
                </a:moveTo>
                <a:cubicBezTo>
                  <a:pt x="83344" y="29133"/>
                  <a:pt x="88664" y="23812"/>
                  <a:pt x="95250" y="23812"/>
                </a:cubicBezTo>
                <a:lnTo>
                  <a:pt x="178594" y="23812"/>
                </a:lnTo>
                <a:cubicBezTo>
                  <a:pt x="185179" y="23812"/>
                  <a:pt x="190500" y="29133"/>
                  <a:pt x="190500" y="35719"/>
                </a:cubicBezTo>
                <a:cubicBezTo>
                  <a:pt x="190500" y="42304"/>
                  <a:pt x="185179" y="47625"/>
                  <a:pt x="178594" y="47625"/>
                </a:cubicBezTo>
                <a:lnTo>
                  <a:pt x="95250" y="47625"/>
                </a:lnTo>
                <a:cubicBezTo>
                  <a:pt x="88664" y="47625"/>
                  <a:pt x="83344" y="42304"/>
                  <a:pt x="83344" y="35719"/>
                </a:cubicBezTo>
                <a:close/>
                <a:moveTo>
                  <a:pt x="83344" y="95250"/>
                </a:moveTo>
                <a:cubicBezTo>
                  <a:pt x="83344" y="88664"/>
                  <a:pt x="88664" y="83344"/>
                  <a:pt x="95250" y="83344"/>
                </a:cubicBezTo>
                <a:lnTo>
                  <a:pt x="178594" y="83344"/>
                </a:lnTo>
                <a:cubicBezTo>
                  <a:pt x="185179" y="83344"/>
                  <a:pt x="190500" y="88664"/>
                  <a:pt x="190500" y="95250"/>
                </a:cubicBezTo>
                <a:cubicBezTo>
                  <a:pt x="190500" y="101836"/>
                  <a:pt x="185179" y="107156"/>
                  <a:pt x="178594" y="107156"/>
                </a:cubicBezTo>
                <a:lnTo>
                  <a:pt x="95250" y="107156"/>
                </a:lnTo>
                <a:cubicBezTo>
                  <a:pt x="88664" y="107156"/>
                  <a:pt x="83344" y="101836"/>
                  <a:pt x="83344" y="95250"/>
                </a:cubicBezTo>
                <a:close/>
                <a:moveTo>
                  <a:pt x="59531" y="154781"/>
                </a:moveTo>
                <a:cubicBezTo>
                  <a:pt x="59531" y="148196"/>
                  <a:pt x="64852" y="142875"/>
                  <a:pt x="71438" y="142875"/>
                </a:cubicBezTo>
                <a:lnTo>
                  <a:pt x="178594" y="142875"/>
                </a:lnTo>
                <a:cubicBezTo>
                  <a:pt x="185179" y="142875"/>
                  <a:pt x="190500" y="148196"/>
                  <a:pt x="190500" y="154781"/>
                </a:cubicBezTo>
                <a:cubicBezTo>
                  <a:pt x="190500" y="161367"/>
                  <a:pt x="185179" y="166688"/>
                  <a:pt x="178594" y="166688"/>
                </a:cubicBezTo>
                <a:lnTo>
                  <a:pt x="71438" y="166688"/>
                </a:lnTo>
                <a:cubicBezTo>
                  <a:pt x="64852" y="166688"/>
                  <a:pt x="59531" y="161367"/>
                  <a:pt x="59531" y="154781"/>
                </a:cubicBezTo>
                <a:close/>
                <a:moveTo>
                  <a:pt x="23812" y="139898"/>
                </a:moveTo>
                <a:cubicBezTo>
                  <a:pt x="32027" y="139898"/>
                  <a:pt x="38695" y="146567"/>
                  <a:pt x="38695" y="154781"/>
                </a:cubicBezTo>
                <a:cubicBezTo>
                  <a:pt x="38695" y="162995"/>
                  <a:pt x="32027" y="169664"/>
                  <a:pt x="23812" y="169664"/>
                </a:cubicBezTo>
                <a:cubicBezTo>
                  <a:pt x="15598" y="169664"/>
                  <a:pt x="8930" y="162995"/>
                  <a:pt x="8930" y="154781"/>
                </a:cubicBezTo>
                <a:cubicBezTo>
                  <a:pt x="8930" y="146567"/>
                  <a:pt x="15598" y="139898"/>
                  <a:pt x="23812" y="139898"/>
                </a:cubicBezTo>
                <a:close/>
              </a:path>
            </a:pathLst>
          </a:custGeom>
          <a:solidFill>
            <a:srgbClr val="DDFF00"/>
          </a:solidFill>
          <a:ln/>
        </p:spPr>
      </p:sp>
      <p:sp>
        <p:nvSpPr>
          <p:cNvPr id="13" name="Text 11"/>
          <p:cNvSpPr/>
          <p:nvPr/>
        </p:nvSpPr>
        <p:spPr>
          <a:xfrm>
            <a:off x="847725" y="2933700"/>
            <a:ext cx="5038725" cy="266700"/>
          </a:xfrm>
          <a:prstGeom prst="rect">
            <a:avLst/>
          </a:prstGeom>
          <a:noFill/>
          <a:ln/>
        </p:spPr>
        <p:txBody>
          <a:bodyPr wrap="square" lIns="0" tIns="0" rIns="0" bIns="0" rtlCol="0" anchor="ctr"/>
          <a:lstStyle/>
          <a:p>
            <a:pPr>
              <a:lnSpc>
                <a:spcPct val="120000"/>
              </a:lnSpc>
            </a:pPr>
            <a:r>
              <a:rPr lang="en-US" sz="1500" b="1" dirty="0">
                <a:solidFill>
                  <a:srgbClr val="DDFF00"/>
                </a:solidFill>
                <a:latin typeface="Liter" pitchFamily="34" charset="0"/>
                <a:ea typeface="Liter" pitchFamily="34" charset="-122"/>
                <a:cs typeface="Liter" pitchFamily="34" charset="-120"/>
              </a:rPr>
              <a:t>What Cyber Laws Cover</a:t>
            </a:r>
            <a:endParaRPr lang="en-US" sz="1600" dirty="0"/>
          </a:p>
        </p:txBody>
      </p:sp>
      <p:sp>
        <p:nvSpPr>
          <p:cNvPr id="14" name="Shape 12"/>
          <p:cNvSpPr/>
          <p:nvPr/>
        </p:nvSpPr>
        <p:spPr>
          <a:xfrm>
            <a:off x="609600" y="3314700"/>
            <a:ext cx="2552700" cy="342900"/>
          </a:xfrm>
          <a:custGeom>
            <a:avLst/>
            <a:gdLst/>
            <a:ahLst/>
            <a:cxnLst/>
            <a:rect l="l" t="t" r="r" b="b"/>
            <a:pathLst>
              <a:path w="2552700" h="342900">
                <a:moveTo>
                  <a:pt x="0" y="0"/>
                </a:moveTo>
                <a:lnTo>
                  <a:pt x="2552700" y="0"/>
                </a:lnTo>
                <a:lnTo>
                  <a:pt x="2552700" y="342900"/>
                </a:lnTo>
                <a:lnTo>
                  <a:pt x="0" y="342900"/>
                </a:lnTo>
                <a:lnTo>
                  <a:pt x="0" y="0"/>
                </a:lnTo>
                <a:close/>
              </a:path>
            </a:pathLst>
          </a:custGeom>
          <a:solidFill>
            <a:srgbClr val="000000"/>
          </a:solidFill>
          <a:ln/>
        </p:spPr>
      </p:sp>
      <p:sp>
        <p:nvSpPr>
          <p:cNvPr id="15" name="Shape 13"/>
          <p:cNvSpPr/>
          <p:nvPr/>
        </p:nvSpPr>
        <p:spPr>
          <a:xfrm>
            <a:off x="685800" y="3448050"/>
            <a:ext cx="76200" cy="76200"/>
          </a:xfrm>
          <a:custGeom>
            <a:avLst/>
            <a:gdLst/>
            <a:ahLst/>
            <a:cxnLst/>
            <a:rect l="l" t="t" r="r" b="b"/>
            <a:pathLst>
              <a:path w="76200" h="76200">
                <a:moveTo>
                  <a:pt x="0" y="0"/>
                </a:moveTo>
                <a:lnTo>
                  <a:pt x="76200" y="0"/>
                </a:lnTo>
                <a:lnTo>
                  <a:pt x="76200" y="76200"/>
                </a:lnTo>
                <a:lnTo>
                  <a:pt x="0" y="76200"/>
                </a:lnTo>
                <a:lnTo>
                  <a:pt x="0" y="0"/>
                </a:lnTo>
                <a:close/>
              </a:path>
            </a:pathLst>
          </a:custGeom>
          <a:solidFill>
            <a:srgbClr val="DDFF00"/>
          </a:solidFill>
          <a:ln/>
        </p:spPr>
      </p:sp>
      <p:sp>
        <p:nvSpPr>
          <p:cNvPr id="16" name="Text 14"/>
          <p:cNvSpPr/>
          <p:nvPr/>
        </p:nvSpPr>
        <p:spPr>
          <a:xfrm>
            <a:off x="838200" y="3390900"/>
            <a:ext cx="1247775" cy="190500"/>
          </a:xfrm>
          <a:prstGeom prst="rect">
            <a:avLst/>
          </a:prstGeom>
          <a:noFill/>
          <a:ln/>
        </p:spPr>
        <p:txBody>
          <a:bodyPr wrap="square" lIns="0" tIns="0" rIns="0" bIns="0" rtlCol="0" anchor="ctr"/>
          <a:lstStyle/>
          <a:p>
            <a:pPr>
              <a:lnSpc>
                <a:spcPct val="120000"/>
              </a:lnSpc>
            </a:pPr>
            <a:r>
              <a:rPr lang="en-US" sz="1050" dirty="0">
                <a:solidFill>
                  <a:srgbClr val="FFFFFF"/>
                </a:solidFill>
                <a:latin typeface="Liter" pitchFamily="34" charset="0"/>
                <a:ea typeface="Liter" pitchFamily="34" charset="-122"/>
                <a:cs typeface="Liter" pitchFamily="34" charset="-120"/>
              </a:rPr>
              <a:t>Electronic contracts</a:t>
            </a:r>
            <a:endParaRPr lang="en-US" sz="1600" dirty="0"/>
          </a:p>
        </p:txBody>
      </p:sp>
      <p:sp>
        <p:nvSpPr>
          <p:cNvPr id="17" name="Shape 15"/>
          <p:cNvSpPr/>
          <p:nvPr/>
        </p:nvSpPr>
        <p:spPr>
          <a:xfrm>
            <a:off x="3238500" y="3314700"/>
            <a:ext cx="2552700" cy="342900"/>
          </a:xfrm>
          <a:custGeom>
            <a:avLst/>
            <a:gdLst/>
            <a:ahLst/>
            <a:cxnLst/>
            <a:rect l="l" t="t" r="r" b="b"/>
            <a:pathLst>
              <a:path w="2552700" h="342900">
                <a:moveTo>
                  <a:pt x="0" y="0"/>
                </a:moveTo>
                <a:lnTo>
                  <a:pt x="2552700" y="0"/>
                </a:lnTo>
                <a:lnTo>
                  <a:pt x="2552700" y="342900"/>
                </a:lnTo>
                <a:lnTo>
                  <a:pt x="0" y="342900"/>
                </a:lnTo>
                <a:lnTo>
                  <a:pt x="0" y="0"/>
                </a:lnTo>
                <a:close/>
              </a:path>
            </a:pathLst>
          </a:custGeom>
          <a:solidFill>
            <a:srgbClr val="000000"/>
          </a:solidFill>
          <a:ln/>
        </p:spPr>
      </p:sp>
      <p:sp>
        <p:nvSpPr>
          <p:cNvPr id="18" name="Shape 16"/>
          <p:cNvSpPr/>
          <p:nvPr/>
        </p:nvSpPr>
        <p:spPr>
          <a:xfrm>
            <a:off x="3314700" y="3448050"/>
            <a:ext cx="76200" cy="76200"/>
          </a:xfrm>
          <a:custGeom>
            <a:avLst/>
            <a:gdLst/>
            <a:ahLst/>
            <a:cxnLst/>
            <a:rect l="l" t="t" r="r" b="b"/>
            <a:pathLst>
              <a:path w="76200" h="76200">
                <a:moveTo>
                  <a:pt x="0" y="0"/>
                </a:moveTo>
                <a:lnTo>
                  <a:pt x="76200" y="0"/>
                </a:lnTo>
                <a:lnTo>
                  <a:pt x="76200" y="76200"/>
                </a:lnTo>
                <a:lnTo>
                  <a:pt x="0" y="76200"/>
                </a:lnTo>
                <a:lnTo>
                  <a:pt x="0" y="0"/>
                </a:lnTo>
                <a:close/>
              </a:path>
            </a:pathLst>
          </a:custGeom>
          <a:solidFill>
            <a:srgbClr val="DDFF00"/>
          </a:solidFill>
          <a:ln/>
        </p:spPr>
      </p:sp>
      <p:sp>
        <p:nvSpPr>
          <p:cNvPr id="19" name="Text 17"/>
          <p:cNvSpPr/>
          <p:nvPr/>
        </p:nvSpPr>
        <p:spPr>
          <a:xfrm>
            <a:off x="3467100" y="3390900"/>
            <a:ext cx="1085850" cy="190500"/>
          </a:xfrm>
          <a:prstGeom prst="rect">
            <a:avLst/>
          </a:prstGeom>
          <a:noFill/>
          <a:ln/>
        </p:spPr>
        <p:txBody>
          <a:bodyPr wrap="square" lIns="0" tIns="0" rIns="0" bIns="0" rtlCol="0" anchor="ctr"/>
          <a:lstStyle/>
          <a:p>
            <a:pPr>
              <a:lnSpc>
                <a:spcPct val="120000"/>
              </a:lnSpc>
            </a:pPr>
            <a:r>
              <a:rPr lang="en-US" sz="1050" dirty="0">
                <a:solidFill>
                  <a:srgbClr val="FFFFFF"/>
                </a:solidFill>
                <a:latin typeface="Liter" pitchFamily="34" charset="0"/>
                <a:ea typeface="Liter" pitchFamily="34" charset="-122"/>
                <a:cs typeface="Liter" pitchFamily="34" charset="-120"/>
              </a:rPr>
              <a:t>Digital signatures</a:t>
            </a:r>
            <a:endParaRPr lang="en-US" sz="1600" dirty="0"/>
          </a:p>
        </p:txBody>
      </p:sp>
      <p:sp>
        <p:nvSpPr>
          <p:cNvPr id="20" name="Shape 18"/>
          <p:cNvSpPr/>
          <p:nvPr/>
        </p:nvSpPr>
        <p:spPr>
          <a:xfrm>
            <a:off x="609600" y="3733800"/>
            <a:ext cx="2552700" cy="342900"/>
          </a:xfrm>
          <a:custGeom>
            <a:avLst/>
            <a:gdLst/>
            <a:ahLst/>
            <a:cxnLst/>
            <a:rect l="l" t="t" r="r" b="b"/>
            <a:pathLst>
              <a:path w="2552700" h="342900">
                <a:moveTo>
                  <a:pt x="0" y="0"/>
                </a:moveTo>
                <a:lnTo>
                  <a:pt x="2552700" y="0"/>
                </a:lnTo>
                <a:lnTo>
                  <a:pt x="2552700" y="342900"/>
                </a:lnTo>
                <a:lnTo>
                  <a:pt x="0" y="342900"/>
                </a:lnTo>
                <a:lnTo>
                  <a:pt x="0" y="0"/>
                </a:lnTo>
                <a:close/>
              </a:path>
            </a:pathLst>
          </a:custGeom>
          <a:solidFill>
            <a:srgbClr val="000000"/>
          </a:solidFill>
          <a:ln/>
        </p:spPr>
      </p:sp>
      <p:sp>
        <p:nvSpPr>
          <p:cNvPr id="21" name="Shape 19"/>
          <p:cNvSpPr/>
          <p:nvPr/>
        </p:nvSpPr>
        <p:spPr>
          <a:xfrm>
            <a:off x="685800" y="3867150"/>
            <a:ext cx="76200" cy="76200"/>
          </a:xfrm>
          <a:custGeom>
            <a:avLst/>
            <a:gdLst/>
            <a:ahLst/>
            <a:cxnLst/>
            <a:rect l="l" t="t" r="r" b="b"/>
            <a:pathLst>
              <a:path w="76200" h="76200">
                <a:moveTo>
                  <a:pt x="0" y="0"/>
                </a:moveTo>
                <a:lnTo>
                  <a:pt x="76200" y="0"/>
                </a:lnTo>
                <a:lnTo>
                  <a:pt x="76200" y="76200"/>
                </a:lnTo>
                <a:lnTo>
                  <a:pt x="0" y="76200"/>
                </a:lnTo>
                <a:lnTo>
                  <a:pt x="0" y="0"/>
                </a:lnTo>
                <a:close/>
              </a:path>
            </a:pathLst>
          </a:custGeom>
          <a:solidFill>
            <a:srgbClr val="DDFF00"/>
          </a:solidFill>
          <a:ln/>
        </p:spPr>
      </p:sp>
      <p:sp>
        <p:nvSpPr>
          <p:cNvPr id="22" name="Text 20"/>
          <p:cNvSpPr/>
          <p:nvPr/>
        </p:nvSpPr>
        <p:spPr>
          <a:xfrm>
            <a:off x="838200" y="3810000"/>
            <a:ext cx="781050" cy="190500"/>
          </a:xfrm>
          <a:prstGeom prst="rect">
            <a:avLst/>
          </a:prstGeom>
          <a:noFill/>
          <a:ln/>
        </p:spPr>
        <p:txBody>
          <a:bodyPr wrap="square" lIns="0" tIns="0" rIns="0" bIns="0" rtlCol="0" anchor="ctr"/>
          <a:lstStyle/>
          <a:p>
            <a:pPr>
              <a:lnSpc>
                <a:spcPct val="120000"/>
              </a:lnSpc>
            </a:pPr>
            <a:r>
              <a:rPr lang="en-US" sz="1050" dirty="0">
                <a:solidFill>
                  <a:srgbClr val="FFFFFF"/>
                </a:solidFill>
                <a:latin typeface="Liter" pitchFamily="34" charset="0"/>
                <a:ea typeface="Liter" pitchFamily="34" charset="-122"/>
                <a:cs typeface="Liter" pitchFamily="34" charset="-120"/>
              </a:rPr>
              <a:t>Online fraud</a:t>
            </a:r>
            <a:endParaRPr lang="en-US" sz="1600" dirty="0"/>
          </a:p>
        </p:txBody>
      </p:sp>
      <p:sp>
        <p:nvSpPr>
          <p:cNvPr id="23" name="Shape 21"/>
          <p:cNvSpPr/>
          <p:nvPr/>
        </p:nvSpPr>
        <p:spPr>
          <a:xfrm>
            <a:off x="3238500" y="3733800"/>
            <a:ext cx="2552700" cy="342900"/>
          </a:xfrm>
          <a:custGeom>
            <a:avLst/>
            <a:gdLst/>
            <a:ahLst/>
            <a:cxnLst/>
            <a:rect l="l" t="t" r="r" b="b"/>
            <a:pathLst>
              <a:path w="2552700" h="342900">
                <a:moveTo>
                  <a:pt x="0" y="0"/>
                </a:moveTo>
                <a:lnTo>
                  <a:pt x="2552700" y="0"/>
                </a:lnTo>
                <a:lnTo>
                  <a:pt x="2552700" y="342900"/>
                </a:lnTo>
                <a:lnTo>
                  <a:pt x="0" y="342900"/>
                </a:lnTo>
                <a:lnTo>
                  <a:pt x="0" y="0"/>
                </a:lnTo>
                <a:close/>
              </a:path>
            </a:pathLst>
          </a:custGeom>
          <a:solidFill>
            <a:srgbClr val="000000"/>
          </a:solidFill>
          <a:ln/>
        </p:spPr>
      </p:sp>
      <p:sp>
        <p:nvSpPr>
          <p:cNvPr id="24" name="Shape 22"/>
          <p:cNvSpPr/>
          <p:nvPr/>
        </p:nvSpPr>
        <p:spPr>
          <a:xfrm>
            <a:off x="3314700" y="3867150"/>
            <a:ext cx="76200" cy="76200"/>
          </a:xfrm>
          <a:custGeom>
            <a:avLst/>
            <a:gdLst/>
            <a:ahLst/>
            <a:cxnLst/>
            <a:rect l="l" t="t" r="r" b="b"/>
            <a:pathLst>
              <a:path w="76200" h="76200">
                <a:moveTo>
                  <a:pt x="0" y="0"/>
                </a:moveTo>
                <a:lnTo>
                  <a:pt x="76200" y="0"/>
                </a:lnTo>
                <a:lnTo>
                  <a:pt x="76200" y="76200"/>
                </a:lnTo>
                <a:lnTo>
                  <a:pt x="0" y="76200"/>
                </a:lnTo>
                <a:lnTo>
                  <a:pt x="0" y="0"/>
                </a:lnTo>
                <a:close/>
              </a:path>
            </a:pathLst>
          </a:custGeom>
          <a:solidFill>
            <a:srgbClr val="DDFF00"/>
          </a:solidFill>
          <a:ln/>
        </p:spPr>
      </p:sp>
      <p:sp>
        <p:nvSpPr>
          <p:cNvPr id="25" name="Text 23"/>
          <p:cNvSpPr/>
          <p:nvPr/>
        </p:nvSpPr>
        <p:spPr>
          <a:xfrm>
            <a:off x="3467100" y="3810000"/>
            <a:ext cx="847725" cy="190500"/>
          </a:xfrm>
          <a:prstGeom prst="rect">
            <a:avLst/>
          </a:prstGeom>
          <a:noFill/>
          <a:ln/>
        </p:spPr>
        <p:txBody>
          <a:bodyPr wrap="square" lIns="0" tIns="0" rIns="0" bIns="0" rtlCol="0" anchor="ctr"/>
          <a:lstStyle/>
          <a:p>
            <a:pPr>
              <a:lnSpc>
                <a:spcPct val="120000"/>
              </a:lnSpc>
            </a:pPr>
            <a:r>
              <a:rPr lang="en-US" sz="1050" dirty="0">
                <a:solidFill>
                  <a:srgbClr val="FFFFFF"/>
                </a:solidFill>
                <a:latin typeface="Liter" pitchFamily="34" charset="0"/>
                <a:ea typeface="Liter" pitchFamily="34" charset="-122"/>
                <a:cs typeface="Liter" pitchFamily="34" charset="-120"/>
              </a:rPr>
              <a:t>Cyber crimes</a:t>
            </a:r>
            <a:endParaRPr lang="en-US" sz="1600" dirty="0"/>
          </a:p>
        </p:txBody>
      </p:sp>
      <p:sp>
        <p:nvSpPr>
          <p:cNvPr id="26" name="Shape 24"/>
          <p:cNvSpPr/>
          <p:nvPr/>
        </p:nvSpPr>
        <p:spPr>
          <a:xfrm>
            <a:off x="609600" y="4152900"/>
            <a:ext cx="2552700" cy="342900"/>
          </a:xfrm>
          <a:custGeom>
            <a:avLst/>
            <a:gdLst/>
            <a:ahLst/>
            <a:cxnLst/>
            <a:rect l="l" t="t" r="r" b="b"/>
            <a:pathLst>
              <a:path w="2552700" h="342900">
                <a:moveTo>
                  <a:pt x="0" y="0"/>
                </a:moveTo>
                <a:lnTo>
                  <a:pt x="2552700" y="0"/>
                </a:lnTo>
                <a:lnTo>
                  <a:pt x="2552700" y="342900"/>
                </a:lnTo>
                <a:lnTo>
                  <a:pt x="0" y="342900"/>
                </a:lnTo>
                <a:lnTo>
                  <a:pt x="0" y="0"/>
                </a:lnTo>
                <a:close/>
              </a:path>
            </a:pathLst>
          </a:custGeom>
          <a:solidFill>
            <a:srgbClr val="000000"/>
          </a:solidFill>
          <a:ln/>
        </p:spPr>
      </p:sp>
      <p:sp>
        <p:nvSpPr>
          <p:cNvPr id="27" name="Shape 25"/>
          <p:cNvSpPr/>
          <p:nvPr/>
        </p:nvSpPr>
        <p:spPr>
          <a:xfrm>
            <a:off x="685800" y="4286250"/>
            <a:ext cx="76200" cy="76200"/>
          </a:xfrm>
          <a:custGeom>
            <a:avLst/>
            <a:gdLst/>
            <a:ahLst/>
            <a:cxnLst/>
            <a:rect l="l" t="t" r="r" b="b"/>
            <a:pathLst>
              <a:path w="76200" h="76200">
                <a:moveTo>
                  <a:pt x="0" y="0"/>
                </a:moveTo>
                <a:lnTo>
                  <a:pt x="76200" y="0"/>
                </a:lnTo>
                <a:lnTo>
                  <a:pt x="76200" y="76200"/>
                </a:lnTo>
                <a:lnTo>
                  <a:pt x="0" y="76200"/>
                </a:lnTo>
                <a:lnTo>
                  <a:pt x="0" y="0"/>
                </a:lnTo>
                <a:close/>
              </a:path>
            </a:pathLst>
          </a:custGeom>
          <a:solidFill>
            <a:srgbClr val="DDFF00"/>
          </a:solidFill>
          <a:ln/>
        </p:spPr>
      </p:sp>
      <p:sp>
        <p:nvSpPr>
          <p:cNvPr id="28" name="Text 26"/>
          <p:cNvSpPr/>
          <p:nvPr/>
        </p:nvSpPr>
        <p:spPr>
          <a:xfrm>
            <a:off x="838200" y="4229100"/>
            <a:ext cx="981075" cy="190500"/>
          </a:xfrm>
          <a:prstGeom prst="rect">
            <a:avLst/>
          </a:prstGeom>
          <a:noFill/>
          <a:ln/>
        </p:spPr>
        <p:txBody>
          <a:bodyPr wrap="square" lIns="0" tIns="0" rIns="0" bIns="0" rtlCol="0" anchor="ctr"/>
          <a:lstStyle/>
          <a:p>
            <a:pPr>
              <a:lnSpc>
                <a:spcPct val="120000"/>
              </a:lnSpc>
            </a:pPr>
            <a:r>
              <a:rPr lang="en-US" sz="1050" dirty="0">
                <a:solidFill>
                  <a:srgbClr val="FFFFFF"/>
                </a:solidFill>
                <a:latin typeface="Liter" pitchFamily="34" charset="0"/>
                <a:ea typeface="Liter" pitchFamily="34" charset="-122"/>
                <a:cs typeface="Liter" pitchFamily="34" charset="-120"/>
              </a:rPr>
              <a:t>Data protection</a:t>
            </a:r>
            <a:endParaRPr lang="en-US" sz="1600" dirty="0"/>
          </a:p>
        </p:txBody>
      </p:sp>
      <p:sp>
        <p:nvSpPr>
          <p:cNvPr id="29" name="Shape 27"/>
          <p:cNvSpPr/>
          <p:nvPr/>
        </p:nvSpPr>
        <p:spPr>
          <a:xfrm>
            <a:off x="3238500" y="4152900"/>
            <a:ext cx="2552700" cy="342900"/>
          </a:xfrm>
          <a:custGeom>
            <a:avLst/>
            <a:gdLst/>
            <a:ahLst/>
            <a:cxnLst/>
            <a:rect l="l" t="t" r="r" b="b"/>
            <a:pathLst>
              <a:path w="2552700" h="342900">
                <a:moveTo>
                  <a:pt x="0" y="0"/>
                </a:moveTo>
                <a:lnTo>
                  <a:pt x="2552700" y="0"/>
                </a:lnTo>
                <a:lnTo>
                  <a:pt x="2552700" y="342900"/>
                </a:lnTo>
                <a:lnTo>
                  <a:pt x="0" y="342900"/>
                </a:lnTo>
                <a:lnTo>
                  <a:pt x="0" y="0"/>
                </a:lnTo>
                <a:close/>
              </a:path>
            </a:pathLst>
          </a:custGeom>
          <a:solidFill>
            <a:srgbClr val="000000"/>
          </a:solidFill>
          <a:ln/>
        </p:spPr>
      </p:sp>
      <p:sp>
        <p:nvSpPr>
          <p:cNvPr id="30" name="Shape 28"/>
          <p:cNvSpPr/>
          <p:nvPr/>
        </p:nvSpPr>
        <p:spPr>
          <a:xfrm>
            <a:off x="3314700" y="4286250"/>
            <a:ext cx="76200" cy="76200"/>
          </a:xfrm>
          <a:custGeom>
            <a:avLst/>
            <a:gdLst/>
            <a:ahLst/>
            <a:cxnLst/>
            <a:rect l="l" t="t" r="r" b="b"/>
            <a:pathLst>
              <a:path w="76200" h="76200">
                <a:moveTo>
                  <a:pt x="0" y="0"/>
                </a:moveTo>
                <a:lnTo>
                  <a:pt x="76200" y="0"/>
                </a:lnTo>
                <a:lnTo>
                  <a:pt x="76200" y="76200"/>
                </a:lnTo>
                <a:lnTo>
                  <a:pt x="0" y="76200"/>
                </a:lnTo>
                <a:lnTo>
                  <a:pt x="0" y="0"/>
                </a:lnTo>
                <a:close/>
              </a:path>
            </a:pathLst>
          </a:custGeom>
          <a:solidFill>
            <a:srgbClr val="DDFF00"/>
          </a:solidFill>
          <a:ln/>
        </p:spPr>
      </p:sp>
      <p:sp>
        <p:nvSpPr>
          <p:cNvPr id="31" name="Text 29"/>
          <p:cNvSpPr/>
          <p:nvPr/>
        </p:nvSpPr>
        <p:spPr>
          <a:xfrm>
            <a:off x="3467100" y="4229100"/>
            <a:ext cx="866775" cy="190500"/>
          </a:xfrm>
          <a:prstGeom prst="rect">
            <a:avLst/>
          </a:prstGeom>
          <a:noFill/>
          <a:ln/>
        </p:spPr>
        <p:txBody>
          <a:bodyPr wrap="square" lIns="0" tIns="0" rIns="0" bIns="0" rtlCol="0" anchor="ctr"/>
          <a:lstStyle/>
          <a:p>
            <a:pPr>
              <a:lnSpc>
                <a:spcPct val="120000"/>
              </a:lnSpc>
            </a:pPr>
            <a:r>
              <a:rPr lang="en-US" sz="1050" dirty="0">
                <a:solidFill>
                  <a:srgbClr val="FFFFFF"/>
                </a:solidFill>
                <a:latin typeface="Liter" pitchFamily="34" charset="0"/>
                <a:ea typeface="Liter" pitchFamily="34" charset="-122"/>
                <a:cs typeface="Liter" pitchFamily="34" charset="-120"/>
              </a:rPr>
              <a:t>Privacy rights</a:t>
            </a:r>
            <a:endParaRPr lang="en-US" sz="1600" dirty="0"/>
          </a:p>
        </p:txBody>
      </p:sp>
      <p:sp>
        <p:nvSpPr>
          <p:cNvPr id="32" name="Shape 30"/>
          <p:cNvSpPr/>
          <p:nvPr/>
        </p:nvSpPr>
        <p:spPr>
          <a:xfrm>
            <a:off x="609600" y="4572000"/>
            <a:ext cx="2552700" cy="342900"/>
          </a:xfrm>
          <a:custGeom>
            <a:avLst/>
            <a:gdLst/>
            <a:ahLst/>
            <a:cxnLst/>
            <a:rect l="l" t="t" r="r" b="b"/>
            <a:pathLst>
              <a:path w="2552700" h="342900">
                <a:moveTo>
                  <a:pt x="0" y="0"/>
                </a:moveTo>
                <a:lnTo>
                  <a:pt x="2552700" y="0"/>
                </a:lnTo>
                <a:lnTo>
                  <a:pt x="2552700" y="342900"/>
                </a:lnTo>
                <a:lnTo>
                  <a:pt x="0" y="342900"/>
                </a:lnTo>
                <a:lnTo>
                  <a:pt x="0" y="0"/>
                </a:lnTo>
                <a:close/>
              </a:path>
            </a:pathLst>
          </a:custGeom>
          <a:solidFill>
            <a:srgbClr val="000000"/>
          </a:solidFill>
          <a:ln/>
        </p:spPr>
      </p:sp>
      <p:sp>
        <p:nvSpPr>
          <p:cNvPr id="33" name="Shape 31"/>
          <p:cNvSpPr/>
          <p:nvPr/>
        </p:nvSpPr>
        <p:spPr>
          <a:xfrm>
            <a:off x="685800" y="4705350"/>
            <a:ext cx="76200" cy="76200"/>
          </a:xfrm>
          <a:custGeom>
            <a:avLst/>
            <a:gdLst/>
            <a:ahLst/>
            <a:cxnLst/>
            <a:rect l="l" t="t" r="r" b="b"/>
            <a:pathLst>
              <a:path w="76200" h="76200">
                <a:moveTo>
                  <a:pt x="0" y="0"/>
                </a:moveTo>
                <a:lnTo>
                  <a:pt x="76200" y="0"/>
                </a:lnTo>
                <a:lnTo>
                  <a:pt x="76200" y="76200"/>
                </a:lnTo>
                <a:lnTo>
                  <a:pt x="0" y="76200"/>
                </a:lnTo>
                <a:lnTo>
                  <a:pt x="0" y="0"/>
                </a:lnTo>
                <a:close/>
              </a:path>
            </a:pathLst>
          </a:custGeom>
          <a:solidFill>
            <a:srgbClr val="DDFF00"/>
          </a:solidFill>
          <a:ln/>
        </p:spPr>
      </p:sp>
      <p:sp>
        <p:nvSpPr>
          <p:cNvPr id="34" name="Text 32"/>
          <p:cNvSpPr/>
          <p:nvPr/>
        </p:nvSpPr>
        <p:spPr>
          <a:xfrm>
            <a:off x="838200" y="4648200"/>
            <a:ext cx="790575" cy="190500"/>
          </a:xfrm>
          <a:prstGeom prst="rect">
            <a:avLst/>
          </a:prstGeom>
          <a:noFill/>
          <a:ln/>
        </p:spPr>
        <p:txBody>
          <a:bodyPr wrap="square" lIns="0" tIns="0" rIns="0" bIns="0" rtlCol="0" anchor="ctr"/>
          <a:lstStyle/>
          <a:p>
            <a:pPr>
              <a:lnSpc>
                <a:spcPct val="120000"/>
              </a:lnSpc>
            </a:pPr>
            <a:r>
              <a:rPr lang="en-US" sz="1050" dirty="0">
                <a:solidFill>
                  <a:srgbClr val="FFFFFF"/>
                </a:solidFill>
                <a:latin typeface="Liter" pitchFamily="34" charset="0"/>
                <a:ea typeface="Liter" pitchFamily="34" charset="-122"/>
                <a:cs typeface="Liter" pitchFamily="34" charset="-120"/>
              </a:rPr>
              <a:t>IPR in digital</a:t>
            </a:r>
            <a:endParaRPr lang="en-US" sz="1600" dirty="0"/>
          </a:p>
        </p:txBody>
      </p:sp>
      <p:sp>
        <p:nvSpPr>
          <p:cNvPr id="35" name="Shape 33"/>
          <p:cNvSpPr/>
          <p:nvPr/>
        </p:nvSpPr>
        <p:spPr>
          <a:xfrm>
            <a:off x="3238500" y="4572000"/>
            <a:ext cx="2552700" cy="342900"/>
          </a:xfrm>
          <a:custGeom>
            <a:avLst/>
            <a:gdLst/>
            <a:ahLst/>
            <a:cxnLst/>
            <a:rect l="l" t="t" r="r" b="b"/>
            <a:pathLst>
              <a:path w="2552700" h="342900">
                <a:moveTo>
                  <a:pt x="0" y="0"/>
                </a:moveTo>
                <a:lnTo>
                  <a:pt x="2552700" y="0"/>
                </a:lnTo>
                <a:lnTo>
                  <a:pt x="2552700" y="342900"/>
                </a:lnTo>
                <a:lnTo>
                  <a:pt x="0" y="342900"/>
                </a:lnTo>
                <a:lnTo>
                  <a:pt x="0" y="0"/>
                </a:lnTo>
                <a:close/>
              </a:path>
            </a:pathLst>
          </a:custGeom>
          <a:solidFill>
            <a:srgbClr val="000000"/>
          </a:solidFill>
          <a:ln/>
        </p:spPr>
      </p:sp>
      <p:sp>
        <p:nvSpPr>
          <p:cNvPr id="36" name="Shape 34"/>
          <p:cNvSpPr/>
          <p:nvPr/>
        </p:nvSpPr>
        <p:spPr>
          <a:xfrm>
            <a:off x="3314700" y="4705350"/>
            <a:ext cx="76200" cy="76200"/>
          </a:xfrm>
          <a:custGeom>
            <a:avLst/>
            <a:gdLst/>
            <a:ahLst/>
            <a:cxnLst/>
            <a:rect l="l" t="t" r="r" b="b"/>
            <a:pathLst>
              <a:path w="76200" h="76200">
                <a:moveTo>
                  <a:pt x="0" y="0"/>
                </a:moveTo>
                <a:lnTo>
                  <a:pt x="76200" y="0"/>
                </a:lnTo>
                <a:lnTo>
                  <a:pt x="76200" y="76200"/>
                </a:lnTo>
                <a:lnTo>
                  <a:pt x="0" y="76200"/>
                </a:lnTo>
                <a:lnTo>
                  <a:pt x="0" y="0"/>
                </a:lnTo>
                <a:close/>
              </a:path>
            </a:pathLst>
          </a:custGeom>
          <a:solidFill>
            <a:srgbClr val="DDFF00"/>
          </a:solidFill>
          <a:ln/>
        </p:spPr>
      </p:sp>
      <p:sp>
        <p:nvSpPr>
          <p:cNvPr id="37" name="Text 35"/>
          <p:cNvSpPr/>
          <p:nvPr/>
        </p:nvSpPr>
        <p:spPr>
          <a:xfrm>
            <a:off x="3467100" y="4648200"/>
            <a:ext cx="828675" cy="190500"/>
          </a:xfrm>
          <a:prstGeom prst="rect">
            <a:avLst/>
          </a:prstGeom>
          <a:noFill/>
          <a:ln/>
        </p:spPr>
        <p:txBody>
          <a:bodyPr wrap="square" lIns="0" tIns="0" rIns="0" bIns="0" rtlCol="0" anchor="ctr"/>
          <a:lstStyle/>
          <a:p>
            <a:pPr>
              <a:lnSpc>
                <a:spcPct val="120000"/>
              </a:lnSpc>
            </a:pPr>
            <a:r>
              <a:rPr lang="en-US" sz="1050" dirty="0">
                <a:solidFill>
                  <a:srgbClr val="FFFFFF"/>
                </a:solidFill>
                <a:latin typeface="Liter" pitchFamily="34" charset="0"/>
                <a:ea typeface="Liter" pitchFamily="34" charset="-122"/>
                <a:cs typeface="Liter" pitchFamily="34" charset="-120"/>
              </a:rPr>
              <a:t>E-commerce</a:t>
            </a:r>
            <a:endParaRPr lang="en-US" sz="1600" dirty="0"/>
          </a:p>
        </p:txBody>
      </p:sp>
      <p:sp>
        <p:nvSpPr>
          <p:cNvPr id="38" name="Shape 36"/>
          <p:cNvSpPr/>
          <p:nvPr/>
        </p:nvSpPr>
        <p:spPr>
          <a:xfrm>
            <a:off x="384810" y="5261610"/>
            <a:ext cx="5589270" cy="769620"/>
          </a:xfrm>
          <a:custGeom>
            <a:avLst/>
            <a:gdLst/>
            <a:ahLst/>
            <a:cxnLst/>
            <a:rect l="l" t="t" r="r" b="b"/>
            <a:pathLst>
              <a:path w="5589270" h="769620">
                <a:moveTo>
                  <a:pt x="0" y="0"/>
                </a:moveTo>
                <a:lnTo>
                  <a:pt x="5589270" y="0"/>
                </a:lnTo>
                <a:lnTo>
                  <a:pt x="5589270" y="769620"/>
                </a:lnTo>
                <a:lnTo>
                  <a:pt x="0" y="769620"/>
                </a:lnTo>
                <a:lnTo>
                  <a:pt x="0" y="0"/>
                </a:lnTo>
                <a:close/>
              </a:path>
            </a:pathLst>
          </a:custGeom>
          <a:solidFill>
            <a:srgbClr val="DDFF00">
              <a:alpha val="10196"/>
            </a:srgbClr>
          </a:solidFill>
          <a:ln w="10160">
            <a:solidFill>
              <a:srgbClr val="DDFF00"/>
            </a:solidFill>
            <a:prstDash val="solid"/>
          </a:ln>
        </p:spPr>
      </p:sp>
      <p:sp>
        <p:nvSpPr>
          <p:cNvPr id="39" name="Shape 37"/>
          <p:cNvSpPr/>
          <p:nvPr/>
        </p:nvSpPr>
        <p:spPr>
          <a:xfrm>
            <a:off x="560070" y="5448300"/>
            <a:ext cx="152400" cy="152400"/>
          </a:xfrm>
          <a:custGeom>
            <a:avLst/>
            <a:gdLst/>
            <a:ahLst/>
            <a:cxnLst/>
            <a:rect l="l" t="t" r="r" b="b"/>
            <a:pathLst>
              <a:path w="152400" h="152400">
                <a:moveTo>
                  <a:pt x="71051" y="1518"/>
                </a:moveTo>
                <a:cubicBezTo>
                  <a:pt x="74176" y="-506"/>
                  <a:pt x="78224" y="-506"/>
                  <a:pt x="81349" y="1518"/>
                </a:cubicBezTo>
                <a:lnTo>
                  <a:pt x="148024" y="44381"/>
                </a:lnTo>
                <a:cubicBezTo>
                  <a:pt x="151567" y="46673"/>
                  <a:pt x="153204" y="51018"/>
                  <a:pt x="152013" y="55066"/>
                </a:cubicBezTo>
                <a:cubicBezTo>
                  <a:pt x="150822" y="59115"/>
                  <a:pt x="147102" y="61912"/>
                  <a:pt x="142875" y="61912"/>
                </a:cubicBezTo>
                <a:lnTo>
                  <a:pt x="133350" y="61912"/>
                </a:lnTo>
                <a:lnTo>
                  <a:pt x="133350" y="123825"/>
                </a:lnTo>
                <a:lnTo>
                  <a:pt x="148590" y="135255"/>
                </a:lnTo>
                <a:cubicBezTo>
                  <a:pt x="151001" y="137041"/>
                  <a:pt x="152400" y="139869"/>
                  <a:pt x="152400" y="142875"/>
                </a:cubicBezTo>
                <a:cubicBezTo>
                  <a:pt x="152400" y="148144"/>
                  <a:pt x="148144" y="152400"/>
                  <a:pt x="142875" y="152400"/>
                </a:cubicBezTo>
                <a:lnTo>
                  <a:pt x="9525" y="152400"/>
                </a:lnTo>
                <a:cubicBezTo>
                  <a:pt x="4256" y="152400"/>
                  <a:pt x="0" y="148144"/>
                  <a:pt x="0" y="142875"/>
                </a:cubicBezTo>
                <a:cubicBezTo>
                  <a:pt x="0" y="139869"/>
                  <a:pt x="1399" y="137041"/>
                  <a:pt x="3810" y="135255"/>
                </a:cubicBezTo>
                <a:lnTo>
                  <a:pt x="19050" y="123825"/>
                </a:lnTo>
                <a:lnTo>
                  <a:pt x="19050" y="123825"/>
                </a:lnTo>
                <a:lnTo>
                  <a:pt x="19050" y="61912"/>
                </a:lnTo>
                <a:lnTo>
                  <a:pt x="9525" y="61912"/>
                </a:lnTo>
                <a:cubicBezTo>
                  <a:pt x="5298" y="61912"/>
                  <a:pt x="1578" y="59115"/>
                  <a:pt x="387" y="55066"/>
                </a:cubicBezTo>
                <a:cubicBezTo>
                  <a:pt x="-804" y="51018"/>
                  <a:pt x="833" y="46643"/>
                  <a:pt x="4376" y="44381"/>
                </a:cubicBezTo>
                <a:lnTo>
                  <a:pt x="71051" y="1518"/>
                </a:lnTo>
                <a:close/>
                <a:moveTo>
                  <a:pt x="100013" y="61912"/>
                </a:moveTo>
                <a:lnTo>
                  <a:pt x="100013" y="123825"/>
                </a:lnTo>
                <a:lnTo>
                  <a:pt x="119062" y="123825"/>
                </a:lnTo>
                <a:lnTo>
                  <a:pt x="119062" y="61912"/>
                </a:lnTo>
                <a:lnTo>
                  <a:pt x="100013" y="61912"/>
                </a:lnTo>
                <a:close/>
                <a:moveTo>
                  <a:pt x="66675" y="123825"/>
                </a:moveTo>
                <a:lnTo>
                  <a:pt x="85725" y="123825"/>
                </a:lnTo>
                <a:lnTo>
                  <a:pt x="85725" y="61912"/>
                </a:lnTo>
                <a:lnTo>
                  <a:pt x="66675" y="61912"/>
                </a:lnTo>
                <a:lnTo>
                  <a:pt x="66675" y="123825"/>
                </a:lnTo>
                <a:close/>
                <a:moveTo>
                  <a:pt x="33338" y="61912"/>
                </a:moveTo>
                <a:lnTo>
                  <a:pt x="33338" y="123825"/>
                </a:lnTo>
                <a:lnTo>
                  <a:pt x="52388" y="123825"/>
                </a:lnTo>
                <a:lnTo>
                  <a:pt x="52388" y="61912"/>
                </a:lnTo>
                <a:lnTo>
                  <a:pt x="33338" y="61912"/>
                </a:lnTo>
                <a:close/>
              </a:path>
            </a:pathLst>
          </a:custGeom>
          <a:solidFill>
            <a:srgbClr val="DDFF00"/>
          </a:solidFill>
          <a:ln/>
        </p:spPr>
      </p:sp>
      <p:sp>
        <p:nvSpPr>
          <p:cNvPr id="40" name="Text 38"/>
          <p:cNvSpPr/>
          <p:nvPr/>
        </p:nvSpPr>
        <p:spPr>
          <a:xfrm>
            <a:off x="788670" y="5417820"/>
            <a:ext cx="5105400" cy="457200"/>
          </a:xfrm>
          <a:prstGeom prst="rect">
            <a:avLst/>
          </a:prstGeom>
          <a:noFill/>
          <a:ln/>
        </p:spPr>
        <p:txBody>
          <a:bodyPr wrap="square" lIns="0" tIns="0" rIns="0" bIns="0" rtlCol="0" anchor="ctr"/>
          <a:lstStyle/>
          <a:p>
            <a:pPr>
              <a:lnSpc>
                <a:spcPct val="130000"/>
              </a:lnSpc>
            </a:pPr>
            <a:r>
              <a:rPr lang="en-US" sz="1200" b="1" dirty="0">
                <a:solidFill>
                  <a:srgbClr val="DDFF00"/>
                </a:solidFill>
                <a:latin typeface="Liter" pitchFamily="34" charset="0"/>
                <a:ea typeface="Liter" pitchFamily="34" charset="-122"/>
                <a:cs typeface="Liter" pitchFamily="34" charset="-120"/>
              </a:rPr>
              <a:t>In India:</a:t>
            </a:r>
            <a:pPr>
              <a:lnSpc>
                <a:spcPct val="130000"/>
              </a:lnSpc>
            </a:pPr>
            <a:r>
              <a:rPr lang="en-US" sz="1200" dirty="0">
                <a:solidFill>
                  <a:srgbClr val="FFFFFF"/>
                </a:solidFill>
                <a:latin typeface="Liter" pitchFamily="34" charset="0"/>
                <a:ea typeface="Liter" pitchFamily="34" charset="-122"/>
                <a:cs typeface="Liter" pitchFamily="34" charset="-120"/>
              </a:rPr>
              <a:t> Cyber laws are primarily governed by the </a:t>
            </a:r>
            <a:pPr>
              <a:lnSpc>
                <a:spcPct val="130000"/>
              </a:lnSpc>
            </a:pPr>
            <a:r>
              <a:rPr lang="en-US" sz="1200" b="1" dirty="0">
                <a:solidFill>
                  <a:srgbClr val="DDFF00"/>
                </a:solidFill>
                <a:highlight>
                  <a:srgbClr val="DDFF00">
                    <a:alpha val="30000"/>
                  </a:srgbClr>
                </a:highlight>
                <a:latin typeface="Liter" pitchFamily="34" charset="0"/>
                <a:ea typeface="Liter" pitchFamily="34" charset="-122"/>
                <a:cs typeface="Liter" pitchFamily="34" charset="-120"/>
              </a:rPr>
              <a:t>Information Technology Act</a:t>
            </a:r>
            <a:endParaRPr lang="en-US" sz="1600" dirty="0"/>
          </a:p>
        </p:txBody>
      </p:sp>
      <p:sp>
        <p:nvSpPr>
          <p:cNvPr id="41" name="Shape 39"/>
          <p:cNvSpPr/>
          <p:nvPr/>
        </p:nvSpPr>
        <p:spPr>
          <a:xfrm>
            <a:off x="6210300" y="1333500"/>
            <a:ext cx="5600700" cy="5143500"/>
          </a:xfrm>
          <a:custGeom>
            <a:avLst/>
            <a:gdLst/>
            <a:ahLst/>
            <a:cxnLst/>
            <a:rect l="l" t="t" r="r" b="b"/>
            <a:pathLst>
              <a:path w="5600700" h="5143500">
                <a:moveTo>
                  <a:pt x="0" y="0"/>
                </a:moveTo>
                <a:lnTo>
                  <a:pt x="5600700" y="0"/>
                </a:lnTo>
                <a:lnTo>
                  <a:pt x="5600700" y="5143500"/>
                </a:lnTo>
                <a:lnTo>
                  <a:pt x="0" y="5143500"/>
                </a:lnTo>
                <a:lnTo>
                  <a:pt x="0" y="0"/>
                </a:lnTo>
                <a:close/>
              </a:path>
            </a:pathLst>
          </a:custGeom>
          <a:solidFill>
            <a:srgbClr val="111111"/>
          </a:solidFill>
          <a:ln/>
        </p:spPr>
      </p:sp>
      <p:sp>
        <p:nvSpPr>
          <p:cNvPr id="42" name="Shape 40"/>
          <p:cNvSpPr/>
          <p:nvPr/>
        </p:nvSpPr>
        <p:spPr>
          <a:xfrm>
            <a:off x="6429375" y="1561981"/>
            <a:ext cx="228600" cy="228600"/>
          </a:xfrm>
          <a:custGeom>
            <a:avLst/>
            <a:gdLst/>
            <a:ahLst/>
            <a:cxnLst/>
            <a:rect l="l" t="t" r="r" b="b"/>
            <a:pathLst>
              <a:path w="228600" h="228600">
                <a:moveTo>
                  <a:pt x="200025" y="114300"/>
                </a:moveTo>
                <a:cubicBezTo>
                  <a:pt x="200025" y="66987"/>
                  <a:pt x="161613" y="28575"/>
                  <a:pt x="114300" y="28575"/>
                </a:cubicBezTo>
                <a:cubicBezTo>
                  <a:pt x="66987" y="28575"/>
                  <a:pt x="28575" y="66987"/>
                  <a:pt x="28575" y="114300"/>
                </a:cubicBezTo>
                <a:cubicBezTo>
                  <a:pt x="28575" y="161613"/>
                  <a:pt x="66987" y="200025"/>
                  <a:pt x="114300" y="200025"/>
                </a:cubicBezTo>
                <a:cubicBezTo>
                  <a:pt x="161613" y="200025"/>
                  <a:pt x="200025" y="161613"/>
                  <a:pt x="200025" y="114300"/>
                </a:cubicBezTo>
                <a:close/>
                <a:moveTo>
                  <a:pt x="0" y="114300"/>
                </a:moveTo>
                <a:cubicBezTo>
                  <a:pt x="0" y="51216"/>
                  <a:pt x="51216" y="0"/>
                  <a:pt x="114300" y="0"/>
                </a:cubicBezTo>
                <a:cubicBezTo>
                  <a:pt x="177384" y="0"/>
                  <a:pt x="228600" y="51216"/>
                  <a:pt x="228600" y="114300"/>
                </a:cubicBezTo>
                <a:cubicBezTo>
                  <a:pt x="228600" y="177384"/>
                  <a:pt x="177384" y="228600"/>
                  <a:pt x="114300" y="228600"/>
                </a:cubicBezTo>
                <a:cubicBezTo>
                  <a:pt x="51216" y="228600"/>
                  <a:pt x="0" y="177384"/>
                  <a:pt x="0" y="114300"/>
                </a:cubicBezTo>
                <a:close/>
                <a:moveTo>
                  <a:pt x="114300" y="150019"/>
                </a:moveTo>
                <a:cubicBezTo>
                  <a:pt x="134014" y="150019"/>
                  <a:pt x="150019" y="134014"/>
                  <a:pt x="150019" y="114300"/>
                </a:cubicBezTo>
                <a:cubicBezTo>
                  <a:pt x="150019" y="94586"/>
                  <a:pt x="134014" y="78581"/>
                  <a:pt x="114300" y="78581"/>
                </a:cubicBezTo>
                <a:cubicBezTo>
                  <a:pt x="94586" y="78581"/>
                  <a:pt x="78581" y="94586"/>
                  <a:pt x="78581" y="114300"/>
                </a:cubicBezTo>
                <a:cubicBezTo>
                  <a:pt x="78581" y="134014"/>
                  <a:pt x="94586" y="150019"/>
                  <a:pt x="114300" y="150019"/>
                </a:cubicBezTo>
                <a:close/>
                <a:moveTo>
                  <a:pt x="114300" y="50006"/>
                </a:moveTo>
                <a:cubicBezTo>
                  <a:pt x="149785" y="50006"/>
                  <a:pt x="178594" y="78815"/>
                  <a:pt x="178594" y="114300"/>
                </a:cubicBezTo>
                <a:cubicBezTo>
                  <a:pt x="178594" y="149785"/>
                  <a:pt x="149785" y="178594"/>
                  <a:pt x="114300" y="178594"/>
                </a:cubicBezTo>
                <a:cubicBezTo>
                  <a:pt x="78815" y="178594"/>
                  <a:pt x="50006" y="149785"/>
                  <a:pt x="50006" y="114300"/>
                </a:cubicBezTo>
                <a:cubicBezTo>
                  <a:pt x="50006" y="78815"/>
                  <a:pt x="78815" y="50006"/>
                  <a:pt x="114300" y="50006"/>
                </a:cubicBezTo>
                <a:close/>
                <a:moveTo>
                  <a:pt x="100013" y="114300"/>
                </a:moveTo>
                <a:cubicBezTo>
                  <a:pt x="100013" y="106415"/>
                  <a:pt x="106415" y="100013"/>
                  <a:pt x="114300" y="100013"/>
                </a:cubicBezTo>
                <a:cubicBezTo>
                  <a:pt x="122185" y="100013"/>
                  <a:pt x="128588" y="106415"/>
                  <a:pt x="128588" y="114300"/>
                </a:cubicBezTo>
                <a:cubicBezTo>
                  <a:pt x="128588" y="122185"/>
                  <a:pt x="122185" y="128588"/>
                  <a:pt x="114300" y="128588"/>
                </a:cubicBezTo>
                <a:cubicBezTo>
                  <a:pt x="106415" y="128588"/>
                  <a:pt x="100013" y="122185"/>
                  <a:pt x="100013" y="114300"/>
                </a:cubicBezTo>
                <a:close/>
              </a:path>
            </a:pathLst>
          </a:custGeom>
          <a:solidFill>
            <a:srgbClr val="DDFF00"/>
          </a:solidFill>
          <a:ln/>
        </p:spPr>
      </p:sp>
      <p:sp>
        <p:nvSpPr>
          <p:cNvPr id="43" name="Text 41"/>
          <p:cNvSpPr/>
          <p:nvPr/>
        </p:nvSpPr>
        <p:spPr>
          <a:xfrm>
            <a:off x="6686550" y="1524000"/>
            <a:ext cx="5048250" cy="304800"/>
          </a:xfrm>
          <a:prstGeom prst="rect">
            <a:avLst/>
          </a:prstGeom>
          <a:noFill/>
          <a:ln/>
        </p:spPr>
        <p:txBody>
          <a:bodyPr wrap="square" lIns="0" tIns="0" rIns="0" bIns="0" rtlCol="0" anchor="ctr"/>
          <a:lstStyle/>
          <a:p>
            <a:pPr>
              <a:lnSpc>
                <a:spcPct val="110000"/>
              </a:lnSpc>
            </a:pPr>
            <a:r>
              <a:rPr lang="en-US" sz="1800" b="1" dirty="0">
                <a:solidFill>
                  <a:srgbClr val="DDFF00"/>
                </a:solidFill>
                <a:latin typeface="Liter" pitchFamily="34" charset="0"/>
                <a:ea typeface="Liter" pitchFamily="34" charset="-122"/>
                <a:cs typeface="Liter" pitchFamily="34" charset="-120"/>
              </a:rPr>
              <a:t>Objectives of Cyber Laws</a:t>
            </a:r>
            <a:endParaRPr lang="en-US" sz="1600" dirty="0"/>
          </a:p>
        </p:txBody>
      </p:sp>
      <p:sp>
        <p:nvSpPr>
          <p:cNvPr id="44" name="Shape 42"/>
          <p:cNvSpPr/>
          <p:nvPr/>
        </p:nvSpPr>
        <p:spPr>
          <a:xfrm>
            <a:off x="6400800" y="2019181"/>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solidFill>
            <a:srgbClr val="DDFF00"/>
          </a:solidFill>
          <a:ln/>
        </p:spPr>
      </p:sp>
      <p:sp>
        <p:nvSpPr>
          <p:cNvPr id="45" name="Text 43"/>
          <p:cNvSpPr/>
          <p:nvPr/>
        </p:nvSpPr>
        <p:spPr>
          <a:xfrm>
            <a:off x="6530459" y="2114431"/>
            <a:ext cx="295275" cy="266700"/>
          </a:xfrm>
          <a:prstGeom prst="rect">
            <a:avLst/>
          </a:prstGeom>
          <a:noFill/>
          <a:ln/>
        </p:spPr>
        <p:txBody>
          <a:bodyPr wrap="square" lIns="0" tIns="0" rIns="0" bIns="0" rtlCol="0" anchor="ctr"/>
          <a:lstStyle/>
          <a:p>
            <a:pPr>
              <a:lnSpc>
                <a:spcPct val="120000"/>
              </a:lnSpc>
            </a:pPr>
            <a:r>
              <a:rPr lang="en-US" sz="1500" b="1" dirty="0">
                <a:solidFill>
                  <a:srgbClr val="000000"/>
                </a:solidFill>
                <a:latin typeface="Liter" pitchFamily="34" charset="0"/>
                <a:ea typeface="Liter" pitchFamily="34" charset="-122"/>
                <a:cs typeface="Liter" pitchFamily="34" charset="-120"/>
              </a:rPr>
              <a:t>01</a:t>
            </a:r>
            <a:endParaRPr lang="en-US" sz="1600" dirty="0"/>
          </a:p>
        </p:txBody>
      </p:sp>
      <p:sp>
        <p:nvSpPr>
          <p:cNvPr id="46" name="Text 44"/>
          <p:cNvSpPr/>
          <p:nvPr/>
        </p:nvSpPr>
        <p:spPr>
          <a:xfrm>
            <a:off x="7010400" y="2019181"/>
            <a:ext cx="4695825" cy="266700"/>
          </a:xfrm>
          <a:prstGeom prst="rect">
            <a:avLst/>
          </a:prstGeom>
          <a:noFill/>
          <a:ln/>
        </p:spPr>
        <p:txBody>
          <a:bodyPr wrap="square" lIns="0" tIns="0" rIns="0" bIns="0" rtlCol="0" anchor="ctr"/>
          <a:lstStyle/>
          <a:p>
            <a:pPr>
              <a:lnSpc>
                <a:spcPct val="130000"/>
              </a:lnSpc>
            </a:pPr>
            <a:r>
              <a:rPr lang="en-US" sz="1350" b="1" dirty="0">
                <a:solidFill>
                  <a:srgbClr val="FFFFFF"/>
                </a:solidFill>
                <a:latin typeface="Liter" pitchFamily="34" charset="0"/>
                <a:ea typeface="Liter" pitchFamily="34" charset="-122"/>
                <a:cs typeface="Liter" pitchFamily="34" charset="-120"/>
              </a:rPr>
              <a:t>Legal Recognition</a:t>
            </a:r>
            <a:endParaRPr lang="en-US" sz="1600" dirty="0"/>
          </a:p>
        </p:txBody>
      </p:sp>
      <p:sp>
        <p:nvSpPr>
          <p:cNvPr id="47" name="Text 45"/>
          <p:cNvSpPr/>
          <p:nvPr/>
        </p:nvSpPr>
        <p:spPr>
          <a:xfrm>
            <a:off x="7010400" y="2323981"/>
            <a:ext cx="4686300" cy="228600"/>
          </a:xfrm>
          <a:prstGeom prst="rect">
            <a:avLst/>
          </a:prstGeom>
          <a:noFill/>
          <a:ln/>
        </p:spPr>
        <p:txBody>
          <a:bodyPr wrap="square" lIns="0" tIns="0" rIns="0" bIns="0" rtlCol="0" anchor="ctr"/>
          <a:lstStyle/>
          <a:p>
            <a:pPr>
              <a:lnSpc>
                <a:spcPct val="130000"/>
              </a:lnSpc>
            </a:pPr>
            <a:r>
              <a:rPr lang="en-US" sz="1200" dirty="0">
                <a:solidFill>
                  <a:srgbClr val="FFFFFF">
                    <a:alpha val="70000"/>
                  </a:srgbClr>
                </a:solidFill>
                <a:latin typeface="Liter" pitchFamily="34" charset="0"/>
                <a:ea typeface="Liter" pitchFamily="34" charset="-122"/>
                <a:cs typeface="Liter" pitchFamily="34" charset="-120"/>
              </a:rPr>
              <a:t>Provide legal recognition to electronic records and digital documents</a:t>
            </a:r>
            <a:endParaRPr lang="en-US" sz="1600" dirty="0"/>
          </a:p>
        </p:txBody>
      </p:sp>
      <p:sp>
        <p:nvSpPr>
          <p:cNvPr id="48" name="Shape 46"/>
          <p:cNvSpPr/>
          <p:nvPr/>
        </p:nvSpPr>
        <p:spPr>
          <a:xfrm>
            <a:off x="6400800" y="2666881"/>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solidFill>
            <a:srgbClr val="DDFF00"/>
          </a:solidFill>
          <a:ln/>
        </p:spPr>
      </p:sp>
      <p:sp>
        <p:nvSpPr>
          <p:cNvPr id="49" name="Text 47"/>
          <p:cNvSpPr/>
          <p:nvPr/>
        </p:nvSpPr>
        <p:spPr>
          <a:xfrm>
            <a:off x="6513195" y="2762131"/>
            <a:ext cx="323850" cy="266700"/>
          </a:xfrm>
          <a:prstGeom prst="rect">
            <a:avLst/>
          </a:prstGeom>
          <a:noFill/>
          <a:ln/>
        </p:spPr>
        <p:txBody>
          <a:bodyPr wrap="square" lIns="0" tIns="0" rIns="0" bIns="0" rtlCol="0" anchor="ctr"/>
          <a:lstStyle/>
          <a:p>
            <a:pPr>
              <a:lnSpc>
                <a:spcPct val="120000"/>
              </a:lnSpc>
            </a:pPr>
            <a:r>
              <a:rPr lang="en-US" sz="1500" b="1" dirty="0">
                <a:solidFill>
                  <a:srgbClr val="000000"/>
                </a:solidFill>
                <a:latin typeface="Liter" pitchFamily="34" charset="0"/>
                <a:ea typeface="Liter" pitchFamily="34" charset="-122"/>
                <a:cs typeface="Liter" pitchFamily="34" charset="-120"/>
              </a:rPr>
              <a:t>02</a:t>
            </a:r>
            <a:endParaRPr lang="en-US" sz="1600" dirty="0"/>
          </a:p>
        </p:txBody>
      </p:sp>
      <p:sp>
        <p:nvSpPr>
          <p:cNvPr id="50" name="Text 48"/>
          <p:cNvSpPr/>
          <p:nvPr/>
        </p:nvSpPr>
        <p:spPr>
          <a:xfrm>
            <a:off x="7010400" y="2666881"/>
            <a:ext cx="4695825" cy="266700"/>
          </a:xfrm>
          <a:prstGeom prst="rect">
            <a:avLst/>
          </a:prstGeom>
          <a:noFill/>
          <a:ln/>
        </p:spPr>
        <p:txBody>
          <a:bodyPr wrap="square" lIns="0" tIns="0" rIns="0" bIns="0" rtlCol="0" anchor="ctr"/>
          <a:lstStyle/>
          <a:p>
            <a:pPr>
              <a:lnSpc>
                <a:spcPct val="130000"/>
              </a:lnSpc>
            </a:pPr>
            <a:r>
              <a:rPr lang="en-US" sz="1350" b="1" dirty="0">
                <a:solidFill>
                  <a:srgbClr val="FFFFFF"/>
                </a:solidFill>
                <a:latin typeface="Liter" pitchFamily="34" charset="0"/>
                <a:ea typeface="Liter" pitchFamily="34" charset="-122"/>
                <a:cs typeface="Liter" pitchFamily="34" charset="-120"/>
              </a:rPr>
              <a:t>Prevent Cyber Crimes</a:t>
            </a:r>
            <a:endParaRPr lang="en-US" sz="1600" dirty="0"/>
          </a:p>
        </p:txBody>
      </p:sp>
      <p:sp>
        <p:nvSpPr>
          <p:cNvPr id="51" name="Text 49"/>
          <p:cNvSpPr/>
          <p:nvPr/>
        </p:nvSpPr>
        <p:spPr>
          <a:xfrm>
            <a:off x="7010400" y="2971681"/>
            <a:ext cx="4686300" cy="457200"/>
          </a:xfrm>
          <a:prstGeom prst="rect">
            <a:avLst/>
          </a:prstGeom>
          <a:noFill/>
          <a:ln/>
        </p:spPr>
        <p:txBody>
          <a:bodyPr wrap="square" lIns="0" tIns="0" rIns="0" bIns="0" rtlCol="0" anchor="ctr"/>
          <a:lstStyle/>
          <a:p>
            <a:pPr>
              <a:lnSpc>
                <a:spcPct val="130000"/>
              </a:lnSpc>
            </a:pPr>
            <a:r>
              <a:rPr lang="en-US" sz="1200" dirty="0">
                <a:solidFill>
                  <a:srgbClr val="FFFFFF">
                    <a:alpha val="70000"/>
                  </a:srgbClr>
                </a:solidFill>
                <a:latin typeface="Liter" pitchFamily="34" charset="0"/>
                <a:ea typeface="Liter" pitchFamily="34" charset="-122"/>
                <a:cs typeface="Liter" pitchFamily="34" charset="-120"/>
              </a:rPr>
              <a:t>Establish legal framework to prevent and punish cyber criminal activities</a:t>
            </a:r>
            <a:endParaRPr lang="en-US" sz="1600" dirty="0"/>
          </a:p>
        </p:txBody>
      </p:sp>
      <p:sp>
        <p:nvSpPr>
          <p:cNvPr id="52" name="Shape 50"/>
          <p:cNvSpPr/>
          <p:nvPr/>
        </p:nvSpPr>
        <p:spPr>
          <a:xfrm>
            <a:off x="6400800" y="3543181"/>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solidFill>
            <a:srgbClr val="DDFF00"/>
          </a:solidFill>
          <a:ln/>
        </p:spPr>
      </p:sp>
      <p:sp>
        <p:nvSpPr>
          <p:cNvPr id="53" name="Text 51"/>
          <p:cNvSpPr/>
          <p:nvPr/>
        </p:nvSpPr>
        <p:spPr>
          <a:xfrm>
            <a:off x="6512362" y="3638431"/>
            <a:ext cx="333375" cy="266700"/>
          </a:xfrm>
          <a:prstGeom prst="rect">
            <a:avLst/>
          </a:prstGeom>
          <a:noFill/>
          <a:ln/>
        </p:spPr>
        <p:txBody>
          <a:bodyPr wrap="square" lIns="0" tIns="0" rIns="0" bIns="0" rtlCol="0" anchor="ctr"/>
          <a:lstStyle/>
          <a:p>
            <a:pPr>
              <a:lnSpc>
                <a:spcPct val="120000"/>
              </a:lnSpc>
            </a:pPr>
            <a:r>
              <a:rPr lang="en-US" sz="1500" b="1" dirty="0">
                <a:solidFill>
                  <a:srgbClr val="000000"/>
                </a:solidFill>
                <a:latin typeface="Liter" pitchFamily="34" charset="0"/>
                <a:ea typeface="Liter" pitchFamily="34" charset="-122"/>
                <a:cs typeface="Liter" pitchFamily="34" charset="-120"/>
              </a:rPr>
              <a:t>03</a:t>
            </a:r>
            <a:endParaRPr lang="en-US" sz="1600" dirty="0"/>
          </a:p>
        </p:txBody>
      </p:sp>
      <p:sp>
        <p:nvSpPr>
          <p:cNvPr id="54" name="Text 52"/>
          <p:cNvSpPr/>
          <p:nvPr/>
        </p:nvSpPr>
        <p:spPr>
          <a:xfrm>
            <a:off x="7010400" y="3543181"/>
            <a:ext cx="4695825" cy="266700"/>
          </a:xfrm>
          <a:prstGeom prst="rect">
            <a:avLst/>
          </a:prstGeom>
          <a:noFill/>
          <a:ln/>
        </p:spPr>
        <p:txBody>
          <a:bodyPr wrap="square" lIns="0" tIns="0" rIns="0" bIns="0" rtlCol="0" anchor="ctr"/>
          <a:lstStyle/>
          <a:p>
            <a:pPr>
              <a:lnSpc>
                <a:spcPct val="130000"/>
              </a:lnSpc>
            </a:pPr>
            <a:r>
              <a:rPr lang="en-US" sz="1350" b="1" dirty="0">
                <a:solidFill>
                  <a:srgbClr val="FFFFFF"/>
                </a:solidFill>
                <a:latin typeface="Liter" pitchFamily="34" charset="0"/>
                <a:ea typeface="Liter" pitchFamily="34" charset="-122"/>
                <a:cs typeface="Liter" pitchFamily="34" charset="-120"/>
              </a:rPr>
              <a:t>Regulate Digital Communication</a:t>
            </a:r>
            <a:endParaRPr lang="en-US" sz="1600" dirty="0"/>
          </a:p>
        </p:txBody>
      </p:sp>
      <p:sp>
        <p:nvSpPr>
          <p:cNvPr id="55" name="Text 53"/>
          <p:cNvSpPr/>
          <p:nvPr/>
        </p:nvSpPr>
        <p:spPr>
          <a:xfrm>
            <a:off x="7010400" y="3847981"/>
            <a:ext cx="4686300" cy="228600"/>
          </a:xfrm>
          <a:prstGeom prst="rect">
            <a:avLst/>
          </a:prstGeom>
          <a:noFill/>
          <a:ln/>
        </p:spPr>
        <p:txBody>
          <a:bodyPr wrap="square" lIns="0" tIns="0" rIns="0" bIns="0" rtlCol="0" anchor="ctr"/>
          <a:lstStyle/>
          <a:p>
            <a:pPr>
              <a:lnSpc>
                <a:spcPct val="130000"/>
              </a:lnSpc>
            </a:pPr>
            <a:r>
              <a:rPr lang="en-US" sz="1200" dirty="0">
                <a:solidFill>
                  <a:srgbClr val="FFFFFF">
                    <a:alpha val="70000"/>
                  </a:srgbClr>
                </a:solidFill>
                <a:latin typeface="Liter" pitchFamily="34" charset="0"/>
                <a:ea typeface="Liter" pitchFamily="34" charset="-122"/>
                <a:cs typeface="Liter" pitchFamily="34" charset="-120"/>
              </a:rPr>
              <a:t>Ensure secure and lawful digital communication channels</a:t>
            </a:r>
            <a:endParaRPr lang="en-US" sz="1600" dirty="0"/>
          </a:p>
        </p:txBody>
      </p:sp>
      <p:sp>
        <p:nvSpPr>
          <p:cNvPr id="56" name="Shape 54"/>
          <p:cNvSpPr/>
          <p:nvPr/>
        </p:nvSpPr>
        <p:spPr>
          <a:xfrm>
            <a:off x="6400800" y="4190881"/>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solidFill>
            <a:srgbClr val="DDFF00"/>
          </a:solidFill>
          <a:ln/>
        </p:spPr>
      </p:sp>
      <p:sp>
        <p:nvSpPr>
          <p:cNvPr id="57" name="Text 55"/>
          <p:cNvSpPr/>
          <p:nvPr/>
        </p:nvSpPr>
        <p:spPr>
          <a:xfrm>
            <a:off x="6512481" y="4286131"/>
            <a:ext cx="333375" cy="266700"/>
          </a:xfrm>
          <a:prstGeom prst="rect">
            <a:avLst/>
          </a:prstGeom>
          <a:noFill/>
          <a:ln/>
        </p:spPr>
        <p:txBody>
          <a:bodyPr wrap="square" lIns="0" tIns="0" rIns="0" bIns="0" rtlCol="0" anchor="ctr"/>
          <a:lstStyle/>
          <a:p>
            <a:pPr>
              <a:lnSpc>
                <a:spcPct val="120000"/>
              </a:lnSpc>
            </a:pPr>
            <a:r>
              <a:rPr lang="en-US" sz="1500" b="1" dirty="0">
                <a:solidFill>
                  <a:srgbClr val="000000"/>
                </a:solidFill>
                <a:latin typeface="Liter" pitchFamily="34" charset="0"/>
                <a:ea typeface="Liter" pitchFamily="34" charset="-122"/>
                <a:cs typeface="Liter" pitchFamily="34" charset="-120"/>
              </a:rPr>
              <a:t>04</a:t>
            </a:r>
            <a:endParaRPr lang="en-US" sz="1600" dirty="0"/>
          </a:p>
        </p:txBody>
      </p:sp>
      <p:sp>
        <p:nvSpPr>
          <p:cNvPr id="58" name="Text 56"/>
          <p:cNvSpPr/>
          <p:nvPr/>
        </p:nvSpPr>
        <p:spPr>
          <a:xfrm>
            <a:off x="7010400" y="4190881"/>
            <a:ext cx="4695825" cy="266700"/>
          </a:xfrm>
          <a:prstGeom prst="rect">
            <a:avLst/>
          </a:prstGeom>
          <a:noFill/>
          <a:ln/>
        </p:spPr>
        <p:txBody>
          <a:bodyPr wrap="square" lIns="0" tIns="0" rIns="0" bIns="0" rtlCol="0" anchor="ctr"/>
          <a:lstStyle/>
          <a:p>
            <a:pPr>
              <a:lnSpc>
                <a:spcPct val="130000"/>
              </a:lnSpc>
            </a:pPr>
            <a:r>
              <a:rPr lang="en-US" sz="1350" b="1" dirty="0">
                <a:solidFill>
                  <a:srgbClr val="FFFFFF"/>
                </a:solidFill>
                <a:latin typeface="Liter" pitchFamily="34" charset="0"/>
                <a:ea typeface="Liter" pitchFamily="34" charset="-122"/>
                <a:cs typeface="Liter" pitchFamily="34" charset="-120"/>
              </a:rPr>
              <a:t>Protect Users &amp; Businesses</a:t>
            </a:r>
            <a:endParaRPr lang="en-US" sz="1600" dirty="0"/>
          </a:p>
        </p:txBody>
      </p:sp>
      <p:sp>
        <p:nvSpPr>
          <p:cNvPr id="59" name="Text 57"/>
          <p:cNvSpPr/>
          <p:nvPr/>
        </p:nvSpPr>
        <p:spPr>
          <a:xfrm>
            <a:off x="7010400" y="4495681"/>
            <a:ext cx="4686300" cy="228600"/>
          </a:xfrm>
          <a:prstGeom prst="rect">
            <a:avLst/>
          </a:prstGeom>
          <a:noFill/>
          <a:ln/>
        </p:spPr>
        <p:txBody>
          <a:bodyPr wrap="square" lIns="0" tIns="0" rIns="0" bIns="0" rtlCol="0" anchor="ctr"/>
          <a:lstStyle/>
          <a:p>
            <a:pPr>
              <a:lnSpc>
                <a:spcPct val="130000"/>
              </a:lnSpc>
            </a:pPr>
            <a:r>
              <a:rPr lang="en-US" sz="1200" dirty="0">
                <a:solidFill>
                  <a:srgbClr val="FFFFFF">
                    <a:alpha val="70000"/>
                  </a:srgbClr>
                </a:solidFill>
                <a:latin typeface="Liter" pitchFamily="34" charset="0"/>
                <a:ea typeface="Liter" pitchFamily="34" charset="-122"/>
                <a:cs typeface="Liter" pitchFamily="34" charset="-120"/>
              </a:rPr>
              <a:t>Safeguard rights of individuals and organizations in digital space</a:t>
            </a:r>
            <a:endParaRPr lang="en-US" sz="1600" dirty="0"/>
          </a:p>
        </p:txBody>
      </p:sp>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81000" y="476250"/>
            <a:ext cx="76200" cy="457200"/>
          </a:xfrm>
          <a:custGeom>
            <a:avLst/>
            <a:gdLst/>
            <a:ahLst/>
            <a:cxnLst/>
            <a:rect l="l" t="t" r="r" b="b"/>
            <a:pathLst>
              <a:path w="76200" h="457200">
                <a:moveTo>
                  <a:pt x="0" y="0"/>
                </a:moveTo>
                <a:lnTo>
                  <a:pt x="76200" y="0"/>
                </a:lnTo>
                <a:lnTo>
                  <a:pt x="76200" y="457200"/>
                </a:lnTo>
                <a:lnTo>
                  <a:pt x="0" y="457200"/>
                </a:lnTo>
                <a:lnTo>
                  <a:pt x="0" y="0"/>
                </a:lnTo>
                <a:close/>
              </a:path>
            </a:pathLst>
          </a:custGeom>
          <a:solidFill>
            <a:srgbClr val="DDFF00"/>
          </a:solidFill>
          <a:ln/>
        </p:spPr>
      </p:sp>
      <p:sp>
        <p:nvSpPr>
          <p:cNvPr id="3" name="Text 1"/>
          <p:cNvSpPr/>
          <p:nvPr/>
        </p:nvSpPr>
        <p:spPr>
          <a:xfrm>
            <a:off x="609600" y="381000"/>
            <a:ext cx="4276725" cy="190500"/>
          </a:xfrm>
          <a:prstGeom prst="rect">
            <a:avLst/>
          </a:prstGeom>
          <a:noFill/>
          <a:ln/>
        </p:spPr>
        <p:txBody>
          <a:bodyPr wrap="square" lIns="0" tIns="0" rIns="0" bIns="0" rtlCol="0" anchor="ctr"/>
          <a:lstStyle/>
          <a:p>
            <a:pPr>
              <a:lnSpc>
                <a:spcPct val="120000"/>
              </a:lnSpc>
            </a:pPr>
            <a:r>
              <a:rPr lang="en-US" sz="1050" b="1" spc="105" kern="0" dirty="0">
                <a:solidFill>
                  <a:srgbClr val="DDFF00"/>
                </a:solidFill>
                <a:latin typeface="Liter" pitchFamily="34" charset="0"/>
                <a:ea typeface="Liter" pitchFamily="34" charset="-122"/>
                <a:cs typeface="Liter" pitchFamily="34" charset="-120"/>
              </a:rPr>
              <a:t>CHAPTER 02</a:t>
            </a:r>
            <a:endParaRPr lang="en-US" sz="1600" dirty="0"/>
          </a:p>
        </p:txBody>
      </p:sp>
      <p:sp>
        <p:nvSpPr>
          <p:cNvPr id="4" name="Text 2"/>
          <p:cNvSpPr/>
          <p:nvPr/>
        </p:nvSpPr>
        <p:spPr>
          <a:xfrm>
            <a:off x="609600" y="571500"/>
            <a:ext cx="4438650" cy="457200"/>
          </a:xfrm>
          <a:prstGeom prst="rect">
            <a:avLst/>
          </a:prstGeom>
          <a:noFill/>
          <a:ln/>
        </p:spPr>
        <p:txBody>
          <a:bodyPr wrap="square" lIns="0" tIns="0" rIns="0" bIns="0" rtlCol="0" anchor="ctr"/>
          <a:lstStyle/>
          <a:p>
            <a:pPr>
              <a:lnSpc>
                <a:spcPct val="80000"/>
              </a:lnSpc>
            </a:pPr>
            <a:r>
              <a:rPr lang="en-US" sz="3600" b="1" dirty="0">
                <a:solidFill>
                  <a:srgbClr val="FFFFFF"/>
                </a:solidFill>
                <a:latin typeface="Liter" pitchFamily="34" charset="0"/>
                <a:ea typeface="Liter" pitchFamily="34" charset="-122"/>
                <a:cs typeface="Liter" pitchFamily="34" charset="-120"/>
              </a:rPr>
              <a:t>Need for Cyber Laws</a:t>
            </a:r>
            <a:endParaRPr lang="en-US" sz="1600" dirty="0"/>
          </a:p>
        </p:txBody>
      </p:sp>
      <p:sp>
        <p:nvSpPr>
          <p:cNvPr id="5" name="Shape 3"/>
          <p:cNvSpPr/>
          <p:nvPr/>
        </p:nvSpPr>
        <p:spPr>
          <a:xfrm>
            <a:off x="381000" y="1276350"/>
            <a:ext cx="3705225" cy="3152775"/>
          </a:xfrm>
          <a:custGeom>
            <a:avLst/>
            <a:gdLst/>
            <a:ahLst/>
            <a:cxnLst/>
            <a:rect l="l" t="t" r="r" b="b"/>
            <a:pathLst>
              <a:path w="3705225" h="3152775">
                <a:moveTo>
                  <a:pt x="0" y="0"/>
                </a:moveTo>
                <a:lnTo>
                  <a:pt x="3705225" y="0"/>
                </a:lnTo>
                <a:lnTo>
                  <a:pt x="3705225" y="3152775"/>
                </a:lnTo>
                <a:lnTo>
                  <a:pt x="0" y="3152775"/>
                </a:lnTo>
                <a:lnTo>
                  <a:pt x="0" y="0"/>
                </a:lnTo>
                <a:close/>
              </a:path>
            </a:pathLst>
          </a:custGeom>
          <a:solidFill>
            <a:srgbClr val="111111"/>
          </a:solidFill>
          <a:ln/>
        </p:spPr>
      </p:sp>
      <p:sp>
        <p:nvSpPr>
          <p:cNvPr id="6" name="Shape 4"/>
          <p:cNvSpPr/>
          <p:nvPr/>
        </p:nvSpPr>
        <p:spPr>
          <a:xfrm>
            <a:off x="381000" y="1276350"/>
            <a:ext cx="3705225" cy="38100"/>
          </a:xfrm>
          <a:custGeom>
            <a:avLst/>
            <a:gdLst/>
            <a:ahLst/>
            <a:cxnLst/>
            <a:rect l="l" t="t" r="r" b="b"/>
            <a:pathLst>
              <a:path w="3705225" h="38100">
                <a:moveTo>
                  <a:pt x="0" y="0"/>
                </a:moveTo>
                <a:lnTo>
                  <a:pt x="3705225" y="0"/>
                </a:lnTo>
                <a:lnTo>
                  <a:pt x="3705225" y="38100"/>
                </a:lnTo>
                <a:lnTo>
                  <a:pt x="0" y="38100"/>
                </a:lnTo>
                <a:lnTo>
                  <a:pt x="0" y="0"/>
                </a:lnTo>
                <a:close/>
              </a:path>
            </a:pathLst>
          </a:custGeom>
          <a:solidFill>
            <a:srgbClr val="DDFF00"/>
          </a:solidFill>
          <a:ln/>
        </p:spPr>
      </p:sp>
      <p:sp>
        <p:nvSpPr>
          <p:cNvPr id="7" name="Shape 5"/>
          <p:cNvSpPr/>
          <p:nvPr/>
        </p:nvSpPr>
        <p:spPr>
          <a:xfrm>
            <a:off x="533400" y="1447800"/>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solidFill>
            <a:srgbClr val="DDFF00"/>
          </a:solidFill>
          <a:ln/>
        </p:spPr>
      </p:sp>
      <p:sp>
        <p:nvSpPr>
          <p:cNvPr id="8" name="Shape 6"/>
          <p:cNvSpPr/>
          <p:nvPr/>
        </p:nvSpPr>
        <p:spPr>
          <a:xfrm>
            <a:off x="678656" y="1581150"/>
            <a:ext cx="166688" cy="190500"/>
          </a:xfrm>
          <a:custGeom>
            <a:avLst/>
            <a:gdLst/>
            <a:ahLst/>
            <a:cxnLst/>
            <a:rect l="l" t="t" r="r" b="b"/>
            <a:pathLst>
              <a:path w="166688" h="190500">
                <a:moveTo>
                  <a:pt x="63624" y="-5953"/>
                </a:moveTo>
                <a:cubicBezTo>
                  <a:pt x="50081" y="-5953"/>
                  <a:pt x="42118" y="15739"/>
                  <a:pt x="38212" y="35719"/>
                </a:cubicBezTo>
                <a:lnTo>
                  <a:pt x="26789" y="35719"/>
                </a:lnTo>
                <a:cubicBezTo>
                  <a:pt x="21841" y="35719"/>
                  <a:pt x="17859" y="39700"/>
                  <a:pt x="17859" y="44648"/>
                </a:cubicBezTo>
                <a:cubicBezTo>
                  <a:pt x="17859" y="49597"/>
                  <a:pt x="21841" y="53578"/>
                  <a:pt x="26789" y="53578"/>
                </a:cubicBezTo>
                <a:lnTo>
                  <a:pt x="35719" y="53578"/>
                </a:lnTo>
                <a:lnTo>
                  <a:pt x="35719" y="65484"/>
                </a:lnTo>
                <a:cubicBezTo>
                  <a:pt x="35719" y="71810"/>
                  <a:pt x="36947" y="77837"/>
                  <a:pt x="39179" y="83344"/>
                </a:cubicBezTo>
                <a:lnTo>
                  <a:pt x="35719" y="83344"/>
                </a:lnTo>
                <a:lnTo>
                  <a:pt x="35719" y="83344"/>
                </a:lnTo>
                <a:lnTo>
                  <a:pt x="28091" y="83344"/>
                </a:lnTo>
                <a:cubicBezTo>
                  <a:pt x="22436" y="83344"/>
                  <a:pt x="17859" y="87920"/>
                  <a:pt x="17859" y="93576"/>
                </a:cubicBezTo>
                <a:cubicBezTo>
                  <a:pt x="17859" y="94692"/>
                  <a:pt x="18045" y="95771"/>
                  <a:pt x="18380" y="96813"/>
                </a:cubicBezTo>
                <a:lnTo>
                  <a:pt x="29133" y="129034"/>
                </a:lnTo>
                <a:cubicBezTo>
                  <a:pt x="14957" y="141238"/>
                  <a:pt x="5953" y="159283"/>
                  <a:pt x="5953" y="179450"/>
                </a:cubicBezTo>
                <a:cubicBezTo>
                  <a:pt x="5953" y="185551"/>
                  <a:pt x="10902" y="190500"/>
                  <a:pt x="17004" y="190500"/>
                </a:cubicBezTo>
                <a:lnTo>
                  <a:pt x="149684" y="190500"/>
                </a:lnTo>
                <a:cubicBezTo>
                  <a:pt x="155786" y="190500"/>
                  <a:pt x="160734" y="185551"/>
                  <a:pt x="160734" y="179450"/>
                </a:cubicBezTo>
                <a:cubicBezTo>
                  <a:pt x="160734" y="159283"/>
                  <a:pt x="151730" y="141238"/>
                  <a:pt x="137554" y="129071"/>
                </a:cubicBezTo>
                <a:lnTo>
                  <a:pt x="148307" y="96850"/>
                </a:lnTo>
                <a:cubicBezTo>
                  <a:pt x="148642" y="95808"/>
                  <a:pt x="148828" y="94729"/>
                  <a:pt x="148828" y="93613"/>
                </a:cubicBezTo>
                <a:cubicBezTo>
                  <a:pt x="148828" y="87957"/>
                  <a:pt x="144252" y="83381"/>
                  <a:pt x="138596" y="83381"/>
                </a:cubicBezTo>
                <a:lnTo>
                  <a:pt x="130969" y="83381"/>
                </a:lnTo>
                <a:lnTo>
                  <a:pt x="130969" y="83381"/>
                </a:lnTo>
                <a:lnTo>
                  <a:pt x="127508" y="83381"/>
                </a:lnTo>
                <a:cubicBezTo>
                  <a:pt x="129741" y="77874"/>
                  <a:pt x="130969" y="71847"/>
                  <a:pt x="130969" y="65522"/>
                </a:cubicBezTo>
                <a:lnTo>
                  <a:pt x="130969" y="53615"/>
                </a:lnTo>
                <a:lnTo>
                  <a:pt x="139898" y="53615"/>
                </a:lnTo>
                <a:cubicBezTo>
                  <a:pt x="144847" y="53615"/>
                  <a:pt x="148828" y="49634"/>
                  <a:pt x="148828" y="44686"/>
                </a:cubicBezTo>
                <a:cubicBezTo>
                  <a:pt x="148828" y="39737"/>
                  <a:pt x="144847" y="35756"/>
                  <a:pt x="139898" y="35756"/>
                </a:cubicBezTo>
                <a:lnTo>
                  <a:pt x="128476" y="35756"/>
                </a:lnTo>
                <a:cubicBezTo>
                  <a:pt x="124606" y="15776"/>
                  <a:pt x="116607" y="-5916"/>
                  <a:pt x="103063" y="-5916"/>
                </a:cubicBezTo>
                <a:cubicBezTo>
                  <a:pt x="99492" y="-5916"/>
                  <a:pt x="95994" y="-4465"/>
                  <a:pt x="92832" y="-2865"/>
                </a:cubicBezTo>
                <a:cubicBezTo>
                  <a:pt x="89781" y="-1339"/>
                  <a:pt x="85985" y="37"/>
                  <a:pt x="83344" y="37"/>
                </a:cubicBezTo>
                <a:cubicBezTo>
                  <a:pt x="80702" y="37"/>
                  <a:pt x="76907" y="-1339"/>
                  <a:pt x="73856" y="-2865"/>
                </a:cubicBezTo>
                <a:cubicBezTo>
                  <a:pt x="70693" y="-4502"/>
                  <a:pt x="67196" y="-5953"/>
                  <a:pt x="63624" y="-5953"/>
                </a:cubicBezTo>
                <a:close/>
                <a:moveTo>
                  <a:pt x="98487" y="174278"/>
                </a:moveTo>
                <a:lnTo>
                  <a:pt x="89260" y="147898"/>
                </a:lnTo>
                <a:lnTo>
                  <a:pt x="99640" y="135806"/>
                </a:lnTo>
                <a:cubicBezTo>
                  <a:pt x="100645" y="134615"/>
                  <a:pt x="101203" y="133127"/>
                  <a:pt x="101203" y="131564"/>
                </a:cubicBezTo>
                <a:cubicBezTo>
                  <a:pt x="101203" y="127955"/>
                  <a:pt x="98301" y="125053"/>
                  <a:pt x="94692" y="125053"/>
                </a:cubicBezTo>
                <a:lnTo>
                  <a:pt x="71996" y="125053"/>
                </a:lnTo>
                <a:cubicBezTo>
                  <a:pt x="68387" y="125053"/>
                  <a:pt x="65484" y="127955"/>
                  <a:pt x="65484" y="131564"/>
                </a:cubicBezTo>
                <a:cubicBezTo>
                  <a:pt x="65484" y="133127"/>
                  <a:pt x="66042" y="134615"/>
                  <a:pt x="67047" y="135806"/>
                </a:cubicBezTo>
                <a:lnTo>
                  <a:pt x="77428" y="147898"/>
                </a:lnTo>
                <a:lnTo>
                  <a:pt x="68200" y="174278"/>
                </a:lnTo>
                <a:lnTo>
                  <a:pt x="46992" y="107156"/>
                </a:lnTo>
                <a:lnTo>
                  <a:pt x="60275" y="107156"/>
                </a:lnTo>
                <a:cubicBezTo>
                  <a:pt x="67121" y="110951"/>
                  <a:pt x="74972" y="113109"/>
                  <a:pt x="83344" y="113109"/>
                </a:cubicBezTo>
                <a:cubicBezTo>
                  <a:pt x="91715" y="113109"/>
                  <a:pt x="99566" y="110951"/>
                  <a:pt x="106412" y="107156"/>
                </a:cubicBezTo>
                <a:lnTo>
                  <a:pt x="119695" y="107156"/>
                </a:lnTo>
                <a:lnTo>
                  <a:pt x="98487" y="174278"/>
                </a:lnTo>
                <a:close/>
                <a:moveTo>
                  <a:pt x="83344" y="95250"/>
                </a:moveTo>
                <a:cubicBezTo>
                  <a:pt x="70433" y="95250"/>
                  <a:pt x="59457" y="87027"/>
                  <a:pt x="55327" y="75530"/>
                </a:cubicBezTo>
                <a:cubicBezTo>
                  <a:pt x="57448" y="76721"/>
                  <a:pt x="59903" y="77391"/>
                  <a:pt x="62508" y="77391"/>
                </a:cubicBezTo>
                <a:lnTo>
                  <a:pt x="67121" y="77391"/>
                </a:lnTo>
                <a:cubicBezTo>
                  <a:pt x="73261" y="77391"/>
                  <a:pt x="78693" y="73447"/>
                  <a:pt x="80628" y="67642"/>
                </a:cubicBezTo>
                <a:cubicBezTo>
                  <a:pt x="81483" y="65038"/>
                  <a:pt x="85167" y="65038"/>
                  <a:pt x="86023" y="67642"/>
                </a:cubicBezTo>
                <a:cubicBezTo>
                  <a:pt x="87957" y="73447"/>
                  <a:pt x="93427" y="77391"/>
                  <a:pt x="99529" y="77391"/>
                </a:cubicBezTo>
                <a:lnTo>
                  <a:pt x="104142" y="77391"/>
                </a:lnTo>
                <a:cubicBezTo>
                  <a:pt x="106747" y="77391"/>
                  <a:pt x="109203" y="76721"/>
                  <a:pt x="111323" y="75530"/>
                </a:cubicBezTo>
                <a:cubicBezTo>
                  <a:pt x="107193" y="87027"/>
                  <a:pt x="96217" y="95250"/>
                  <a:pt x="83307" y="95250"/>
                </a:cubicBezTo>
                <a:close/>
              </a:path>
            </a:pathLst>
          </a:custGeom>
          <a:solidFill>
            <a:srgbClr val="000000"/>
          </a:solidFill>
          <a:ln/>
        </p:spPr>
      </p:sp>
      <p:sp>
        <p:nvSpPr>
          <p:cNvPr id="9" name="Text 7"/>
          <p:cNvSpPr/>
          <p:nvPr/>
        </p:nvSpPr>
        <p:spPr>
          <a:xfrm>
            <a:off x="1104900" y="1543050"/>
            <a:ext cx="2057400"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Liter" pitchFamily="34" charset="0"/>
                <a:ea typeface="Liter" pitchFamily="34" charset="-122"/>
                <a:cs typeface="Liter" pitchFamily="34" charset="-120"/>
              </a:rPr>
              <a:t>Increasing Cyber Crime</a:t>
            </a:r>
            <a:endParaRPr lang="en-US" sz="1600" dirty="0"/>
          </a:p>
        </p:txBody>
      </p:sp>
      <p:sp>
        <p:nvSpPr>
          <p:cNvPr id="10" name="Text 8"/>
          <p:cNvSpPr/>
          <p:nvPr/>
        </p:nvSpPr>
        <p:spPr>
          <a:xfrm>
            <a:off x="533400" y="2019300"/>
            <a:ext cx="3476625" cy="1495425"/>
          </a:xfrm>
          <a:prstGeom prst="rect">
            <a:avLst/>
          </a:prstGeom>
          <a:noFill/>
          <a:ln/>
        </p:spPr>
        <p:txBody>
          <a:bodyPr wrap="square" lIns="0" tIns="0" rIns="0" bIns="0" rtlCol="0" anchor="ctr"/>
          <a:lstStyle/>
          <a:p>
            <a:pPr>
              <a:lnSpc>
                <a:spcPct val="130000"/>
              </a:lnSpc>
            </a:pPr>
            <a:r>
              <a:rPr lang="en-US" sz="1200" dirty="0">
                <a:solidFill>
                  <a:srgbClr val="FFFFFF">
                    <a:alpha val="80000"/>
                  </a:srgbClr>
                </a:solidFill>
                <a:latin typeface="Liter" pitchFamily="34" charset="0"/>
                <a:ea typeface="Liter" pitchFamily="34" charset="-122"/>
                <a:cs typeface="Liter" pitchFamily="34" charset="-120"/>
              </a:rPr>
              <a:t>With rapid digitalization, crimes such as </a:t>
            </a:r>
            <a:pPr>
              <a:lnSpc>
                <a:spcPct val="130000"/>
              </a:lnSpc>
            </a:pPr>
            <a:r>
              <a:rPr lang="en-US" sz="1200" dirty="0">
                <a:solidFill>
                  <a:srgbClr val="DDFF00"/>
                </a:solidFill>
                <a:latin typeface="Liter" pitchFamily="34" charset="0"/>
                <a:ea typeface="Liter" pitchFamily="34" charset="-122"/>
                <a:cs typeface="Liter" pitchFamily="34" charset="-120"/>
              </a:rPr>
              <a:t>hacking, identity theft, ransomware, cyber terrorism,</a:t>
            </a:r>
            <a:pPr>
              <a:lnSpc>
                <a:spcPct val="130000"/>
              </a:lnSpc>
            </a:pPr>
            <a:r>
              <a:rPr lang="en-US" sz="1200" dirty="0">
                <a:solidFill>
                  <a:srgbClr val="FFFFFF">
                    <a:alpha val="80000"/>
                  </a:srgbClr>
                </a:solidFill>
                <a:latin typeface="Liter" pitchFamily="34" charset="0"/>
                <a:ea typeface="Liter" pitchFamily="34" charset="-122"/>
                <a:cs typeface="Liter" pitchFamily="34" charset="-120"/>
              </a:rPr>
              <a:t> and </a:t>
            </a:r>
            <a:pPr>
              <a:lnSpc>
                <a:spcPct val="130000"/>
              </a:lnSpc>
            </a:pPr>
            <a:r>
              <a:rPr lang="en-US" sz="1200" dirty="0">
                <a:solidFill>
                  <a:srgbClr val="DDFF00"/>
                </a:solidFill>
                <a:latin typeface="Liter" pitchFamily="34" charset="0"/>
                <a:ea typeface="Liter" pitchFamily="34" charset="-122"/>
                <a:cs typeface="Liter" pitchFamily="34" charset="-120"/>
              </a:rPr>
              <a:t>phishing attacks</a:t>
            </a:r>
            <a:pPr>
              <a:lnSpc>
                <a:spcPct val="130000"/>
              </a:lnSpc>
            </a:pPr>
            <a:r>
              <a:rPr lang="en-US" sz="1200" dirty="0">
                <a:solidFill>
                  <a:srgbClr val="FFFFFF">
                    <a:alpha val="80000"/>
                  </a:srgbClr>
                </a:solidFill>
                <a:latin typeface="Liter" pitchFamily="34" charset="0"/>
                <a:ea typeface="Liter" pitchFamily="34" charset="-122"/>
                <a:cs typeface="Liter" pitchFamily="34" charset="-120"/>
              </a:rPr>
              <a:t> are increasing exponentially.</a:t>
            </a:r>
            <a:endParaRPr lang="en-US" sz="1600" dirty="0"/>
          </a:p>
        </p:txBody>
      </p:sp>
      <p:sp>
        <p:nvSpPr>
          <p:cNvPr id="11" name="Shape 9"/>
          <p:cNvSpPr/>
          <p:nvPr/>
        </p:nvSpPr>
        <p:spPr>
          <a:xfrm>
            <a:off x="552450" y="3655457"/>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88657" y="55398"/>
                </a:moveTo>
                <a:lnTo>
                  <a:pt x="67821" y="88735"/>
                </a:lnTo>
                <a:cubicBezTo>
                  <a:pt x="66727" y="90480"/>
                  <a:pt x="64852" y="91574"/>
                  <a:pt x="62794" y="91678"/>
                </a:cubicBezTo>
                <a:cubicBezTo>
                  <a:pt x="60737" y="91782"/>
                  <a:pt x="58757" y="90845"/>
                  <a:pt x="57533" y="89178"/>
                </a:cubicBezTo>
                <a:lnTo>
                  <a:pt x="45032" y="72509"/>
                </a:lnTo>
                <a:cubicBezTo>
                  <a:pt x="42948" y="69748"/>
                  <a:pt x="43521" y="65842"/>
                  <a:pt x="46282" y="63758"/>
                </a:cubicBezTo>
                <a:cubicBezTo>
                  <a:pt x="49043" y="61674"/>
                  <a:pt x="52949" y="62247"/>
                  <a:pt x="55033" y="65008"/>
                </a:cubicBezTo>
                <a:lnTo>
                  <a:pt x="62065" y="74384"/>
                </a:lnTo>
                <a:lnTo>
                  <a:pt x="78057" y="48782"/>
                </a:lnTo>
                <a:cubicBezTo>
                  <a:pt x="79880" y="45865"/>
                  <a:pt x="83734" y="44954"/>
                  <a:pt x="86678" y="46803"/>
                </a:cubicBezTo>
                <a:cubicBezTo>
                  <a:pt x="89621" y="48652"/>
                  <a:pt x="90506" y="52481"/>
                  <a:pt x="88657" y="55424"/>
                </a:cubicBezTo>
                <a:close/>
              </a:path>
            </a:pathLst>
          </a:custGeom>
          <a:solidFill>
            <a:srgbClr val="DDFF00"/>
          </a:solidFill>
          <a:ln/>
        </p:spPr>
      </p:sp>
      <p:sp>
        <p:nvSpPr>
          <p:cNvPr id="12" name="Text 10"/>
          <p:cNvSpPr/>
          <p:nvPr/>
        </p:nvSpPr>
        <p:spPr>
          <a:xfrm>
            <a:off x="776288" y="3626882"/>
            <a:ext cx="1562100" cy="190500"/>
          </a:xfrm>
          <a:prstGeom prst="rect">
            <a:avLst/>
          </a:prstGeom>
          <a:noFill/>
          <a:ln/>
        </p:spPr>
        <p:txBody>
          <a:bodyPr wrap="square" lIns="0" tIns="0" rIns="0" bIns="0" rtlCol="0" anchor="ctr"/>
          <a:lstStyle/>
          <a:p>
            <a:pPr>
              <a:lnSpc>
                <a:spcPct val="120000"/>
              </a:lnSpc>
            </a:pPr>
            <a:r>
              <a:rPr lang="en-US" sz="1050" dirty="0">
                <a:solidFill>
                  <a:srgbClr val="FFFFFF">
                    <a:alpha val="70000"/>
                  </a:srgbClr>
                </a:solidFill>
                <a:latin typeface="Liter" pitchFamily="34" charset="0"/>
                <a:ea typeface="Liter" pitchFamily="34" charset="-122"/>
                <a:cs typeface="Liter" pitchFamily="34" charset="-120"/>
              </a:rPr>
              <a:t>Punishment for offenders</a:t>
            </a:r>
            <a:endParaRPr lang="en-US" sz="1600" dirty="0"/>
          </a:p>
        </p:txBody>
      </p:sp>
      <p:sp>
        <p:nvSpPr>
          <p:cNvPr id="13" name="Shape 11"/>
          <p:cNvSpPr/>
          <p:nvPr/>
        </p:nvSpPr>
        <p:spPr>
          <a:xfrm>
            <a:off x="552450" y="3884057"/>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88657" y="55398"/>
                </a:moveTo>
                <a:lnTo>
                  <a:pt x="67821" y="88735"/>
                </a:lnTo>
                <a:cubicBezTo>
                  <a:pt x="66727" y="90480"/>
                  <a:pt x="64852" y="91574"/>
                  <a:pt x="62794" y="91678"/>
                </a:cubicBezTo>
                <a:cubicBezTo>
                  <a:pt x="60737" y="91782"/>
                  <a:pt x="58757" y="90845"/>
                  <a:pt x="57533" y="89178"/>
                </a:cubicBezTo>
                <a:lnTo>
                  <a:pt x="45032" y="72509"/>
                </a:lnTo>
                <a:cubicBezTo>
                  <a:pt x="42948" y="69748"/>
                  <a:pt x="43521" y="65842"/>
                  <a:pt x="46282" y="63758"/>
                </a:cubicBezTo>
                <a:cubicBezTo>
                  <a:pt x="49043" y="61674"/>
                  <a:pt x="52949" y="62247"/>
                  <a:pt x="55033" y="65008"/>
                </a:cubicBezTo>
                <a:lnTo>
                  <a:pt x="62065" y="74384"/>
                </a:lnTo>
                <a:lnTo>
                  <a:pt x="78057" y="48782"/>
                </a:lnTo>
                <a:cubicBezTo>
                  <a:pt x="79880" y="45865"/>
                  <a:pt x="83734" y="44954"/>
                  <a:pt x="86678" y="46803"/>
                </a:cubicBezTo>
                <a:cubicBezTo>
                  <a:pt x="89621" y="48652"/>
                  <a:pt x="90506" y="52481"/>
                  <a:pt x="88657" y="55424"/>
                </a:cubicBezTo>
                <a:close/>
              </a:path>
            </a:pathLst>
          </a:custGeom>
          <a:solidFill>
            <a:srgbClr val="DDFF00"/>
          </a:solidFill>
          <a:ln/>
        </p:spPr>
      </p:sp>
      <p:sp>
        <p:nvSpPr>
          <p:cNvPr id="14" name="Text 12"/>
          <p:cNvSpPr/>
          <p:nvPr/>
        </p:nvSpPr>
        <p:spPr>
          <a:xfrm>
            <a:off x="776288" y="3855482"/>
            <a:ext cx="1609725" cy="190500"/>
          </a:xfrm>
          <a:prstGeom prst="rect">
            <a:avLst/>
          </a:prstGeom>
          <a:noFill/>
          <a:ln/>
        </p:spPr>
        <p:txBody>
          <a:bodyPr wrap="square" lIns="0" tIns="0" rIns="0" bIns="0" rtlCol="0" anchor="ctr"/>
          <a:lstStyle/>
          <a:p>
            <a:pPr>
              <a:lnSpc>
                <a:spcPct val="120000"/>
              </a:lnSpc>
            </a:pPr>
            <a:r>
              <a:rPr lang="en-US" sz="1050" dirty="0">
                <a:solidFill>
                  <a:srgbClr val="FFFFFF">
                    <a:alpha val="70000"/>
                  </a:srgbClr>
                </a:solidFill>
                <a:latin typeface="Liter" pitchFamily="34" charset="0"/>
                <a:ea typeface="Liter" pitchFamily="34" charset="-122"/>
                <a:cs typeface="Liter" pitchFamily="34" charset="-120"/>
              </a:rPr>
              <a:t>Legal remedies for victims</a:t>
            </a:r>
            <a:endParaRPr lang="en-US" sz="1600" dirty="0"/>
          </a:p>
        </p:txBody>
      </p:sp>
      <p:sp>
        <p:nvSpPr>
          <p:cNvPr id="15" name="Shape 13"/>
          <p:cNvSpPr/>
          <p:nvPr/>
        </p:nvSpPr>
        <p:spPr>
          <a:xfrm>
            <a:off x="552450" y="4112657"/>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88657" y="55398"/>
                </a:moveTo>
                <a:lnTo>
                  <a:pt x="67821" y="88735"/>
                </a:lnTo>
                <a:cubicBezTo>
                  <a:pt x="66727" y="90480"/>
                  <a:pt x="64852" y="91574"/>
                  <a:pt x="62794" y="91678"/>
                </a:cubicBezTo>
                <a:cubicBezTo>
                  <a:pt x="60737" y="91782"/>
                  <a:pt x="58757" y="90845"/>
                  <a:pt x="57533" y="89178"/>
                </a:cubicBezTo>
                <a:lnTo>
                  <a:pt x="45032" y="72509"/>
                </a:lnTo>
                <a:cubicBezTo>
                  <a:pt x="42948" y="69748"/>
                  <a:pt x="43521" y="65842"/>
                  <a:pt x="46282" y="63758"/>
                </a:cubicBezTo>
                <a:cubicBezTo>
                  <a:pt x="49043" y="61674"/>
                  <a:pt x="52949" y="62247"/>
                  <a:pt x="55033" y="65008"/>
                </a:cubicBezTo>
                <a:lnTo>
                  <a:pt x="62065" y="74384"/>
                </a:lnTo>
                <a:lnTo>
                  <a:pt x="78057" y="48782"/>
                </a:lnTo>
                <a:cubicBezTo>
                  <a:pt x="79880" y="45865"/>
                  <a:pt x="83734" y="44954"/>
                  <a:pt x="86678" y="46803"/>
                </a:cubicBezTo>
                <a:cubicBezTo>
                  <a:pt x="89621" y="48652"/>
                  <a:pt x="90506" y="52481"/>
                  <a:pt x="88657" y="55424"/>
                </a:cubicBezTo>
                <a:close/>
              </a:path>
            </a:pathLst>
          </a:custGeom>
          <a:solidFill>
            <a:srgbClr val="DDFF00"/>
          </a:solidFill>
          <a:ln/>
        </p:spPr>
      </p:sp>
      <p:sp>
        <p:nvSpPr>
          <p:cNvPr id="16" name="Text 14"/>
          <p:cNvSpPr/>
          <p:nvPr/>
        </p:nvSpPr>
        <p:spPr>
          <a:xfrm>
            <a:off x="776288" y="4084082"/>
            <a:ext cx="1981200" cy="190500"/>
          </a:xfrm>
          <a:prstGeom prst="rect">
            <a:avLst/>
          </a:prstGeom>
          <a:noFill/>
          <a:ln/>
        </p:spPr>
        <p:txBody>
          <a:bodyPr wrap="square" lIns="0" tIns="0" rIns="0" bIns="0" rtlCol="0" anchor="ctr"/>
          <a:lstStyle/>
          <a:p>
            <a:pPr>
              <a:lnSpc>
                <a:spcPct val="120000"/>
              </a:lnSpc>
            </a:pPr>
            <a:r>
              <a:rPr lang="en-US" sz="1050" dirty="0">
                <a:solidFill>
                  <a:srgbClr val="FFFFFF">
                    <a:alpha val="70000"/>
                  </a:srgbClr>
                </a:solidFill>
                <a:latin typeface="Liter" pitchFamily="34" charset="0"/>
                <a:ea typeface="Liter" pitchFamily="34" charset="-122"/>
                <a:cs typeface="Liter" pitchFamily="34" charset="-120"/>
              </a:rPr>
              <a:t>Cyber investigation mechanisms</a:t>
            </a:r>
            <a:endParaRPr lang="en-US" sz="1600" dirty="0"/>
          </a:p>
        </p:txBody>
      </p:sp>
      <p:sp>
        <p:nvSpPr>
          <p:cNvPr id="17" name="Shape 15"/>
          <p:cNvSpPr/>
          <p:nvPr/>
        </p:nvSpPr>
        <p:spPr>
          <a:xfrm>
            <a:off x="4241721" y="1276350"/>
            <a:ext cx="3705225" cy="3152775"/>
          </a:xfrm>
          <a:custGeom>
            <a:avLst/>
            <a:gdLst/>
            <a:ahLst/>
            <a:cxnLst/>
            <a:rect l="l" t="t" r="r" b="b"/>
            <a:pathLst>
              <a:path w="3705225" h="3152775">
                <a:moveTo>
                  <a:pt x="0" y="0"/>
                </a:moveTo>
                <a:lnTo>
                  <a:pt x="3705225" y="0"/>
                </a:lnTo>
                <a:lnTo>
                  <a:pt x="3705225" y="3152775"/>
                </a:lnTo>
                <a:lnTo>
                  <a:pt x="0" y="3152775"/>
                </a:lnTo>
                <a:lnTo>
                  <a:pt x="0" y="0"/>
                </a:lnTo>
                <a:close/>
              </a:path>
            </a:pathLst>
          </a:custGeom>
          <a:solidFill>
            <a:srgbClr val="111111"/>
          </a:solidFill>
          <a:ln/>
        </p:spPr>
      </p:sp>
      <p:sp>
        <p:nvSpPr>
          <p:cNvPr id="18" name="Shape 16"/>
          <p:cNvSpPr/>
          <p:nvPr/>
        </p:nvSpPr>
        <p:spPr>
          <a:xfrm>
            <a:off x="4241721" y="1276350"/>
            <a:ext cx="3705225" cy="38100"/>
          </a:xfrm>
          <a:custGeom>
            <a:avLst/>
            <a:gdLst/>
            <a:ahLst/>
            <a:cxnLst/>
            <a:rect l="l" t="t" r="r" b="b"/>
            <a:pathLst>
              <a:path w="3705225" h="38100">
                <a:moveTo>
                  <a:pt x="0" y="0"/>
                </a:moveTo>
                <a:lnTo>
                  <a:pt x="3705225" y="0"/>
                </a:lnTo>
                <a:lnTo>
                  <a:pt x="3705225" y="38100"/>
                </a:lnTo>
                <a:lnTo>
                  <a:pt x="0" y="38100"/>
                </a:lnTo>
                <a:lnTo>
                  <a:pt x="0" y="0"/>
                </a:lnTo>
                <a:close/>
              </a:path>
            </a:pathLst>
          </a:custGeom>
          <a:solidFill>
            <a:srgbClr val="DDFF00"/>
          </a:solidFill>
          <a:ln/>
        </p:spPr>
      </p:sp>
      <p:sp>
        <p:nvSpPr>
          <p:cNvPr id="19" name="Shape 17"/>
          <p:cNvSpPr/>
          <p:nvPr/>
        </p:nvSpPr>
        <p:spPr>
          <a:xfrm>
            <a:off x="4394121" y="1447800"/>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solidFill>
            <a:srgbClr val="DDFF00"/>
          </a:solidFill>
          <a:ln/>
        </p:spPr>
      </p:sp>
      <p:sp>
        <p:nvSpPr>
          <p:cNvPr id="20" name="Shape 18"/>
          <p:cNvSpPr/>
          <p:nvPr/>
        </p:nvSpPr>
        <p:spPr>
          <a:xfrm>
            <a:off x="4527471" y="1581150"/>
            <a:ext cx="190500" cy="190500"/>
          </a:xfrm>
          <a:custGeom>
            <a:avLst/>
            <a:gdLst/>
            <a:ahLst/>
            <a:cxnLst/>
            <a:rect l="l" t="t" r="r" b="b"/>
            <a:pathLst>
              <a:path w="190500" h="190500">
                <a:moveTo>
                  <a:pt x="0" y="47625"/>
                </a:moveTo>
                <a:lnTo>
                  <a:pt x="0" y="59531"/>
                </a:lnTo>
                <a:lnTo>
                  <a:pt x="190500" y="59531"/>
                </a:lnTo>
                <a:lnTo>
                  <a:pt x="190500" y="47625"/>
                </a:lnTo>
                <a:cubicBezTo>
                  <a:pt x="190500" y="34491"/>
                  <a:pt x="179822" y="23812"/>
                  <a:pt x="166688" y="23812"/>
                </a:cubicBezTo>
                <a:lnTo>
                  <a:pt x="23812" y="23812"/>
                </a:lnTo>
                <a:cubicBezTo>
                  <a:pt x="10678" y="23812"/>
                  <a:pt x="0" y="34491"/>
                  <a:pt x="0" y="47625"/>
                </a:cubicBezTo>
                <a:close/>
                <a:moveTo>
                  <a:pt x="0" y="77391"/>
                </a:moveTo>
                <a:lnTo>
                  <a:pt x="0" y="142875"/>
                </a:lnTo>
                <a:cubicBezTo>
                  <a:pt x="0" y="156009"/>
                  <a:pt x="10678" y="166688"/>
                  <a:pt x="23812" y="166688"/>
                </a:cubicBezTo>
                <a:lnTo>
                  <a:pt x="166688" y="166688"/>
                </a:lnTo>
                <a:cubicBezTo>
                  <a:pt x="179822" y="166688"/>
                  <a:pt x="190500" y="156009"/>
                  <a:pt x="190500" y="142875"/>
                </a:cubicBezTo>
                <a:lnTo>
                  <a:pt x="190500" y="77391"/>
                </a:lnTo>
                <a:lnTo>
                  <a:pt x="0" y="77391"/>
                </a:lnTo>
                <a:close/>
                <a:moveTo>
                  <a:pt x="23812" y="133945"/>
                </a:moveTo>
                <a:cubicBezTo>
                  <a:pt x="23812" y="128997"/>
                  <a:pt x="27794" y="125016"/>
                  <a:pt x="32742" y="125016"/>
                </a:cubicBezTo>
                <a:lnTo>
                  <a:pt x="50602" y="125016"/>
                </a:lnTo>
                <a:cubicBezTo>
                  <a:pt x="55550" y="125016"/>
                  <a:pt x="59531" y="128997"/>
                  <a:pt x="59531" y="133945"/>
                </a:cubicBezTo>
                <a:cubicBezTo>
                  <a:pt x="59531" y="138894"/>
                  <a:pt x="55550" y="142875"/>
                  <a:pt x="50602" y="142875"/>
                </a:cubicBezTo>
                <a:lnTo>
                  <a:pt x="32742" y="142875"/>
                </a:lnTo>
                <a:cubicBezTo>
                  <a:pt x="27794" y="142875"/>
                  <a:pt x="23812" y="138894"/>
                  <a:pt x="23812" y="133945"/>
                </a:cubicBezTo>
                <a:close/>
                <a:moveTo>
                  <a:pt x="77391" y="133945"/>
                </a:moveTo>
                <a:cubicBezTo>
                  <a:pt x="77391" y="128997"/>
                  <a:pt x="81372" y="125016"/>
                  <a:pt x="86320" y="125016"/>
                </a:cubicBezTo>
                <a:lnTo>
                  <a:pt x="110133" y="125016"/>
                </a:lnTo>
                <a:cubicBezTo>
                  <a:pt x="115081" y="125016"/>
                  <a:pt x="119063" y="128997"/>
                  <a:pt x="119063" y="133945"/>
                </a:cubicBezTo>
                <a:cubicBezTo>
                  <a:pt x="119063" y="138894"/>
                  <a:pt x="115081" y="142875"/>
                  <a:pt x="110133" y="142875"/>
                </a:cubicBezTo>
                <a:lnTo>
                  <a:pt x="86320" y="142875"/>
                </a:lnTo>
                <a:cubicBezTo>
                  <a:pt x="81372" y="142875"/>
                  <a:pt x="77391" y="138894"/>
                  <a:pt x="77391" y="133945"/>
                </a:cubicBezTo>
                <a:close/>
              </a:path>
            </a:pathLst>
          </a:custGeom>
          <a:solidFill>
            <a:srgbClr val="000000"/>
          </a:solidFill>
          <a:ln/>
        </p:spPr>
      </p:sp>
      <p:sp>
        <p:nvSpPr>
          <p:cNvPr id="21" name="Text 19"/>
          <p:cNvSpPr/>
          <p:nvPr/>
        </p:nvSpPr>
        <p:spPr>
          <a:xfrm>
            <a:off x="4965621" y="1543050"/>
            <a:ext cx="1762125"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Liter" pitchFamily="34" charset="0"/>
                <a:ea typeface="Liter" pitchFamily="34" charset="-122"/>
                <a:cs typeface="Liter" pitchFamily="34" charset="-120"/>
              </a:rPr>
              <a:t>Digital Transactions</a:t>
            </a:r>
            <a:endParaRPr lang="en-US" sz="1600" dirty="0"/>
          </a:p>
        </p:txBody>
      </p:sp>
      <p:sp>
        <p:nvSpPr>
          <p:cNvPr id="22" name="Text 20"/>
          <p:cNvSpPr/>
          <p:nvPr/>
        </p:nvSpPr>
        <p:spPr>
          <a:xfrm>
            <a:off x="4394121" y="2019300"/>
            <a:ext cx="3476625" cy="1495425"/>
          </a:xfrm>
          <a:prstGeom prst="rect">
            <a:avLst/>
          </a:prstGeom>
          <a:noFill/>
          <a:ln/>
        </p:spPr>
        <p:txBody>
          <a:bodyPr wrap="square" lIns="0" tIns="0" rIns="0" bIns="0" rtlCol="0" anchor="ctr"/>
          <a:lstStyle/>
          <a:p>
            <a:pPr>
              <a:lnSpc>
                <a:spcPct val="130000"/>
              </a:lnSpc>
            </a:pPr>
            <a:r>
              <a:rPr lang="en-US" sz="1200" dirty="0">
                <a:solidFill>
                  <a:srgbClr val="DDFF00"/>
                </a:solidFill>
                <a:latin typeface="Liter" pitchFamily="34" charset="0"/>
                <a:ea typeface="Liter" pitchFamily="34" charset="-122"/>
                <a:cs typeface="Liter" pitchFamily="34" charset="-120"/>
              </a:rPr>
              <a:t>Online banking, UPI payments, e-commerce platforms</a:t>
            </a:r>
            <a:pPr>
              <a:lnSpc>
                <a:spcPct val="130000"/>
              </a:lnSpc>
            </a:pPr>
            <a:r>
              <a:rPr lang="en-US" sz="1200" dirty="0">
                <a:solidFill>
                  <a:srgbClr val="FFFFFF">
                    <a:alpha val="80000"/>
                  </a:srgbClr>
                </a:solidFill>
                <a:latin typeface="Liter" pitchFamily="34" charset="0"/>
                <a:ea typeface="Liter" pitchFamily="34" charset="-122"/>
                <a:cs typeface="Liter" pitchFamily="34" charset="-120"/>
              </a:rPr>
              <a:t> require robust legal frameworks for secure transactions.</a:t>
            </a:r>
            <a:endParaRPr lang="en-US" sz="1600" dirty="0"/>
          </a:p>
        </p:txBody>
      </p:sp>
      <p:sp>
        <p:nvSpPr>
          <p:cNvPr id="23" name="Shape 21"/>
          <p:cNvSpPr/>
          <p:nvPr/>
        </p:nvSpPr>
        <p:spPr>
          <a:xfrm>
            <a:off x="4413171" y="3655457"/>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88657" y="55398"/>
                </a:moveTo>
                <a:lnTo>
                  <a:pt x="67821" y="88735"/>
                </a:lnTo>
                <a:cubicBezTo>
                  <a:pt x="66727" y="90480"/>
                  <a:pt x="64852" y="91574"/>
                  <a:pt x="62794" y="91678"/>
                </a:cubicBezTo>
                <a:cubicBezTo>
                  <a:pt x="60737" y="91782"/>
                  <a:pt x="58757" y="90845"/>
                  <a:pt x="57533" y="89178"/>
                </a:cubicBezTo>
                <a:lnTo>
                  <a:pt x="45032" y="72509"/>
                </a:lnTo>
                <a:cubicBezTo>
                  <a:pt x="42948" y="69748"/>
                  <a:pt x="43521" y="65842"/>
                  <a:pt x="46282" y="63758"/>
                </a:cubicBezTo>
                <a:cubicBezTo>
                  <a:pt x="49043" y="61674"/>
                  <a:pt x="52949" y="62247"/>
                  <a:pt x="55033" y="65008"/>
                </a:cubicBezTo>
                <a:lnTo>
                  <a:pt x="62065" y="74384"/>
                </a:lnTo>
                <a:lnTo>
                  <a:pt x="78057" y="48782"/>
                </a:lnTo>
                <a:cubicBezTo>
                  <a:pt x="79880" y="45865"/>
                  <a:pt x="83734" y="44954"/>
                  <a:pt x="86678" y="46803"/>
                </a:cubicBezTo>
                <a:cubicBezTo>
                  <a:pt x="89621" y="48652"/>
                  <a:pt x="90506" y="52481"/>
                  <a:pt x="88657" y="55424"/>
                </a:cubicBezTo>
                <a:close/>
              </a:path>
            </a:pathLst>
          </a:custGeom>
          <a:solidFill>
            <a:srgbClr val="DDFF00"/>
          </a:solidFill>
          <a:ln/>
        </p:spPr>
      </p:sp>
      <p:sp>
        <p:nvSpPr>
          <p:cNvPr id="24" name="Text 22"/>
          <p:cNvSpPr/>
          <p:nvPr/>
        </p:nvSpPr>
        <p:spPr>
          <a:xfrm>
            <a:off x="4637008" y="3626882"/>
            <a:ext cx="2162175" cy="190500"/>
          </a:xfrm>
          <a:prstGeom prst="rect">
            <a:avLst/>
          </a:prstGeom>
          <a:noFill/>
          <a:ln/>
        </p:spPr>
        <p:txBody>
          <a:bodyPr wrap="square" lIns="0" tIns="0" rIns="0" bIns="0" rtlCol="0" anchor="ctr"/>
          <a:lstStyle/>
          <a:p>
            <a:pPr>
              <a:lnSpc>
                <a:spcPct val="120000"/>
              </a:lnSpc>
            </a:pPr>
            <a:r>
              <a:rPr lang="en-US" sz="1050" dirty="0">
                <a:solidFill>
                  <a:srgbClr val="FFFFFF">
                    <a:alpha val="70000"/>
                  </a:srgbClr>
                </a:solidFill>
                <a:latin typeface="Liter" pitchFamily="34" charset="0"/>
                <a:ea typeface="Liter" pitchFamily="34" charset="-122"/>
                <a:cs typeface="Liter" pitchFamily="34" charset="-120"/>
              </a:rPr>
              <a:t>Legal validation of digital signatures</a:t>
            </a:r>
            <a:endParaRPr lang="en-US" sz="1600" dirty="0"/>
          </a:p>
        </p:txBody>
      </p:sp>
      <p:sp>
        <p:nvSpPr>
          <p:cNvPr id="25" name="Shape 23"/>
          <p:cNvSpPr/>
          <p:nvPr/>
        </p:nvSpPr>
        <p:spPr>
          <a:xfrm>
            <a:off x="4413171" y="3884057"/>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88657" y="55398"/>
                </a:moveTo>
                <a:lnTo>
                  <a:pt x="67821" y="88735"/>
                </a:lnTo>
                <a:cubicBezTo>
                  <a:pt x="66727" y="90480"/>
                  <a:pt x="64852" y="91574"/>
                  <a:pt x="62794" y="91678"/>
                </a:cubicBezTo>
                <a:cubicBezTo>
                  <a:pt x="60737" y="91782"/>
                  <a:pt x="58757" y="90845"/>
                  <a:pt x="57533" y="89178"/>
                </a:cubicBezTo>
                <a:lnTo>
                  <a:pt x="45032" y="72509"/>
                </a:lnTo>
                <a:cubicBezTo>
                  <a:pt x="42948" y="69748"/>
                  <a:pt x="43521" y="65842"/>
                  <a:pt x="46282" y="63758"/>
                </a:cubicBezTo>
                <a:cubicBezTo>
                  <a:pt x="49043" y="61674"/>
                  <a:pt x="52949" y="62247"/>
                  <a:pt x="55033" y="65008"/>
                </a:cubicBezTo>
                <a:lnTo>
                  <a:pt x="62065" y="74384"/>
                </a:lnTo>
                <a:lnTo>
                  <a:pt x="78057" y="48782"/>
                </a:lnTo>
                <a:cubicBezTo>
                  <a:pt x="79880" y="45865"/>
                  <a:pt x="83734" y="44954"/>
                  <a:pt x="86678" y="46803"/>
                </a:cubicBezTo>
                <a:cubicBezTo>
                  <a:pt x="89621" y="48652"/>
                  <a:pt x="90506" y="52481"/>
                  <a:pt x="88657" y="55424"/>
                </a:cubicBezTo>
                <a:close/>
              </a:path>
            </a:pathLst>
          </a:custGeom>
          <a:solidFill>
            <a:srgbClr val="DDFF00"/>
          </a:solidFill>
          <a:ln/>
        </p:spPr>
      </p:sp>
      <p:sp>
        <p:nvSpPr>
          <p:cNvPr id="26" name="Text 24"/>
          <p:cNvSpPr/>
          <p:nvPr/>
        </p:nvSpPr>
        <p:spPr>
          <a:xfrm>
            <a:off x="4637008" y="3855482"/>
            <a:ext cx="1476375" cy="190500"/>
          </a:xfrm>
          <a:prstGeom prst="rect">
            <a:avLst/>
          </a:prstGeom>
          <a:noFill/>
          <a:ln/>
        </p:spPr>
        <p:txBody>
          <a:bodyPr wrap="square" lIns="0" tIns="0" rIns="0" bIns="0" rtlCol="0" anchor="ctr"/>
          <a:lstStyle/>
          <a:p>
            <a:pPr>
              <a:lnSpc>
                <a:spcPct val="120000"/>
              </a:lnSpc>
            </a:pPr>
            <a:r>
              <a:rPr lang="en-US" sz="1050" dirty="0">
                <a:solidFill>
                  <a:srgbClr val="FFFFFF">
                    <a:alpha val="70000"/>
                  </a:srgbClr>
                </a:solidFill>
                <a:latin typeface="Liter" pitchFamily="34" charset="0"/>
                <a:ea typeface="Liter" pitchFamily="34" charset="-122"/>
                <a:cs typeface="Liter" pitchFamily="34" charset="-120"/>
              </a:rPr>
              <a:t>Protection against fraud</a:t>
            </a:r>
            <a:endParaRPr lang="en-US" sz="1600" dirty="0"/>
          </a:p>
        </p:txBody>
      </p:sp>
      <p:sp>
        <p:nvSpPr>
          <p:cNvPr id="27" name="Shape 25"/>
          <p:cNvSpPr/>
          <p:nvPr/>
        </p:nvSpPr>
        <p:spPr>
          <a:xfrm>
            <a:off x="4413171" y="4112657"/>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88657" y="55398"/>
                </a:moveTo>
                <a:lnTo>
                  <a:pt x="67821" y="88735"/>
                </a:lnTo>
                <a:cubicBezTo>
                  <a:pt x="66727" y="90480"/>
                  <a:pt x="64852" y="91574"/>
                  <a:pt x="62794" y="91678"/>
                </a:cubicBezTo>
                <a:cubicBezTo>
                  <a:pt x="60737" y="91782"/>
                  <a:pt x="58757" y="90845"/>
                  <a:pt x="57533" y="89178"/>
                </a:cubicBezTo>
                <a:lnTo>
                  <a:pt x="45032" y="72509"/>
                </a:lnTo>
                <a:cubicBezTo>
                  <a:pt x="42948" y="69748"/>
                  <a:pt x="43521" y="65842"/>
                  <a:pt x="46282" y="63758"/>
                </a:cubicBezTo>
                <a:cubicBezTo>
                  <a:pt x="49043" y="61674"/>
                  <a:pt x="52949" y="62247"/>
                  <a:pt x="55033" y="65008"/>
                </a:cubicBezTo>
                <a:lnTo>
                  <a:pt x="62065" y="74384"/>
                </a:lnTo>
                <a:lnTo>
                  <a:pt x="78057" y="48782"/>
                </a:lnTo>
                <a:cubicBezTo>
                  <a:pt x="79880" y="45865"/>
                  <a:pt x="83734" y="44954"/>
                  <a:pt x="86678" y="46803"/>
                </a:cubicBezTo>
                <a:cubicBezTo>
                  <a:pt x="89621" y="48652"/>
                  <a:pt x="90506" y="52481"/>
                  <a:pt x="88657" y="55424"/>
                </a:cubicBezTo>
                <a:close/>
              </a:path>
            </a:pathLst>
          </a:custGeom>
          <a:solidFill>
            <a:srgbClr val="DDFF00"/>
          </a:solidFill>
          <a:ln/>
        </p:spPr>
      </p:sp>
      <p:sp>
        <p:nvSpPr>
          <p:cNvPr id="28" name="Text 26"/>
          <p:cNvSpPr/>
          <p:nvPr/>
        </p:nvSpPr>
        <p:spPr>
          <a:xfrm>
            <a:off x="4637008" y="4084082"/>
            <a:ext cx="1676400" cy="190500"/>
          </a:xfrm>
          <a:prstGeom prst="rect">
            <a:avLst/>
          </a:prstGeom>
          <a:noFill/>
          <a:ln/>
        </p:spPr>
        <p:txBody>
          <a:bodyPr wrap="square" lIns="0" tIns="0" rIns="0" bIns="0" rtlCol="0" anchor="ctr"/>
          <a:lstStyle/>
          <a:p>
            <a:pPr>
              <a:lnSpc>
                <a:spcPct val="120000"/>
              </a:lnSpc>
            </a:pPr>
            <a:r>
              <a:rPr lang="en-US" sz="1050" dirty="0">
                <a:solidFill>
                  <a:srgbClr val="FFFFFF">
                    <a:alpha val="70000"/>
                  </a:srgbClr>
                </a:solidFill>
                <a:latin typeface="Liter" pitchFamily="34" charset="0"/>
                <a:ea typeface="Liter" pitchFamily="34" charset="-122"/>
                <a:cs typeface="Liter" pitchFamily="34" charset="-120"/>
              </a:rPr>
              <a:t>Secure electronic contracts</a:t>
            </a:r>
            <a:endParaRPr lang="en-US" sz="1600" dirty="0"/>
          </a:p>
        </p:txBody>
      </p:sp>
      <p:sp>
        <p:nvSpPr>
          <p:cNvPr id="29" name="Shape 27"/>
          <p:cNvSpPr/>
          <p:nvPr/>
        </p:nvSpPr>
        <p:spPr>
          <a:xfrm>
            <a:off x="8102561" y="1276350"/>
            <a:ext cx="3705225" cy="3152775"/>
          </a:xfrm>
          <a:custGeom>
            <a:avLst/>
            <a:gdLst/>
            <a:ahLst/>
            <a:cxnLst/>
            <a:rect l="l" t="t" r="r" b="b"/>
            <a:pathLst>
              <a:path w="3705225" h="3152775">
                <a:moveTo>
                  <a:pt x="0" y="0"/>
                </a:moveTo>
                <a:lnTo>
                  <a:pt x="3705225" y="0"/>
                </a:lnTo>
                <a:lnTo>
                  <a:pt x="3705225" y="3152775"/>
                </a:lnTo>
                <a:lnTo>
                  <a:pt x="0" y="3152775"/>
                </a:lnTo>
                <a:lnTo>
                  <a:pt x="0" y="0"/>
                </a:lnTo>
                <a:close/>
              </a:path>
            </a:pathLst>
          </a:custGeom>
          <a:solidFill>
            <a:srgbClr val="111111"/>
          </a:solidFill>
          <a:ln/>
        </p:spPr>
      </p:sp>
      <p:sp>
        <p:nvSpPr>
          <p:cNvPr id="30" name="Shape 28"/>
          <p:cNvSpPr/>
          <p:nvPr/>
        </p:nvSpPr>
        <p:spPr>
          <a:xfrm>
            <a:off x="8102561" y="1276350"/>
            <a:ext cx="3705225" cy="38100"/>
          </a:xfrm>
          <a:custGeom>
            <a:avLst/>
            <a:gdLst/>
            <a:ahLst/>
            <a:cxnLst/>
            <a:rect l="l" t="t" r="r" b="b"/>
            <a:pathLst>
              <a:path w="3705225" h="38100">
                <a:moveTo>
                  <a:pt x="0" y="0"/>
                </a:moveTo>
                <a:lnTo>
                  <a:pt x="3705225" y="0"/>
                </a:lnTo>
                <a:lnTo>
                  <a:pt x="3705225" y="38100"/>
                </a:lnTo>
                <a:lnTo>
                  <a:pt x="0" y="38100"/>
                </a:lnTo>
                <a:lnTo>
                  <a:pt x="0" y="0"/>
                </a:lnTo>
                <a:close/>
              </a:path>
            </a:pathLst>
          </a:custGeom>
          <a:solidFill>
            <a:srgbClr val="DDFF00"/>
          </a:solidFill>
          <a:ln/>
        </p:spPr>
      </p:sp>
      <p:sp>
        <p:nvSpPr>
          <p:cNvPr id="31" name="Shape 29"/>
          <p:cNvSpPr/>
          <p:nvPr/>
        </p:nvSpPr>
        <p:spPr>
          <a:xfrm>
            <a:off x="8254961" y="1447800"/>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solidFill>
            <a:srgbClr val="DDFF00"/>
          </a:solidFill>
          <a:ln/>
        </p:spPr>
      </p:sp>
      <p:sp>
        <p:nvSpPr>
          <p:cNvPr id="32" name="Shape 30"/>
          <p:cNvSpPr/>
          <p:nvPr/>
        </p:nvSpPr>
        <p:spPr>
          <a:xfrm>
            <a:off x="8388311" y="1581150"/>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76312" y="114188"/>
                </a:moveTo>
                <a:cubicBezTo>
                  <a:pt x="86767" y="124644"/>
                  <a:pt x="103733" y="124644"/>
                  <a:pt x="114188" y="114188"/>
                </a:cubicBezTo>
                <a:cubicBezTo>
                  <a:pt x="117686" y="110691"/>
                  <a:pt x="123341" y="110691"/>
                  <a:pt x="126802" y="114188"/>
                </a:cubicBezTo>
                <a:cubicBezTo>
                  <a:pt x="130262" y="117686"/>
                  <a:pt x="130299" y="123341"/>
                  <a:pt x="126802" y="126802"/>
                </a:cubicBezTo>
                <a:cubicBezTo>
                  <a:pt x="109351" y="144252"/>
                  <a:pt x="81111" y="144252"/>
                  <a:pt x="63661" y="126802"/>
                </a:cubicBezTo>
                <a:cubicBezTo>
                  <a:pt x="46211" y="109351"/>
                  <a:pt x="46211" y="81111"/>
                  <a:pt x="63661" y="63661"/>
                </a:cubicBezTo>
                <a:cubicBezTo>
                  <a:pt x="81111" y="46211"/>
                  <a:pt x="109351" y="46211"/>
                  <a:pt x="126802" y="63661"/>
                </a:cubicBezTo>
                <a:cubicBezTo>
                  <a:pt x="130299" y="67159"/>
                  <a:pt x="130299" y="72814"/>
                  <a:pt x="126802" y="76274"/>
                </a:cubicBezTo>
                <a:cubicBezTo>
                  <a:pt x="123304" y="79735"/>
                  <a:pt x="117649" y="79772"/>
                  <a:pt x="114188" y="76274"/>
                </a:cubicBezTo>
                <a:cubicBezTo>
                  <a:pt x="103733" y="65819"/>
                  <a:pt x="86767" y="65819"/>
                  <a:pt x="76312" y="76274"/>
                </a:cubicBezTo>
                <a:cubicBezTo>
                  <a:pt x="65856" y="86730"/>
                  <a:pt x="65856" y="103696"/>
                  <a:pt x="76312" y="114151"/>
                </a:cubicBezTo>
                <a:close/>
              </a:path>
            </a:pathLst>
          </a:custGeom>
          <a:solidFill>
            <a:srgbClr val="000000"/>
          </a:solidFill>
          <a:ln/>
        </p:spPr>
      </p:sp>
      <p:sp>
        <p:nvSpPr>
          <p:cNvPr id="33" name="Text 31"/>
          <p:cNvSpPr/>
          <p:nvPr/>
        </p:nvSpPr>
        <p:spPr>
          <a:xfrm>
            <a:off x="8826461" y="1543050"/>
            <a:ext cx="1790700"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Liter" pitchFamily="34" charset="0"/>
                <a:ea typeface="Liter" pitchFamily="34" charset="-122"/>
                <a:cs typeface="Liter" pitchFamily="34" charset="-120"/>
              </a:rPr>
              <a:t>Intellectual Property</a:t>
            </a:r>
            <a:endParaRPr lang="en-US" sz="1600" dirty="0"/>
          </a:p>
        </p:txBody>
      </p:sp>
      <p:sp>
        <p:nvSpPr>
          <p:cNvPr id="34" name="Text 32"/>
          <p:cNvSpPr/>
          <p:nvPr/>
        </p:nvSpPr>
        <p:spPr>
          <a:xfrm>
            <a:off x="8254961" y="2019300"/>
            <a:ext cx="3476625" cy="457200"/>
          </a:xfrm>
          <a:prstGeom prst="rect">
            <a:avLst/>
          </a:prstGeom>
          <a:noFill/>
          <a:ln/>
        </p:spPr>
        <p:txBody>
          <a:bodyPr wrap="square" lIns="0" tIns="0" rIns="0" bIns="0" rtlCol="0" anchor="ctr"/>
          <a:lstStyle/>
          <a:p>
            <a:pPr>
              <a:lnSpc>
                <a:spcPct val="130000"/>
              </a:lnSpc>
            </a:pPr>
            <a:r>
              <a:rPr lang="en-US" sz="1200" dirty="0">
                <a:solidFill>
                  <a:srgbClr val="FFFFFF">
                    <a:alpha val="80000"/>
                  </a:srgbClr>
                </a:solidFill>
                <a:latin typeface="Liter" pitchFamily="34" charset="0"/>
                <a:ea typeface="Liter" pitchFamily="34" charset="-122"/>
                <a:cs typeface="Liter" pitchFamily="34" charset="-120"/>
              </a:rPr>
              <a:t>Digital products need protection from </a:t>
            </a:r>
            <a:pPr>
              <a:lnSpc>
                <a:spcPct val="130000"/>
              </a:lnSpc>
            </a:pPr>
            <a:r>
              <a:rPr lang="en-US" sz="1200" dirty="0">
                <a:solidFill>
                  <a:srgbClr val="DDFF00"/>
                </a:solidFill>
                <a:latin typeface="Liter" pitchFamily="34" charset="0"/>
                <a:ea typeface="Liter" pitchFamily="34" charset="-122"/>
                <a:cs typeface="Liter" pitchFamily="34" charset="-120"/>
              </a:rPr>
              <a:t>piracy and illegal duplication</a:t>
            </a:r>
            <a:pPr>
              <a:lnSpc>
                <a:spcPct val="130000"/>
              </a:lnSpc>
            </a:pPr>
            <a:r>
              <a:rPr lang="en-US" sz="1200" dirty="0">
                <a:solidFill>
                  <a:srgbClr val="FFFFFF">
                    <a:alpha val="80000"/>
                  </a:srgbClr>
                </a:solidFill>
                <a:latin typeface="Liter" pitchFamily="34" charset="0"/>
                <a:ea typeface="Liter" pitchFamily="34" charset="-122"/>
                <a:cs typeface="Liter" pitchFamily="34" charset="-120"/>
              </a:rPr>
              <a:t>.</a:t>
            </a:r>
            <a:endParaRPr lang="en-US" sz="1600" dirty="0"/>
          </a:p>
        </p:txBody>
      </p:sp>
      <p:sp>
        <p:nvSpPr>
          <p:cNvPr id="35" name="Shape 33"/>
          <p:cNvSpPr/>
          <p:nvPr/>
        </p:nvSpPr>
        <p:spPr>
          <a:xfrm>
            <a:off x="8254961" y="2590800"/>
            <a:ext cx="1666875" cy="533400"/>
          </a:xfrm>
          <a:custGeom>
            <a:avLst/>
            <a:gdLst/>
            <a:ahLst/>
            <a:cxnLst/>
            <a:rect l="l" t="t" r="r" b="b"/>
            <a:pathLst>
              <a:path w="1666875" h="533400">
                <a:moveTo>
                  <a:pt x="0" y="0"/>
                </a:moveTo>
                <a:lnTo>
                  <a:pt x="1666875" y="0"/>
                </a:lnTo>
                <a:lnTo>
                  <a:pt x="1666875" y="533400"/>
                </a:lnTo>
                <a:lnTo>
                  <a:pt x="0" y="533400"/>
                </a:lnTo>
                <a:lnTo>
                  <a:pt x="0" y="0"/>
                </a:lnTo>
                <a:close/>
              </a:path>
            </a:pathLst>
          </a:custGeom>
          <a:solidFill>
            <a:srgbClr val="000000"/>
          </a:solidFill>
          <a:ln/>
        </p:spPr>
      </p:sp>
      <p:sp>
        <p:nvSpPr>
          <p:cNvPr id="36" name="Shape 34"/>
          <p:cNvSpPr/>
          <p:nvPr/>
        </p:nvSpPr>
        <p:spPr>
          <a:xfrm>
            <a:off x="8981956" y="2689860"/>
            <a:ext cx="214313" cy="171450"/>
          </a:xfrm>
          <a:custGeom>
            <a:avLst/>
            <a:gdLst/>
            <a:ahLst/>
            <a:cxnLst/>
            <a:rect l="l" t="t" r="r" b="b"/>
            <a:pathLst>
              <a:path w="214313" h="171450">
                <a:moveTo>
                  <a:pt x="21431" y="32147"/>
                </a:moveTo>
                <a:cubicBezTo>
                  <a:pt x="21431" y="20326"/>
                  <a:pt x="31042" y="10716"/>
                  <a:pt x="42863" y="10716"/>
                </a:cubicBezTo>
                <a:lnTo>
                  <a:pt x="171450" y="10716"/>
                </a:lnTo>
                <a:cubicBezTo>
                  <a:pt x="183271" y="10716"/>
                  <a:pt x="192881" y="20326"/>
                  <a:pt x="192881" y="32147"/>
                </a:cubicBezTo>
                <a:lnTo>
                  <a:pt x="192881" y="112514"/>
                </a:lnTo>
                <a:lnTo>
                  <a:pt x="171450" y="112514"/>
                </a:lnTo>
                <a:lnTo>
                  <a:pt x="171450" y="32147"/>
                </a:lnTo>
                <a:lnTo>
                  <a:pt x="42863" y="32147"/>
                </a:lnTo>
                <a:lnTo>
                  <a:pt x="42863" y="112514"/>
                </a:lnTo>
                <a:lnTo>
                  <a:pt x="21431" y="112514"/>
                </a:lnTo>
                <a:lnTo>
                  <a:pt x="21431" y="32147"/>
                </a:lnTo>
                <a:close/>
                <a:moveTo>
                  <a:pt x="0" y="135017"/>
                </a:moveTo>
                <a:cubicBezTo>
                  <a:pt x="0" y="131467"/>
                  <a:pt x="2880" y="128588"/>
                  <a:pt x="6429" y="128588"/>
                </a:cubicBezTo>
                <a:lnTo>
                  <a:pt x="207883" y="128588"/>
                </a:lnTo>
                <a:cubicBezTo>
                  <a:pt x="211433" y="128588"/>
                  <a:pt x="214313" y="131467"/>
                  <a:pt x="214313" y="135017"/>
                </a:cubicBezTo>
                <a:cubicBezTo>
                  <a:pt x="214313" y="149215"/>
                  <a:pt x="202793" y="160734"/>
                  <a:pt x="188595" y="160734"/>
                </a:cubicBezTo>
                <a:lnTo>
                  <a:pt x="25718" y="160734"/>
                </a:lnTo>
                <a:cubicBezTo>
                  <a:pt x="11519" y="160734"/>
                  <a:pt x="0" y="149215"/>
                  <a:pt x="0" y="135017"/>
                </a:cubicBezTo>
                <a:close/>
                <a:moveTo>
                  <a:pt x="94097" y="69986"/>
                </a:moveTo>
                <a:lnTo>
                  <a:pt x="83716" y="80367"/>
                </a:lnTo>
                <a:lnTo>
                  <a:pt x="94097" y="90748"/>
                </a:lnTo>
                <a:cubicBezTo>
                  <a:pt x="97244" y="93896"/>
                  <a:pt x="97244" y="98986"/>
                  <a:pt x="94097" y="102100"/>
                </a:cubicBezTo>
                <a:cubicBezTo>
                  <a:pt x="90949" y="105214"/>
                  <a:pt x="85859" y="105248"/>
                  <a:pt x="82745" y="102100"/>
                </a:cubicBezTo>
                <a:lnTo>
                  <a:pt x="66671" y="86026"/>
                </a:lnTo>
                <a:cubicBezTo>
                  <a:pt x="63524" y="82879"/>
                  <a:pt x="63524" y="77789"/>
                  <a:pt x="66671" y="74675"/>
                </a:cubicBezTo>
                <a:lnTo>
                  <a:pt x="82745" y="58601"/>
                </a:lnTo>
                <a:cubicBezTo>
                  <a:pt x="85892" y="55453"/>
                  <a:pt x="90982" y="55453"/>
                  <a:pt x="94097" y="58601"/>
                </a:cubicBezTo>
                <a:cubicBezTo>
                  <a:pt x="97211" y="61749"/>
                  <a:pt x="97244" y="66839"/>
                  <a:pt x="94097" y="69953"/>
                </a:cubicBezTo>
                <a:close/>
                <a:moveTo>
                  <a:pt x="131601" y="58601"/>
                </a:moveTo>
                <a:lnTo>
                  <a:pt x="147675" y="74675"/>
                </a:lnTo>
                <a:cubicBezTo>
                  <a:pt x="150822" y="77822"/>
                  <a:pt x="150822" y="82912"/>
                  <a:pt x="147675" y="86026"/>
                </a:cubicBezTo>
                <a:lnTo>
                  <a:pt x="131601" y="102100"/>
                </a:lnTo>
                <a:cubicBezTo>
                  <a:pt x="128454" y="105248"/>
                  <a:pt x="123364" y="105248"/>
                  <a:pt x="120249" y="102100"/>
                </a:cubicBezTo>
                <a:cubicBezTo>
                  <a:pt x="117135" y="98952"/>
                  <a:pt x="117102" y="93862"/>
                  <a:pt x="120249" y="90748"/>
                </a:cubicBezTo>
                <a:lnTo>
                  <a:pt x="130630" y="80367"/>
                </a:lnTo>
                <a:lnTo>
                  <a:pt x="120249" y="69986"/>
                </a:lnTo>
                <a:cubicBezTo>
                  <a:pt x="117102" y="66839"/>
                  <a:pt x="117102" y="61749"/>
                  <a:pt x="120249" y="58635"/>
                </a:cubicBezTo>
                <a:cubicBezTo>
                  <a:pt x="123397" y="55520"/>
                  <a:pt x="128487" y="55487"/>
                  <a:pt x="131601" y="58635"/>
                </a:cubicBezTo>
                <a:close/>
              </a:path>
            </a:pathLst>
          </a:custGeom>
          <a:solidFill>
            <a:srgbClr val="DDFF00"/>
          </a:solidFill>
          <a:ln/>
        </p:spPr>
      </p:sp>
      <p:sp>
        <p:nvSpPr>
          <p:cNvPr id="37" name="Text 35"/>
          <p:cNvSpPr/>
          <p:nvPr/>
        </p:nvSpPr>
        <p:spPr>
          <a:xfrm>
            <a:off x="8302586" y="2899410"/>
            <a:ext cx="1571625" cy="152400"/>
          </a:xfrm>
          <a:prstGeom prst="rect">
            <a:avLst/>
          </a:prstGeom>
          <a:noFill/>
          <a:ln/>
        </p:spPr>
        <p:txBody>
          <a:bodyPr wrap="square" lIns="0" tIns="0" rIns="0" bIns="0" rtlCol="0" anchor="ctr"/>
          <a:lstStyle/>
          <a:p>
            <a:pPr algn="ctr">
              <a:lnSpc>
                <a:spcPct val="110000"/>
              </a:lnSpc>
            </a:pPr>
            <a:r>
              <a:rPr lang="en-US" sz="900" dirty="0">
                <a:solidFill>
                  <a:srgbClr val="FFFFFF"/>
                </a:solidFill>
                <a:latin typeface="Liter" pitchFamily="34" charset="0"/>
                <a:ea typeface="Liter" pitchFamily="34" charset="-122"/>
                <a:cs typeface="Liter" pitchFamily="34" charset="-120"/>
              </a:rPr>
              <a:t>Software</a:t>
            </a:r>
            <a:endParaRPr lang="en-US" sz="1600" dirty="0"/>
          </a:p>
        </p:txBody>
      </p:sp>
      <p:sp>
        <p:nvSpPr>
          <p:cNvPr id="38" name="Shape 36"/>
          <p:cNvSpPr/>
          <p:nvPr/>
        </p:nvSpPr>
        <p:spPr>
          <a:xfrm>
            <a:off x="9994821" y="2590800"/>
            <a:ext cx="1666875" cy="533400"/>
          </a:xfrm>
          <a:custGeom>
            <a:avLst/>
            <a:gdLst/>
            <a:ahLst/>
            <a:cxnLst/>
            <a:rect l="l" t="t" r="r" b="b"/>
            <a:pathLst>
              <a:path w="1666875" h="533400">
                <a:moveTo>
                  <a:pt x="0" y="0"/>
                </a:moveTo>
                <a:lnTo>
                  <a:pt x="1666875" y="0"/>
                </a:lnTo>
                <a:lnTo>
                  <a:pt x="1666875" y="533400"/>
                </a:lnTo>
                <a:lnTo>
                  <a:pt x="0" y="533400"/>
                </a:lnTo>
                <a:lnTo>
                  <a:pt x="0" y="0"/>
                </a:lnTo>
                <a:close/>
              </a:path>
            </a:pathLst>
          </a:custGeom>
          <a:solidFill>
            <a:srgbClr val="000000"/>
          </a:solidFill>
          <a:ln/>
        </p:spPr>
      </p:sp>
      <p:sp>
        <p:nvSpPr>
          <p:cNvPr id="39" name="Shape 37"/>
          <p:cNvSpPr/>
          <p:nvPr/>
        </p:nvSpPr>
        <p:spPr>
          <a:xfrm>
            <a:off x="10753963" y="2689860"/>
            <a:ext cx="150019" cy="171450"/>
          </a:xfrm>
          <a:custGeom>
            <a:avLst/>
            <a:gdLst/>
            <a:ahLst/>
            <a:cxnLst/>
            <a:rect l="l" t="t" r="r" b="b"/>
            <a:pathLst>
              <a:path w="150019" h="171450">
                <a:moveTo>
                  <a:pt x="128588" y="171450"/>
                </a:moveTo>
                <a:lnTo>
                  <a:pt x="32147" y="171450"/>
                </a:lnTo>
                <a:cubicBezTo>
                  <a:pt x="14399" y="171450"/>
                  <a:pt x="0" y="157051"/>
                  <a:pt x="0" y="139303"/>
                </a:cubicBezTo>
                <a:lnTo>
                  <a:pt x="0" y="32147"/>
                </a:lnTo>
                <a:cubicBezTo>
                  <a:pt x="0" y="14399"/>
                  <a:pt x="14399" y="0"/>
                  <a:pt x="32147" y="0"/>
                </a:cubicBezTo>
                <a:lnTo>
                  <a:pt x="133945" y="0"/>
                </a:lnTo>
                <a:cubicBezTo>
                  <a:pt x="142819" y="0"/>
                  <a:pt x="150019" y="7200"/>
                  <a:pt x="150019" y="16073"/>
                </a:cubicBezTo>
                <a:lnTo>
                  <a:pt x="150019" y="112514"/>
                </a:lnTo>
                <a:cubicBezTo>
                  <a:pt x="150019" y="119513"/>
                  <a:pt x="145532" y="125473"/>
                  <a:pt x="139303" y="127683"/>
                </a:cubicBezTo>
                <a:lnTo>
                  <a:pt x="139303" y="150019"/>
                </a:lnTo>
                <a:cubicBezTo>
                  <a:pt x="145230" y="150019"/>
                  <a:pt x="150019" y="154807"/>
                  <a:pt x="150019" y="160734"/>
                </a:cubicBezTo>
                <a:cubicBezTo>
                  <a:pt x="150019" y="166661"/>
                  <a:pt x="145230" y="171450"/>
                  <a:pt x="139303" y="171450"/>
                </a:cubicBezTo>
                <a:lnTo>
                  <a:pt x="128588" y="171450"/>
                </a:lnTo>
                <a:close/>
                <a:moveTo>
                  <a:pt x="32147" y="128588"/>
                </a:moveTo>
                <a:cubicBezTo>
                  <a:pt x="26220" y="128588"/>
                  <a:pt x="21431" y="133376"/>
                  <a:pt x="21431" y="139303"/>
                </a:cubicBezTo>
                <a:cubicBezTo>
                  <a:pt x="21431" y="145230"/>
                  <a:pt x="26220" y="150019"/>
                  <a:pt x="32147" y="150019"/>
                </a:cubicBezTo>
                <a:lnTo>
                  <a:pt x="117872" y="150019"/>
                </a:lnTo>
                <a:lnTo>
                  <a:pt x="117872" y="128588"/>
                </a:lnTo>
                <a:lnTo>
                  <a:pt x="32147" y="128588"/>
                </a:lnTo>
                <a:close/>
                <a:moveTo>
                  <a:pt x="42863" y="50899"/>
                </a:moveTo>
                <a:cubicBezTo>
                  <a:pt x="42863" y="55353"/>
                  <a:pt x="46446" y="58936"/>
                  <a:pt x="50899" y="58936"/>
                </a:cubicBezTo>
                <a:lnTo>
                  <a:pt x="109835" y="58936"/>
                </a:lnTo>
                <a:cubicBezTo>
                  <a:pt x="114289" y="58936"/>
                  <a:pt x="117872" y="55353"/>
                  <a:pt x="117872" y="50899"/>
                </a:cubicBezTo>
                <a:cubicBezTo>
                  <a:pt x="117872" y="46446"/>
                  <a:pt x="114289" y="42863"/>
                  <a:pt x="109835" y="42863"/>
                </a:cubicBezTo>
                <a:lnTo>
                  <a:pt x="50899" y="42863"/>
                </a:lnTo>
                <a:cubicBezTo>
                  <a:pt x="46446" y="42863"/>
                  <a:pt x="42863" y="46446"/>
                  <a:pt x="42863" y="50899"/>
                </a:cubicBezTo>
                <a:close/>
                <a:moveTo>
                  <a:pt x="50899" y="75009"/>
                </a:moveTo>
                <a:cubicBezTo>
                  <a:pt x="46446" y="75009"/>
                  <a:pt x="42863" y="78592"/>
                  <a:pt x="42863" y="83046"/>
                </a:cubicBezTo>
                <a:cubicBezTo>
                  <a:pt x="42863" y="87500"/>
                  <a:pt x="46446" y="91083"/>
                  <a:pt x="50899" y="91083"/>
                </a:cubicBezTo>
                <a:lnTo>
                  <a:pt x="109835" y="91083"/>
                </a:lnTo>
                <a:cubicBezTo>
                  <a:pt x="114289" y="91083"/>
                  <a:pt x="117872" y="87500"/>
                  <a:pt x="117872" y="83046"/>
                </a:cubicBezTo>
                <a:cubicBezTo>
                  <a:pt x="117872" y="78592"/>
                  <a:pt x="114289" y="75009"/>
                  <a:pt x="109835" y="75009"/>
                </a:cubicBezTo>
                <a:lnTo>
                  <a:pt x="50899" y="75009"/>
                </a:lnTo>
                <a:close/>
              </a:path>
            </a:pathLst>
          </a:custGeom>
          <a:solidFill>
            <a:srgbClr val="DDFF00"/>
          </a:solidFill>
          <a:ln/>
        </p:spPr>
      </p:sp>
      <p:sp>
        <p:nvSpPr>
          <p:cNvPr id="40" name="Text 38"/>
          <p:cNvSpPr/>
          <p:nvPr/>
        </p:nvSpPr>
        <p:spPr>
          <a:xfrm>
            <a:off x="10042446" y="2899410"/>
            <a:ext cx="1571625" cy="152400"/>
          </a:xfrm>
          <a:prstGeom prst="rect">
            <a:avLst/>
          </a:prstGeom>
          <a:noFill/>
          <a:ln/>
        </p:spPr>
        <p:txBody>
          <a:bodyPr wrap="square" lIns="0" tIns="0" rIns="0" bIns="0" rtlCol="0" anchor="ctr"/>
          <a:lstStyle/>
          <a:p>
            <a:pPr algn="ctr">
              <a:lnSpc>
                <a:spcPct val="110000"/>
              </a:lnSpc>
            </a:pPr>
            <a:r>
              <a:rPr lang="en-US" sz="900" dirty="0">
                <a:solidFill>
                  <a:srgbClr val="FFFFFF"/>
                </a:solidFill>
                <a:latin typeface="Liter" pitchFamily="34" charset="0"/>
                <a:ea typeface="Liter" pitchFamily="34" charset="-122"/>
                <a:cs typeface="Liter" pitchFamily="34" charset="-120"/>
              </a:rPr>
              <a:t>E-books</a:t>
            </a:r>
            <a:endParaRPr lang="en-US" sz="1600" dirty="0"/>
          </a:p>
        </p:txBody>
      </p:sp>
      <p:sp>
        <p:nvSpPr>
          <p:cNvPr id="41" name="Shape 39"/>
          <p:cNvSpPr/>
          <p:nvPr/>
        </p:nvSpPr>
        <p:spPr>
          <a:xfrm>
            <a:off x="8254961" y="3204092"/>
            <a:ext cx="1666875" cy="533400"/>
          </a:xfrm>
          <a:custGeom>
            <a:avLst/>
            <a:gdLst/>
            <a:ahLst/>
            <a:cxnLst/>
            <a:rect l="l" t="t" r="r" b="b"/>
            <a:pathLst>
              <a:path w="1666875" h="533400">
                <a:moveTo>
                  <a:pt x="0" y="0"/>
                </a:moveTo>
                <a:lnTo>
                  <a:pt x="1666875" y="0"/>
                </a:lnTo>
                <a:lnTo>
                  <a:pt x="1666875" y="533400"/>
                </a:lnTo>
                <a:lnTo>
                  <a:pt x="0" y="533400"/>
                </a:lnTo>
                <a:lnTo>
                  <a:pt x="0" y="0"/>
                </a:lnTo>
                <a:close/>
              </a:path>
            </a:pathLst>
          </a:custGeom>
          <a:solidFill>
            <a:srgbClr val="000000"/>
          </a:solidFill>
          <a:ln/>
        </p:spPr>
      </p:sp>
      <p:sp>
        <p:nvSpPr>
          <p:cNvPr id="42" name="Shape 40"/>
          <p:cNvSpPr/>
          <p:nvPr/>
        </p:nvSpPr>
        <p:spPr>
          <a:xfrm>
            <a:off x="9003387" y="3303151"/>
            <a:ext cx="171450" cy="171450"/>
          </a:xfrm>
          <a:custGeom>
            <a:avLst/>
            <a:gdLst/>
            <a:ahLst/>
            <a:cxnLst/>
            <a:rect l="l" t="t" r="r" b="b"/>
            <a:pathLst>
              <a:path w="171450" h="171450">
                <a:moveTo>
                  <a:pt x="156716" y="2344"/>
                </a:moveTo>
                <a:cubicBezTo>
                  <a:pt x="159261" y="4387"/>
                  <a:pt x="160734" y="7467"/>
                  <a:pt x="160734" y="10716"/>
                </a:cubicBezTo>
                <a:lnTo>
                  <a:pt x="160734" y="112514"/>
                </a:lnTo>
                <a:cubicBezTo>
                  <a:pt x="160734" y="127315"/>
                  <a:pt x="146335" y="139303"/>
                  <a:pt x="128588" y="139303"/>
                </a:cubicBezTo>
                <a:cubicBezTo>
                  <a:pt x="110840" y="139303"/>
                  <a:pt x="96441" y="127315"/>
                  <a:pt x="96441" y="112514"/>
                </a:cubicBezTo>
                <a:cubicBezTo>
                  <a:pt x="96441" y="97713"/>
                  <a:pt x="110840" y="85725"/>
                  <a:pt x="128588" y="85725"/>
                </a:cubicBezTo>
                <a:cubicBezTo>
                  <a:pt x="132338" y="85725"/>
                  <a:pt x="135954" y="86261"/>
                  <a:pt x="139303" y="87265"/>
                </a:cubicBezTo>
                <a:lnTo>
                  <a:pt x="139303" y="48187"/>
                </a:lnTo>
                <a:lnTo>
                  <a:pt x="64294" y="64863"/>
                </a:lnTo>
                <a:lnTo>
                  <a:pt x="64294" y="133945"/>
                </a:lnTo>
                <a:cubicBezTo>
                  <a:pt x="64294" y="148746"/>
                  <a:pt x="49895" y="160734"/>
                  <a:pt x="32147" y="160734"/>
                </a:cubicBezTo>
                <a:cubicBezTo>
                  <a:pt x="14399" y="160734"/>
                  <a:pt x="0" y="148746"/>
                  <a:pt x="0" y="133945"/>
                </a:cubicBezTo>
                <a:cubicBezTo>
                  <a:pt x="0" y="119144"/>
                  <a:pt x="14399" y="107156"/>
                  <a:pt x="32147" y="107156"/>
                </a:cubicBezTo>
                <a:cubicBezTo>
                  <a:pt x="35897" y="107156"/>
                  <a:pt x="39514" y="107692"/>
                  <a:pt x="42863" y="108697"/>
                </a:cubicBezTo>
                <a:lnTo>
                  <a:pt x="42863" y="32147"/>
                </a:lnTo>
                <a:cubicBezTo>
                  <a:pt x="42863" y="27124"/>
                  <a:pt x="46345" y="22771"/>
                  <a:pt x="51268" y="21699"/>
                </a:cubicBezTo>
                <a:lnTo>
                  <a:pt x="147708" y="268"/>
                </a:lnTo>
                <a:cubicBezTo>
                  <a:pt x="150889" y="-435"/>
                  <a:pt x="154205" y="335"/>
                  <a:pt x="156750" y="2378"/>
                </a:cubicBezTo>
                <a:close/>
              </a:path>
            </a:pathLst>
          </a:custGeom>
          <a:solidFill>
            <a:srgbClr val="DDFF00"/>
          </a:solidFill>
          <a:ln/>
        </p:spPr>
      </p:sp>
      <p:sp>
        <p:nvSpPr>
          <p:cNvPr id="43" name="Text 41"/>
          <p:cNvSpPr/>
          <p:nvPr/>
        </p:nvSpPr>
        <p:spPr>
          <a:xfrm>
            <a:off x="8302586" y="3512701"/>
            <a:ext cx="1571625" cy="152400"/>
          </a:xfrm>
          <a:prstGeom prst="rect">
            <a:avLst/>
          </a:prstGeom>
          <a:noFill/>
          <a:ln/>
        </p:spPr>
        <p:txBody>
          <a:bodyPr wrap="square" lIns="0" tIns="0" rIns="0" bIns="0" rtlCol="0" anchor="ctr"/>
          <a:lstStyle/>
          <a:p>
            <a:pPr algn="ctr">
              <a:lnSpc>
                <a:spcPct val="110000"/>
              </a:lnSpc>
            </a:pPr>
            <a:r>
              <a:rPr lang="en-US" sz="900" dirty="0">
                <a:solidFill>
                  <a:srgbClr val="FFFFFF"/>
                </a:solidFill>
                <a:latin typeface="Liter" pitchFamily="34" charset="0"/>
                <a:ea typeface="Liter" pitchFamily="34" charset="-122"/>
                <a:cs typeface="Liter" pitchFamily="34" charset="-120"/>
              </a:rPr>
              <a:t>Music</a:t>
            </a:r>
            <a:endParaRPr lang="en-US" sz="1600" dirty="0"/>
          </a:p>
        </p:txBody>
      </p:sp>
      <p:sp>
        <p:nvSpPr>
          <p:cNvPr id="44" name="Shape 42"/>
          <p:cNvSpPr/>
          <p:nvPr/>
        </p:nvSpPr>
        <p:spPr>
          <a:xfrm>
            <a:off x="9994821" y="3204092"/>
            <a:ext cx="1666875" cy="533400"/>
          </a:xfrm>
          <a:custGeom>
            <a:avLst/>
            <a:gdLst/>
            <a:ahLst/>
            <a:cxnLst/>
            <a:rect l="l" t="t" r="r" b="b"/>
            <a:pathLst>
              <a:path w="1666875" h="533400">
                <a:moveTo>
                  <a:pt x="0" y="0"/>
                </a:moveTo>
                <a:lnTo>
                  <a:pt x="1666875" y="0"/>
                </a:lnTo>
                <a:lnTo>
                  <a:pt x="1666875" y="533400"/>
                </a:lnTo>
                <a:lnTo>
                  <a:pt x="0" y="533400"/>
                </a:lnTo>
                <a:lnTo>
                  <a:pt x="0" y="0"/>
                </a:lnTo>
                <a:close/>
              </a:path>
            </a:pathLst>
          </a:custGeom>
          <a:solidFill>
            <a:srgbClr val="000000"/>
          </a:solidFill>
          <a:ln/>
        </p:spPr>
      </p:sp>
      <p:sp>
        <p:nvSpPr>
          <p:cNvPr id="45" name="Shape 43"/>
          <p:cNvSpPr/>
          <p:nvPr/>
        </p:nvSpPr>
        <p:spPr>
          <a:xfrm>
            <a:off x="10732532" y="3303151"/>
            <a:ext cx="192881" cy="171450"/>
          </a:xfrm>
          <a:custGeom>
            <a:avLst/>
            <a:gdLst/>
            <a:ahLst/>
            <a:cxnLst/>
            <a:rect l="l" t="t" r="r" b="b"/>
            <a:pathLst>
              <a:path w="192881" h="171450">
                <a:moveTo>
                  <a:pt x="16073" y="65566"/>
                </a:moveTo>
                <a:lnTo>
                  <a:pt x="86127" y="94398"/>
                </a:lnTo>
                <a:cubicBezTo>
                  <a:pt x="89408" y="95737"/>
                  <a:pt x="92891" y="96441"/>
                  <a:pt x="96441" y="96441"/>
                </a:cubicBezTo>
                <a:cubicBezTo>
                  <a:pt x="99990" y="96441"/>
                  <a:pt x="103473" y="95737"/>
                  <a:pt x="106754" y="94398"/>
                </a:cubicBezTo>
                <a:lnTo>
                  <a:pt x="187925" y="60979"/>
                </a:lnTo>
                <a:cubicBezTo>
                  <a:pt x="190939" y="59740"/>
                  <a:pt x="192881" y="56826"/>
                  <a:pt x="192881" y="53578"/>
                </a:cubicBezTo>
                <a:cubicBezTo>
                  <a:pt x="192881" y="50330"/>
                  <a:pt x="190939" y="47417"/>
                  <a:pt x="187925" y="46178"/>
                </a:cubicBezTo>
                <a:lnTo>
                  <a:pt x="106754" y="12758"/>
                </a:lnTo>
                <a:cubicBezTo>
                  <a:pt x="103473" y="11419"/>
                  <a:pt x="99990" y="10716"/>
                  <a:pt x="96441" y="10716"/>
                </a:cubicBezTo>
                <a:cubicBezTo>
                  <a:pt x="92891" y="10716"/>
                  <a:pt x="89408" y="11419"/>
                  <a:pt x="86127" y="12758"/>
                </a:cubicBezTo>
                <a:lnTo>
                  <a:pt x="4956" y="46178"/>
                </a:lnTo>
                <a:cubicBezTo>
                  <a:pt x="1942" y="47417"/>
                  <a:pt x="0" y="50330"/>
                  <a:pt x="0" y="53578"/>
                </a:cubicBezTo>
                <a:lnTo>
                  <a:pt x="0" y="152698"/>
                </a:lnTo>
                <a:cubicBezTo>
                  <a:pt x="0" y="157151"/>
                  <a:pt x="3583" y="160734"/>
                  <a:pt x="8037" y="160734"/>
                </a:cubicBezTo>
                <a:cubicBezTo>
                  <a:pt x="12490" y="160734"/>
                  <a:pt x="16073" y="157151"/>
                  <a:pt x="16073" y="152698"/>
                </a:cubicBezTo>
                <a:lnTo>
                  <a:pt x="16073" y="65566"/>
                </a:lnTo>
                <a:close/>
                <a:moveTo>
                  <a:pt x="32147" y="89576"/>
                </a:moveTo>
                <a:lnTo>
                  <a:pt x="32147" y="128588"/>
                </a:lnTo>
                <a:cubicBezTo>
                  <a:pt x="32147" y="146335"/>
                  <a:pt x="60945" y="160734"/>
                  <a:pt x="96441" y="160734"/>
                </a:cubicBezTo>
                <a:cubicBezTo>
                  <a:pt x="131936" y="160734"/>
                  <a:pt x="160734" y="146335"/>
                  <a:pt x="160734" y="128588"/>
                </a:cubicBezTo>
                <a:lnTo>
                  <a:pt x="160734" y="89542"/>
                </a:lnTo>
                <a:lnTo>
                  <a:pt x="112882" y="109266"/>
                </a:lnTo>
                <a:cubicBezTo>
                  <a:pt x="107659" y="111409"/>
                  <a:pt x="102100" y="112514"/>
                  <a:pt x="96441" y="112514"/>
                </a:cubicBezTo>
                <a:cubicBezTo>
                  <a:pt x="90781" y="112514"/>
                  <a:pt x="85223" y="111409"/>
                  <a:pt x="79999" y="109266"/>
                </a:cubicBezTo>
                <a:lnTo>
                  <a:pt x="32147" y="89542"/>
                </a:lnTo>
                <a:close/>
              </a:path>
            </a:pathLst>
          </a:custGeom>
          <a:solidFill>
            <a:srgbClr val="DDFF00"/>
          </a:solidFill>
          <a:ln/>
        </p:spPr>
      </p:sp>
      <p:sp>
        <p:nvSpPr>
          <p:cNvPr id="46" name="Text 44"/>
          <p:cNvSpPr/>
          <p:nvPr/>
        </p:nvSpPr>
        <p:spPr>
          <a:xfrm>
            <a:off x="10042446" y="3512701"/>
            <a:ext cx="1571625" cy="152400"/>
          </a:xfrm>
          <a:prstGeom prst="rect">
            <a:avLst/>
          </a:prstGeom>
          <a:noFill/>
          <a:ln/>
        </p:spPr>
        <p:txBody>
          <a:bodyPr wrap="square" lIns="0" tIns="0" rIns="0" bIns="0" rtlCol="0" anchor="ctr"/>
          <a:lstStyle/>
          <a:p>
            <a:pPr algn="ctr">
              <a:lnSpc>
                <a:spcPct val="110000"/>
              </a:lnSpc>
            </a:pPr>
            <a:r>
              <a:rPr lang="en-US" sz="900" dirty="0">
                <a:solidFill>
                  <a:srgbClr val="FFFFFF"/>
                </a:solidFill>
                <a:latin typeface="Liter" pitchFamily="34" charset="0"/>
                <a:ea typeface="Liter" pitchFamily="34" charset="-122"/>
                <a:cs typeface="Liter" pitchFamily="34" charset="-120"/>
              </a:rPr>
              <a:t>Courses</a:t>
            </a:r>
            <a:endParaRPr lang="en-US" sz="1600" dirty="0"/>
          </a:p>
        </p:txBody>
      </p:sp>
      <p:sp>
        <p:nvSpPr>
          <p:cNvPr id="47" name="Shape 45"/>
          <p:cNvSpPr/>
          <p:nvPr/>
        </p:nvSpPr>
        <p:spPr>
          <a:xfrm>
            <a:off x="8274011" y="3884057"/>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88657" y="55398"/>
                </a:moveTo>
                <a:lnTo>
                  <a:pt x="67821" y="88735"/>
                </a:lnTo>
                <a:cubicBezTo>
                  <a:pt x="66727" y="90480"/>
                  <a:pt x="64852" y="91574"/>
                  <a:pt x="62794" y="91678"/>
                </a:cubicBezTo>
                <a:cubicBezTo>
                  <a:pt x="60737" y="91782"/>
                  <a:pt x="58757" y="90845"/>
                  <a:pt x="57533" y="89178"/>
                </a:cubicBezTo>
                <a:lnTo>
                  <a:pt x="45032" y="72509"/>
                </a:lnTo>
                <a:cubicBezTo>
                  <a:pt x="42948" y="69748"/>
                  <a:pt x="43521" y="65842"/>
                  <a:pt x="46282" y="63758"/>
                </a:cubicBezTo>
                <a:cubicBezTo>
                  <a:pt x="49043" y="61674"/>
                  <a:pt x="52949" y="62247"/>
                  <a:pt x="55033" y="65008"/>
                </a:cubicBezTo>
                <a:lnTo>
                  <a:pt x="62065" y="74384"/>
                </a:lnTo>
                <a:lnTo>
                  <a:pt x="78057" y="48782"/>
                </a:lnTo>
                <a:cubicBezTo>
                  <a:pt x="79880" y="45865"/>
                  <a:pt x="83734" y="44954"/>
                  <a:pt x="86678" y="46803"/>
                </a:cubicBezTo>
                <a:cubicBezTo>
                  <a:pt x="89621" y="48652"/>
                  <a:pt x="90506" y="52481"/>
                  <a:pt x="88657" y="55424"/>
                </a:cubicBezTo>
                <a:close/>
              </a:path>
            </a:pathLst>
          </a:custGeom>
          <a:solidFill>
            <a:srgbClr val="DDFF00"/>
          </a:solidFill>
          <a:ln/>
        </p:spPr>
      </p:sp>
      <p:sp>
        <p:nvSpPr>
          <p:cNvPr id="48" name="Text 46"/>
          <p:cNvSpPr/>
          <p:nvPr/>
        </p:nvSpPr>
        <p:spPr>
          <a:xfrm>
            <a:off x="8497848" y="3855482"/>
            <a:ext cx="1285875" cy="190500"/>
          </a:xfrm>
          <a:prstGeom prst="rect">
            <a:avLst/>
          </a:prstGeom>
          <a:noFill/>
          <a:ln/>
        </p:spPr>
        <p:txBody>
          <a:bodyPr wrap="square" lIns="0" tIns="0" rIns="0" bIns="0" rtlCol="0" anchor="ctr"/>
          <a:lstStyle/>
          <a:p>
            <a:pPr>
              <a:lnSpc>
                <a:spcPct val="120000"/>
              </a:lnSpc>
            </a:pPr>
            <a:r>
              <a:rPr lang="en-US" sz="1050" dirty="0">
                <a:solidFill>
                  <a:srgbClr val="FFFFFF">
                    <a:alpha val="70000"/>
                  </a:srgbClr>
                </a:solidFill>
                <a:latin typeface="Liter" pitchFamily="34" charset="0"/>
                <a:ea typeface="Liter" pitchFamily="34" charset="-122"/>
                <a:cs typeface="Liter" pitchFamily="34" charset="-120"/>
              </a:rPr>
              <a:t>Copyright protection</a:t>
            </a:r>
            <a:endParaRPr lang="en-US" sz="1600" dirty="0"/>
          </a:p>
        </p:txBody>
      </p:sp>
      <p:sp>
        <p:nvSpPr>
          <p:cNvPr id="49" name="Shape 47"/>
          <p:cNvSpPr/>
          <p:nvPr/>
        </p:nvSpPr>
        <p:spPr>
          <a:xfrm>
            <a:off x="8274011" y="4112657"/>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88657" y="55398"/>
                </a:moveTo>
                <a:lnTo>
                  <a:pt x="67821" y="88735"/>
                </a:lnTo>
                <a:cubicBezTo>
                  <a:pt x="66727" y="90480"/>
                  <a:pt x="64852" y="91574"/>
                  <a:pt x="62794" y="91678"/>
                </a:cubicBezTo>
                <a:cubicBezTo>
                  <a:pt x="60737" y="91782"/>
                  <a:pt x="58757" y="90845"/>
                  <a:pt x="57533" y="89178"/>
                </a:cubicBezTo>
                <a:lnTo>
                  <a:pt x="45032" y="72509"/>
                </a:lnTo>
                <a:cubicBezTo>
                  <a:pt x="42948" y="69748"/>
                  <a:pt x="43521" y="65842"/>
                  <a:pt x="46282" y="63758"/>
                </a:cubicBezTo>
                <a:cubicBezTo>
                  <a:pt x="49043" y="61674"/>
                  <a:pt x="52949" y="62247"/>
                  <a:pt x="55033" y="65008"/>
                </a:cubicBezTo>
                <a:lnTo>
                  <a:pt x="62065" y="74384"/>
                </a:lnTo>
                <a:lnTo>
                  <a:pt x="78057" y="48782"/>
                </a:lnTo>
                <a:cubicBezTo>
                  <a:pt x="79880" y="45865"/>
                  <a:pt x="83734" y="44954"/>
                  <a:pt x="86678" y="46803"/>
                </a:cubicBezTo>
                <a:cubicBezTo>
                  <a:pt x="89621" y="48652"/>
                  <a:pt x="90506" y="52481"/>
                  <a:pt x="88657" y="55424"/>
                </a:cubicBezTo>
                <a:close/>
              </a:path>
            </a:pathLst>
          </a:custGeom>
          <a:solidFill>
            <a:srgbClr val="DDFF00"/>
          </a:solidFill>
          <a:ln/>
        </p:spPr>
      </p:sp>
      <p:sp>
        <p:nvSpPr>
          <p:cNvPr id="50" name="Text 48"/>
          <p:cNvSpPr/>
          <p:nvPr/>
        </p:nvSpPr>
        <p:spPr>
          <a:xfrm>
            <a:off x="8497848" y="4084082"/>
            <a:ext cx="1238250" cy="190500"/>
          </a:xfrm>
          <a:prstGeom prst="rect">
            <a:avLst/>
          </a:prstGeom>
          <a:noFill/>
          <a:ln/>
        </p:spPr>
        <p:txBody>
          <a:bodyPr wrap="square" lIns="0" tIns="0" rIns="0" bIns="0" rtlCol="0" anchor="ctr"/>
          <a:lstStyle/>
          <a:p>
            <a:pPr>
              <a:lnSpc>
                <a:spcPct val="120000"/>
              </a:lnSpc>
            </a:pPr>
            <a:r>
              <a:rPr lang="en-US" sz="1050" dirty="0">
                <a:solidFill>
                  <a:srgbClr val="FFFFFF">
                    <a:alpha val="70000"/>
                  </a:srgbClr>
                </a:solidFill>
                <a:latin typeface="Liter" pitchFamily="34" charset="0"/>
                <a:ea typeface="Liter" pitchFamily="34" charset="-122"/>
                <a:cs typeface="Liter" pitchFamily="34" charset="-120"/>
              </a:rPr>
              <a:t>Patent enforcement</a:t>
            </a:r>
            <a:endParaRPr lang="en-US" sz="1600" dirty="0"/>
          </a:p>
        </p:txBody>
      </p:sp>
      <p:sp>
        <p:nvSpPr>
          <p:cNvPr id="51" name="Shape 49"/>
          <p:cNvSpPr/>
          <p:nvPr/>
        </p:nvSpPr>
        <p:spPr>
          <a:xfrm>
            <a:off x="381000" y="4598432"/>
            <a:ext cx="3705225" cy="2114550"/>
          </a:xfrm>
          <a:custGeom>
            <a:avLst/>
            <a:gdLst/>
            <a:ahLst/>
            <a:cxnLst/>
            <a:rect l="l" t="t" r="r" b="b"/>
            <a:pathLst>
              <a:path w="3705225" h="2114550">
                <a:moveTo>
                  <a:pt x="0" y="0"/>
                </a:moveTo>
                <a:lnTo>
                  <a:pt x="3705225" y="0"/>
                </a:lnTo>
                <a:lnTo>
                  <a:pt x="3705225" y="2114550"/>
                </a:lnTo>
                <a:lnTo>
                  <a:pt x="0" y="2114550"/>
                </a:lnTo>
                <a:lnTo>
                  <a:pt x="0" y="0"/>
                </a:lnTo>
                <a:close/>
              </a:path>
            </a:pathLst>
          </a:custGeom>
          <a:solidFill>
            <a:srgbClr val="111111"/>
          </a:solidFill>
          <a:ln/>
        </p:spPr>
      </p:sp>
      <p:sp>
        <p:nvSpPr>
          <p:cNvPr id="52" name="Shape 50"/>
          <p:cNvSpPr/>
          <p:nvPr/>
        </p:nvSpPr>
        <p:spPr>
          <a:xfrm>
            <a:off x="381000" y="4598432"/>
            <a:ext cx="3705225" cy="38100"/>
          </a:xfrm>
          <a:custGeom>
            <a:avLst/>
            <a:gdLst/>
            <a:ahLst/>
            <a:cxnLst/>
            <a:rect l="l" t="t" r="r" b="b"/>
            <a:pathLst>
              <a:path w="3705225" h="38100">
                <a:moveTo>
                  <a:pt x="0" y="0"/>
                </a:moveTo>
                <a:lnTo>
                  <a:pt x="3705225" y="0"/>
                </a:lnTo>
                <a:lnTo>
                  <a:pt x="3705225" y="38100"/>
                </a:lnTo>
                <a:lnTo>
                  <a:pt x="0" y="38100"/>
                </a:lnTo>
                <a:lnTo>
                  <a:pt x="0" y="0"/>
                </a:lnTo>
                <a:close/>
              </a:path>
            </a:pathLst>
          </a:custGeom>
          <a:solidFill>
            <a:srgbClr val="DDFF00"/>
          </a:solidFill>
          <a:ln/>
        </p:spPr>
      </p:sp>
      <p:sp>
        <p:nvSpPr>
          <p:cNvPr id="53" name="Shape 51"/>
          <p:cNvSpPr/>
          <p:nvPr/>
        </p:nvSpPr>
        <p:spPr>
          <a:xfrm>
            <a:off x="533400" y="4769883"/>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solidFill>
            <a:srgbClr val="DDFF00"/>
          </a:solidFill>
          <a:ln/>
        </p:spPr>
      </p:sp>
      <p:sp>
        <p:nvSpPr>
          <p:cNvPr id="54" name="Shape 52"/>
          <p:cNvSpPr/>
          <p:nvPr/>
        </p:nvSpPr>
        <p:spPr>
          <a:xfrm>
            <a:off x="666750" y="4903233"/>
            <a:ext cx="190500" cy="190500"/>
          </a:xfrm>
          <a:custGeom>
            <a:avLst/>
            <a:gdLst/>
            <a:ahLst/>
            <a:cxnLst/>
            <a:rect l="l" t="t" r="r" b="b"/>
            <a:pathLst>
              <a:path w="190500" h="190500">
                <a:moveTo>
                  <a:pt x="130932" y="104180"/>
                </a:moveTo>
                <a:lnTo>
                  <a:pt x="59903" y="104180"/>
                </a:lnTo>
                <a:cubicBezTo>
                  <a:pt x="60982" y="128178"/>
                  <a:pt x="66303" y="150279"/>
                  <a:pt x="73856" y="166464"/>
                </a:cubicBezTo>
                <a:cubicBezTo>
                  <a:pt x="78098" y="175580"/>
                  <a:pt x="82674" y="182017"/>
                  <a:pt x="86916" y="185961"/>
                </a:cubicBezTo>
                <a:cubicBezTo>
                  <a:pt x="91083" y="189867"/>
                  <a:pt x="93948" y="190500"/>
                  <a:pt x="95436" y="190500"/>
                </a:cubicBezTo>
                <a:cubicBezTo>
                  <a:pt x="96924" y="190500"/>
                  <a:pt x="99789" y="189867"/>
                  <a:pt x="103956" y="185961"/>
                </a:cubicBezTo>
                <a:cubicBezTo>
                  <a:pt x="108198" y="182017"/>
                  <a:pt x="112775" y="175543"/>
                  <a:pt x="117016" y="166464"/>
                </a:cubicBezTo>
                <a:cubicBezTo>
                  <a:pt x="124569" y="150279"/>
                  <a:pt x="129890" y="128178"/>
                  <a:pt x="130969" y="104180"/>
                </a:cubicBezTo>
                <a:close/>
                <a:moveTo>
                  <a:pt x="59866" y="86320"/>
                </a:moveTo>
                <a:lnTo>
                  <a:pt x="130894" y="86320"/>
                </a:lnTo>
                <a:cubicBezTo>
                  <a:pt x="129853" y="62322"/>
                  <a:pt x="124532" y="40221"/>
                  <a:pt x="116979" y="24036"/>
                </a:cubicBezTo>
                <a:cubicBezTo>
                  <a:pt x="112737" y="14957"/>
                  <a:pt x="108161" y="8483"/>
                  <a:pt x="103919" y="4539"/>
                </a:cubicBezTo>
                <a:cubicBezTo>
                  <a:pt x="99752" y="633"/>
                  <a:pt x="96887" y="0"/>
                  <a:pt x="95399" y="0"/>
                </a:cubicBezTo>
                <a:cubicBezTo>
                  <a:pt x="93911" y="0"/>
                  <a:pt x="91046" y="633"/>
                  <a:pt x="86878" y="4539"/>
                </a:cubicBezTo>
                <a:cubicBezTo>
                  <a:pt x="82637" y="8483"/>
                  <a:pt x="78060" y="14957"/>
                  <a:pt x="73819" y="24036"/>
                </a:cubicBezTo>
                <a:cubicBezTo>
                  <a:pt x="66266" y="40221"/>
                  <a:pt x="60945" y="62322"/>
                  <a:pt x="59866" y="86320"/>
                </a:cubicBezTo>
                <a:close/>
                <a:moveTo>
                  <a:pt x="42007" y="86320"/>
                </a:moveTo>
                <a:cubicBezTo>
                  <a:pt x="43309" y="54471"/>
                  <a:pt x="51532" y="24892"/>
                  <a:pt x="63550" y="5469"/>
                </a:cubicBezTo>
                <a:cubicBezTo>
                  <a:pt x="29282" y="17599"/>
                  <a:pt x="4056" y="48816"/>
                  <a:pt x="558" y="86320"/>
                </a:cubicBezTo>
                <a:lnTo>
                  <a:pt x="42007" y="86320"/>
                </a:lnTo>
                <a:close/>
                <a:moveTo>
                  <a:pt x="558" y="104180"/>
                </a:moveTo>
                <a:cubicBezTo>
                  <a:pt x="4056" y="141684"/>
                  <a:pt x="29282" y="172901"/>
                  <a:pt x="63550" y="185031"/>
                </a:cubicBezTo>
                <a:cubicBezTo>
                  <a:pt x="51532" y="165608"/>
                  <a:pt x="43309" y="136029"/>
                  <a:pt x="42007" y="104180"/>
                </a:cubicBezTo>
                <a:lnTo>
                  <a:pt x="558" y="104180"/>
                </a:lnTo>
                <a:close/>
                <a:moveTo>
                  <a:pt x="148791" y="104180"/>
                </a:moveTo>
                <a:cubicBezTo>
                  <a:pt x="147489" y="136029"/>
                  <a:pt x="139266" y="165608"/>
                  <a:pt x="127248" y="185031"/>
                </a:cubicBezTo>
                <a:cubicBezTo>
                  <a:pt x="161516" y="172864"/>
                  <a:pt x="186742" y="141684"/>
                  <a:pt x="190240" y="104180"/>
                </a:cubicBezTo>
                <a:lnTo>
                  <a:pt x="148791" y="104180"/>
                </a:lnTo>
                <a:close/>
                <a:moveTo>
                  <a:pt x="190240" y="86320"/>
                </a:moveTo>
                <a:cubicBezTo>
                  <a:pt x="186742" y="48816"/>
                  <a:pt x="161516" y="17599"/>
                  <a:pt x="127248" y="5469"/>
                </a:cubicBezTo>
                <a:cubicBezTo>
                  <a:pt x="139266" y="24892"/>
                  <a:pt x="147489" y="54471"/>
                  <a:pt x="148791" y="86320"/>
                </a:cubicBezTo>
                <a:lnTo>
                  <a:pt x="190240" y="86320"/>
                </a:lnTo>
                <a:close/>
              </a:path>
            </a:pathLst>
          </a:custGeom>
          <a:solidFill>
            <a:srgbClr val="000000"/>
          </a:solidFill>
          <a:ln/>
        </p:spPr>
      </p:sp>
      <p:sp>
        <p:nvSpPr>
          <p:cNvPr id="55" name="Text 53"/>
          <p:cNvSpPr/>
          <p:nvPr/>
        </p:nvSpPr>
        <p:spPr>
          <a:xfrm>
            <a:off x="1104900" y="4865133"/>
            <a:ext cx="2190750"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Liter" pitchFamily="34" charset="0"/>
                <a:ea typeface="Liter" pitchFamily="34" charset="-122"/>
                <a:cs typeface="Liter" pitchFamily="34" charset="-120"/>
              </a:rPr>
              <a:t>International Compliance</a:t>
            </a:r>
            <a:endParaRPr lang="en-US" sz="1600" dirty="0"/>
          </a:p>
        </p:txBody>
      </p:sp>
      <p:sp>
        <p:nvSpPr>
          <p:cNvPr id="56" name="Text 54"/>
          <p:cNvSpPr/>
          <p:nvPr/>
        </p:nvSpPr>
        <p:spPr>
          <a:xfrm>
            <a:off x="533400" y="5341383"/>
            <a:ext cx="3476625" cy="457200"/>
          </a:xfrm>
          <a:prstGeom prst="rect">
            <a:avLst/>
          </a:prstGeom>
          <a:noFill/>
          <a:ln/>
        </p:spPr>
        <p:txBody>
          <a:bodyPr wrap="square" lIns="0" tIns="0" rIns="0" bIns="0" rtlCol="0" anchor="ctr"/>
          <a:lstStyle/>
          <a:p>
            <a:pPr>
              <a:lnSpc>
                <a:spcPct val="130000"/>
              </a:lnSpc>
            </a:pPr>
            <a:r>
              <a:rPr lang="en-US" sz="1200" dirty="0">
                <a:solidFill>
                  <a:srgbClr val="FFFFFF">
                    <a:alpha val="80000"/>
                  </a:srgbClr>
                </a:solidFill>
                <a:latin typeface="Liter" pitchFamily="34" charset="0"/>
                <a:ea typeface="Liter" pitchFamily="34" charset="-122"/>
                <a:cs typeface="Liter" pitchFamily="34" charset="-120"/>
              </a:rPr>
              <a:t>Cyber crimes are </a:t>
            </a:r>
            <a:pPr>
              <a:lnSpc>
                <a:spcPct val="130000"/>
              </a:lnSpc>
            </a:pPr>
            <a:r>
              <a:rPr lang="en-US" sz="1200" dirty="0">
                <a:solidFill>
                  <a:srgbClr val="DDFF00"/>
                </a:solidFill>
                <a:latin typeface="Liter" pitchFamily="34" charset="0"/>
                <a:ea typeface="Liter" pitchFamily="34" charset="-122"/>
                <a:cs typeface="Liter" pitchFamily="34" charset="-120"/>
              </a:rPr>
              <a:t>borderless</a:t>
            </a:r>
            <a:pPr>
              <a:lnSpc>
                <a:spcPct val="130000"/>
              </a:lnSpc>
            </a:pPr>
            <a:r>
              <a:rPr lang="en-US" sz="1200" dirty="0">
                <a:solidFill>
                  <a:srgbClr val="FFFFFF">
                    <a:alpha val="80000"/>
                  </a:srgbClr>
                </a:solidFill>
                <a:latin typeface="Liter" pitchFamily="34" charset="0"/>
                <a:ea typeface="Liter" pitchFamily="34" charset="-122"/>
                <a:cs typeface="Liter" pitchFamily="34" charset="-120"/>
              </a:rPr>
              <a:t>. Laws enable global cooperation and uniform standards.</a:t>
            </a:r>
            <a:endParaRPr lang="en-US" sz="1600" dirty="0"/>
          </a:p>
        </p:txBody>
      </p:sp>
      <p:sp>
        <p:nvSpPr>
          <p:cNvPr id="57" name="Shape 55"/>
          <p:cNvSpPr/>
          <p:nvPr/>
        </p:nvSpPr>
        <p:spPr>
          <a:xfrm>
            <a:off x="552450" y="5941458"/>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88657" y="55398"/>
                </a:moveTo>
                <a:lnTo>
                  <a:pt x="67821" y="88735"/>
                </a:lnTo>
                <a:cubicBezTo>
                  <a:pt x="66727" y="90480"/>
                  <a:pt x="64852" y="91574"/>
                  <a:pt x="62794" y="91678"/>
                </a:cubicBezTo>
                <a:cubicBezTo>
                  <a:pt x="60737" y="91782"/>
                  <a:pt x="58757" y="90845"/>
                  <a:pt x="57533" y="89178"/>
                </a:cubicBezTo>
                <a:lnTo>
                  <a:pt x="45032" y="72509"/>
                </a:lnTo>
                <a:cubicBezTo>
                  <a:pt x="42948" y="69748"/>
                  <a:pt x="43521" y="65842"/>
                  <a:pt x="46282" y="63758"/>
                </a:cubicBezTo>
                <a:cubicBezTo>
                  <a:pt x="49043" y="61674"/>
                  <a:pt x="52949" y="62247"/>
                  <a:pt x="55033" y="65008"/>
                </a:cubicBezTo>
                <a:lnTo>
                  <a:pt x="62065" y="74384"/>
                </a:lnTo>
                <a:lnTo>
                  <a:pt x="78057" y="48782"/>
                </a:lnTo>
                <a:cubicBezTo>
                  <a:pt x="79880" y="45865"/>
                  <a:pt x="83734" y="44954"/>
                  <a:pt x="86678" y="46803"/>
                </a:cubicBezTo>
                <a:cubicBezTo>
                  <a:pt x="89621" y="48652"/>
                  <a:pt x="90506" y="52481"/>
                  <a:pt x="88657" y="55424"/>
                </a:cubicBezTo>
                <a:close/>
              </a:path>
            </a:pathLst>
          </a:custGeom>
          <a:solidFill>
            <a:srgbClr val="DDFF00"/>
          </a:solidFill>
          <a:ln/>
        </p:spPr>
      </p:sp>
      <p:sp>
        <p:nvSpPr>
          <p:cNvPr id="58" name="Text 56"/>
          <p:cNvSpPr/>
          <p:nvPr/>
        </p:nvSpPr>
        <p:spPr>
          <a:xfrm>
            <a:off x="776288" y="5912883"/>
            <a:ext cx="1905000" cy="190500"/>
          </a:xfrm>
          <a:prstGeom prst="rect">
            <a:avLst/>
          </a:prstGeom>
          <a:noFill/>
          <a:ln/>
        </p:spPr>
        <p:txBody>
          <a:bodyPr wrap="square" lIns="0" tIns="0" rIns="0" bIns="0" rtlCol="0" anchor="ctr"/>
          <a:lstStyle/>
          <a:p>
            <a:pPr>
              <a:lnSpc>
                <a:spcPct val="120000"/>
              </a:lnSpc>
            </a:pPr>
            <a:r>
              <a:rPr lang="en-US" sz="1050" dirty="0">
                <a:solidFill>
                  <a:srgbClr val="FFFFFF">
                    <a:alpha val="70000"/>
                  </a:srgbClr>
                </a:solidFill>
                <a:latin typeface="Liter" pitchFamily="34" charset="0"/>
                <a:ea typeface="Liter" pitchFamily="34" charset="-122"/>
                <a:cs typeface="Liter" pitchFamily="34" charset="-120"/>
              </a:rPr>
              <a:t>Cooperation between countries</a:t>
            </a:r>
            <a:endParaRPr lang="en-US" sz="1600" dirty="0"/>
          </a:p>
        </p:txBody>
      </p:sp>
      <p:sp>
        <p:nvSpPr>
          <p:cNvPr id="59" name="Shape 57"/>
          <p:cNvSpPr/>
          <p:nvPr/>
        </p:nvSpPr>
        <p:spPr>
          <a:xfrm>
            <a:off x="552450" y="6170058"/>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88657" y="55398"/>
                </a:moveTo>
                <a:lnTo>
                  <a:pt x="67821" y="88735"/>
                </a:lnTo>
                <a:cubicBezTo>
                  <a:pt x="66727" y="90480"/>
                  <a:pt x="64852" y="91574"/>
                  <a:pt x="62794" y="91678"/>
                </a:cubicBezTo>
                <a:cubicBezTo>
                  <a:pt x="60737" y="91782"/>
                  <a:pt x="58757" y="90845"/>
                  <a:pt x="57533" y="89178"/>
                </a:cubicBezTo>
                <a:lnTo>
                  <a:pt x="45032" y="72509"/>
                </a:lnTo>
                <a:cubicBezTo>
                  <a:pt x="42948" y="69748"/>
                  <a:pt x="43521" y="65842"/>
                  <a:pt x="46282" y="63758"/>
                </a:cubicBezTo>
                <a:cubicBezTo>
                  <a:pt x="49043" y="61674"/>
                  <a:pt x="52949" y="62247"/>
                  <a:pt x="55033" y="65008"/>
                </a:cubicBezTo>
                <a:lnTo>
                  <a:pt x="62065" y="74384"/>
                </a:lnTo>
                <a:lnTo>
                  <a:pt x="78057" y="48782"/>
                </a:lnTo>
                <a:cubicBezTo>
                  <a:pt x="79880" y="45865"/>
                  <a:pt x="83734" y="44954"/>
                  <a:pt x="86678" y="46803"/>
                </a:cubicBezTo>
                <a:cubicBezTo>
                  <a:pt x="89621" y="48652"/>
                  <a:pt x="90506" y="52481"/>
                  <a:pt x="88657" y="55424"/>
                </a:cubicBezTo>
                <a:close/>
              </a:path>
            </a:pathLst>
          </a:custGeom>
          <a:solidFill>
            <a:srgbClr val="DDFF00"/>
          </a:solidFill>
          <a:ln/>
        </p:spPr>
      </p:sp>
      <p:sp>
        <p:nvSpPr>
          <p:cNvPr id="60" name="Text 58"/>
          <p:cNvSpPr/>
          <p:nvPr/>
        </p:nvSpPr>
        <p:spPr>
          <a:xfrm>
            <a:off x="776288" y="6141483"/>
            <a:ext cx="1409700" cy="190500"/>
          </a:xfrm>
          <a:prstGeom prst="rect">
            <a:avLst/>
          </a:prstGeom>
          <a:noFill/>
          <a:ln/>
        </p:spPr>
        <p:txBody>
          <a:bodyPr wrap="square" lIns="0" tIns="0" rIns="0" bIns="0" rtlCol="0" anchor="ctr"/>
          <a:lstStyle/>
          <a:p>
            <a:pPr>
              <a:lnSpc>
                <a:spcPct val="120000"/>
              </a:lnSpc>
            </a:pPr>
            <a:r>
              <a:rPr lang="en-US" sz="1050" dirty="0">
                <a:solidFill>
                  <a:srgbClr val="FFFFFF">
                    <a:alpha val="70000"/>
                  </a:srgbClr>
                </a:solidFill>
                <a:latin typeface="Liter" pitchFamily="34" charset="0"/>
                <a:ea typeface="Liter" pitchFamily="34" charset="-122"/>
                <a:cs typeface="Liter" pitchFamily="34" charset="-120"/>
              </a:rPr>
              <a:t>Extradition of criminals</a:t>
            </a:r>
            <a:endParaRPr lang="en-US" sz="1600" dirty="0"/>
          </a:p>
        </p:txBody>
      </p:sp>
      <p:sp>
        <p:nvSpPr>
          <p:cNvPr id="61" name="Shape 59"/>
          <p:cNvSpPr/>
          <p:nvPr/>
        </p:nvSpPr>
        <p:spPr>
          <a:xfrm>
            <a:off x="552450" y="6398658"/>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88657" y="55398"/>
                </a:moveTo>
                <a:lnTo>
                  <a:pt x="67821" y="88735"/>
                </a:lnTo>
                <a:cubicBezTo>
                  <a:pt x="66727" y="90480"/>
                  <a:pt x="64852" y="91574"/>
                  <a:pt x="62794" y="91678"/>
                </a:cubicBezTo>
                <a:cubicBezTo>
                  <a:pt x="60737" y="91782"/>
                  <a:pt x="58757" y="90845"/>
                  <a:pt x="57533" y="89178"/>
                </a:cubicBezTo>
                <a:lnTo>
                  <a:pt x="45032" y="72509"/>
                </a:lnTo>
                <a:cubicBezTo>
                  <a:pt x="42948" y="69748"/>
                  <a:pt x="43521" y="65842"/>
                  <a:pt x="46282" y="63758"/>
                </a:cubicBezTo>
                <a:cubicBezTo>
                  <a:pt x="49043" y="61674"/>
                  <a:pt x="52949" y="62247"/>
                  <a:pt x="55033" y="65008"/>
                </a:cubicBezTo>
                <a:lnTo>
                  <a:pt x="62065" y="74384"/>
                </a:lnTo>
                <a:lnTo>
                  <a:pt x="78057" y="48782"/>
                </a:lnTo>
                <a:cubicBezTo>
                  <a:pt x="79880" y="45865"/>
                  <a:pt x="83734" y="44954"/>
                  <a:pt x="86678" y="46803"/>
                </a:cubicBezTo>
                <a:cubicBezTo>
                  <a:pt x="89621" y="48652"/>
                  <a:pt x="90506" y="52481"/>
                  <a:pt x="88657" y="55424"/>
                </a:cubicBezTo>
                <a:close/>
              </a:path>
            </a:pathLst>
          </a:custGeom>
          <a:solidFill>
            <a:srgbClr val="DDFF00"/>
          </a:solidFill>
          <a:ln/>
        </p:spPr>
      </p:sp>
      <p:sp>
        <p:nvSpPr>
          <p:cNvPr id="62" name="Text 60"/>
          <p:cNvSpPr/>
          <p:nvPr/>
        </p:nvSpPr>
        <p:spPr>
          <a:xfrm>
            <a:off x="776288" y="6370083"/>
            <a:ext cx="1514475" cy="190500"/>
          </a:xfrm>
          <a:prstGeom prst="rect">
            <a:avLst/>
          </a:prstGeom>
          <a:noFill/>
          <a:ln/>
        </p:spPr>
        <p:txBody>
          <a:bodyPr wrap="square" lIns="0" tIns="0" rIns="0" bIns="0" rtlCol="0" anchor="ctr"/>
          <a:lstStyle/>
          <a:p>
            <a:pPr>
              <a:lnSpc>
                <a:spcPct val="120000"/>
              </a:lnSpc>
            </a:pPr>
            <a:r>
              <a:rPr lang="en-US" sz="1050" dirty="0">
                <a:solidFill>
                  <a:srgbClr val="FFFFFF">
                    <a:alpha val="70000"/>
                  </a:srgbClr>
                </a:solidFill>
                <a:latin typeface="Liter" pitchFamily="34" charset="0"/>
                <a:ea typeface="Liter" pitchFamily="34" charset="-122"/>
                <a:cs typeface="Liter" pitchFamily="34" charset="-120"/>
              </a:rPr>
              <a:t>Uniform cyber standards</a:t>
            </a:r>
            <a:endParaRPr lang="en-US" sz="1600" dirty="0"/>
          </a:p>
        </p:txBody>
      </p:sp>
      <p:sp>
        <p:nvSpPr>
          <p:cNvPr id="63" name="Shape 61"/>
          <p:cNvSpPr/>
          <p:nvPr/>
        </p:nvSpPr>
        <p:spPr>
          <a:xfrm>
            <a:off x="4241721" y="4598432"/>
            <a:ext cx="3705225" cy="2114550"/>
          </a:xfrm>
          <a:custGeom>
            <a:avLst/>
            <a:gdLst/>
            <a:ahLst/>
            <a:cxnLst/>
            <a:rect l="l" t="t" r="r" b="b"/>
            <a:pathLst>
              <a:path w="3705225" h="2114550">
                <a:moveTo>
                  <a:pt x="0" y="0"/>
                </a:moveTo>
                <a:lnTo>
                  <a:pt x="3705225" y="0"/>
                </a:lnTo>
                <a:lnTo>
                  <a:pt x="3705225" y="2114550"/>
                </a:lnTo>
                <a:lnTo>
                  <a:pt x="0" y="2114550"/>
                </a:lnTo>
                <a:lnTo>
                  <a:pt x="0" y="0"/>
                </a:lnTo>
                <a:close/>
              </a:path>
            </a:pathLst>
          </a:custGeom>
          <a:solidFill>
            <a:srgbClr val="111111"/>
          </a:solidFill>
          <a:ln/>
        </p:spPr>
      </p:sp>
      <p:sp>
        <p:nvSpPr>
          <p:cNvPr id="64" name="Shape 62"/>
          <p:cNvSpPr/>
          <p:nvPr/>
        </p:nvSpPr>
        <p:spPr>
          <a:xfrm>
            <a:off x="4241721" y="4598432"/>
            <a:ext cx="3705225" cy="38100"/>
          </a:xfrm>
          <a:custGeom>
            <a:avLst/>
            <a:gdLst/>
            <a:ahLst/>
            <a:cxnLst/>
            <a:rect l="l" t="t" r="r" b="b"/>
            <a:pathLst>
              <a:path w="3705225" h="38100">
                <a:moveTo>
                  <a:pt x="0" y="0"/>
                </a:moveTo>
                <a:lnTo>
                  <a:pt x="3705225" y="0"/>
                </a:lnTo>
                <a:lnTo>
                  <a:pt x="3705225" y="38100"/>
                </a:lnTo>
                <a:lnTo>
                  <a:pt x="0" y="38100"/>
                </a:lnTo>
                <a:lnTo>
                  <a:pt x="0" y="0"/>
                </a:lnTo>
                <a:close/>
              </a:path>
            </a:pathLst>
          </a:custGeom>
          <a:solidFill>
            <a:srgbClr val="DDFF00"/>
          </a:solidFill>
          <a:ln/>
        </p:spPr>
      </p:sp>
      <p:sp>
        <p:nvSpPr>
          <p:cNvPr id="65" name="Shape 63"/>
          <p:cNvSpPr/>
          <p:nvPr/>
        </p:nvSpPr>
        <p:spPr>
          <a:xfrm>
            <a:off x="4394121" y="4769883"/>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solidFill>
            <a:srgbClr val="DDFF00"/>
          </a:solidFill>
          <a:ln/>
        </p:spPr>
      </p:sp>
      <p:sp>
        <p:nvSpPr>
          <p:cNvPr id="66" name="Shape 64"/>
          <p:cNvSpPr/>
          <p:nvPr/>
        </p:nvSpPr>
        <p:spPr>
          <a:xfrm>
            <a:off x="4515564" y="4903233"/>
            <a:ext cx="214313" cy="190500"/>
          </a:xfrm>
          <a:custGeom>
            <a:avLst/>
            <a:gdLst/>
            <a:ahLst/>
            <a:cxnLst/>
            <a:rect l="l" t="t" r="r" b="b"/>
            <a:pathLst>
              <a:path w="214313" h="190500">
                <a:moveTo>
                  <a:pt x="100050" y="31700"/>
                </a:moveTo>
                <a:lnTo>
                  <a:pt x="56666" y="79921"/>
                </a:lnTo>
                <a:cubicBezTo>
                  <a:pt x="54955" y="81818"/>
                  <a:pt x="55029" y="84758"/>
                  <a:pt x="56852" y="86581"/>
                </a:cubicBezTo>
                <a:cubicBezTo>
                  <a:pt x="68200" y="97929"/>
                  <a:pt x="86618" y="97929"/>
                  <a:pt x="97966" y="86581"/>
                </a:cubicBezTo>
                <a:lnTo>
                  <a:pt x="109798" y="74749"/>
                </a:lnTo>
                <a:cubicBezTo>
                  <a:pt x="111361" y="73186"/>
                  <a:pt x="113333" y="72330"/>
                  <a:pt x="115342" y="72182"/>
                </a:cubicBezTo>
                <a:cubicBezTo>
                  <a:pt x="117872" y="71958"/>
                  <a:pt x="120476" y="72814"/>
                  <a:pt x="122411" y="74749"/>
                </a:cubicBezTo>
                <a:lnTo>
                  <a:pt x="188119" y="139898"/>
                </a:lnTo>
                <a:lnTo>
                  <a:pt x="214313" y="119063"/>
                </a:lnTo>
                <a:lnTo>
                  <a:pt x="214313" y="11906"/>
                </a:lnTo>
                <a:lnTo>
                  <a:pt x="172641" y="35719"/>
                </a:lnTo>
                <a:lnTo>
                  <a:pt x="163785" y="29803"/>
                </a:lnTo>
                <a:cubicBezTo>
                  <a:pt x="157907" y="25896"/>
                  <a:pt x="151023" y="23812"/>
                  <a:pt x="143954" y="23812"/>
                </a:cubicBezTo>
                <a:lnTo>
                  <a:pt x="117760" y="23812"/>
                </a:lnTo>
                <a:cubicBezTo>
                  <a:pt x="117351" y="23812"/>
                  <a:pt x="116904" y="23812"/>
                  <a:pt x="116495" y="23850"/>
                </a:cubicBezTo>
                <a:cubicBezTo>
                  <a:pt x="110207" y="24185"/>
                  <a:pt x="104291" y="27012"/>
                  <a:pt x="100050" y="31700"/>
                </a:cubicBezTo>
                <a:close/>
                <a:moveTo>
                  <a:pt x="43383" y="67977"/>
                </a:moveTo>
                <a:lnTo>
                  <a:pt x="83121" y="23812"/>
                </a:lnTo>
                <a:lnTo>
                  <a:pt x="68387" y="23812"/>
                </a:lnTo>
                <a:cubicBezTo>
                  <a:pt x="58899" y="23812"/>
                  <a:pt x="49820" y="27570"/>
                  <a:pt x="43123" y="34268"/>
                </a:cubicBezTo>
                <a:lnTo>
                  <a:pt x="41672" y="35719"/>
                </a:lnTo>
                <a:lnTo>
                  <a:pt x="0" y="11906"/>
                </a:lnTo>
                <a:lnTo>
                  <a:pt x="0" y="119063"/>
                </a:lnTo>
                <a:lnTo>
                  <a:pt x="58192" y="167543"/>
                </a:lnTo>
                <a:cubicBezTo>
                  <a:pt x="66749" y="174687"/>
                  <a:pt x="77539" y="178594"/>
                  <a:pt x="88664" y="178594"/>
                </a:cubicBezTo>
                <a:lnTo>
                  <a:pt x="94506" y="178594"/>
                </a:lnTo>
                <a:lnTo>
                  <a:pt x="91901" y="175989"/>
                </a:lnTo>
                <a:cubicBezTo>
                  <a:pt x="88404" y="172492"/>
                  <a:pt x="88404" y="166836"/>
                  <a:pt x="91901" y="163376"/>
                </a:cubicBezTo>
                <a:cubicBezTo>
                  <a:pt x="95399" y="159916"/>
                  <a:pt x="101054" y="159879"/>
                  <a:pt x="104515" y="163376"/>
                </a:cubicBezTo>
                <a:lnTo>
                  <a:pt x="119769" y="178631"/>
                </a:lnTo>
                <a:lnTo>
                  <a:pt x="123118" y="178631"/>
                </a:lnTo>
                <a:cubicBezTo>
                  <a:pt x="130225" y="178631"/>
                  <a:pt x="137182" y="177031"/>
                  <a:pt x="143508" y="174054"/>
                </a:cubicBezTo>
                <a:lnTo>
                  <a:pt x="133573" y="164083"/>
                </a:lnTo>
                <a:cubicBezTo>
                  <a:pt x="130076" y="160586"/>
                  <a:pt x="130076" y="154930"/>
                  <a:pt x="133573" y="151470"/>
                </a:cubicBezTo>
                <a:cubicBezTo>
                  <a:pt x="137071" y="148010"/>
                  <a:pt x="142726" y="147972"/>
                  <a:pt x="146186" y="151470"/>
                </a:cubicBezTo>
                <a:lnTo>
                  <a:pt x="158093" y="163376"/>
                </a:lnTo>
                <a:lnTo>
                  <a:pt x="164604" y="156865"/>
                </a:lnTo>
                <a:cubicBezTo>
                  <a:pt x="167915" y="153553"/>
                  <a:pt x="168883" y="148754"/>
                  <a:pt x="167432" y="144549"/>
                </a:cubicBezTo>
                <a:lnTo>
                  <a:pt x="116123" y="93650"/>
                </a:lnTo>
                <a:lnTo>
                  <a:pt x="110579" y="99194"/>
                </a:lnTo>
                <a:cubicBezTo>
                  <a:pt x="92236" y="117537"/>
                  <a:pt x="62545" y="117537"/>
                  <a:pt x="44202" y="99194"/>
                </a:cubicBezTo>
                <a:cubicBezTo>
                  <a:pt x="35644" y="90636"/>
                  <a:pt x="35309" y="76907"/>
                  <a:pt x="43383" y="67940"/>
                </a:cubicBezTo>
                <a:close/>
              </a:path>
            </a:pathLst>
          </a:custGeom>
          <a:solidFill>
            <a:srgbClr val="000000"/>
          </a:solidFill>
          <a:ln/>
        </p:spPr>
      </p:sp>
      <p:sp>
        <p:nvSpPr>
          <p:cNvPr id="67" name="Text 65"/>
          <p:cNvSpPr/>
          <p:nvPr/>
        </p:nvSpPr>
        <p:spPr>
          <a:xfrm>
            <a:off x="4965621" y="4865133"/>
            <a:ext cx="1457325"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Liter" pitchFamily="34" charset="0"/>
                <a:ea typeface="Liter" pitchFamily="34" charset="-122"/>
                <a:cs typeface="Liter" pitchFamily="34" charset="-120"/>
              </a:rPr>
              <a:t>Promoting Trust</a:t>
            </a:r>
            <a:endParaRPr lang="en-US" sz="1600" dirty="0"/>
          </a:p>
        </p:txBody>
      </p:sp>
      <p:sp>
        <p:nvSpPr>
          <p:cNvPr id="68" name="Text 66"/>
          <p:cNvSpPr/>
          <p:nvPr/>
        </p:nvSpPr>
        <p:spPr>
          <a:xfrm>
            <a:off x="4394121" y="5341383"/>
            <a:ext cx="3476625" cy="457200"/>
          </a:xfrm>
          <a:prstGeom prst="rect">
            <a:avLst/>
          </a:prstGeom>
          <a:noFill/>
          <a:ln/>
        </p:spPr>
        <p:txBody>
          <a:bodyPr wrap="square" lIns="0" tIns="0" rIns="0" bIns="0" rtlCol="0" anchor="ctr"/>
          <a:lstStyle/>
          <a:p>
            <a:pPr>
              <a:lnSpc>
                <a:spcPct val="130000"/>
              </a:lnSpc>
            </a:pPr>
            <a:r>
              <a:rPr lang="en-US" sz="1200" dirty="0">
                <a:solidFill>
                  <a:srgbClr val="FFFFFF">
                    <a:alpha val="80000"/>
                  </a:srgbClr>
                </a:solidFill>
                <a:latin typeface="Liter" pitchFamily="34" charset="0"/>
                <a:ea typeface="Liter" pitchFamily="34" charset="-122"/>
                <a:cs typeface="Liter" pitchFamily="34" charset="-120"/>
              </a:rPr>
              <a:t>Strong cyber laws increase </a:t>
            </a:r>
            <a:pPr>
              <a:lnSpc>
                <a:spcPct val="130000"/>
              </a:lnSpc>
            </a:pPr>
            <a:r>
              <a:rPr lang="en-US" sz="1200" dirty="0">
                <a:solidFill>
                  <a:srgbClr val="DDFF00"/>
                </a:solidFill>
                <a:latin typeface="Liter" pitchFamily="34" charset="0"/>
                <a:ea typeface="Liter" pitchFamily="34" charset="-122"/>
                <a:cs typeface="Liter" pitchFamily="34" charset="-120"/>
              </a:rPr>
              <a:t>consumer confidence</a:t>
            </a:r>
            <a:pPr>
              <a:lnSpc>
                <a:spcPct val="130000"/>
              </a:lnSpc>
            </a:pPr>
            <a:r>
              <a:rPr lang="en-US" sz="1200" dirty="0">
                <a:solidFill>
                  <a:srgbClr val="FFFFFF">
                    <a:alpha val="80000"/>
                  </a:srgbClr>
                </a:solidFill>
                <a:latin typeface="Liter" pitchFamily="34" charset="0"/>
                <a:ea typeface="Liter" pitchFamily="34" charset="-122"/>
                <a:cs typeface="Liter" pitchFamily="34" charset="-120"/>
              </a:rPr>
              <a:t> and drive digital economy growth.</a:t>
            </a:r>
            <a:endParaRPr lang="en-US" sz="1600" dirty="0"/>
          </a:p>
        </p:txBody>
      </p:sp>
      <p:sp>
        <p:nvSpPr>
          <p:cNvPr id="69" name="Shape 67"/>
          <p:cNvSpPr/>
          <p:nvPr/>
        </p:nvSpPr>
        <p:spPr>
          <a:xfrm>
            <a:off x="4413171" y="5941458"/>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88657" y="55398"/>
                </a:moveTo>
                <a:lnTo>
                  <a:pt x="67821" y="88735"/>
                </a:lnTo>
                <a:cubicBezTo>
                  <a:pt x="66727" y="90480"/>
                  <a:pt x="64852" y="91574"/>
                  <a:pt x="62794" y="91678"/>
                </a:cubicBezTo>
                <a:cubicBezTo>
                  <a:pt x="60737" y="91782"/>
                  <a:pt x="58757" y="90845"/>
                  <a:pt x="57533" y="89178"/>
                </a:cubicBezTo>
                <a:lnTo>
                  <a:pt x="45032" y="72509"/>
                </a:lnTo>
                <a:cubicBezTo>
                  <a:pt x="42948" y="69748"/>
                  <a:pt x="43521" y="65842"/>
                  <a:pt x="46282" y="63758"/>
                </a:cubicBezTo>
                <a:cubicBezTo>
                  <a:pt x="49043" y="61674"/>
                  <a:pt x="52949" y="62247"/>
                  <a:pt x="55033" y="65008"/>
                </a:cubicBezTo>
                <a:lnTo>
                  <a:pt x="62065" y="74384"/>
                </a:lnTo>
                <a:lnTo>
                  <a:pt x="78057" y="48782"/>
                </a:lnTo>
                <a:cubicBezTo>
                  <a:pt x="79880" y="45865"/>
                  <a:pt x="83734" y="44954"/>
                  <a:pt x="86678" y="46803"/>
                </a:cubicBezTo>
                <a:cubicBezTo>
                  <a:pt x="89621" y="48652"/>
                  <a:pt x="90506" y="52481"/>
                  <a:pt x="88657" y="55424"/>
                </a:cubicBezTo>
                <a:close/>
              </a:path>
            </a:pathLst>
          </a:custGeom>
          <a:solidFill>
            <a:srgbClr val="DDFF00"/>
          </a:solidFill>
          <a:ln/>
        </p:spPr>
      </p:sp>
      <p:sp>
        <p:nvSpPr>
          <p:cNvPr id="70" name="Text 68"/>
          <p:cNvSpPr/>
          <p:nvPr/>
        </p:nvSpPr>
        <p:spPr>
          <a:xfrm>
            <a:off x="4637008" y="5912883"/>
            <a:ext cx="1362075" cy="190500"/>
          </a:xfrm>
          <a:prstGeom prst="rect">
            <a:avLst/>
          </a:prstGeom>
          <a:noFill/>
          <a:ln/>
        </p:spPr>
        <p:txBody>
          <a:bodyPr wrap="square" lIns="0" tIns="0" rIns="0" bIns="0" rtlCol="0" anchor="ctr"/>
          <a:lstStyle/>
          <a:p>
            <a:pPr>
              <a:lnSpc>
                <a:spcPct val="120000"/>
              </a:lnSpc>
            </a:pPr>
            <a:r>
              <a:rPr lang="en-US" sz="1050" dirty="0">
                <a:solidFill>
                  <a:srgbClr val="FFFFFF">
                    <a:alpha val="70000"/>
                  </a:srgbClr>
                </a:solidFill>
                <a:latin typeface="Liter" pitchFamily="34" charset="0"/>
                <a:ea typeface="Liter" pitchFamily="34" charset="-122"/>
                <a:cs typeface="Liter" pitchFamily="34" charset="-120"/>
              </a:rPr>
              <a:t>Consumer confidence</a:t>
            </a:r>
            <a:endParaRPr lang="en-US" sz="1600" dirty="0"/>
          </a:p>
        </p:txBody>
      </p:sp>
      <p:sp>
        <p:nvSpPr>
          <p:cNvPr id="71" name="Shape 69"/>
          <p:cNvSpPr/>
          <p:nvPr/>
        </p:nvSpPr>
        <p:spPr>
          <a:xfrm>
            <a:off x="4413171" y="6170058"/>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88657" y="55398"/>
                </a:moveTo>
                <a:lnTo>
                  <a:pt x="67821" y="88735"/>
                </a:lnTo>
                <a:cubicBezTo>
                  <a:pt x="66727" y="90480"/>
                  <a:pt x="64852" y="91574"/>
                  <a:pt x="62794" y="91678"/>
                </a:cubicBezTo>
                <a:cubicBezTo>
                  <a:pt x="60737" y="91782"/>
                  <a:pt x="58757" y="90845"/>
                  <a:pt x="57533" y="89178"/>
                </a:cubicBezTo>
                <a:lnTo>
                  <a:pt x="45032" y="72509"/>
                </a:lnTo>
                <a:cubicBezTo>
                  <a:pt x="42948" y="69748"/>
                  <a:pt x="43521" y="65842"/>
                  <a:pt x="46282" y="63758"/>
                </a:cubicBezTo>
                <a:cubicBezTo>
                  <a:pt x="49043" y="61674"/>
                  <a:pt x="52949" y="62247"/>
                  <a:pt x="55033" y="65008"/>
                </a:cubicBezTo>
                <a:lnTo>
                  <a:pt x="62065" y="74384"/>
                </a:lnTo>
                <a:lnTo>
                  <a:pt x="78057" y="48782"/>
                </a:lnTo>
                <a:cubicBezTo>
                  <a:pt x="79880" y="45865"/>
                  <a:pt x="83734" y="44954"/>
                  <a:pt x="86678" y="46803"/>
                </a:cubicBezTo>
                <a:cubicBezTo>
                  <a:pt x="89621" y="48652"/>
                  <a:pt x="90506" y="52481"/>
                  <a:pt x="88657" y="55424"/>
                </a:cubicBezTo>
                <a:close/>
              </a:path>
            </a:pathLst>
          </a:custGeom>
          <a:solidFill>
            <a:srgbClr val="DDFF00"/>
          </a:solidFill>
          <a:ln/>
        </p:spPr>
      </p:sp>
      <p:sp>
        <p:nvSpPr>
          <p:cNvPr id="72" name="Text 70"/>
          <p:cNvSpPr/>
          <p:nvPr/>
        </p:nvSpPr>
        <p:spPr>
          <a:xfrm>
            <a:off x="4637008" y="6141483"/>
            <a:ext cx="1438275" cy="190500"/>
          </a:xfrm>
          <a:prstGeom prst="rect">
            <a:avLst/>
          </a:prstGeom>
          <a:noFill/>
          <a:ln/>
        </p:spPr>
        <p:txBody>
          <a:bodyPr wrap="square" lIns="0" tIns="0" rIns="0" bIns="0" rtlCol="0" anchor="ctr"/>
          <a:lstStyle/>
          <a:p>
            <a:pPr>
              <a:lnSpc>
                <a:spcPct val="120000"/>
              </a:lnSpc>
            </a:pPr>
            <a:r>
              <a:rPr lang="en-US" sz="1050" dirty="0">
                <a:solidFill>
                  <a:srgbClr val="FFFFFF">
                    <a:alpha val="70000"/>
                  </a:srgbClr>
                </a:solidFill>
                <a:latin typeface="Liter" pitchFamily="34" charset="0"/>
                <a:ea typeface="Liter" pitchFamily="34" charset="-122"/>
                <a:cs typeface="Liter" pitchFamily="34" charset="-120"/>
              </a:rPr>
              <a:t>Online business growth</a:t>
            </a:r>
            <a:endParaRPr lang="en-US" sz="1600" dirty="0"/>
          </a:p>
        </p:txBody>
      </p:sp>
      <p:sp>
        <p:nvSpPr>
          <p:cNvPr id="73" name="Shape 71"/>
          <p:cNvSpPr/>
          <p:nvPr/>
        </p:nvSpPr>
        <p:spPr>
          <a:xfrm>
            <a:off x="4413171" y="6398658"/>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88657" y="55398"/>
                </a:moveTo>
                <a:lnTo>
                  <a:pt x="67821" y="88735"/>
                </a:lnTo>
                <a:cubicBezTo>
                  <a:pt x="66727" y="90480"/>
                  <a:pt x="64852" y="91574"/>
                  <a:pt x="62794" y="91678"/>
                </a:cubicBezTo>
                <a:cubicBezTo>
                  <a:pt x="60737" y="91782"/>
                  <a:pt x="58757" y="90845"/>
                  <a:pt x="57533" y="89178"/>
                </a:cubicBezTo>
                <a:lnTo>
                  <a:pt x="45032" y="72509"/>
                </a:lnTo>
                <a:cubicBezTo>
                  <a:pt x="42948" y="69748"/>
                  <a:pt x="43521" y="65842"/>
                  <a:pt x="46282" y="63758"/>
                </a:cubicBezTo>
                <a:cubicBezTo>
                  <a:pt x="49043" y="61674"/>
                  <a:pt x="52949" y="62247"/>
                  <a:pt x="55033" y="65008"/>
                </a:cubicBezTo>
                <a:lnTo>
                  <a:pt x="62065" y="74384"/>
                </a:lnTo>
                <a:lnTo>
                  <a:pt x="78057" y="48782"/>
                </a:lnTo>
                <a:cubicBezTo>
                  <a:pt x="79880" y="45865"/>
                  <a:pt x="83734" y="44954"/>
                  <a:pt x="86678" y="46803"/>
                </a:cubicBezTo>
                <a:cubicBezTo>
                  <a:pt x="89621" y="48652"/>
                  <a:pt x="90506" y="52481"/>
                  <a:pt x="88657" y="55424"/>
                </a:cubicBezTo>
                <a:close/>
              </a:path>
            </a:pathLst>
          </a:custGeom>
          <a:solidFill>
            <a:srgbClr val="DDFF00"/>
          </a:solidFill>
          <a:ln/>
        </p:spPr>
      </p:sp>
      <p:sp>
        <p:nvSpPr>
          <p:cNvPr id="74" name="Text 72"/>
          <p:cNvSpPr/>
          <p:nvPr/>
        </p:nvSpPr>
        <p:spPr>
          <a:xfrm>
            <a:off x="4637008" y="6370083"/>
            <a:ext cx="1819275" cy="190500"/>
          </a:xfrm>
          <a:prstGeom prst="rect">
            <a:avLst/>
          </a:prstGeom>
          <a:noFill/>
          <a:ln/>
        </p:spPr>
        <p:txBody>
          <a:bodyPr wrap="square" lIns="0" tIns="0" rIns="0" bIns="0" rtlCol="0" anchor="ctr"/>
          <a:lstStyle/>
          <a:p>
            <a:pPr>
              <a:lnSpc>
                <a:spcPct val="120000"/>
              </a:lnSpc>
            </a:pPr>
            <a:r>
              <a:rPr lang="en-US" sz="1050" dirty="0">
                <a:solidFill>
                  <a:srgbClr val="FFFFFF">
                    <a:alpha val="70000"/>
                  </a:srgbClr>
                </a:solidFill>
                <a:latin typeface="Liter" pitchFamily="34" charset="0"/>
                <a:ea typeface="Liter" pitchFamily="34" charset="-122"/>
                <a:cs typeface="Liter" pitchFamily="34" charset="-120"/>
              </a:rPr>
              <a:t>Investment in digital economy</a:t>
            </a:r>
            <a:endParaRPr lang="en-US" sz="1600" dirty="0"/>
          </a:p>
        </p:txBody>
      </p:sp>
      <p:sp>
        <p:nvSpPr>
          <p:cNvPr id="75" name="Shape 73"/>
          <p:cNvSpPr/>
          <p:nvPr/>
        </p:nvSpPr>
        <p:spPr>
          <a:xfrm>
            <a:off x="8102561" y="4579382"/>
            <a:ext cx="3705225" cy="2133600"/>
          </a:xfrm>
          <a:custGeom>
            <a:avLst/>
            <a:gdLst/>
            <a:ahLst/>
            <a:cxnLst/>
            <a:rect l="l" t="t" r="r" b="b"/>
            <a:pathLst>
              <a:path w="3705225" h="2133600">
                <a:moveTo>
                  <a:pt x="0" y="0"/>
                </a:moveTo>
                <a:lnTo>
                  <a:pt x="3705225" y="0"/>
                </a:lnTo>
                <a:lnTo>
                  <a:pt x="3705225" y="2133600"/>
                </a:lnTo>
                <a:lnTo>
                  <a:pt x="0" y="2133600"/>
                </a:lnTo>
                <a:lnTo>
                  <a:pt x="0" y="0"/>
                </a:lnTo>
                <a:close/>
              </a:path>
            </a:pathLst>
          </a:custGeom>
          <a:solidFill>
            <a:srgbClr val="DDFF00"/>
          </a:solidFill>
          <a:ln/>
        </p:spPr>
      </p:sp>
      <p:sp>
        <p:nvSpPr>
          <p:cNvPr id="76" name="Shape 74"/>
          <p:cNvSpPr/>
          <p:nvPr/>
        </p:nvSpPr>
        <p:spPr>
          <a:xfrm>
            <a:off x="9828133" y="4998483"/>
            <a:ext cx="257175" cy="342900"/>
          </a:xfrm>
          <a:custGeom>
            <a:avLst/>
            <a:gdLst/>
            <a:ahLst/>
            <a:cxnLst/>
            <a:rect l="l" t="t" r="r" b="b"/>
            <a:pathLst>
              <a:path w="257175" h="342900">
                <a:moveTo>
                  <a:pt x="196163" y="257175"/>
                </a:moveTo>
                <a:cubicBezTo>
                  <a:pt x="201052" y="242240"/>
                  <a:pt x="210830" y="228712"/>
                  <a:pt x="221880" y="217058"/>
                </a:cubicBezTo>
                <a:cubicBezTo>
                  <a:pt x="243780" y="194020"/>
                  <a:pt x="257175" y="162878"/>
                  <a:pt x="257175" y="128588"/>
                </a:cubicBezTo>
                <a:cubicBezTo>
                  <a:pt x="257175" y="57596"/>
                  <a:pt x="199579" y="0"/>
                  <a:pt x="128587" y="0"/>
                </a:cubicBezTo>
                <a:cubicBezTo>
                  <a:pt x="57596" y="0"/>
                  <a:pt x="0" y="57596"/>
                  <a:pt x="0" y="128588"/>
                </a:cubicBezTo>
                <a:cubicBezTo>
                  <a:pt x="0" y="162878"/>
                  <a:pt x="13395" y="194020"/>
                  <a:pt x="35295" y="217058"/>
                </a:cubicBezTo>
                <a:cubicBezTo>
                  <a:pt x="46345" y="228712"/>
                  <a:pt x="56190" y="242240"/>
                  <a:pt x="61012" y="257175"/>
                </a:cubicBezTo>
                <a:lnTo>
                  <a:pt x="196096" y="257175"/>
                </a:lnTo>
                <a:close/>
                <a:moveTo>
                  <a:pt x="192881" y="289322"/>
                </a:moveTo>
                <a:lnTo>
                  <a:pt x="64294" y="289322"/>
                </a:lnTo>
                <a:lnTo>
                  <a:pt x="64294" y="300038"/>
                </a:lnTo>
                <a:cubicBezTo>
                  <a:pt x="64294" y="329639"/>
                  <a:pt x="88270" y="353616"/>
                  <a:pt x="117872" y="353616"/>
                </a:cubicBezTo>
                <a:lnTo>
                  <a:pt x="139303" y="353616"/>
                </a:lnTo>
                <a:cubicBezTo>
                  <a:pt x="168905" y="353616"/>
                  <a:pt x="192881" y="329639"/>
                  <a:pt x="192881" y="300038"/>
                </a:cubicBezTo>
                <a:lnTo>
                  <a:pt x="192881" y="289322"/>
                </a:lnTo>
                <a:close/>
                <a:moveTo>
                  <a:pt x="123230" y="75009"/>
                </a:moveTo>
                <a:cubicBezTo>
                  <a:pt x="96575" y="75009"/>
                  <a:pt x="75009" y="96575"/>
                  <a:pt x="75009" y="123230"/>
                </a:cubicBezTo>
                <a:cubicBezTo>
                  <a:pt x="75009" y="132137"/>
                  <a:pt x="67843" y="139303"/>
                  <a:pt x="58936" y="139303"/>
                </a:cubicBezTo>
                <a:cubicBezTo>
                  <a:pt x="50029" y="139303"/>
                  <a:pt x="42863" y="132137"/>
                  <a:pt x="42863" y="123230"/>
                </a:cubicBezTo>
                <a:cubicBezTo>
                  <a:pt x="42863" y="78827"/>
                  <a:pt x="78827" y="42863"/>
                  <a:pt x="123230" y="42863"/>
                </a:cubicBezTo>
                <a:cubicBezTo>
                  <a:pt x="132137" y="42863"/>
                  <a:pt x="139303" y="50029"/>
                  <a:pt x="139303" y="58936"/>
                </a:cubicBezTo>
                <a:cubicBezTo>
                  <a:pt x="139303" y="67843"/>
                  <a:pt x="132137" y="75009"/>
                  <a:pt x="123230" y="75009"/>
                </a:cubicBezTo>
                <a:close/>
              </a:path>
            </a:pathLst>
          </a:custGeom>
          <a:solidFill>
            <a:srgbClr val="000000"/>
          </a:solidFill>
          <a:ln/>
        </p:spPr>
      </p:sp>
      <p:sp>
        <p:nvSpPr>
          <p:cNvPr id="77" name="Text 75"/>
          <p:cNvSpPr/>
          <p:nvPr/>
        </p:nvSpPr>
        <p:spPr>
          <a:xfrm>
            <a:off x="9343430" y="5455683"/>
            <a:ext cx="1228725" cy="304800"/>
          </a:xfrm>
          <a:prstGeom prst="rect">
            <a:avLst/>
          </a:prstGeom>
          <a:noFill/>
          <a:ln/>
        </p:spPr>
        <p:txBody>
          <a:bodyPr wrap="square" lIns="0" tIns="0" rIns="0" bIns="0" rtlCol="0" anchor="ctr"/>
          <a:lstStyle/>
          <a:p>
            <a:pPr algn="ctr">
              <a:lnSpc>
                <a:spcPct val="110000"/>
              </a:lnSpc>
            </a:pPr>
            <a:r>
              <a:rPr lang="en-US" sz="1800" b="1" dirty="0">
                <a:solidFill>
                  <a:srgbClr val="000000"/>
                </a:solidFill>
                <a:latin typeface="Liter" pitchFamily="34" charset="0"/>
                <a:ea typeface="Liter" pitchFamily="34" charset="-122"/>
                <a:cs typeface="Liter" pitchFamily="34" charset="-120"/>
              </a:rPr>
              <a:t>Key Insight</a:t>
            </a:r>
            <a:endParaRPr lang="en-US" sz="1600" dirty="0"/>
          </a:p>
        </p:txBody>
      </p:sp>
      <p:sp>
        <p:nvSpPr>
          <p:cNvPr id="78" name="Text 76"/>
          <p:cNvSpPr/>
          <p:nvPr/>
        </p:nvSpPr>
        <p:spPr>
          <a:xfrm>
            <a:off x="8216861" y="5836562"/>
            <a:ext cx="3476625" cy="457200"/>
          </a:xfrm>
          <a:prstGeom prst="rect">
            <a:avLst/>
          </a:prstGeom>
          <a:noFill/>
          <a:ln/>
        </p:spPr>
        <p:txBody>
          <a:bodyPr wrap="square" lIns="0" tIns="0" rIns="0" bIns="0" rtlCol="0" anchor="ctr"/>
          <a:lstStyle/>
          <a:p>
            <a:pPr algn="ctr">
              <a:lnSpc>
                <a:spcPct val="130000"/>
              </a:lnSpc>
            </a:pPr>
            <a:r>
              <a:rPr lang="en-US" sz="1200" b="1" dirty="0">
                <a:solidFill>
                  <a:srgbClr val="000000"/>
                </a:solidFill>
                <a:latin typeface="Liter" pitchFamily="34" charset="0"/>
                <a:ea typeface="Liter" pitchFamily="34" charset="-122"/>
                <a:cs typeface="Liter" pitchFamily="34" charset="-120"/>
              </a:rPr>
              <a:t>Without cyber laws, the digital economy cannot function securely or sustainably</a:t>
            </a:r>
            <a:endParaRPr lang="en-US" sz="1600" dirty="0"/>
          </a:p>
        </p:txBody>
      </p:sp>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57537" y="446921"/>
            <a:ext cx="71507" cy="429044"/>
          </a:xfrm>
          <a:custGeom>
            <a:avLst/>
            <a:gdLst/>
            <a:ahLst/>
            <a:cxnLst/>
            <a:rect l="l" t="t" r="r" b="b"/>
            <a:pathLst>
              <a:path w="71507" h="429044">
                <a:moveTo>
                  <a:pt x="0" y="0"/>
                </a:moveTo>
                <a:lnTo>
                  <a:pt x="71507" y="0"/>
                </a:lnTo>
                <a:lnTo>
                  <a:pt x="71507" y="429044"/>
                </a:lnTo>
                <a:lnTo>
                  <a:pt x="0" y="429044"/>
                </a:lnTo>
                <a:lnTo>
                  <a:pt x="0" y="0"/>
                </a:lnTo>
                <a:close/>
              </a:path>
            </a:pathLst>
          </a:custGeom>
          <a:solidFill>
            <a:srgbClr val="DDFF00"/>
          </a:solidFill>
          <a:ln/>
        </p:spPr>
      </p:sp>
      <p:sp>
        <p:nvSpPr>
          <p:cNvPr id="3" name="Text 1"/>
          <p:cNvSpPr/>
          <p:nvPr/>
        </p:nvSpPr>
        <p:spPr>
          <a:xfrm>
            <a:off x="572059" y="357537"/>
            <a:ext cx="5327296" cy="178768"/>
          </a:xfrm>
          <a:prstGeom prst="rect">
            <a:avLst/>
          </a:prstGeom>
          <a:noFill/>
          <a:ln/>
        </p:spPr>
        <p:txBody>
          <a:bodyPr wrap="square" lIns="0" tIns="0" rIns="0" bIns="0" rtlCol="0" anchor="ctr"/>
          <a:lstStyle/>
          <a:p>
            <a:pPr>
              <a:lnSpc>
                <a:spcPct val="120000"/>
              </a:lnSpc>
            </a:pPr>
            <a:r>
              <a:rPr lang="en-US" sz="985" b="1" spc="99" kern="0" dirty="0">
                <a:solidFill>
                  <a:srgbClr val="DDFF00"/>
                </a:solidFill>
                <a:latin typeface="Liter" pitchFamily="34" charset="0"/>
                <a:ea typeface="Liter" pitchFamily="34" charset="-122"/>
                <a:cs typeface="Liter" pitchFamily="34" charset="-120"/>
              </a:rPr>
              <a:t>CHAPTER 03</a:t>
            </a:r>
            <a:endParaRPr lang="en-US" sz="1600" dirty="0"/>
          </a:p>
        </p:txBody>
      </p:sp>
      <p:sp>
        <p:nvSpPr>
          <p:cNvPr id="4" name="Text 2"/>
          <p:cNvSpPr/>
          <p:nvPr/>
        </p:nvSpPr>
        <p:spPr>
          <a:xfrm>
            <a:off x="572059" y="536305"/>
            <a:ext cx="5479249" cy="429044"/>
          </a:xfrm>
          <a:prstGeom prst="rect">
            <a:avLst/>
          </a:prstGeom>
          <a:noFill/>
          <a:ln/>
        </p:spPr>
        <p:txBody>
          <a:bodyPr wrap="square" lIns="0" tIns="0" rIns="0" bIns="0" rtlCol="0" anchor="ctr"/>
          <a:lstStyle/>
          <a:p>
            <a:pPr>
              <a:lnSpc>
                <a:spcPct val="80000"/>
              </a:lnSpc>
            </a:pPr>
            <a:r>
              <a:rPr lang="en-US" sz="3378" b="1" dirty="0">
                <a:solidFill>
                  <a:srgbClr val="FFFFFF"/>
                </a:solidFill>
                <a:latin typeface="Liter" pitchFamily="34" charset="0"/>
                <a:ea typeface="Liter" pitchFamily="34" charset="-122"/>
                <a:cs typeface="Liter" pitchFamily="34" charset="-120"/>
              </a:rPr>
              <a:t>Understanding Cyber Crime</a:t>
            </a:r>
            <a:endParaRPr lang="en-US" sz="1600" dirty="0"/>
          </a:p>
        </p:txBody>
      </p:sp>
      <p:sp>
        <p:nvSpPr>
          <p:cNvPr id="5" name="Shape 3"/>
          <p:cNvSpPr/>
          <p:nvPr/>
        </p:nvSpPr>
        <p:spPr>
          <a:xfrm>
            <a:off x="375413" y="1215625"/>
            <a:ext cx="5613326" cy="1537408"/>
          </a:xfrm>
          <a:custGeom>
            <a:avLst/>
            <a:gdLst/>
            <a:ahLst/>
            <a:cxnLst/>
            <a:rect l="l" t="t" r="r" b="b"/>
            <a:pathLst>
              <a:path w="5613326" h="1537408">
                <a:moveTo>
                  <a:pt x="0" y="0"/>
                </a:moveTo>
                <a:lnTo>
                  <a:pt x="5613326" y="0"/>
                </a:lnTo>
                <a:lnTo>
                  <a:pt x="5613326" y="1537408"/>
                </a:lnTo>
                <a:lnTo>
                  <a:pt x="0" y="1537408"/>
                </a:lnTo>
                <a:lnTo>
                  <a:pt x="0" y="0"/>
                </a:lnTo>
                <a:close/>
              </a:path>
            </a:pathLst>
          </a:custGeom>
          <a:solidFill>
            <a:srgbClr val="111111"/>
          </a:solidFill>
          <a:ln/>
        </p:spPr>
      </p:sp>
      <p:sp>
        <p:nvSpPr>
          <p:cNvPr id="6" name="Shape 4"/>
          <p:cNvSpPr/>
          <p:nvPr/>
        </p:nvSpPr>
        <p:spPr>
          <a:xfrm>
            <a:off x="375413" y="1215625"/>
            <a:ext cx="35754" cy="1537408"/>
          </a:xfrm>
          <a:custGeom>
            <a:avLst/>
            <a:gdLst/>
            <a:ahLst/>
            <a:cxnLst/>
            <a:rect l="l" t="t" r="r" b="b"/>
            <a:pathLst>
              <a:path w="35754" h="1537408">
                <a:moveTo>
                  <a:pt x="0" y="0"/>
                </a:moveTo>
                <a:lnTo>
                  <a:pt x="35754" y="0"/>
                </a:lnTo>
                <a:lnTo>
                  <a:pt x="35754" y="1537408"/>
                </a:lnTo>
                <a:lnTo>
                  <a:pt x="0" y="1537408"/>
                </a:lnTo>
                <a:lnTo>
                  <a:pt x="0" y="0"/>
                </a:lnTo>
                <a:close/>
              </a:path>
            </a:pathLst>
          </a:custGeom>
          <a:solidFill>
            <a:srgbClr val="DDFF00"/>
          </a:solidFill>
          <a:ln/>
        </p:spPr>
      </p:sp>
      <p:sp>
        <p:nvSpPr>
          <p:cNvPr id="7" name="Text 5"/>
          <p:cNvSpPr/>
          <p:nvPr/>
        </p:nvSpPr>
        <p:spPr>
          <a:xfrm>
            <a:off x="572059" y="1394393"/>
            <a:ext cx="5345173" cy="286029"/>
          </a:xfrm>
          <a:prstGeom prst="rect">
            <a:avLst/>
          </a:prstGeom>
          <a:noFill/>
          <a:ln/>
        </p:spPr>
        <p:txBody>
          <a:bodyPr wrap="square" lIns="0" tIns="0" rIns="0" bIns="0" rtlCol="0" anchor="ctr"/>
          <a:lstStyle/>
          <a:p>
            <a:pPr>
              <a:lnSpc>
                <a:spcPct val="110000"/>
              </a:lnSpc>
            </a:pPr>
            <a:r>
              <a:rPr lang="en-US" sz="1689" b="1" dirty="0">
                <a:solidFill>
                  <a:srgbClr val="DDFF00"/>
                </a:solidFill>
                <a:latin typeface="Liter" pitchFamily="34" charset="0"/>
                <a:ea typeface="Liter" pitchFamily="34" charset="-122"/>
                <a:cs typeface="Liter" pitchFamily="34" charset="-120"/>
              </a:rPr>
              <a:t>What is Cyber Crime?</a:t>
            </a:r>
            <a:endParaRPr lang="en-US" sz="1600" dirty="0"/>
          </a:p>
        </p:txBody>
      </p:sp>
      <p:sp>
        <p:nvSpPr>
          <p:cNvPr id="8" name="Text 6"/>
          <p:cNvSpPr/>
          <p:nvPr/>
        </p:nvSpPr>
        <p:spPr>
          <a:xfrm>
            <a:off x="572059" y="1787572"/>
            <a:ext cx="5318358" cy="786581"/>
          </a:xfrm>
          <a:prstGeom prst="rect">
            <a:avLst/>
          </a:prstGeom>
          <a:noFill/>
          <a:ln/>
        </p:spPr>
        <p:txBody>
          <a:bodyPr wrap="square" lIns="0" tIns="0" rIns="0" bIns="0" rtlCol="0" anchor="ctr"/>
          <a:lstStyle/>
          <a:p>
            <a:pPr>
              <a:lnSpc>
                <a:spcPct val="140000"/>
              </a:lnSpc>
            </a:pPr>
            <a:r>
              <a:rPr lang="en-US" sz="1267" dirty="0">
                <a:solidFill>
                  <a:srgbClr val="FFFFFF">
                    <a:alpha val="90000"/>
                  </a:srgbClr>
                </a:solidFill>
                <a:latin typeface="Liter" pitchFamily="34" charset="0"/>
                <a:ea typeface="Liter" pitchFamily="34" charset="-122"/>
                <a:cs typeface="Liter" pitchFamily="34" charset="-120"/>
              </a:rPr>
              <a:t>Cyber crime refers to </a:t>
            </a:r>
            <a:pPr>
              <a:lnSpc>
                <a:spcPct val="140000"/>
              </a:lnSpc>
            </a:pPr>
            <a:r>
              <a:rPr lang="en-US" sz="1267" dirty="0">
                <a:solidFill>
                  <a:srgbClr val="DDFF00"/>
                </a:solidFill>
                <a:highlight>
                  <a:srgbClr val="DDFF00">
                    <a:alpha val="20000"/>
                  </a:srgbClr>
                </a:highlight>
                <a:latin typeface="Liter" pitchFamily="34" charset="0"/>
                <a:ea typeface="Liter" pitchFamily="34" charset="-122"/>
                <a:cs typeface="Liter" pitchFamily="34" charset="-120"/>
              </a:rPr>
              <a:t>illegal activities </a:t>
            </a:r>
            <a:pPr>
              <a:lnSpc>
                <a:spcPct val="140000"/>
              </a:lnSpc>
            </a:pPr>
            <a:r>
              <a:rPr lang="en-US" sz="1267" dirty="0">
                <a:solidFill>
                  <a:srgbClr val="FFFFFF">
                    <a:alpha val="90000"/>
                  </a:srgbClr>
                </a:solidFill>
                <a:latin typeface="Liter" pitchFamily="34" charset="0"/>
                <a:ea typeface="Liter" pitchFamily="34" charset="-122"/>
                <a:cs typeface="Liter" pitchFamily="34" charset="-120"/>
              </a:rPr>
              <a:t>carried out using computers or internet networks. These crimes exploit digital technologies to commit offenses that can affect individuals, organizations, and even nations.</a:t>
            </a:r>
            <a:endParaRPr lang="en-US" sz="1600" dirty="0"/>
          </a:p>
        </p:txBody>
      </p:sp>
      <p:sp>
        <p:nvSpPr>
          <p:cNvPr id="9" name="Shape 7"/>
          <p:cNvSpPr/>
          <p:nvPr/>
        </p:nvSpPr>
        <p:spPr>
          <a:xfrm>
            <a:off x="357537" y="2893701"/>
            <a:ext cx="5631202" cy="3700504"/>
          </a:xfrm>
          <a:custGeom>
            <a:avLst/>
            <a:gdLst/>
            <a:ahLst/>
            <a:cxnLst/>
            <a:rect l="l" t="t" r="r" b="b"/>
            <a:pathLst>
              <a:path w="5631202" h="3700504">
                <a:moveTo>
                  <a:pt x="0" y="0"/>
                </a:moveTo>
                <a:lnTo>
                  <a:pt x="5631202" y="0"/>
                </a:lnTo>
                <a:lnTo>
                  <a:pt x="5631202" y="3700504"/>
                </a:lnTo>
                <a:lnTo>
                  <a:pt x="0" y="3700504"/>
                </a:lnTo>
                <a:lnTo>
                  <a:pt x="0" y="0"/>
                </a:lnTo>
                <a:close/>
              </a:path>
            </a:pathLst>
          </a:custGeom>
          <a:solidFill>
            <a:srgbClr val="111111"/>
          </a:solidFill>
          <a:ln/>
        </p:spPr>
      </p:sp>
      <p:sp>
        <p:nvSpPr>
          <p:cNvPr id="10" name="Shape 8"/>
          <p:cNvSpPr/>
          <p:nvPr/>
        </p:nvSpPr>
        <p:spPr>
          <a:xfrm>
            <a:off x="558651" y="3108223"/>
            <a:ext cx="178768" cy="178768"/>
          </a:xfrm>
          <a:custGeom>
            <a:avLst/>
            <a:gdLst/>
            <a:ahLst/>
            <a:cxnLst/>
            <a:rect l="l" t="t" r="r" b="b"/>
            <a:pathLst>
              <a:path w="178768" h="178768">
                <a:moveTo>
                  <a:pt x="89384" y="0"/>
                </a:moveTo>
                <a:cubicBezTo>
                  <a:pt x="94517" y="0"/>
                  <a:pt x="99230" y="2828"/>
                  <a:pt x="101674" y="7332"/>
                </a:cubicBezTo>
                <a:lnTo>
                  <a:pt x="177092" y="146995"/>
                </a:lnTo>
                <a:cubicBezTo>
                  <a:pt x="179432" y="151325"/>
                  <a:pt x="179327" y="156562"/>
                  <a:pt x="176813" y="160787"/>
                </a:cubicBezTo>
                <a:cubicBezTo>
                  <a:pt x="174299" y="165012"/>
                  <a:pt x="169725" y="167595"/>
                  <a:pt x="164802" y="167595"/>
                </a:cubicBezTo>
                <a:lnTo>
                  <a:pt x="13966" y="167595"/>
                </a:lnTo>
                <a:cubicBezTo>
                  <a:pt x="9043" y="167595"/>
                  <a:pt x="4504" y="165012"/>
                  <a:pt x="1955" y="160787"/>
                </a:cubicBezTo>
                <a:cubicBezTo>
                  <a:pt x="-594" y="156562"/>
                  <a:pt x="-663" y="151325"/>
                  <a:pt x="1676" y="146995"/>
                </a:cubicBezTo>
                <a:lnTo>
                  <a:pt x="77094" y="7332"/>
                </a:lnTo>
                <a:cubicBezTo>
                  <a:pt x="79538" y="2828"/>
                  <a:pt x="84252" y="0"/>
                  <a:pt x="89384" y="0"/>
                </a:cubicBezTo>
                <a:close/>
                <a:moveTo>
                  <a:pt x="89384" y="58658"/>
                </a:moveTo>
                <a:cubicBezTo>
                  <a:pt x="84740" y="58658"/>
                  <a:pt x="81004" y="62394"/>
                  <a:pt x="81004" y="67038"/>
                </a:cubicBezTo>
                <a:lnTo>
                  <a:pt x="81004" y="106144"/>
                </a:lnTo>
                <a:cubicBezTo>
                  <a:pt x="81004" y="110787"/>
                  <a:pt x="84740" y="114523"/>
                  <a:pt x="89384" y="114523"/>
                </a:cubicBezTo>
                <a:cubicBezTo>
                  <a:pt x="94028" y="114523"/>
                  <a:pt x="97764" y="110787"/>
                  <a:pt x="97764" y="106144"/>
                </a:cubicBezTo>
                <a:lnTo>
                  <a:pt x="97764" y="67038"/>
                </a:lnTo>
                <a:cubicBezTo>
                  <a:pt x="97764" y="62394"/>
                  <a:pt x="94028" y="58658"/>
                  <a:pt x="89384" y="58658"/>
                </a:cubicBezTo>
                <a:close/>
                <a:moveTo>
                  <a:pt x="98707" y="134076"/>
                </a:moveTo>
                <a:cubicBezTo>
                  <a:pt x="98919" y="130616"/>
                  <a:pt x="97193" y="127324"/>
                  <a:pt x="94227" y="125529"/>
                </a:cubicBezTo>
                <a:cubicBezTo>
                  <a:pt x="91260" y="123735"/>
                  <a:pt x="87543" y="123735"/>
                  <a:pt x="84577" y="125529"/>
                </a:cubicBezTo>
                <a:cubicBezTo>
                  <a:pt x="81610" y="127324"/>
                  <a:pt x="79885" y="130616"/>
                  <a:pt x="80097" y="134076"/>
                </a:cubicBezTo>
                <a:cubicBezTo>
                  <a:pt x="79885" y="137537"/>
                  <a:pt x="81610" y="140829"/>
                  <a:pt x="84577" y="142623"/>
                </a:cubicBezTo>
                <a:cubicBezTo>
                  <a:pt x="87543" y="144418"/>
                  <a:pt x="91260" y="144418"/>
                  <a:pt x="94227" y="142623"/>
                </a:cubicBezTo>
                <a:cubicBezTo>
                  <a:pt x="97193" y="140829"/>
                  <a:pt x="98919" y="137537"/>
                  <a:pt x="98707" y="134076"/>
                </a:cubicBezTo>
                <a:close/>
              </a:path>
            </a:pathLst>
          </a:custGeom>
          <a:solidFill>
            <a:srgbClr val="DDFF00"/>
          </a:solidFill>
          <a:ln/>
        </p:spPr>
      </p:sp>
      <p:sp>
        <p:nvSpPr>
          <p:cNvPr id="11" name="Text 9"/>
          <p:cNvSpPr/>
          <p:nvPr/>
        </p:nvSpPr>
        <p:spPr>
          <a:xfrm>
            <a:off x="759765" y="3072469"/>
            <a:ext cx="5139589" cy="250276"/>
          </a:xfrm>
          <a:prstGeom prst="rect">
            <a:avLst/>
          </a:prstGeom>
          <a:noFill/>
          <a:ln/>
        </p:spPr>
        <p:txBody>
          <a:bodyPr wrap="square" lIns="0" tIns="0" rIns="0" bIns="0" rtlCol="0" anchor="ctr"/>
          <a:lstStyle/>
          <a:p>
            <a:pPr>
              <a:lnSpc>
                <a:spcPct val="120000"/>
              </a:lnSpc>
            </a:pPr>
            <a:r>
              <a:rPr lang="en-US" sz="1408" b="1" dirty="0">
                <a:solidFill>
                  <a:srgbClr val="DDFF00"/>
                </a:solidFill>
                <a:latin typeface="Liter" pitchFamily="34" charset="0"/>
                <a:ea typeface="Liter" pitchFamily="34" charset="-122"/>
                <a:cs typeface="Liter" pitchFamily="34" charset="-120"/>
              </a:rPr>
              <a:t>Types of Cyber Crimes</a:t>
            </a:r>
            <a:endParaRPr lang="en-US" sz="1600" dirty="0"/>
          </a:p>
        </p:txBody>
      </p:sp>
      <p:sp>
        <p:nvSpPr>
          <p:cNvPr id="12" name="Shape 10"/>
          <p:cNvSpPr/>
          <p:nvPr/>
        </p:nvSpPr>
        <p:spPr>
          <a:xfrm>
            <a:off x="539880" y="3469335"/>
            <a:ext cx="2572476" cy="650717"/>
          </a:xfrm>
          <a:custGeom>
            <a:avLst/>
            <a:gdLst/>
            <a:ahLst/>
            <a:cxnLst/>
            <a:rect l="l" t="t" r="r" b="b"/>
            <a:pathLst>
              <a:path w="2572476" h="650717">
                <a:moveTo>
                  <a:pt x="0" y="0"/>
                </a:moveTo>
                <a:lnTo>
                  <a:pt x="2572476" y="0"/>
                </a:lnTo>
                <a:lnTo>
                  <a:pt x="2572476" y="650717"/>
                </a:lnTo>
                <a:lnTo>
                  <a:pt x="0" y="650717"/>
                </a:lnTo>
                <a:lnTo>
                  <a:pt x="0" y="0"/>
                </a:lnTo>
                <a:close/>
              </a:path>
            </a:pathLst>
          </a:custGeom>
          <a:solidFill>
            <a:srgbClr val="000000"/>
          </a:solidFill>
          <a:ln w="10160">
            <a:solidFill>
              <a:srgbClr val="DDFF00">
                <a:alpha val="30196"/>
              </a:srgbClr>
            </a:solidFill>
            <a:prstDash val="solid"/>
          </a:ln>
        </p:spPr>
      </p:sp>
      <p:sp>
        <p:nvSpPr>
          <p:cNvPr id="13" name="Shape 11"/>
          <p:cNvSpPr/>
          <p:nvPr/>
        </p:nvSpPr>
        <p:spPr>
          <a:xfrm>
            <a:off x="650717" y="3615926"/>
            <a:ext cx="178768" cy="143015"/>
          </a:xfrm>
          <a:custGeom>
            <a:avLst/>
            <a:gdLst/>
            <a:ahLst/>
            <a:cxnLst/>
            <a:rect l="l" t="t" r="r" b="b"/>
            <a:pathLst>
              <a:path w="178768" h="143015">
                <a:moveTo>
                  <a:pt x="17877" y="26815"/>
                </a:moveTo>
                <a:cubicBezTo>
                  <a:pt x="17877" y="16955"/>
                  <a:pt x="25893" y="8938"/>
                  <a:pt x="35754" y="8938"/>
                </a:cubicBezTo>
                <a:lnTo>
                  <a:pt x="143015" y="8938"/>
                </a:lnTo>
                <a:cubicBezTo>
                  <a:pt x="152875" y="8938"/>
                  <a:pt x="160891" y="16955"/>
                  <a:pt x="160891" y="26815"/>
                </a:cubicBezTo>
                <a:lnTo>
                  <a:pt x="160891" y="93853"/>
                </a:lnTo>
                <a:lnTo>
                  <a:pt x="143015" y="93853"/>
                </a:lnTo>
                <a:lnTo>
                  <a:pt x="143015" y="26815"/>
                </a:lnTo>
                <a:lnTo>
                  <a:pt x="35754" y="26815"/>
                </a:lnTo>
                <a:lnTo>
                  <a:pt x="35754" y="93853"/>
                </a:lnTo>
                <a:lnTo>
                  <a:pt x="17877" y="93853"/>
                </a:lnTo>
                <a:lnTo>
                  <a:pt x="17877" y="26815"/>
                </a:lnTo>
                <a:close/>
                <a:moveTo>
                  <a:pt x="0" y="112624"/>
                </a:moveTo>
                <a:cubicBezTo>
                  <a:pt x="0" y="109663"/>
                  <a:pt x="2402" y="107261"/>
                  <a:pt x="5363" y="107261"/>
                </a:cubicBezTo>
                <a:lnTo>
                  <a:pt x="173405" y="107261"/>
                </a:lnTo>
                <a:cubicBezTo>
                  <a:pt x="176366" y="107261"/>
                  <a:pt x="178768" y="109663"/>
                  <a:pt x="178768" y="112624"/>
                </a:cubicBezTo>
                <a:cubicBezTo>
                  <a:pt x="178768" y="124467"/>
                  <a:pt x="169160" y="134076"/>
                  <a:pt x="157316" y="134076"/>
                </a:cubicBezTo>
                <a:lnTo>
                  <a:pt x="21452" y="134076"/>
                </a:lnTo>
                <a:cubicBezTo>
                  <a:pt x="9609" y="134076"/>
                  <a:pt x="0" y="124467"/>
                  <a:pt x="0" y="112624"/>
                </a:cubicBezTo>
                <a:close/>
                <a:moveTo>
                  <a:pt x="78490" y="58379"/>
                </a:moveTo>
                <a:lnTo>
                  <a:pt x="69831" y="67038"/>
                </a:lnTo>
                <a:lnTo>
                  <a:pt x="78490" y="75697"/>
                </a:lnTo>
                <a:cubicBezTo>
                  <a:pt x="81116" y="78323"/>
                  <a:pt x="81116" y="82569"/>
                  <a:pt x="78490" y="85166"/>
                </a:cubicBezTo>
                <a:cubicBezTo>
                  <a:pt x="75865" y="87764"/>
                  <a:pt x="71619" y="87792"/>
                  <a:pt x="69021" y="85166"/>
                </a:cubicBezTo>
                <a:lnTo>
                  <a:pt x="55614" y="71759"/>
                </a:lnTo>
                <a:cubicBezTo>
                  <a:pt x="52988" y="69133"/>
                  <a:pt x="52988" y="64887"/>
                  <a:pt x="55614" y="62290"/>
                </a:cubicBezTo>
                <a:lnTo>
                  <a:pt x="69021" y="48882"/>
                </a:lnTo>
                <a:cubicBezTo>
                  <a:pt x="71647" y="46256"/>
                  <a:pt x="75893" y="46256"/>
                  <a:pt x="78490" y="48882"/>
                </a:cubicBezTo>
                <a:cubicBezTo>
                  <a:pt x="81088" y="51508"/>
                  <a:pt x="81116" y="55753"/>
                  <a:pt x="78490" y="58351"/>
                </a:cubicBezTo>
                <a:close/>
                <a:moveTo>
                  <a:pt x="109775" y="48882"/>
                </a:moveTo>
                <a:lnTo>
                  <a:pt x="123183" y="62290"/>
                </a:lnTo>
                <a:cubicBezTo>
                  <a:pt x="125808" y="64915"/>
                  <a:pt x="125808" y="69161"/>
                  <a:pt x="123183" y="71759"/>
                </a:cubicBezTo>
                <a:lnTo>
                  <a:pt x="109775" y="85166"/>
                </a:lnTo>
                <a:cubicBezTo>
                  <a:pt x="107149" y="87792"/>
                  <a:pt x="102904" y="87792"/>
                  <a:pt x="100306" y="85166"/>
                </a:cubicBezTo>
                <a:cubicBezTo>
                  <a:pt x="97708" y="82541"/>
                  <a:pt x="97680" y="78295"/>
                  <a:pt x="100306" y="75697"/>
                </a:cubicBezTo>
                <a:lnTo>
                  <a:pt x="108965" y="67038"/>
                </a:lnTo>
                <a:lnTo>
                  <a:pt x="100306" y="58379"/>
                </a:lnTo>
                <a:cubicBezTo>
                  <a:pt x="97680" y="55753"/>
                  <a:pt x="97680" y="51508"/>
                  <a:pt x="100306" y="48910"/>
                </a:cubicBezTo>
                <a:cubicBezTo>
                  <a:pt x="102931" y="46312"/>
                  <a:pt x="107177" y="46284"/>
                  <a:pt x="109775" y="48910"/>
                </a:cubicBezTo>
                <a:close/>
              </a:path>
            </a:pathLst>
          </a:custGeom>
          <a:solidFill>
            <a:srgbClr val="DDFF00"/>
          </a:solidFill>
          <a:ln/>
        </p:spPr>
      </p:sp>
      <p:sp>
        <p:nvSpPr>
          <p:cNvPr id="14" name="Text 12"/>
          <p:cNvSpPr/>
          <p:nvPr/>
        </p:nvSpPr>
        <p:spPr>
          <a:xfrm>
            <a:off x="900992" y="3580172"/>
            <a:ext cx="589935" cy="214522"/>
          </a:xfrm>
          <a:prstGeom prst="rect">
            <a:avLst/>
          </a:prstGeom>
          <a:noFill/>
          <a:ln/>
        </p:spPr>
        <p:txBody>
          <a:bodyPr wrap="square" lIns="0" tIns="0" rIns="0" bIns="0" rtlCol="0" anchor="ctr"/>
          <a:lstStyle/>
          <a:p>
            <a:pPr>
              <a:lnSpc>
                <a:spcPct val="130000"/>
              </a:lnSpc>
            </a:pPr>
            <a:r>
              <a:rPr lang="en-US" sz="1126" b="1" dirty="0">
                <a:solidFill>
                  <a:srgbClr val="FFFFFF"/>
                </a:solidFill>
                <a:latin typeface="Liter" pitchFamily="34" charset="0"/>
                <a:ea typeface="Liter" pitchFamily="34" charset="-122"/>
                <a:cs typeface="Liter" pitchFamily="34" charset="-120"/>
              </a:rPr>
              <a:t>Hacking</a:t>
            </a:r>
            <a:endParaRPr lang="en-US" sz="1600" dirty="0"/>
          </a:p>
        </p:txBody>
      </p:sp>
      <p:sp>
        <p:nvSpPr>
          <p:cNvPr id="15" name="Text 13"/>
          <p:cNvSpPr/>
          <p:nvPr/>
        </p:nvSpPr>
        <p:spPr>
          <a:xfrm>
            <a:off x="650717" y="3830448"/>
            <a:ext cx="2413372" cy="178768"/>
          </a:xfrm>
          <a:prstGeom prst="rect">
            <a:avLst/>
          </a:prstGeom>
          <a:noFill/>
          <a:ln/>
        </p:spPr>
        <p:txBody>
          <a:bodyPr wrap="square" lIns="0" tIns="0" rIns="0" bIns="0" rtlCol="0" anchor="ctr"/>
          <a:lstStyle/>
          <a:p>
            <a:pPr>
              <a:lnSpc>
                <a:spcPct val="120000"/>
              </a:lnSpc>
            </a:pPr>
            <a:r>
              <a:rPr lang="en-US" sz="985" dirty="0">
                <a:solidFill>
                  <a:srgbClr val="FFFFFF">
                    <a:alpha val="60000"/>
                  </a:srgbClr>
                </a:solidFill>
                <a:latin typeface="Liter" pitchFamily="34" charset="0"/>
                <a:ea typeface="Liter" pitchFamily="34" charset="-122"/>
                <a:cs typeface="Liter" pitchFamily="34" charset="-120"/>
              </a:rPr>
              <a:t>Unauthorized access to systems</a:t>
            </a:r>
            <a:endParaRPr lang="en-US" sz="1600" dirty="0"/>
          </a:p>
        </p:txBody>
      </p:sp>
      <p:sp>
        <p:nvSpPr>
          <p:cNvPr id="16" name="Shape 14"/>
          <p:cNvSpPr/>
          <p:nvPr/>
        </p:nvSpPr>
        <p:spPr>
          <a:xfrm>
            <a:off x="3229338" y="3469335"/>
            <a:ext cx="2572476" cy="650717"/>
          </a:xfrm>
          <a:custGeom>
            <a:avLst/>
            <a:gdLst/>
            <a:ahLst/>
            <a:cxnLst/>
            <a:rect l="l" t="t" r="r" b="b"/>
            <a:pathLst>
              <a:path w="2572476" h="650717">
                <a:moveTo>
                  <a:pt x="0" y="0"/>
                </a:moveTo>
                <a:lnTo>
                  <a:pt x="2572476" y="0"/>
                </a:lnTo>
                <a:lnTo>
                  <a:pt x="2572476" y="650717"/>
                </a:lnTo>
                <a:lnTo>
                  <a:pt x="0" y="650717"/>
                </a:lnTo>
                <a:lnTo>
                  <a:pt x="0" y="0"/>
                </a:lnTo>
                <a:close/>
              </a:path>
            </a:pathLst>
          </a:custGeom>
          <a:solidFill>
            <a:srgbClr val="000000"/>
          </a:solidFill>
          <a:ln w="10160">
            <a:solidFill>
              <a:srgbClr val="DDFF00">
                <a:alpha val="30196"/>
              </a:srgbClr>
            </a:solidFill>
            <a:prstDash val="solid"/>
          </a:ln>
        </p:spPr>
      </p:sp>
      <p:sp>
        <p:nvSpPr>
          <p:cNvPr id="17" name="Shape 15"/>
          <p:cNvSpPr/>
          <p:nvPr/>
        </p:nvSpPr>
        <p:spPr>
          <a:xfrm>
            <a:off x="3349113" y="3615926"/>
            <a:ext cx="160891" cy="143015"/>
          </a:xfrm>
          <a:custGeom>
            <a:avLst/>
            <a:gdLst/>
            <a:ahLst/>
            <a:cxnLst/>
            <a:rect l="l" t="t" r="r" b="b"/>
            <a:pathLst>
              <a:path w="160891" h="143015">
                <a:moveTo>
                  <a:pt x="50418" y="39525"/>
                </a:moveTo>
                <a:cubicBezTo>
                  <a:pt x="61368" y="30307"/>
                  <a:pt x="76144" y="22346"/>
                  <a:pt x="93853" y="22346"/>
                </a:cubicBezTo>
                <a:cubicBezTo>
                  <a:pt x="111563" y="22346"/>
                  <a:pt x="126339" y="30307"/>
                  <a:pt x="137288" y="39525"/>
                </a:cubicBezTo>
                <a:cubicBezTo>
                  <a:pt x="148210" y="48742"/>
                  <a:pt x="155975" y="59748"/>
                  <a:pt x="159914" y="67401"/>
                </a:cubicBezTo>
                <a:cubicBezTo>
                  <a:pt x="161227" y="69971"/>
                  <a:pt x="161227" y="73016"/>
                  <a:pt x="159914" y="75585"/>
                </a:cubicBezTo>
                <a:cubicBezTo>
                  <a:pt x="155975" y="83239"/>
                  <a:pt x="148210" y="94244"/>
                  <a:pt x="137288" y="103462"/>
                </a:cubicBezTo>
                <a:cubicBezTo>
                  <a:pt x="126339" y="112708"/>
                  <a:pt x="111591" y="120641"/>
                  <a:pt x="93853" y="120641"/>
                </a:cubicBezTo>
                <a:cubicBezTo>
                  <a:pt x="76116" y="120641"/>
                  <a:pt x="61368" y="112680"/>
                  <a:pt x="50418" y="103462"/>
                </a:cubicBezTo>
                <a:cubicBezTo>
                  <a:pt x="45893" y="99635"/>
                  <a:pt x="41899" y="95501"/>
                  <a:pt x="38491" y="91423"/>
                </a:cubicBezTo>
                <a:lnTo>
                  <a:pt x="13436" y="106032"/>
                </a:lnTo>
                <a:cubicBezTo>
                  <a:pt x="9944" y="108071"/>
                  <a:pt x="5503" y="107512"/>
                  <a:pt x="2626" y="104663"/>
                </a:cubicBezTo>
                <a:cubicBezTo>
                  <a:pt x="-251" y="101814"/>
                  <a:pt x="-838" y="97401"/>
                  <a:pt x="1145" y="93881"/>
                </a:cubicBezTo>
                <a:lnTo>
                  <a:pt x="13966" y="71507"/>
                </a:lnTo>
                <a:lnTo>
                  <a:pt x="1173" y="49133"/>
                </a:lnTo>
                <a:cubicBezTo>
                  <a:pt x="-838" y="45614"/>
                  <a:pt x="-223" y="41201"/>
                  <a:pt x="2654" y="38351"/>
                </a:cubicBezTo>
                <a:cubicBezTo>
                  <a:pt x="5531" y="35502"/>
                  <a:pt x="9944" y="34944"/>
                  <a:pt x="13463" y="36983"/>
                </a:cubicBezTo>
                <a:lnTo>
                  <a:pt x="38519" y="51591"/>
                </a:lnTo>
                <a:cubicBezTo>
                  <a:pt x="41927" y="47513"/>
                  <a:pt x="45921" y="43379"/>
                  <a:pt x="50446" y="39552"/>
                </a:cubicBezTo>
                <a:close/>
                <a:moveTo>
                  <a:pt x="125138" y="71507"/>
                </a:moveTo>
                <a:cubicBezTo>
                  <a:pt x="125138" y="66574"/>
                  <a:pt x="121133" y="62569"/>
                  <a:pt x="116199" y="62569"/>
                </a:cubicBezTo>
                <a:cubicBezTo>
                  <a:pt x="111266" y="62569"/>
                  <a:pt x="107261" y="66574"/>
                  <a:pt x="107261" y="71507"/>
                </a:cubicBezTo>
                <a:cubicBezTo>
                  <a:pt x="107261" y="76441"/>
                  <a:pt x="111266" y="80446"/>
                  <a:pt x="116199" y="80446"/>
                </a:cubicBezTo>
                <a:cubicBezTo>
                  <a:pt x="121133" y="80446"/>
                  <a:pt x="125138" y="76441"/>
                  <a:pt x="125138" y="71507"/>
                </a:cubicBezTo>
                <a:close/>
              </a:path>
            </a:pathLst>
          </a:custGeom>
          <a:solidFill>
            <a:srgbClr val="DDFF00"/>
          </a:solidFill>
          <a:ln/>
        </p:spPr>
      </p:sp>
      <p:sp>
        <p:nvSpPr>
          <p:cNvPr id="18" name="Text 16"/>
          <p:cNvSpPr/>
          <p:nvPr/>
        </p:nvSpPr>
        <p:spPr>
          <a:xfrm>
            <a:off x="3590450" y="3580172"/>
            <a:ext cx="616751" cy="214522"/>
          </a:xfrm>
          <a:prstGeom prst="rect">
            <a:avLst/>
          </a:prstGeom>
          <a:noFill/>
          <a:ln/>
        </p:spPr>
        <p:txBody>
          <a:bodyPr wrap="square" lIns="0" tIns="0" rIns="0" bIns="0" rtlCol="0" anchor="ctr"/>
          <a:lstStyle/>
          <a:p>
            <a:pPr>
              <a:lnSpc>
                <a:spcPct val="130000"/>
              </a:lnSpc>
            </a:pPr>
            <a:r>
              <a:rPr lang="en-US" sz="1126" b="1" dirty="0">
                <a:solidFill>
                  <a:srgbClr val="FFFFFF"/>
                </a:solidFill>
                <a:latin typeface="Liter" pitchFamily="34" charset="0"/>
                <a:ea typeface="Liter" pitchFamily="34" charset="-122"/>
                <a:cs typeface="Liter" pitchFamily="34" charset="-120"/>
              </a:rPr>
              <a:t>Phishing</a:t>
            </a:r>
            <a:endParaRPr lang="en-US" sz="1600" dirty="0"/>
          </a:p>
        </p:txBody>
      </p:sp>
      <p:sp>
        <p:nvSpPr>
          <p:cNvPr id="19" name="Text 17"/>
          <p:cNvSpPr/>
          <p:nvPr/>
        </p:nvSpPr>
        <p:spPr>
          <a:xfrm>
            <a:off x="3340174" y="3830448"/>
            <a:ext cx="2413372" cy="178768"/>
          </a:xfrm>
          <a:prstGeom prst="rect">
            <a:avLst/>
          </a:prstGeom>
          <a:noFill/>
          <a:ln/>
        </p:spPr>
        <p:txBody>
          <a:bodyPr wrap="square" lIns="0" tIns="0" rIns="0" bIns="0" rtlCol="0" anchor="ctr"/>
          <a:lstStyle/>
          <a:p>
            <a:pPr>
              <a:lnSpc>
                <a:spcPct val="120000"/>
              </a:lnSpc>
            </a:pPr>
            <a:r>
              <a:rPr lang="en-US" sz="985" dirty="0">
                <a:solidFill>
                  <a:srgbClr val="FFFFFF">
                    <a:alpha val="60000"/>
                  </a:srgbClr>
                </a:solidFill>
                <a:latin typeface="Liter" pitchFamily="34" charset="0"/>
                <a:ea typeface="Liter" pitchFamily="34" charset="-122"/>
                <a:cs typeface="Liter" pitchFamily="34" charset="-120"/>
              </a:rPr>
              <a:t>Fraudulent data collection</a:t>
            </a:r>
            <a:endParaRPr lang="en-US" sz="1600" dirty="0"/>
          </a:p>
        </p:txBody>
      </p:sp>
      <p:sp>
        <p:nvSpPr>
          <p:cNvPr id="20" name="Shape 18"/>
          <p:cNvSpPr/>
          <p:nvPr/>
        </p:nvSpPr>
        <p:spPr>
          <a:xfrm>
            <a:off x="539880" y="4234464"/>
            <a:ext cx="2572476" cy="650717"/>
          </a:xfrm>
          <a:custGeom>
            <a:avLst/>
            <a:gdLst/>
            <a:ahLst/>
            <a:cxnLst/>
            <a:rect l="l" t="t" r="r" b="b"/>
            <a:pathLst>
              <a:path w="2572476" h="650717">
                <a:moveTo>
                  <a:pt x="0" y="0"/>
                </a:moveTo>
                <a:lnTo>
                  <a:pt x="2572476" y="0"/>
                </a:lnTo>
                <a:lnTo>
                  <a:pt x="2572476" y="650717"/>
                </a:lnTo>
                <a:lnTo>
                  <a:pt x="0" y="650717"/>
                </a:lnTo>
                <a:lnTo>
                  <a:pt x="0" y="0"/>
                </a:lnTo>
                <a:close/>
              </a:path>
            </a:pathLst>
          </a:custGeom>
          <a:solidFill>
            <a:srgbClr val="000000"/>
          </a:solidFill>
          <a:ln w="10160">
            <a:solidFill>
              <a:srgbClr val="DDFF00">
                <a:alpha val="30196"/>
              </a:srgbClr>
            </a:solidFill>
            <a:prstDash val="solid"/>
          </a:ln>
        </p:spPr>
      </p:sp>
      <p:sp>
        <p:nvSpPr>
          <p:cNvPr id="21" name="Shape 19"/>
          <p:cNvSpPr/>
          <p:nvPr/>
        </p:nvSpPr>
        <p:spPr>
          <a:xfrm>
            <a:off x="659655" y="4381053"/>
            <a:ext cx="160891" cy="143015"/>
          </a:xfrm>
          <a:custGeom>
            <a:avLst/>
            <a:gdLst/>
            <a:ahLst/>
            <a:cxnLst/>
            <a:rect l="l" t="t" r="r" b="b"/>
            <a:pathLst>
              <a:path w="160891" h="143015">
                <a:moveTo>
                  <a:pt x="0" y="26815"/>
                </a:moveTo>
                <a:cubicBezTo>
                  <a:pt x="0" y="16955"/>
                  <a:pt x="8017" y="8938"/>
                  <a:pt x="17877" y="8938"/>
                </a:cubicBezTo>
                <a:lnTo>
                  <a:pt x="143015" y="8938"/>
                </a:lnTo>
                <a:cubicBezTo>
                  <a:pt x="152875" y="8938"/>
                  <a:pt x="160891" y="16955"/>
                  <a:pt x="160891" y="26815"/>
                </a:cubicBezTo>
                <a:lnTo>
                  <a:pt x="0" y="26815"/>
                </a:lnTo>
                <a:close/>
                <a:moveTo>
                  <a:pt x="0" y="40223"/>
                </a:moveTo>
                <a:lnTo>
                  <a:pt x="160891" y="40223"/>
                </a:lnTo>
                <a:lnTo>
                  <a:pt x="160891" y="116199"/>
                </a:lnTo>
                <a:cubicBezTo>
                  <a:pt x="160891" y="126060"/>
                  <a:pt x="152875" y="134076"/>
                  <a:pt x="143015" y="134076"/>
                </a:cubicBezTo>
                <a:lnTo>
                  <a:pt x="17877" y="134076"/>
                </a:lnTo>
                <a:cubicBezTo>
                  <a:pt x="8017" y="134076"/>
                  <a:pt x="0" y="126060"/>
                  <a:pt x="0" y="116199"/>
                </a:cubicBezTo>
                <a:lnTo>
                  <a:pt x="0" y="40223"/>
                </a:lnTo>
                <a:close/>
                <a:moveTo>
                  <a:pt x="69077" y="116199"/>
                </a:moveTo>
                <a:cubicBezTo>
                  <a:pt x="74720" y="116199"/>
                  <a:pt x="78937" y="110780"/>
                  <a:pt x="75334" y="106423"/>
                </a:cubicBezTo>
                <a:cubicBezTo>
                  <a:pt x="71228" y="101479"/>
                  <a:pt x="65027" y="98323"/>
                  <a:pt x="58100" y="98323"/>
                </a:cubicBezTo>
                <a:lnTo>
                  <a:pt x="40223" y="98323"/>
                </a:lnTo>
                <a:cubicBezTo>
                  <a:pt x="33296" y="98323"/>
                  <a:pt x="27095" y="101479"/>
                  <a:pt x="22988" y="106423"/>
                </a:cubicBezTo>
                <a:cubicBezTo>
                  <a:pt x="19385" y="110780"/>
                  <a:pt x="23603" y="116199"/>
                  <a:pt x="29245" y="116199"/>
                </a:cubicBezTo>
                <a:lnTo>
                  <a:pt x="69049" y="116199"/>
                </a:lnTo>
                <a:close/>
                <a:moveTo>
                  <a:pt x="49161" y="87150"/>
                </a:moveTo>
                <a:cubicBezTo>
                  <a:pt x="57794" y="87150"/>
                  <a:pt x="64804" y="80141"/>
                  <a:pt x="64804" y="71507"/>
                </a:cubicBezTo>
                <a:cubicBezTo>
                  <a:pt x="64804" y="62874"/>
                  <a:pt x="57794" y="55865"/>
                  <a:pt x="49161" y="55865"/>
                </a:cubicBezTo>
                <a:cubicBezTo>
                  <a:pt x="40528" y="55865"/>
                  <a:pt x="33519" y="62874"/>
                  <a:pt x="33519" y="71507"/>
                </a:cubicBezTo>
                <a:cubicBezTo>
                  <a:pt x="33519" y="80141"/>
                  <a:pt x="40528" y="87150"/>
                  <a:pt x="49161" y="87150"/>
                </a:cubicBezTo>
                <a:close/>
                <a:moveTo>
                  <a:pt x="100557" y="58100"/>
                </a:moveTo>
                <a:cubicBezTo>
                  <a:pt x="96842" y="58100"/>
                  <a:pt x="93853" y="61088"/>
                  <a:pt x="93853" y="64804"/>
                </a:cubicBezTo>
                <a:cubicBezTo>
                  <a:pt x="93853" y="68519"/>
                  <a:pt x="96842" y="71507"/>
                  <a:pt x="100557" y="71507"/>
                </a:cubicBezTo>
                <a:lnTo>
                  <a:pt x="131842" y="71507"/>
                </a:lnTo>
                <a:cubicBezTo>
                  <a:pt x="135557" y="71507"/>
                  <a:pt x="138545" y="68519"/>
                  <a:pt x="138545" y="64804"/>
                </a:cubicBezTo>
                <a:cubicBezTo>
                  <a:pt x="138545" y="61088"/>
                  <a:pt x="135557" y="58100"/>
                  <a:pt x="131842" y="58100"/>
                </a:cubicBezTo>
                <a:lnTo>
                  <a:pt x="100557" y="58100"/>
                </a:lnTo>
                <a:close/>
                <a:moveTo>
                  <a:pt x="100557" y="84915"/>
                </a:moveTo>
                <a:cubicBezTo>
                  <a:pt x="96842" y="84915"/>
                  <a:pt x="93853" y="87904"/>
                  <a:pt x="93853" y="91619"/>
                </a:cubicBezTo>
                <a:cubicBezTo>
                  <a:pt x="93853" y="95334"/>
                  <a:pt x="96842" y="98323"/>
                  <a:pt x="100557" y="98323"/>
                </a:cubicBezTo>
                <a:lnTo>
                  <a:pt x="131842" y="98323"/>
                </a:lnTo>
                <a:cubicBezTo>
                  <a:pt x="135557" y="98323"/>
                  <a:pt x="138545" y="95334"/>
                  <a:pt x="138545" y="91619"/>
                </a:cubicBezTo>
                <a:cubicBezTo>
                  <a:pt x="138545" y="87904"/>
                  <a:pt x="135557" y="84915"/>
                  <a:pt x="131842" y="84915"/>
                </a:cubicBezTo>
                <a:lnTo>
                  <a:pt x="100557" y="84915"/>
                </a:lnTo>
                <a:close/>
              </a:path>
            </a:pathLst>
          </a:custGeom>
          <a:solidFill>
            <a:srgbClr val="DDFF00"/>
          </a:solidFill>
          <a:ln/>
        </p:spPr>
      </p:sp>
      <p:sp>
        <p:nvSpPr>
          <p:cNvPr id="22" name="Text 20"/>
          <p:cNvSpPr/>
          <p:nvPr/>
        </p:nvSpPr>
        <p:spPr>
          <a:xfrm>
            <a:off x="900992" y="4345299"/>
            <a:ext cx="920657" cy="214522"/>
          </a:xfrm>
          <a:prstGeom prst="rect">
            <a:avLst/>
          </a:prstGeom>
          <a:noFill/>
          <a:ln/>
        </p:spPr>
        <p:txBody>
          <a:bodyPr wrap="square" lIns="0" tIns="0" rIns="0" bIns="0" rtlCol="0" anchor="ctr"/>
          <a:lstStyle/>
          <a:p>
            <a:pPr>
              <a:lnSpc>
                <a:spcPct val="130000"/>
              </a:lnSpc>
            </a:pPr>
            <a:r>
              <a:rPr lang="en-US" sz="1126" b="1" dirty="0">
                <a:solidFill>
                  <a:srgbClr val="FFFFFF"/>
                </a:solidFill>
                <a:latin typeface="Liter" pitchFamily="34" charset="0"/>
                <a:ea typeface="Liter" pitchFamily="34" charset="-122"/>
                <a:cs typeface="Liter" pitchFamily="34" charset="-120"/>
              </a:rPr>
              <a:t>Identity Theft</a:t>
            </a:r>
            <a:endParaRPr lang="en-US" sz="1600" dirty="0"/>
          </a:p>
        </p:txBody>
      </p:sp>
      <p:sp>
        <p:nvSpPr>
          <p:cNvPr id="23" name="Text 21"/>
          <p:cNvSpPr/>
          <p:nvPr/>
        </p:nvSpPr>
        <p:spPr>
          <a:xfrm>
            <a:off x="650717" y="4595575"/>
            <a:ext cx="2413372" cy="178768"/>
          </a:xfrm>
          <a:prstGeom prst="rect">
            <a:avLst/>
          </a:prstGeom>
          <a:noFill/>
          <a:ln/>
        </p:spPr>
        <p:txBody>
          <a:bodyPr wrap="square" lIns="0" tIns="0" rIns="0" bIns="0" rtlCol="0" anchor="ctr"/>
          <a:lstStyle/>
          <a:p>
            <a:pPr>
              <a:lnSpc>
                <a:spcPct val="120000"/>
              </a:lnSpc>
            </a:pPr>
            <a:r>
              <a:rPr lang="en-US" sz="985" dirty="0">
                <a:solidFill>
                  <a:srgbClr val="FFFFFF">
                    <a:alpha val="60000"/>
                  </a:srgbClr>
                </a:solidFill>
                <a:latin typeface="Liter" pitchFamily="34" charset="0"/>
                <a:ea typeface="Liter" pitchFamily="34" charset="-122"/>
                <a:cs typeface="Liter" pitchFamily="34" charset="-120"/>
              </a:rPr>
              <a:t>Stealing personal information</a:t>
            </a:r>
            <a:endParaRPr lang="en-US" sz="1600" dirty="0"/>
          </a:p>
        </p:txBody>
      </p:sp>
      <p:sp>
        <p:nvSpPr>
          <p:cNvPr id="24" name="Shape 22"/>
          <p:cNvSpPr/>
          <p:nvPr/>
        </p:nvSpPr>
        <p:spPr>
          <a:xfrm>
            <a:off x="3229338" y="4234464"/>
            <a:ext cx="2572476" cy="650717"/>
          </a:xfrm>
          <a:custGeom>
            <a:avLst/>
            <a:gdLst/>
            <a:ahLst/>
            <a:cxnLst/>
            <a:rect l="l" t="t" r="r" b="b"/>
            <a:pathLst>
              <a:path w="2572476" h="650717">
                <a:moveTo>
                  <a:pt x="0" y="0"/>
                </a:moveTo>
                <a:lnTo>
                  <a:pt x="2572476" y="0"/>
                </a:lnTo>
                <a:lnTo>
                  <a:pt x="2572476" y="650717"/>
                </a:lnTo>
                <a:lnTo>
                  <a:pt x="0" y="650717"/>
                </a:lnTo>
                <a:lnTo>
                  <a:pt x="0" y="0"/>
                </a:lnTo>
                <a:close/>
              </a:path>
            </a:pathLst>
          </a:custGeom>
          <a:solidFill>
            <a:srgbClr val="000000"/>
          </a:solidFill>
          <a:ln w="10160">
            <a:solidFill>
              <a:srgbClr val="DDFF00">
                <a:alpha val="30196"/>
              </a:srgbClr>
            </a:solidFill>
            <a:prstDash val="solid"/>
          </a:ln>
        </p:spPr>
      </p:sp>
      <p:sp>
        <p:nvSpPr>
          <p:cNvPr id="25" name="Shape 23"/>
          <p:cNvSpPr/>
          <p:nvPr/>
        </p:nvSpPr>
        <p:spPr>
          <a:xfrm>
            <a:off x="3366990" y="4381053"/>
            <a:ext cx="125138" cy="143015"/>
          </a:xfrm>
          <a:custGeom>
            <a:avLst/>
            <a:gdLst/>
            <a:ahLst/>
            <a:cxnLst/>
            <a:rect l="l" t="t" r="r" b="b"/>
            <a:pathLst>
              <a:path w="125138" h="143015">
                <a:moveTo>
                  <a:pt x="47765" y="-4469"/>
                </a:moveTo>
                <a:cubicBezTo>
                  <a:pt x="37597" y="-4469"/>
                  <a:pt x="31620" y="11815"/>
                  <a:pt x="28687" y="26815"/>
                </a:cubicBezTo>
                <a:lnTo>
                  <a:pt x="20111" y="26815"/>
                </a:lnTo>
                <a:cubicBezTo>
                  <a:pt x="16396" y="26815"/>
                  <a:pt x="13408" y="29804"/>
                  <a:pt x="13408" y="33519"/>
                </a:cubicBezTo>
                <a:cubicBezTo>
                  <a:pt x="13408" y="37234"/>
                  <a:pt x="16396" y="40223"/>
                  <a:pt x="20111" y="40223"/>
                </a:cubicBezTo>
                <a:lnTo>
                  <a:pt x="26815" y="40223"/>
                </a:lnTo>
                <a:lnTo>
                  <a:pt x="26815" y="49161"/>
                </a:lnTo>
                <a:cubicBezTo>
                  <a:pt x="26815" y="53910"/>
                  <a:pt x="27737" y="58435"/>
                  <a:pt x="29413" y="62569"/>
                </a:cubicBezTo>
                <a:lnTo>
                  <a:pt x="26815" y="62569"/>
                </a:lnTo>
                <a:lnTo>
                  <a:pt x="26815" y="62569"/>
                </a:lnTo>
                <a:lnTo>
                  <a:pt x="21089" y="62569"/>
                </a:lnTo>
                <a:cubicBezTo>
                  <a:pt x="16843" y="62569"/>
                  <a:pt x="13408" y="66005"/>
                  <a:pt x="13408" y="70250"/>
                </a:cubicBezTo>
                <a:cubicBezTo>
                  <a:pt x="13408" y="71088"/>
                  <a:pt x="13547" y="71898"/>
                  <a:pt x="13799" y="72680"/>
                </a:cubicBezTo>
                <a:lnTo>
                  <a:pt x="21871" y="96870"/>
                </a:lnTo>
                <a:cubicBezTo>
                  <a:pt x="11229" y="106032"/>
                  <a:pt x="4469" y="119579"/>
                  <a:pt x="4469" y="134719"/>
                </a:cubicBezTo>
                <a:cubicBezTo>
                  <a:pt x="4469" y="139300"/>
                  <a:pt x="8184" y="143015"/>
                  <a:pt x="12765" y="143015"/>
                </a:cubicBezTo>
                <a:lnTo>
                  <a:pt x="112373" y="143015"/>
                </a:lnTo>
                <a:cubicBezTo>
                  <a:pt x="116954" y="143015"/>
                  <a:pt x="120669" y="139300"/>
                  <a:pt x="120669" y="134719"/>
                </a:cubicBezTo>
                <a:cubicBezTo>
                  <a:pt x="120669" y="119579"/>
                  <a:pt x="113909" y="106032"/>
                  <a:pt x="103267" y="96898"/>
                </a:cubicBezTo>
                <a:lnTo>
                  <a:pt x="111339" y="72708"/>
                </a:lnTo>
                <a:cubicBezTo>
                  <a:pt x="111591" y="71926"/>
                  <a:pt x="111730" y="71116"/>
                  <a:pt x="111730" y="70278"/>
                </a:cubicBezTo>
                <a:cubicBezTo>
                  <a:pt x="111730" y="66033"/>
                  <a:pt x="108295" y="62597"/>
                  <a:pt x="104049" y="62597"/>
                </a:cubicBezTo>
                <a:lnTo>
                  <a:pt x="98323" y="62597"/>
                </a:lnTo>
                <a:lnTo>
                  <a:pt x="98323" y="62597"/>
                </a:lnTo>
                <a:lnTo>
                  <a:pt x="95725" y="62597"/>
                </a:lnTo>
                <a:cubicBezTo>
                  <a:pt x="97401" y="58463"/>
                  <a:pt x="98323" y="53938"/>
                  <a:pt x="98323" y="49189"/>
                </a:cubicBezTo>
                <a:lnTo>
                  <a:pt x="98323" y="40251"/>
                </a:lnTo>
                <a:lnTo>
                  <a:pt x="105026" y="40251"/>
                </a:lnTo>
                <a:cubicBezTo>
                  <a:pt x="108741" y="40251"/>
                  <a:pt x="111730" y="37262"/>
                  <a:pt x="111730" y="33547"/>
                </a:cubicBezTo>
                <a:cubicBezTo>
                  <a:pt x="111730" y="29832"/>
                  <a:pt x="108741" y="26843"/>
                  <a:pt x="105026" y="26843"/>
                </a:cubicBezTo>
                <a:lnTo>
                  <a:pt x="96451" y="26843"/>
                </a:lnTo>
                <a:cubicBezTo>
                  <a:pt x="93546" y="11843"/>
                  <a:pt x="87541" y="-4441"/>
                  <a:pt x="77373" y="-4441"/>
                </a:cubicBezTo>
                <a:cubicBezTo>
                  <a:pt x="74692" y="-4441"/>
                  <a:pt x="72066" y="-3352"/>
                  <a:pt x="69692" y="-2151"/>
                </a:cubicBezTo>
                <a:cubicBezTo>
                  <a:pt x="67401" y="-1006"/>
                  <a:pt x="64552" y="28"/>
                  <a:pt x="62569" y="28"/>
                </a:cubicBezTo>
                <a:cubicBezTo>
                  <a:pt x="60586" y="28"/>
                  <a:pt x="57737" y="-1006"/>
                  <a:pt x="55446" y="-2151"/>
                </a:cubicBezTo>
                <a:cubicBezTo>
                  <a:pt x="53072" y="-3380"/>
                  <a:pt x="50446" y="-4469"/>
                  <a:pt x="47765" y="-4469"/>
                </a:cubicBezTo>
                <a:close/>
                <a:moveTo>
                  <a:pt x="73937" y="130836"/>
                </a:moveTo>
                <a:lnTo>
                  <a:pt x="67010" y="111032"/>
                </a:lnTo>
                <a:lnTo>
                  <a:pt x="74803" y="101954"/>
                </a:lnTo>
                <a:cubicBezTo>
                  <a:pt x="75558" y="101060"/>
                  <a:pt x="75977" y="99943"/>
                  <a:pt x="75977" y="98770"/>
                </a:cubicBezTo>
                <a:cubicBezTo>
                  <a:pt x="75977" y="96060"/>
                  <a:pt x="73798" y="93881"/>
                  <a:pt x="71088" y="93881"/>
                </a:cubicBezTo>
                <a:lnTo>
                  <a:pt x="54049" y="93881"/>
                </a:lnTo>
                <a:cubicBezTo>
                  <a:pt x="51340" y="93881"/>
                  <a:pt x="49161" y="96060"/>
                  <a:pt x="49161" y="98770"/>
                </a:cubicBezTo>
                <a:cubicBezTo>
                  <a:pt x="49161" y="99943"/>
                  <a:pt x="49580" y="101060"/>
                  <a:pt x="50334" y="101954"/>
                </a:cubicBezTo>
                <a:lnTo>
                  <a:pt x="58128" y="111032"/>
                </a:lnTo>
                <a:lnTo>
                  <a:pt x="51200" y="130836"/>
                </a:lnTo>
                <a:lnTo>
                  <a:pt x="35279" y="80446"/>
                </a:lnTo>
                <a:lnTo>
                  <a:pt x="45251" y="80446"/>
                </a:lnTo>
                <a:cubicBezTo>
                  <a:pt x="50390" y="83295"/>
                  <a:pt x="56284" y="84915"/>
                  <a:pt x="62569" y="84915"/>
                </a:cubicBezTo>
                <a:cubicBezTo>
                  <a:pt x="68854" y="84915"/>
                  <a:pt x="74748" y="83295"/>
                  <a:pt x="79887" y="80446"/>
                </a:cubicBezTo>
                <a:lnTo>
                  <a:pt x="89859" y="80446"/>
                </a:lnTo>
                <a:lnTo>
                  <a:pt x="73937" y="130836"/>
                </a:lnTo>
                <a:close/>
                <a:moveTo>
                  <a:pt x="62569" y="71507"/>
                </a:moveTo>
                <a:cubicBezTo>
                  <a:pt x="52876" y="71507"/>
                  <a:pt x="44636" y="65334"/>
                  <a:pt x="41536" y="56703"/>
                </a:cubicBezTo>
                <a:cubicBezTo>
                  <a:pt x="43128" y="57597"/>
                  <a:pt x="44971" y="58100"/>
                  <a:pt x="46927" y="58100"/>
                </a:cubicBezTo>
                <a:lnTo>
                  <a:pt x="50390" y="58100"/>
                </a:lnTo>
                <a:cubicBezTo>
                  <a:pt x="54999" y="58100"/>
                  <a:pt x="59077" y="55139"/>
                  <a:pt x="60530" y="50781"/>
                </a:cubicBezTo>
                <a:cubicBezTo>
                  <a:pt x="61172" y="48826"/>
                  <a:pt x="63938" y="48826"/>
                  <a:pt x="64580" y="50781"/>
                </a:cubicBezTo>
                <a:cubicBezTo>
                  <a:pt x="66033" y="55139"/>
                  <a:pt x="70139" y="58100"/>
                  <a:pt x="74720" y="58100"/>
                </a:cubicBezTo>
                <a:lnTo>
                  <a:pt x="78183" y="58100"/>
                </a:lnTo>
                <a:cubicBezTo>
                  <a:pt x="80138" y="58100"/>
                  <a:pt x="81982" y="57597"/>
                  <a:pt x="83574" y="56703"/>
                </a:cubicBezTo>
                <a:cubicBezTo>
                  <a:pt x="80474" y="65334"/>
                  <a:pt x="72234" y="71507"/>
                  <a:pt x="62541" y="71507"/>
                </a:cubicBezTo>
                <a:close/>
              </a:path>
            </a:pathLst>
          </a:custGeom>
          <a:solidFill>
            <a:srgbClr val="DDFF00"/>
          </a:solidFill>
          <a:ln/>
        </p:spPr>
      </p:sp>
      <p:sp>
        <p:nvSpPr>
          <p:cNvPr id="26" name="Text 24"/>
          <p:cNvSpPr/>
          <p:nvPr/>
        </p:nvSpPr>
        <p:spPr>
          <a:xfrm>
            <a:off x="3590450" y="4345299"/>
            <a:ext cx="992164" cy="214522"/>
          </a:xfrm>
          <a:prstGeom prst="rect">
            <a:avLst/>
          </a:prstGeom>
          <a:noFill/>
          <a:ln/>
        </p:spPr>
        <p:txBody>
          <a:bodyPr wrap="square" lIns="0" tIns="0" rIns="0" bIns="0" rtlCol="0" anchor="ctr"/>
          <a:lstStyle/>
          <a:p>
            <a:pPr>
              <a:lnSpc>
                <a:spcPct val="130000"/>
              </a:lnSpc>
            </a:pPr>
            <a:r>
              <a:rPr lang="en-US" sz="1126" b="1" dirty="0">
                <a:solidFill>
                  <a:srgbClr val="FFFFFF"/>
                </a:solidFill>
                <a:latin typeface="Liter" pitchFamily="34" charset="0"/>
                <a:ea typeface="Liter" pitchFamily="34" charset="-122"/>
                <a:cs typeface="Liter" pitchFamily="34" charset="-120"/>
              </a:rPr>
              <a:t>Cyber Stalking</a:t>
            </a:r>
            <a:endParaRPr lang="en-US" sz="1600" dirty="0"/>
          </a:p>
        </p:txBody>
      </p:sp>
      <p:sp>
        <p:nvSpPr>
          <p:cNvPr id="27" name="Text 25"/>
          <p:cNvSpPr/>
          <p:nvPr/>
        </p:nvSpPr>
        <p:spPr>
          <a:xfrm>
            <a:off x="3340174" y="4595575"/>
            <a:ext cx="2413372" cy="178768"/>
          </a:xfrm>
          <a:prstGeom prst="rect">
            <a:avLst/>
          </a:prstGeom>
          <a:noFill/>
          <a:ln/>
        </p:spPr>
        <p:txBody>
          <a:bodyPr wrap="square" lIns="0" tIns="0" rIns="0" bIns="0" rtlCol="0" anchor="ctr"/>
          <a:lstStyle/>
          <a:p>
            <a:pPr>
              <a:lnSpc>
                <a:spcPct val="120000"/>
              </a:lnSpc>
            </a:pPr>
            <a:r>
              <a:rPr lang="en-US" sz="985" dirty="0">
                <a:solidFill>
                  <a:srgbClr val="FFFFFF">
                    <a:alpha val="60000"/>
                  </a:srgbClr>
                </a:solidFill>
                <a:latin typeface="Liter" pitchFamily="34" charset="0"/>
                <a:ea typeface="Liter" pitchFamily="34" charset="-122"/>
                <a:cs typeface="Liter" pitchFamily="34" charset="-120"/>
              </a:rPr>
              <a:t>Online harassment</a:t>
            </a:r>
            <a:endParaRPr lang="en-US" sz="1600" dirty="0"/>
          </a:p>
        </p:txBody>
      </p:sp>
      <p:sp>
        <p:nvSpPr>
          <p:cNvPr id="28" name="Shape 26"/>
          <p:cNvSpPr/>
          <p:nvPr/>
        </p:nvSpPr>
        <p:spPr>
          <a:xfrm>
            <a:off x="539880" y="4999591"/>
            <a:ext cx="2572476" cy="650717"/>
          </a:xfrm>
          <a:custGeom>
            <a:avLst/>
            <a:gdLst/>
            <a:ahLst/>
            <a:cxnLst/>
            <a:rect l="l" t="t" r="r" b="b"/>
            <a:pathLst>
              <a:path w="2572476" h="650717">
                <a:moveTo>
                  <a:pt x="0" y="0"/>
                </a:moveTo>
                <a:lnTo>
                  <a:pt x="2572476" y="0"/>
                </a:lnTo>
                <a:lnTo>
                  <a:pt x="2572476" y="650717"/>
                </a:lnTo>
                <a:lnTo>
                  <a:pt x="0" y="650717"/>
                </a:lnTo>
                <a:lnTo>
                  <a:pt x="0" y="0"/>
                </a:lnTo>
                <a:close/>
              </a:path>
            </a:pathLst>
          </a:custGeom>
          <a:solidFill>
            <a:srgbClr val="000000"/>
          </a:solidFill>
          <a:ln w="10160">
            <a:solidFill>
              <a:srgbClr val="DDFF00">
                <a:alpha val="30196"/>
              </a:srgbClr>
            </a:solidFill>
            <a:prstDash val="solid"/>
          </a:ln>
        </p:spPr>
      </p:sp>
      <p:sp>
        <p:nvSpPr>
          <p:cNvPr id="29" name="Shape 27"/>
          <p:cNvSpPr/>
          <p:nvPr/>
        </p:nvSpPr>
        <p:spPr>
          <a:xfrm>
            <a:off x="659655" y="5146182"/>
            <a:ext cx="160891" cy="143015"/>
          </a:xfrm>
          <a:custGeom>
            <a:avLst/>
            <a:gdLst/>
            <a:ahLst/>
            <a:cxnLst/>
            <a:rect l="l" t="t" r="r" b="b"/>
            <a:pathLst>
              <a:path w="160891" h="143015">
                <a:moveTo>
                  <a:pt x="11452" y="-6983"/>
                </a:moveTo>
                <a:cubicBezTo>
                  <a:pt x="8827" y="-9581"/>
                  <a:pt x="4581" y="-9581"/>
                  <a:pt x="1955" y="-6983"/>
                </a:cubicBezTo>
                <a:cubicBezTo>
                  <a:pt x="-670" y="-4385"/>
                  <a:pt x="-642" y="-112"/>
                  <a:pt x="1955" y="2514"/>
                </a:cubicBezTo>
                <a:lnTo>
                  <a:pt x="149439" y="149998"/>
                </a:lnTo>
                <a:cubicBezTo>
                  <a:pt x="152065" y="152623"/>
                  <a:pt x="156311" y="152623"/>
                  <a:pt x="158908" y="149998"/>
                </a:cubicBezTo>
                <a:cubicBezTo>
                  <a:pt x="161506" y="147372"/>
                  <a:pt x="161534" y="143126"/>
                  <a:pt x="158908" y="140529"/>
                </a:cubicBezTo>
                <a:lnTo>
                  <a:pt x="131925" y="113546"/>
                </a:lnTo>
                <a:cubicBezTo>
                  <a:pt x="144327" y="101479"/>
                  <a:pt x="151925" y="85110"/>
                  <a:pt x="151925" y="67038"/>
                </a:cubicBezTo>
                <a:cubicBezTo>
                  <a:pt x="151925" y="30027"/>
                  <a:pt x="119914" y="0"/>
                  <a:pt x="80418" y="0"/>
                </a:cubicBezTo>
                <a:cubicBezTo>
                  <a:pt x="62820" y="0"/>
                  <a:pt x="46675" y="5978"/>
                  <a:pt x="34217" y="15866"/>
                </a:cubicBezTo>
                <a:lnTo>
                  <a:pt x="11452" y="-6983"/>
                </a:lnTo>
                <a:close/>
                <a:moveTo>
                  <a:pt x="16871" y="36312"/>
                </a:moveTo>
                <a:cubicBezTo>
                  <a:pt x="11788" y="45530"/>
                  <a:pt x="8938" y="55949"/>
                  <a:pt x="8938" y="67010"/>
                </a:cubicBezTo>
                <a:cubicBezTo>
                  <a:pt x="8938" y="82178"/>
                  <a:pt x="14301" y="96144"/>
                  <a:pt x="23352" y="107373"/>
                </a:cubicBezTo>
                <a:lnTo>
                  <a:pt x="9721" y="133154"/>
                </a:lnTo>
                <a:cubicBezTo>
                  <a:pt x="8380" y="135668"/>
                  <a:pt x="8799" y="138741"/>
                  <a:pt x="10726" y="140836"/>
                </a:cubicBezTo>
                <a:cubicBezTo>
                  <a:pt x="12653" y="142931"/>
                  <a:pt x="15670" y="143573"/>
                  <a:pt x="18296" y="142456"/>
                </a:cubicBezTo>
                <a:lnTo>
                  <a:pt x="51368" y="128294"/>
                </a:lnTo>
                <a:cubicBezTo>
                  <a:pt x="60251" y="132009"/>
                  <a:pt x="70111" y="134076"/>
                  <a:pt x="80446" y="134076"/>
                </a:cubicBezTo>
                <a:cubicBezTo>
                  <a:pt x="90613" y="134076"/>
                  <a:pt x="100250" y="132093"/>
                  <a:pt x="109021" y="128518"/>
                </a:cubicBezTo>
                <a:lnTo>
                  <a:pt x="16843" y="36340"/>
                </a:lnTo>
                <a:close/>
              </a:path>
            </a:pathLst>
          </a:custGeom>
          <a:solidFill>
            <a:srgbClr val="DDFF00"/>
          </a:solidFill>
          <a:ln/>
        </p:spPr>
      </p:sp>
      <p:sp>
        <p:nvSpPr>
          <p:cNvPr id="30" name="Text 28"/>
          <p:cNvSpPr/>
          <p:nvPr/>
        </p:nvSpPr>
        <p:spPr>
          <a:xfrm>
            <a:off x="900992" y="5110428"/>
            <a:ext cx="1242440" cy="214522"/>
          </a:xfrm>
          <a:prstGeom prst="rect">
            <a:avLst/>
          </a:prstGeom>
          <a:noFill/>
          <a:ln/>
        </p:spPr>
        <p:txBody>
          <a:bodyPr wrap="square" lIns="0" tIns="0" rIns="0" bIns="0" rtlCol="0" anchor="ctr"/>
          <a:lstStyle/>
          <a:p>
            <a:pPr>
              <a:lnSpc>
                <a:spcPct val="130000"/>
              </a:lnSpc>
            </a:pPr>
            <a:r>
              <a:rPr lang="en-US" sz="1126" b="1" dirty="0">
                <a:solidFill>
                  <a:srgbClr val="FFFFFF"/>
                </a:solidFill>
                <a:latin typeface="Liter" pitchFamily="34" charset="0"/>
                <a:ea typeface="Liter" pitchFamily="34" charset="-122"/>
                <a:cs typeface="Liter" pitchFamily="34" charset="-120"/>
              </a:rPr>
              <a:t>Online Defamation</a:t>
            </a:r>
            <a:endParaRPr lang="en-US" sz="1600" dirty="0"/>
          </a:p>
        </p:txBody>
      </p:sp>
      <p:sp>
        <p:nvSpPr>
          <p:cNvPr id="31" name="Text 29"/>
          <p:cNvSpPr/>
          <p:nvPr/>
        </p:nvSpPr>
        <p:spPr>
          <a:xfrm>
            <a:off x="650717" y="5360704"/>
            <a:ext cx="2413372" cy="178768"/>
          </a:xfrm>
          <a:prstGeom prst="rect">
            <a:avLst/>
          </a:prstGeom>
          <a:noFill/>
          <a:ln/>
        </p:spPr>
        <p:txBody>
          <a:bodyPr wrap="square" lIns="0" tIns="0" rIns="0" bIns="0" rtlCol="0" anchor="ctr"/>
          <a:lstStyle/>
          <a:p>
            <a:pPr>
              <a:lnSpc>
                <a:spcPct val="120000"/>
              </a:lnSpc>
            </a:pPr>
            <a:r>
              <a:rPr lang="en-US" sz="985" dirty="0">
                <a:solidFill>
                  <a:srgbClr val="FFFFFF">
                    <a:alpha val="60000"/>
                  </a:srgbClr>
                </a:solidFill>
                <a:latin typeface="Liter" pitchFamily="34" charset="0"/>
                <a:ea typeface="Liter" pitchFamily="34" charset="-122"/>
                <a:cs typeface="Liter" pitchFamily="34" charset="-120"/>
              </a:rPr>
              <a:t>Damaging reputation online</a:t>
            </a:r>
            <a:endParaRPr lang="en-US" sz="1600" dirty="0"/>
          </a:p>
        </p:txBody>
      </p:sp>
      <p:sp>
        <p:nvSpPr>
          <p:cNvPr id="32" name="Shape 30"/>
          <p:cNvSpPr/>
          <p:nvPr/>
        </p:nvSpPr>
        <p:spPr>
          <a:xfrm>
            <a:off x="3229338" y="4999591"/>
            <a:ext cx="2572476" cy="650717"/>
          </a:xfrm>
          <a:custGeom>
            <a:avLst/>
            <a:gdLst/>
            <a:ahLst/>
            <a:cxnLst/>
            <a:rect l="l" t="t" r="r" b="b"/>
            <a:pathLst>
              <a:path w="2572476" h="650717">
                <a:moveTo>
                  <a:pt x="0" y="0"/>
                </a:moveTo>
                <a:lnTo>
                  <a:pt x="2572476" y="0"/>
                </a:lnTo>
                <a:lnTo>
                  <a:pt x="2572476" y="650717"/>
                </a:lnTo>
                <a:lnTo>
                  <a:pt x="0" y="650717"/>
                </a:lnTo>
                <a:lnTo>
                  <a:pt x="0" y="0"/>
                </a:lnTo>
                <a:close/>
              </a:path>
            </a:pathLst>
          </a:custGeom>
          <a:solidFill>
            <a:srgbClr val="000000"/>
          </a:solidFill>
          <a:ln w="10160">
            <a:solidFill>
              <a:srgbClr val="DDFF00">
                <a:alpha val="30196"/>
              </a:srgbClr>
            </a:solidFill>
            <a:prstDash val="solid"/>
          </a:ln>
        </p:spPr>
      </p:sp>
      <p:sp>
        <p:nvSpPr>
          <p:cNvPr id="33" name="Shape 31"/>
          <p:cNvSpPr/>
          <p:nvPr/>
        </p:nvSpPr>
        <p:spPr>
          <a:xfrm>
            <a:off x="3375928" y="5146182"/>
            <a:ext cx="107261" cy="143015"/>
          </a:xfrm>
          <a:custGeom>
            <a:avLst/>
            <a:gdLst/>
            <a:ahLst/>
            <a:cxnLst/>
            <a:rect l="l" t="t" r="r" b="b"/>
            <a:pathLst>
              <a:path w="107261" h="143015">
                <a:moveTo>
                  <a:pt x="35754" y="26815"/>
                </a:moveTo>
                <a:lnTo>
                  <a:pt x="35754" y="44692"/>
                </a:lnTo>
                <a:lnTo>
                  <a:pt x="71507" y="44692"/>
                </a:lnTo>
                <a:lnTo>
                  <a:pt x="71507" y="26815"/>
                </a:lnTo>
                <a:cubicBezTo>
                  <a:pt x="71507" y="16955"/>
                  <a:pt x="63491" y="8938"/>
                  <a:pt x="53630" y="8938"/>
                </a:cubicBezTo>
                <a:cubicBezTo>
                  <a:pt x="43770" y="8938"/>
                  <a:pt x="35754" y="16955"/>
                  <a:pt x="35754" y="26815"/>
                </a:cubicBezTo>
                <a:close/>
                <a:moveTo>
                  <a:pt x="17877" y="44692"/>
                </a:moveTo>
                <a:lnTo>
                  <a:pt x="17877" y="26815"/>
                </a:lnTo>
                <a:cubicBezTo>
                  <a:pt x="17877" y="7067"/>
                  <a:pt x="33882" y="-8938"/>
                  <a:pt x="53630" y="-8938"/>
                </a:cubicBezTo>
                <a:cubicBezTo>
                  <a:pt x="73379" y="-8938"/>
                  <a:pt x="89384" y="7067"/>
                  <a:pt x="89384" y="26815"/>
                </a:cubicBezTo>
                <a:lnTo>
                  <a:pt x="89384" y="44692"/>
                </a:lnTo>
                <a:cubicBezTo>
                  <a:pt x="99244" y="44692"/>
                  <a:pt x="107261" y="52709"/>
                  <a:pt x="107261" y="62569"/>
                </a:cubicBezTo>
                <a:lnTo>
                  <a:pt x="107261" y="125138"/>
                </a:lnTo>
                <a:cubicBezTo>
                  <a:pt x="107261" y="134998"/>
                  <a:pt x="99244" y="143015"/>
                  <a:pt x="89384" y="143015"/>
                </a:cubicBezTo>
                <a:lnTo>
                  <a:pt x="17877" y="143015"/>
                </a:lnTo>
                <a:cubicBezTo>
                  <a:pt x="8017" y="143015"/>
                  <a:pt x="0" y="134998"/>
                  <a:pt x="0" y="125138"/>
                </a:cubicBezTo>
                <a:lnTo>
                  <a:pt x="0" y="62569"/>
                </a:lnTo>
                <a:cubicBezTo>
                  <a:pt x="0" y="52709"/>
                  <a:pt x="8017" y="44692"/>
                  <a:pt x="17877" y="44692"/>
                </a:cubicBezTo>
                <a:close/>
              </a:path>
            </a:pathLst>
          </a:custGeom>
          <a:solidFill>
            <a:srgbClr val="DDFF00"/>
          </a:solidFill>
          <a:ln/>
        </p:spPr>
      </p:sp>
      <p:sp>
        <p:nvSpPr>
          <p:cNvPr id="34" name="Text 32"/>
          <p:cNvSpPr/>
          <p:nvPr/>
        </p:nvSpPr>
        <p:spPr>
          <a:xfrm>
            <a:off x="3590450" y="5110428"/>
            <a:ext cx="893842" cy="214522"/>
          </a:xfrm>
          <a:prstGeom prst="rect">
            <a:avLst/>
          </a:prstGeom>
          <a:noFill/>
          <a:ln/>
        </p:spPr>
        <p:txBody>
          <a:bodyPr wrap="square" lIns="0" tIns="0" rIns="0" bIns="0" rtlCol="0" anchor="ctr"/>
          <a:lstStyle/>
          <a:p>
            <a:pPr>
              <a:lnSpc>
                <a:spcPct val="130000"/>
              </a:lnSpc>
            </a:pPr>
            <a:r>
              <a:rPr lang="en-US" sz="1126" b="1" dirty="0">
                <a:solidFill>
                  <a:srgbClr val="FFFFFF"/>
                </a:solidFill>
                <a:latin typeface="Liter" pitchFamily="34" charset="0"/>
                <a:ea typeface="Liter" pitchFamily="34" charset="-122"/>
                <a:cs typeface="Liter" pitchFamily="34" charset="-120"/>
              </a:rPr>
              <a:t>Ransomware</a:t>
            </a:r>
            <a:endParaRPr lang="en-US" sz="1600" dirty="0"/>
          </a:p>
        </p:txBody>
      </p:sp>
      <p:sp>
        <p:nvSpPr>
          <p:cNvPr id="35" name="Text 33"/>
          <p:cNvSpPr/>
          <p:nvPr/>
        </p:nvSpPr>
        <p:spPr>
          <a:xfrm>
            <a:off x="3340174" y="5360704"/>
            <a:ext cx="2413372" cy="178768"/>
          </a:xfrm>
          <a:prstGeom prst="rect">
            <a:avLst/>
          </a:prstGeom>
          <a:noFill/>
          <a:ln/>
        </p:spPr>
        <p:txBody>
          <a:bodyPr wrap="square" lIns="0" tIns="0" rIns="0" bIns="0" rtlCol="0" anchor="ctr"/>
          <a:lstStyle/>
          <a:p>
            <a:pPr>
              <a:lnSpc>
                <a:spcPct val="120000"/>
              </a:lnSpc>
            </a:pPr>
            <a:r>
              <a:rPr lang="en-US" sz="985" dirty="0">
                <a:solidFill>
                  <a:srgbClr val="FFFFFF">
                    <a:alpha val="60000"/>
                  </a:srgbClr>
                </a:solidFill>
                <a:latin typeface="Liter" pitchFamily="34" charset="0"/>
                <a:ea typeface="Liter" pitchFamily="34" charset="-122"/>
                <a:cs typeface="Liter" pitchFamily="34" charset="-120"/>
              </a:rPr>
              <a:t>Encrypting data for ransom</a:t>
            </a:r>
            <a:endParaRPr lang="en-US" sz="1600" dirty="0"/>
          </a:p>
        </p:txBody>
      </p:sp>
      <p:sp>
        <p:nvSpPr>
          <p:cNvPr id="36" name="Shape 34"/>
          <p:cNvSpPr/>
          <p:nvPr/>
        </p:nvSpPr>
        <p:spPr>
          <a:xfrm>
            <a:off x="539880" y="5764721"/>
            <a:ext cx="2572476" cy="650717"/>
          </a:xfrm>
          <a:custGeom>
            <a:avLst/>
            <a:gdLst/>
            <a:ahLst/>
            <a:cxnLst/>
            <a:rect l="l" t="t" r="r" b="b"/>
            <a:pathLst>
              <a:path w="2572476" h="650717">
                <a:moveTo>
                  <a:pt x="0" y="0"/>
                </a:moveTo>
                <a:lnTo>
                  <a:pt x="2572476" y="0"/>
                </a:lnTo>
                <a:lnTo>
                  <a:pt x="2572476" y="650717"/>
                </a:lnTo>
                <a:lnTo>
                  <a:pt x="0" y="650717"/>
                </a:lnTo>
                <a:lnTo>
                  <a:pt x="0" y="0"/>
                </a:lnTo>
                <a:close/>
              </a:path>
            </a:pathLst>
          </a:custGeom>
          <a:solidFill>
            <a:srgbClr val="000000"/>
          </a:solidFill>
          <a:ln w="10160">
            <a:solidFill>
              <a:srgbClr val="DDFF00">
                <a:alpha val="30196"/>
              </a:srgbClr>
            </a:solidFill>
            <a:prstDash val="solid"/>
          </a:ln>
        </p:spPr>
      </p:sp>
      <p:sp>
        <p:nvSpPr>
          <p:cNvPr id="37" name="Shape 35"/>
          <p:cNvSpPr/>
          <p:nvPr/>
        </p:nvSpPr>
        <p:spPr>
          <a:xfrm>
            <a:off x="677532" y="5911311"/>
            <a:ext cx="125138" cy="143015"/>
          </a:xfrm>
          <a:custGeom>
            <a:avLst/>
            <a:gdLst/>
            <a:ahLst/>
            <a:cxnLst/>
            <a:rect l="l" t="t" r="r" b="b"/>
            <a:pathLst>
              <a:path w="125138" h="143015">
                <a:moveTo>
                  <a:pt x="125138" y="57485"/>
                </a:moveTo>
                <a:cubicBezTo>
                  <a:pt x="121004" y="60223"/>
                  <a:pt x="116255" y="62429"/>
                  <a:pt x="111311" y="64189"/>
                </a:cubicBezTo>
                <a:cubicBezTo>
                  <a:pt x="98183" y="68882"/>
                  <a:pt x="80949" y="71507"/>
                  <a:pt x="62569" y="71507"/>
                </a:cubicBezTo>
                <a:cubicBezTo>
                  <a:pt x="44189" y="71507"/>
                  <a:pt x="26927" y="68854"/>
                  <a:pt x="13827" y="64189"/>
                </a:cubicBezTo>
                <a:cubicBezTo>
                  <a:pt x="8910" y="62429"/>
                  <a:pt x="4134" y="60223"/>
                  <a:pt x="0" y="57485"/>
                </a:cubicBezTo>
                <a:lnTo>
                  <a:pt x="0" y="80446"/>
                </a:lnTo>
                <a:cubicBezTo>
                  <a:pt x="0" y="92792"/>
                  <a:pt x="28016" y="102792"/>
                  <a:pt x="62569" y="102792"/>
                </a:cubicBezTo>
                <a:cubicBezTo>
                  <a:pt x="97121" y="102792"/>
                  <a:pt x="125138" y="92792"/>
                  <a:pt x="125138" y="80446"/>
                </a:cubicBezTo>
                <a:lnTo>
                  <a:pt x="125138" y="57485"/>
                </a:lnTo>
                <a:close/>
                <a:moveTo>
                  <a:pt x="125138" y="35754"/>
                </a:moveTo>
                <a:lnTo>
                  <a:pt x="125138" y="22346"/>
                </a:lnTo>
                <a:cubicBezTo>
                  <a:pt x="125138" y="10000"/>
                  <a:pt x="97121" y="0"/>
                  <a:pt x="62569" y="0"/>
                </a:cubicBezTo>
                <a:cubicBezTo>
                  <a:pt x="28016" y="0"/>
                  <a:pt x="0" y="10000"/>
                  <a:pt x="0" y="22346"/>
                </a:cubicBezTo>
                <a:lnTo>
                  <a:pt x="0" y="35754"/>
                </a:lnTo>
                <a:cubicBezTo>
                  <a:pt x="0" y="48100"/>
                  <a:pt x="28016" y="58100"/>
                  <a:pt x="62569" y="58100"/>
                </a:cubicBezTo>
                <a:cubicBezTo>
                  <a:pt x="97121" y="58100"/>
                  <a:pt x="125138" y="48100"/>
                  <a:pt x="125138" y="35754"/>
                </a:cubicBezTo>
                <a:close/>
                <a:moveTo>
                  <a:pt x="111311" y="108881"/>
                </a:moveTo>
                <a:cubicBezTo>
                  <a:pt x="98211" y="113546"/>
                  <a:pt x="80976" y="116199"/>
                  <a:pt x="62569" y="116199"/>
                </a:cubicBezTo>
                <a:cubicBezTo>
                  <a:pt x="44161" y="116199"/>
                  <a:pt x="26927" y="113546"/>
                  <a:pt x="13827" y="108881"/>
                </a:cubicBezTo>
                <a:cubicBezTo>
                  <a:pt x="8910" y="107121"/>
                  <a:pt x="4134" y="104915"/>
                  <a:pt x="0" y="102177"/>
                </a:cubicBezTo>
                <a:lnTo>
                  <a:pt x="0" y="120669"/>
                </a:lnTo>
                <a:cubicBezTo>
                  <a:pt x="0" y="133015"/>
                  <a:pt x="28016" y="143015"/>
                  <a:pt x="62569" y="143015"/>
                </a:cubicBezTo>
                <a:cubicBezTo>
                  <a:pt x="97121" y="143015"/>
                  <a:pt x="125138" y="133015"/>
                  <a:pt x="125138" y="120669"/>
                </a:cubicBezTo>
                <a:lnTo>
                  <a:pt x="125138" y="102177"/>
                </a:lnTo>
                <a:cubicBezTo>
                  <a:pt x="121004" y="104915"/>
                  <a:pt x="116255" y="107121"/>
                  <a:pt x="111311" y="108881"/>
                </a:cubicBezTo>
                <a:close/>
              </a:path>
            </a:pathLst>
          </a:custGeom>
          <a:solidFill>
            <a:srgbClr val="DDFF00"/>
          </a:solidFill>
          <a:ln/>
        </p:spPr>
      </p:sp>
      <p:sp>
        <p:nvSpPr>
          <p:cNvPr id="38" name="Text 36"/>
          <p:cNvSpPr/>
          <p:nvPr/>
        </p:nvSpPr>
        <p:spPr>
          <a:xfrm>
            <a:off x="900992" y="5875558"/>
            <a:ext cx="983226" cy="214522"/>
          </a:xfrm>
          <a:prstGeom prst="rect">
            <a:avLst/>
          </a:prstGeom>
          <a:noFill/>
          <a:ln/>
        </p:spPr>
        <p:txBody>
          <a:bodyPr wrap="square" lIns="0" tIns="0" rIns="0" bIns="0" rtlCol="0" anchor="ctr"/>
          <a:lstStyle/>
          <a:p>
            <a:pPr>
              <a:lnSpc>
                <a:spcPct val="130000"/>
              </a:lnSpc>
            </a:pPr>
            <a:r>
              <a:rPr lang="en-US" sz="1126" b="1" dirty="0">
                <a:solidFill>
                  <a:srgbClr val="FFFFFF"/>
                </a:solidFill>
                <a:latin typeface="Liter" pitchFamily="34" charset="0"/>
                <a:ea typeface="Liter" pitchFamily="34" charset="-122"/>
                <a:cs typeface="Liter" pitchFamily="34" charset="-120"/>
              </a:rPr>
              <a:t>Data Breaches</a:t>
            </a:r>
            <a:endParaRPr lang="en-US" sz="1600" dirty="0"/>
          </a:p>
        </p:txBody>
      </p:sp>
      <p:sp>
        <p:nvSpPr>
          <p:cNvPr id="39" name="Text 37"/>
          <p:cNvSpPr/>
          <p:nvPr/>
        </p:nvSpPr>
        <p:spPr>
          <a:xfrm>
            <a:off x="650717" y="6125833"/>
            <a:ext cx="2413372" cy="178768"/>
          </a:xfrm>
          <a:prstGeom prst="rect">
            <a:avLst/>
          </a:prstGeom>
          <a:noFill/>
          <a:ln/>
        </p:spPr>
        <p:txBody>
          <a:bodyPr wrap="square" lIns="0" tIns="0" rIns="0" bIns="0" rtlCol="0" anchor="ctr"/>
          <a:lstStyle/>
          <a:p>
            <a:pPr>
              <a:lnSpc>
                <a:spcPct val="120000"/>
              </a:lnSpc>
            </a:pPr>
            <a:r>
              <a:rPr lang="en-US" sz="985" dirty="0">
                <a:solidFill>
                  <a:srgbClr val="FFFFFF">
                    <a:alpha val="60000"/>
                  </a:srgbClr>
                </a:solidFill>
                <a:latin typeface="Liter" pitchFamily="34" charset="0"/>
                <a:ea typeface="Liter" pitchFamily="34" charset="-122"/>
                <a:cs typeface="Liter" pitchFamily="34" charset="-120"/>
              </a:rPr>
              <a:t>Unauthorized data access</a:t>
            </a:r>
            <a:endParaRPr lang="en-US" sz="1600" dirty="0"/>
          </a:p>
        </p:txBody>
      </p:sp>
      <p:sp>
        <p:nvSpPr>
          <p:cNvPr id="40" name="Shape 38"/>
          <p:cNvSpPr/>
          <p:nvPr/>
        </p:nvSpPr>
        <p:spPr>
          <a:xfrm>
            <a:off x="3229338" y="5764721"/>
            <a:ext cx="2572476" cy="650717"/>
          </a:xfrm>
          <a:custGeom>
            <a:avLst/>
            <a:gdLst/>
            <a:ahLst/>
            <a:cxnLst/>
            <a:rect l="l" t="t" r="r" b="b"/>
            <a:pathLst>
              <a:path w="2572476" h="650717">
                <a:moveTo>
                  <a:pt x="0" y="0"/>
                </a:moveTo>
                <a:lnTo>
                  <a:pt x="2572476" y="0"/>
                </a:lnTo>
                <a:lnTo>
                  <a:pt x="2572476" y="650717"/>
                </a:lnTo>
                <a:lnTo>
                  <a:pt x="0" y="650717"/>
                </a:lnTo>
                <a:lnTo>
                  <a:pt x="0" y="0"/>
                </a:lnTo>
                <a:close/>
              </a:path>
            </a:pathLst>
          </a:custGeom>
          <a:solidFill>
            <a:srgbClr val="000000"/>
          </a:solidFill>
          <a:ln w="10160">
            <a:solidFill>
              <a:srgbClr val="DDFF00">
                <a:alpha val="30196"/>
              </a:srgbClr>
            </a:solidFill>
            <a:prstDash val="solid"/>
          </a:ln>
        </p:spPr>
      </p:sp>
      <p:sp>
        <p:nvSpPr>
          <p:cNvPr id="41" name="Shape 39"/>
          <p:cNvSpPr/>
          <p:nvPr/>
        </p:nvSpPr>
        <p:spPr>
          <a:xfrm>
            <a:off x="3349113" y="5911311"/>
            <a:ext cx="160891" cy="143015"/>
          </a:xfrm>
          <a:custGeom>
            <a:avLst/>
            <a:gdLst/>
            <a:ahLst/>
            <a:cxnLst/>
            <a:rect l="l" t="t" r="r" b="b"/>
            <a:pathLst>
              <a:path w="160891" h="143015">
                <a:moveTo>
                  <a:pt x="134076" y="-4469"/>
                </a:moveTo>
                <a:cubicBezTo>
                  <a:pt x="136004" y="-4469"/>
                  <a:pt x="137707" y="-3240"/>
                  <a:pt x="138322" y="-1425"/>
                </a:cubicBezTo>
                <a:lnTo>
                  <a:pt x="142093" y="9860"/>
                </a:lnTo>
                <a:lnTo>
                  <a:pt x="153378" y="13631"/>
                </a:lnTo>
                <a:cubicBezTo>
                  <a:pt x="155193" y="14246"/>
                  <a:pt x="156422" y="15949"/>
                  <a:pt x="156422" y="17877"/>
                </a:cubicBezTo>
                <a:cubicBezTo>
                  <a:pt x="156422" y="19804"/>
                  <a:pt x="155193" y="21508"/>
                  <a:pt x="153378" y="22123"/>
                </a:cubicBezTo>
                <a:lnTo>
                  <a:pt x="142093" y="25893"/>
                </a:lnTo>
                <a:lnTo>
                  <a:pt x="138322" y="37178"/>
                </a:lnTo>
                <a:cubicBezTo>
                  <a:pt x="137707" y="38994"/>
                  <a:pt x="136004" y="40223"/>
                  <a:pt x="134076" y="40223"/>
                </a:cubicBezTo>
                <a:cubicBezTo>
                  <a:pt x="132149" y="40223"/>
                  <a:pt x="130445" y="38994"/>
                  <a:pt x="129830" y="37178"/>
                </a:cubicBezTo>
                <a:lnTo>
                  <a:pt x="126060" y="25893"/>
                </a:lnTo>
                <a:lnTo>
                  <a:pt x="114775" y="22123"/>
                </a:lnTo>
                <a:cubicBezTo>
                  <a:pt x="112959" y="21508"/>
                  <a:pt x="111730" y="19804"/>
                  <a:pt x="111730" y="17877"/>
                </a:cubicBezTo>
                <a:cubicBezTo>
                  <a:pt x="111730" y="15949"/>
                  <a:pt x="112959" y="14246"/>
                  <a:pt x="114775" y="13631"/>
                </a:cubicBezTo>
                <a:lnTo>
                  <a:pt x="126060" y="9860"/>
                </a:lnTo>
                <a:lnTo>
                  <a:pt x="129830" y="-1425"/>
                </a:lnTo>
                <a:cubicBezTo>
                  <a:pt x="130445" y="-3240"/>
                  <a:pt x="132149" y="-4469"/>
                  <a:pt x="134076" y="-4469"/>
                </a:cubicBezTo>
                <a:close/>
                <a:moveTo>
                  <a:pt x="89775" y="27206"/>
                </a:moveTo>
                <a:cubicBezTo>
                  <a:pt x="93267" y="23715"/>
                  <a:pt x="98937" y="23715"/>
                  <a:pt x="102429" y="27206"/>
                </a:cubicBezTo>
                <a:lnTo>
                  <a:pt x="124775" y="49552"/>
                </a:lnTo>
                <a:cubicBezTo>
                  <a:pt x="128266" y="53044"/>
                  <a:pt x="128266" y="58714"/>
                  <a:pt x="124775" y="62206"/>
                </a:cubicBezTo>
                <a:lnTo>
                  <a:pt x="121730" y="65250"/>
                </a:lnTo>
                <a:cubicBezTo>
                  <a:pt x="123937" y="71396"/>
                  <a:pt x="125138" y="78016"/>
                  <a:pt x="125138" y="84943"/>
                </a:cubicBezTo>
                <a:cubicBezTo>
                  <a:pt x="125138" y="117037"/>
                  <a:pt x="99133" y="143043"/>
                  <a:pt x="67038" y="143043"/>
                </a:cubicBezTo>
                <a:cubicBezTo>
                  <a:pt x="34944" y="143043"/>
                  <a:pt x="8938" y="117009"/>
                  <a:pt x="8938" y="84915"/>
                </a:cubicBezTo>
                <a:cubicBezTo>
                  <a:pt x="8938" y="52820"/>
                  <a:pt x="34944" y="26815"/>
                  <a:pt x="67038" y="26815"/>
                </a:cubicBezTo>
                <a:cubicBezTo>
                  <a:pt x="73937" y="26815"/>
                  <a:pt x="80585" y="28016"/>
                  <a:pt x="86731" y="30251"/>
                </a:cubicBezTo>
                <a:lnTo>
                  <a:pt x="89775" y="27206"/>
                </a:lnTo>
                <a:close/>
                <a:moveTo>
                  <a:pt x="40223" y="84915"/>
                </a:moveTo>
                <a:cubicBezTo>
                  <a:pt x="40223" y="70111"/>
                  <a:pt x="52234" y="58100"/>
                  <a:pt x="67038" y="58100"/>
                </a:cubicBezTo>
                <a:cubicBezTo>
                  <a:pt x="70753" y="58100"/>
                  <a:pt x="73742" y="55111"/>
                  <a:pt x="73742" y="51396"/>
                </a:cubicBezTo>
                <a:cubicBezTo>
                  <a:pt x="73742" y="47681"/>
                  <a:pt x="70753" y="44692"/>
                  <a:pt x="67038" y="44692"/>
                </a:cubicBezTo>
                <a:cubicBezTo>
                  <a:pt x="44832" y="44692"/>
                  <a:pt x="26815" y="62709"/>
                  <a:pt x="26815" y="84915"/>
                </a:cubicBezTo>
                <a:cubicBezTo>
                  <a:pt x="26815" y="88630"/>
                  <a:pt x="29804" y="91619"/>
                  <a:pt x="33519" y="91619"/>
                </a:cubicBezTo>
                <a:cubicBezTo>
                  <a:pt x="37234" y="91619"/>
                  <a:pt x="40223" y="88630"/>
                  <a:pt x="40223" y="84915"/>
                </a:cubicBezTo>
                <a:close/>
              </a:path>
            </a:pathLst>
          </a:custGeom>
          <a:solidFill>
            <a:srgbClr val="DDFF00"/>
          </a:solidFill>
          <a:ln/>
        </p:spPr>
      </p:sp>
      <p:sp>
        <p:nvSpPr>
          <p:cNvPr id="42" name="Text 40"/>
          <p:cNvSpPr/>
          <p:nvPr/>
        </p:nvSpPr>
        <p:spPr>
          <a:xfrm>
            <a:off x="3590450" y="5875558"/>
            <a:ext cx="1099425" cy="214522"/>
          </a:xfrm>
          <a:prstGeom prst="rect">
            <a:avLst/>
          </a:prstGeom>
          <a:noFill/>
          <a:ln/>
        </p:spPr>
        <p:txBody>
          <a:bodyPr wrap="square" lIns="0" tIns="0" rIns="0" bIns="0" rtlCol="0" anchor="ctr"/>
          <a:lstStyle/>
          <a:p>
            <a:pPr>
              <a:lnSpc>
                <a:spcPct val="130000"/>
              </a:lnSpc>
            </a:pPr>
            <a:r>
              <a:rPr lang="en-US" sz="1126" b="1" dirty="0">
                <a:solidFill>
                  <a:srgbClr val="FFFFFF"/>
                </a:solidFill>
                <a:latin typeface="Liter" pitchFamily="34" charset="0"/>
                <a:ea typeface="Liter" pitchFamily="34" charset="-122"/>
                <a:cs typeface="Liter" pitchFamily="34" charset="-120"/>
              </a:rPr>
              <a:t>Cyber Terrorism</a:t>
            </a:r>
            <a:endParaRPr lang="en-US" sz="1600" dirty="0"/>
          </a:p>
        </p:txBody>
      </p:sp>
      <p:sp>
        <p:nvSpPr>
          <p:cNvPr id="43" name="Text 41"/>
          <p:cNvSpPr/>
          <p:nvPr/>
        </p:nvSpPr>
        <p:spPr>
          <a:xfrm>
            <a:off x="3340174" y="6125833"/>
            <a:ext cx="2413372" cy="178768"/>
          </a:xfrm>
          <a:prstGeom prst="rect">
            <a:avLst/>
          </a:prstGeom>
          <a:noFill/>
          <a:ln/>
        </p:spPr>
        <p:txBody>
          <a:bodyPr wrap="square" lIns="0" tIns="0" rIns="0" bIns="0" rtlCol="0" anchor="ctr"/>
          <a:lstStyle/>
          <a:p>
            <a:pPr>
              <a:lnSpc>
                <a:spcPct val="120000"/>
              </a:lnSpc>
            </a:pPr>
            <a:r>
              <a:rPr lang="en-US" sz="985" dirty="0">
                <a:solidFill>
                  <a:srgbClr val="FFFFFF">
                    <a:alpha val="60000"/>
                  </a:srgbClr>
                </a:solidFill>
                <a:latin typeface="Liter" pitchFamily="34" charset="0"/>
                <a:ea typeface="Liter" pitchFamily="34" charset="-122"/>
                <a:cs typeface="Liter" pitchFamily="34" charset="-120"/>
              </a:rPr>
              <a:t>Digital attacks on infrastructure</a:t>
            </a:r>
            <a:endParaRPr lang="en-US" sz="1600" dirty="0"/>
          </a:p>
        </p:txBody>
      </p:sp>
      <p:sp>
        <p:nvSpPr>
          <p:cNvPr id="44" name="Shape 42"/>
          <p:cNvSpPr/>
          <p:nvPr/>
        </p:nvSpPr>
        <p:spPr>
          <a:xfrm>
            <a:off x="6201250" y="1215625"/>
            <a:ext cx="5631202" cy="4513900"/>
          </a:xfrm>
          <a:custGeom>
            <a:avLst/>
            <a:gdLst/>
            <a:ahLst/>
            <a:cxnLst/>
            <a:rect l="l" t="t" r="r" b="b"/>
            <a:pathLst>
              <a:path w="5631202" h="4513900">
                <a:moveTo>
                  <a:pt x="0" y="0"/>
                </a:moveTo>
                <a:lnTo>
                  <a:pt x="5631202" y="0"/>
                </a:lnTo>
                <a:lnTo>
                  <a:pt x="5631202" y="4513900"/>
                </a:lnTo>
                <a:lnTo>
                  <a:pt x="0" y="4513900"/>
                </a:lnTo>
                <a:lnTo>
                  <a:pt x="0" y="0"/>
                </a:lnTo>
                <a:close/>
              </a:path>
            </a:pathLst>
          </a:custGeom>
          <a:solidFill>
            <a:srgbClr val="111111"/>
          </a:solidFill>
          <a:ln/>
        </p:spPr>
      </p:sp>
      <p:sp>
        <p:nvSpPr>
          <p:cNvPr id="45" name="Shape 43"/>
          <p:cNvSpPr/>
          <p:nvPr/>
        </p:nvSpPr>
        <p:spPr>
          <a:xfrm>
            <a:off x="6406834" y="1430035"/>
            <a:ext cx="214522" cy="214522"/>
          </a:xfrm>
          <a:custGeom>
            <a:avLst/>
            <a:gdLst/>
            <a:ahLst/>
            <a:cxnLst/>
            <a:rect l="l" t="t" r="r" b="b"/>
            <a:pathLst>
              <a:path w="214522" h="214522">
                <a:moveTo>
                  <a:pt x="20111" y="107261"/>
                </a:moveTo>
                <a:cubicBezTo>
                  <a:pt x="20111" y="59119"/>
                  <a:pt x="59119" y="20111"/>
                  <a:pt x="107261" y="20111"/>
                </a:cubicBezTo>
                <a:cubicBezTo>
                  <a:pt x="133699" y="20111"/>
                  <a:pt x="157372" y="31885"/>
                  <a:pt x="173377" y="50488"/>
                </a:cubicBezTo>
                <a:cubicBezTo>
                  <a:pt x="176981" y="54720"/>
                  <a:pt x="183349" y="55181"/>
                  <a:pt x="187539" y="51577"/>
                </a:cubicBezTo>
                <a:cubicBezTo>
                  <a:pt x="191729" y="47974"/>
                  <a:pt x="192232" y="41606"/>
                  <a:pt x="188629" y="37416"/>
                </a:cubicBezTo>
                <a:cubicBezTo>
                  <a:pt x="168978" y="14497"/>
                  <a:pt x="139816" y="0"/>
                  <a:pt x="107261" y="0"/>
                </a:cubicBezTo>
                <a:cubicBezTo>
                  <a:pt x="48016" y="0"/>
                  <a:pt x="0" y="48016"/>
                  <a:pt x="0" y="107261"/>
                </a:cubicBezTo>
                <a:lnTo>
                  <a:pt x="0" y="124021"/>
                </a:lnTo>
                <a:cubicBezTo>
                  <a:pt x="0" y="129593"/>
                  <a:pt x="4483" y="134076"/>
                  <a:pt x="10056" y="134076"/>
                </a:cubicBezTo>
                <a:cubicBezTo>
                  <a:pt x="15628" y="134076"/>
                  <a:pt x="20111" y="129593"/>
                  <a:pt x="20111" y="124021"/>
                </a:cubicBezTo>
                <a:lnTo>
                  <a:pt x="20111" y="107261"/>
                </a:lnTo>
                <a:close/>
                <a:moveTo>
                  <a:pt x="212218" y="85097"/>
                </a:moveTo>
                <a:cubicBezTo>
                  <a:pt x="211086" y="79650"/>
                  <a:pt x="205723" y="76172"/>
                  <a:pt x="200318" y="77345"/>
                </a:cubicBezTo>
                <a:cubicBezTo>
                  <a:pt x="194913" y="78518"/>
                  <a:pt x="191394" y="83840"/>
                  <a:pt x="192567" y="89245"/>
                </a:cubicBezTo>
                <a:cubicBezTo>
                  <a:pt x="193782" y="95068"/>
                  <a:pt x="194452" y="101102"/>
                  <a:pt x="194452" y="107303"/>
                </a:cubicBezTo>
                <a:lnTo>
                  <a:pt x="194452" y="124062"/>
                </a:lnTo>
                <a:cubicBezTo>
                  <a:pt x="194452" y="129635"/>
                  <a:pt x="198936" y="134118"/>
                  <a:pt x="204508" y="134118"/>
                </a:cubicBezTo>
                <a:cubicBezTo>
                  <a:pt x="210081" y="134118"/>
                  <a:pt x="214564" y="129635"/>
                  <a:pt x="214564" y="124062"/>
                </a:cubicBezTo>
                <a:lnTo>
                  <a:pt x="214564" y="107303"/>
                </a:lnTo>
                <a:cubicBezTo>
                  <a:pt x="214564" y="99719"/>
                  <a:pt x="213768" y="92303"/>
                  <a:pt x="212259" y="85138"/>
                </a:cubicBezTo>
                <a:close/>
                <a:moveTo>
                  <a:pt x="107261" y="33519"/>
                </a:moveTo>
                <a:cubicBezTo>
                  <a:pt x="99300" y="33519"/>
                  <a:pt x="91591" y="34776"/>
                  <a:pt x="84426" y="37122"/>
                </a:cubicBezTo>
                <a:cubicBezTo>
                  <a:pt x="78058" y="39217"/>
                  <a:pt x="76591" y="47052"/>
                  <a:pt x="80949" y="52164"/>
                </a:cubicBezTo>
                <a:cubicBezTo>
                  <a:pt x="83923" y="55642"/>
                  <a:pt x="88826" y="56689"/>
                  <a:pt x="93267" y="55474"/>
                </a:cubicBezTo>
                <a:cubicBezTo>
                  <a:pt x="97708" y="54259"/>
                  <a:pt x="102401" y="53630"/>
                  <a:pt x="107261" y="53630"/>
                </a:cubicBezTo>
                <a:cubicBezTo>
                  <a:pt x="136883" y="53630"/>
                  <a:pt x="160891" y="77639"/>
                  <a:pt x="160891" y="107261"/>
                </a:cubicBezTo>
                <a:lnTo>
                  <a:pt x="160891" y="117694"/>
                </a:lnTo>
                <a:cubicBezTo>
                  <a:pt x="160891" y="128252"/>
                  <a:pt x="160263" y="138769"/>
                  <a:pt x="159048" y="149244"/>
                </a:cubicBezTo>
                <a:cubicBezTo>
                  <a:pt x="158336" y="155361"/>
                  <a:pt x="162986" y="160891"/>
                  <a:pt x="169187" y="160891"/>
                </a:cubicBezTo>
                <a:cubicBezTo>
                  <a:pt x="174132" y="160891"/>
                  <a:pt x="178363" y="157288"/>
                  <a:pt x="178950" y="152386"/>
                </a:cubicBezTo>
                <a:cubicBezTo>
                  <a:pt x="180333" y="140906"/>
                  <a:pt x="181045" y="129342"/>
                  <a:pt x="181045" y="117736"/>
                </a:cubicBezTo>
                <a:lnTo>
                  <a:pt x="181045" y="107303"/>
                </a:lnTo>
                <a:cubicBezTo>
                  <a:pt x="181045" y="66577"/>
                  <a:pt x="148029" y="33561"/>
                  <a:pt x="107303" y="33561"/>
                </a:cubicBezTo>
                <a:close/>
                <a:moveTo>
                  <a:pt x="63142" y="62304"/>
                </a:moveTo>
                <a:cubicBezTo>
                  <a:pt x="59329" y="57862"/>
                  <a:pt x="52541" y="57527"/>
                  <a:pt x="48938" y="62136"/>
                </a:cubicBezTo>
                <a:cubicBezTo>
                  <a:pt x="39259" y="74622"/>
                  <a:pt x="33519" y="90250"/>
                  <a:pt x="33519" y="107261"/>
                </a:cubicBezTo>
                <a:lnTo>
                  <a:pt x="33519" y="117694"/>
                </a:lnTo>
                <a:cubicBezTo>
                  <a:pt x="33519" y="127833"/>
                  <a:pt x="32430" y="137973"/>
                  <a:pt x="30251" y="147819"/>
                </a:cubicBezTo>
                <a:cubicBezTo>
                  <a:pt x="28826" y="154355"/>
                  <a:pt x="33561" y="160850"/>
                  <a:pt x="40265" y="160850"/>
                </a:cubicBezTo>
                <a:cubicBezTo>
                  <a:pt x="44664" y="160850"/>
                  <a:pt x="48603" y="157917"/>
                  <a:pt x="49566" y="153601"/>
                </a:cubicBezTo>
                <a:cubicBezTo>
                  <a:pt x="52248" y="141828"/>
                  <a:pt x="53630" y="129803"/>
                  <a:pt x="53630" y="117652"/>
                </a:cubicBezTo>
                <a:lnTo>
                  <a:pt x="53630" y="107219"/>
                </a:lnTo>
                <a:cubicBezTo>
                  <a:pt x="53630" y="95823"/>
                  <a:pt x="57192" y="85264"/>
                  <a:pt x="63225" y="76591"/>
                </a:cubicBezTo>
                <a:cubicBezTo>
                  <a:pt x="66242" y="72234"/>
                  <a:pt x="66577" y="66284"/>
                  <a:pt x="63142" y="62262"/>
                </a:cubicBezTo>
                <a:close/>
                <a:moveTo>
                  <a:pt x="107261" y="67038"/>
                </a:moveTo>
                <a:cubicBezTo>
                  <a:pt x="85055" y="67038"/>
                  <a:pt x="67038" y="85055"/>
                  <a:pt x="67038" y="107261"/>
                </a:cubicBezTo>
                <a:lnTo>
                  <a:pt x="67038" y="117694"/>
                </a:lnTo>
                <a:cubicBezTo>
                  <a:pt x="67038" y="132735"/>
                  <a:pt x="65111" y="147651"/>
                  <a:pt x="61256" y="162148"/>
                </a:cubicBezTo>
                <a:cubicBezTo>
                  <a:pt x="59664" y="168140"/>
                  <a:pt x="64063" y="174299"/>
                  <a:pt x="70264" y="174299"/>
                </a:cubicBezTo>
                <a:cubicBezTo>
                  <a:pt x="74245" y="174299"/>
                  <a:pt x="77764" y="171701"/>
                  <a:pt x="78812" y="167847"/>
                </a:cubicBezTo>
                <a:cubicBezTo>
                  <a:pt x="83211" y="151506"/>
                  <a:pt x="85474" y="134663"/>
                  <a:pt x="85474" y="117694"/>
                </a:cubicBezTo>
                <a:lnTo>
                  <a:pt x="85474" y="107261"/>
                </a:lnTo>
                <a:cubicBezTo>
                  <a:pt x="85474" y="95236"/>
                  <a:pt x="95236" y="85474"/>
                  <a:pt x="107261" y="85474"/>
                </a:cubicBezTo>
                <a:cubicBezTo>
                  <a:pt x="119286" y="85474"/>
                  <a:pt x="129048" y="95236"/>
                  <a:pt x="129048" y="107261"/>
                </a:cubicBezTo>
                <a:lnTo>
                  <a:pt x="129048" y="117694"/>
                </a:lnTo>
                <a:cubicBezTo>
                  <a:pt x="129048" y="132903"/>
                  <a:pt x="127582" y="148029"/>
                  <a:pt x="124691" y="162903"/>
                </a:cubicBezTo>
                <a:cubicBezTo>
                  <a:pt x="123560" y="168727"/>
                  <a:pt x="127917" y="174299"/>
                  <a:pt x="133825" y="174299"/>
                </a:cubicBezTo>
                <a:cubicBezTo>
                  <a:pt x="138099" y="174299"/>
                  <a:pt x="141786" y="171366"/>
                  <a:pt x="142624" y="167176"/>
                </a:cubicBezTo>
                <a:cubicBezTo>
                  <a:pt x="145850" y="150920"/>
                  <a:pt x="147484" y="134370"/>
                  <a:pt x="147484" y="117694"/>
                </a:cubicBezTo>
                <a:lnTo>
                  <a:pt x="147484" y="107261"/>
                </a:lnTo>
                <a:cubicBezTo>
                  <a:pt x="147484" y="85055"/>
                  <a:pt x="129467" y="67038"/>
                  <a:pt x="107261" y="67038"/>
                </a:cubicBezTo>
                <a:close/>
                <a:moveTo>
                  <a:pt x="117317" y="107261"/>
                </a:moveTo>
                <a:cubicBezTo>
                  <a:pt x="117317" y="101688"/>
                  <a:pt x="112834" y="97205"/>
                  <a:pt x="107261" y="97205"/>
                </a:cubicBezTo>
                <a:cubicBezTo>
                  <a:pt x="101688" y="97205"/>
                  <a:pt x="97205" y="101688"/>
                  <a:pt x="97205" y="107261"/>
                </a:cubicBezTo>
                <a:lnTo>
                  <a:pt x="97205" y="117694"/>
                </a:lnTo>
                <a:cubicBezTo>
                  <a:pt x="97205" y="142791"/>
                  <a:pt x="92596" y="167679"/>
                  <a:pt x="83588" y="191101"/>
                </a:cubicBezTo>
                <a:lnTo>
                  <a:pt x="81116" y="197511"/>
                </a:lnTo>
                <a:cubicBezTo>
                  <a:pt x="79105" y="202707"/>
                  <a:pt x="81703" y="208530"/>
                  <a:pt x="86898" y="210500"/>
                </a:cubicBezTo>
                <a:cubicBezTo>
                  <a:pt x="92094" y="212469"/>
                  <a:pt x="97918" y="209913"/>
                  <a:pt x="99887" y="204718"/>
                </a:cubicBezTo>
                <a:lnTo>
                  <a:pt x="102359" y="198307"/>
                </a:lnTo>
                <a:cubicBezTo>
                  <a:pt x="112247" y="172581"/>
                  <a:pt x="117317" y="145263"/>
                  <a:pt x="117317" y="117694"/>
                </a:cubicBezTo>
                <a:lnTo>
                  <a:pt x="117317" y="107261"/>
                </a:lnTo>
                <a:close/>
              </a:path>
            </a:pathLst>
          </a:custGeom>
          <a:solidFill>
            <a:srgbClr val="DDFF00"/>
          </a:solidFill>
          <a:ln/>
        </p:spPr>
      </p:sp>
      <p:sp>
        <p:nvSpPr>
          <p:cNvPr id="46" name="Text 44"/>
          <p:cNvSpPr/>
          <p:nvPr/>
        </p:nvSpPr>
        <p:spPr>
          <a:xfrm>
            <a:off x="6648171" y="1394393"/>
            <a:ext cx="5112774" cy="286029"/>
          </a:xfrm>
          <a:prstGeom prst="rect">
            <a:avLst/>
          </a:prstGeom>
          <a:noFill/>
          <a:ln/>
        </p:spPr>
        <p:txBody>
          <a:bodyPr wrap="square" lIns="0" tIns="0" rIns="0" bIns="0" rtlCol="0" anchor="ctr"/>
          <a:lstStyle/>
          <a:p>
            <a:pPr>
              <a:lnSpc>
                <a:spcPct val="110000"/>
              </a:lnSpc>
            </a:pPr>
            <a:r>
              <a:rPr lang="en-US" sz="1689" b="1" dirty="0">
                <a:solidFill>
                  <a:srgbClr val="DDFF00"/>
                </a:solidFill>
                <a:latin typeface="Liter" pitchFamily="34" charset="0"/>
                <a:ea typeface="Liter" pitchFamily="34" charset="-122"/>
                <a:cs typeface="Liter" pitchFamily="34" charset="-120"/>
              </a:rPr>
              <a:t>Characteristics of Cyber Crime</a:t>
            </a:r>
            <a:endParaRPr lang="en-US" sz="1600" dirty="0"/>
          </a:p>
        </p:txBody>
      </p:sp>
      <p:sp>
        <p:nvSpPr>
          <p:cNvPr id="47" name="Shape 45"/>
          <p:cNvSpPr/>
          <p:nvPr/>
        </p:nvSpPr>
        <p:spPr>
          <a:xfrm>
            <a:off x="6380018" y="1859079"/>
            <a:ext cx="500551" cy="500551"/>
          </a:xfrm>
          <a:custGeom>
            <a:avLst/>
            <a:gdLst/>
            <a:ahLst/>
            <a:cxnLst/>
            <a:rect l="l" t="t" r="r" b="b"/>
            <a:pathLst>
              <a:path w="500551" h="500551">
                <a:moveTo>
                  <a:pt x="0" y="0"/>
                </a:moveTo>
                <a:lnTo>
                  <a:pt x="500551" y="0"/>
                </a:lnTo>
                <a:lnTo>
                  <a:pt x="500551" y="500551"/>
                </a:lnTo>
                <a:lnTo>
                  <a:pt x="0" y="500551"/>
                </a:lnTo>
                <a:lnTo>
                  <a:pt x="0" y="0"/>
                </a:lnTo>
                <a:close/>
              </a:path>
            </a:pathLst>
          </a:custGeom>
          <a:solidFill>
            <a:srgbClr val="DDFF00"/>
          </a:solidFill>
          <a:ln/>
        </p:spPr>
      </p:sp>
      <p:sp>
        <p:nvSpPr>
          <p:cNvPr id="48" name="Shape 46"/>
          <p:cNvSpPr/>
          <p:nvPr/>
        </p:nvSpPr>
        <p:spPr>
          <a:xfrm>
            <a:off x="6509625" y="2002094"/>
            <a:ext cx="241337" cy="214522"/>
          </a:xfrm>
          <a:custGeom>
            <a:avLst/>
            <a:gdLst/>
            <a:ahLst/>
            <a:cxnLst/>
            <a:rect l="l" t="t" r="r" b="b"/>
            <a:pathLst>
              <a:path w="241337" h="214522">
                <a:moveTo>
                  <a:pt x="120669" y="26815"/>
                </a:moveTo>
                <a:cubicBezTo>
                  <a:pt x="26815" y="26815"/>
                  <a:pt x="0" y="67038"/>
                  <a:pt x="0" y="113965"/>
                </a:cubicBezTo>
                <a:cubicBezTo>
                  <a:pt x="0" y="160891"/>
                  <a:pt x="33519" y="187707"/>
                  <a:pt x="73742" y="187707"/>
                </a:cubicBezTo>
                <a:lnTo>
                  <a:pt x="77261" y="187707"/>
                </a:lnTo>
                <a:cubicBezTo>
                  <a:pt x="87401" y="187707"/>
                  <a:pt x="96702" y="181967"/>
                  <a:pt x="101228" y="172875"/>
                </a:cubicBezTo>
                <a:lnTo>
                  <a:pt x="110948" y="153475"/>
                </a:lnTo>
                <a:cubicBezTo>
                  <a:pt x="112792" y="149788"/>
                  <a:pt x="116521" y="147484"/>
                  <a:pt x="120669" y="147484"/>
                </a:cubicBezTo>
                <a:cubicBezTo>
                  <a:pt x="124817" y="147484"/>
                  <a:pt x="128546" y="149788"/>
                  <a:pt x="130389" y="153475"/>
                </a:cubicBezTo>
                <a:lnTo>
                  <a:pt x="140110" y="172875"/>
                </a:lnTo>
                <a:cubicBezTo>
                  <a:pt x="144635" y="181967"/>
                  <a:pt x="153936" y="187707"/>
                  <a:pt x="164076" y="187707"/>
                </a:cubicBezTo>
                <a:lnTo>
                  <a:pt x="167595" y="187707"/>
                </a:lnTo>
                <a:cubicBezTo>
                  <a:pt x="207818" y="187707"/>
                  <a:pt x="241337" y="160891"/>
                  <a:pt x="241337" y="113965"/>
                </a:cubicBezTo>
                <a:cubicBezTo>
                  <a:pt x="241337" y="67038"/>
                  <a:pt x="214522" y="26815"/>
                  <a:pt x="120669" y="26815"/>
                </a:cubicBezTo>
                <a:close/>
                <a:moveTo>
                  <a:pt x="40223" y="107261"/>
                </a:moveTo>
                <a:cubicBezTo>
                  <a:pt x="40223" y="92461"/>
                  <a:pt x="52238" y="80446"/>
                  <a:pt x="67038" y="80446"/>
                </a:cubicBezTo>
                <a:cubicBezTo>
                  <a:pt x="81838" y="80446"/>
                  <a:pt x="93853" y="92461"/>
                  <a:pt x="93853" y="107261"/>
                </a:cubicBezTo>
                <a:cubicBezTo>
                  <a:pt x="93853" y="122061"/>
                  <a:pt x="81838" y="134076"/>
                  <a:pt x="67038" y="134076"/>
                </a:cubicBezTo>
                <a:cubicBezTo>
                  <a:pt x="52238" y="134076"/>
                  <a:pt x="40223" y="122061"/>
                  <a:pt x="40223" y="107261"/>
                </a:cubicBezTo>
                <a:close/>
                <a:moveTo>
                  <a:pt x="174299" y="80446"/>
                </a:moveTo>
                <a:cubicBezTo>
                  <a:pt x="189099" y="80446"/>
                  <a:pt x="201114" y="92461"/>
                  <a:pt x="201114" y="107261"/>
                </a:cubicBezTo>
                <a:cubicBezTo>
                  <a:pt x="201114" y="122061"/>
                  <a:pt x="189099" y="134076"/>
                  <a:pt x="174299" y="134076"/>
                </a:cubicBezTo>
                <a:cubicBezTo>
                  <a:pt x="159499" y="134076"/>
                  <a:pt x="147484" y="122061"/>
                  <a:pt x="147484" y="107261"/>
                </a:cubicBezTo>
                <a:cubicBezTo>
                  <a:pt x="147484" y="92461"/>
                  <a:pt x="159499" y="80446"/>
                  <a:pt x="174299" y="80446"/>
                </a:cubicBezTo>
                <a:close/>
              </a:path>
            </a:pathLst>
          </a:custGeom>
          <a:solidFill>
            <a:srgbClr val="000000"/>
          </a:solidFill>
          <a:ln/>
        </p:spPr>
      </p:sp>
      <p:sp>
        <p:nvSpPr>
          <p:cNvPr id="49" name="Text 47"/>
          <p:cNvSpPr/>
          <p:nvPr/>
        </p:nvSpPr>
        <p:spPr>
          <a:xfrm>
            <a:off x="7023584" y="1859079"/>
            <a:ext cx="4710545" cy="250276"/>
          </a:xfrm>
          <a:prstGeom prst="rect">
            <a:avLst/>
          </a:prstGeom>
          <a:noFill/>
          <a:ln/>
        </p:spPr>
        <p:txBody>
          <a:bodyPr wrap="square" lIns="0" tIns="0" rIns="0" bIns="0" rtlCol="0" anchor="ctr"/>
          <a:lstStyle/>
          <a:p>
            <a:pPr>
              <a:lnSpc>
                <a:spcPct val="130000"/>
              </a:lnSpc>
            </a:pPr>
            <a:r>
              <a:rPr lang="en-US" sz="1267" b="1" dirty="0">
                <a:solidFill>
                  <a:srgbClr val="FFFFFF"/>
                </a:solidFill>
                <a:latin typeface="Liter" pitchFamily="34" charset="0"/>
                <a:ea typeface="Liter" pitchFamily="34" charset="-122"/>
                <a:cs typeface="Liter" pitchFamily="34" charset="-120"/>
              </a:rPr>
              <a:t>Anonymous Offenders</a:t>
            </a:r>
            <a:endParaRPr lang="en-US" sz="1600" dirty="0"/>
          </a:p>
        </p:txBody>
      </p:sp>
      <p:sp>
        <p:nvSpPr>
          <p:cNvPr id="50" name="Text 48"/>
          <p:cNvSpPr/>
          <p:nvPr/>
        </p:nvSpPr>
        <p:spPr>
          <a:xfrm>
            <a:off x="7023584" y="2145109"/>
            <a:ext cx="4701607" cy="429044"/>
          </a:xfrm>
          <a:prstGeom prst="rect">
            <a:avLst/>
          </a:prstGeom>
          <a:noFill/>
          <a:ln/>
        </p:spPr>
        <p:txBody>
          <a:bodyPr wrap="square" lIns="0" tIns="0" rIns="0" bIns="0" rtlCol="0" anchor="ctr"/>
          <a:lstStyle/>
          <a:p>
            <a:pPr>
              <a:lnSpc>
                <a:spcPct val="130000"/>
              </a:lnSpc>
            </a:pPr>
            <a:r>
              <a:rPr lang="en-US" sz="1126" dirty="0">
                <a:solidFill>
                  <a:srgbClr val="FFFFFF">
                    <a:alpha val="70000"/>
                  </a:srgbClr>
                </a:solidFill>
                <a:latin typeface="Liter" pitchFamily="34" charset="0"/>
                <a:ea typeface="Liter" pitchFamily="34" charset="-122"/>
                <a:cs typeface="Liter" pitchFamily="34" charset="-120"/>
              </a:rPr>
              <a:t>Criminals can hide their identity using sophisticated techniques, making identification extremely difficult</a:t>
            </a:r>
            <a:endParaRPr lang="en-US" sz="1600" dirty="0"/>
          </a:p>
        </p:txBody>
      </p:sp>
      <p:sp>
        <p:nvSpPr>
          <p:cNvPr id="51" name="Shape 49"/>
          <p:cNvSpPr/>
          <p:nvPr/>
        </p:nvSpPr>
        <p:spPr>
          <a:xfrm>
            <a:off x="6380018" y="2717167"/>
            <a:ext cx="500551" cy="500551"/>
          </a:xfrm>
          <a:custGeom>
            <a:avLst/>
            <a:gdLst/>
            <a:ahLst/>
            <a:cxnLst/>
            <a:rect l="l" t="t" r="r" b="b"/>
            <a:pathLst>
              <a:path w="500551" h="500551">
                <a:moveTo>
                  <a:pt x="0" y="0"/>
                </a:moveTo>
                <a:lnTo>
                  <a:pt x="500551" y="0"/>
                </a:lnTo>
                <a:lnTo>
                  <a:pt x="500551" y="500551"/>
                </a:lnTo>
                <a:lnTo>
                  <a:pt x="0" y="500551"/>
                </a:lnTo>
                <a:lnTo>
                  <a:pt x="0" y="0"/>
                </a:lnTo>
                <a:close/>
              </a:path>
            </a:pathLst>
          </a:custGeom>
          <a:solidFill>
            <a:srgbClr val="DDFF00"/>
          </a:solidFill>
          <a:ln/>
        </p:spPr>
      </p:sp>
      <p:sp>
        <p:nvSpPr>
          <p:cNvPr id="52" name="Shape 50"/>
          <p:cNvSpPr/>
          <p:nvPr/>
        </p:nvSpPr>
        <p:spPr>
          <a:xfrm>
            <a:off x="6523033" y="2860182"/>
            <a:ext cx="214522" cy="214522"/>
          </a:xfrm>
          <a:custGeom>
            <a:avLst/>
            <a:gdLst/>
            <a:ahLst/>
            <a:cxnLst/>
            <a:rect l="l" t="t" r="r" b="b"/>
            <a:pathLst>
              <a:path w="214522" h="214522">
                <a:moveTo>
                  <a:pt x="174299" y="87150"/>
                </a:moveTo>
                <a:cubicBezTo>
                  <a:pt x="174299" y="106381"/>
                  <a:pt x="168056" y="124146"/>
                  <a:pt x="157540" y="138559"/>
                </a:cubicBezTo>
                <a:lnTo>
                  <a:pt x="210584" y="191645"/>
                </a:lnTo>
                <a:cubicBezTo>
                  <a:pt x="215821" y="196883"/>
                  <a:pt x="215821" y="205388"/>
                  <a:pt x="210584" y="210625"/>
                </a:cubicBezTo>
                <a:cubicBezTo>
                  <a:pt x="205346" y="215863"/>
                  <a:pt x="196841" y="215863"/>
                  <a:pt x="191603" y="210625"/>
                </a:cubicBezTo>
                <a:lnTo>
                  <a:pt x="138559" y="157540"/>
                </a:lnTo>
                <a:cubicBezTo>
                  <a:pt x="124146" y="168056"/>
                  <a:pt x="106381" y="174299"/>
                  <a:pt x="87150" y="174299"/>
                </a:cubicBezTo>
                <a:cubicBezTo>
                  <a:pt x="39008" y="174299"/>
                  <a:pt x="0" y="135291"/>
                  <a:pt x="0" y="87150"/>
                </a:cubicBezTo>
                <a:cubicBezTo>
                  <a:pt x="0" y="39008"/>
                  <a:pt x="39008" y="0"/>
                  <a:pt x="87150" y="0"/>
                </a:cubicBezTo>
                <a:cubicBezTo>
                  <a:pt x="135291" y="0"/>
                  <a:pt x="174299" y="39008"/>
                  <a:pt x="174299" y="87150"/>
                </a:cubicBezTo>
                <a:close/>
                <a:moveTo>
                  <a:pt x="87150" y="147484"/>
                </a:moveTo>
                <a:cubicBezTo>
                  <a:pt x="120449" y="147484"/>
                  <a:pt x="147484" y="120449"/>
                  <a:pt x="147484" y="87150"/>
                </a:cubicBezTo>
                <a:cubicBezTo>
                  <a:pt x="147484" y="53850"/>
                  <a:pt x="120449" y="26815"/>
                  <a:pt x="87150" y="26815"/>
                </a:cubicBezTo>
                <a:cubicBezTo>
                  <a:pt x="53850" y="26815"/>
                  <a:pt x="26815" y="53850"/>
                  <a:pt x="26815" y="87150"/>
                </a:cubicBezTo>
                <a:cubicBezTo>
                  <a:pt x="26815" y="120449"/>
                  <a:pt x="53850" y="147484"/>
                  <a:pt x="87150" y="147484"/>
                </a:cubicBezTo>
                <a:close/>
              </a:path>
            </a:pathLst>
          </a:custGeom>
          <a:solidFill>
            <a:srgbClr val="000000"/>
          </a:solidFill>
          <a:ln/>
        </p:spPr>
      </p:sp>
      <p:sp>
        <p:nvSpPr>
          <p:cNvPr id="53" name="Text 51"/>
          <p:cNvSpPr/>
          <p:nvPr/>
        </p:nvSpPr>
        <p:spPr>
          <a:xfrm>
            <a:off x="7023584" y="2717167"/>
            <a:ext cx="4710545" cy="250276"/>
          </a:xfrm>
          <a:prstGeom prst="rect">
            <a:avLst/>
          </a:prstGeom>
          <a:noFill/>
          <a:ln/>
        </p:spPr>
        <p:txBody>
          <a:bodyPr wrap="square" lIns="0" tIns="0" rIns="0" bIns="0" rtlCol="0" anchor="ctr"/>
          <a:lstStyle/>
          <a:p>
            <a:pPr>
              <a:lnSpc>
                <a:spcPct val="130000"/>
              </a:lnSpc>
            </a:pPr>
            <a:r>
              <a:rPr lang="en-US" sz="1267" b="1" dirty="0">
                <a:solidFill>
                  <a:srgbClr val="FFFFFF"/>
                </a:solidFill>
                <a:latin typeface="Liter" pitchFamily="34" charset="0"/>
                <a:ea typeface="Liter" pitchFamily="34" charset="-122"/>
                <a:cs typeface="Liter" pitchFamily="34" charset="-120"/>
              </a:rPr>
              <a:t>Difficult to Trace</a:t>
            </a:r>
            <a:endParaRPr lang="en-US" sz="1600" dirty="0"/>
          </a:p>
        </p:txBody>
      </p:sp>
      <p:sp>
        <p:nvSpPr>
          <p:cNvPr id="54" name="Text 52"/>
          <p:cNvSpPr/>
          <p:nvPr/>
        </p:nvSpPr>
        <p:spPr>
          <a:xfrm>
            <a:off x="7023584" y="3003197"/>
            <a:ext cx="4701607" cy="429044"/>
          </a:xfrm>
          <a:prstGeom prst="rect">
            <a:avLst/>
          </a:prstGeom>
          <a:noFill/>
          <a:ln/>
        </p:spPr>
        <p:txBody>
          <a:bodyPr wrap="square" lIns="0" tIns="0" rIns="0" bIns="0" rtlCol="0" anchor="ctr"/>
          <a:lstStyle/>
          <a:p>
            <a:pPr>
              <a:lnSpc>
                <a:spcPct val="130000"/>
              </a:lnSpc>
            </a:pPr>
            <a:r>
              <a:rPr lang="en-US" sz="1126" dirty="0">
                <a:solidFill>
                  <a:srgbClr val="FFFFFF">
                    <a:alpha val="70000"/>
                  </a:srgbClr>
                </a:solidFill>
                <a:latin typeface="Liter" pitchFamily="34" charset="0"/>
                <a:ea typeface="Liter" pitchFamily="34" charset="-122"/>
                <a:cs typeface="Liter" pitchFamily="34" charset="-120"/>
              </a:rPr>
              <a:t>Digital footprints can be easily erased or obscured, complicating investigations</a:t>
            </a:r>
            <a:endParaRPr lang="en-US" sz="1600" dirty="0"/>
          </a:p>
        </p:txBody>
      </p:sp>
      <p:sp>
        <p:nvSpPr>
          <p:cNvPr id="55" name="Shape 53"/>
          <p:cNvSpPr/>
          <p:nvPr/>
        </p:nvSpPr>
        <p:spPr>
          <a:xfrm>
            <a:off x="6380018" y="3575255"/>
            <a:ext cx="500551" cy="500551"/>
          </a:xfrm>
          <a:custGeom>
            <a:avLst/>
            <a:gdLst/>
            <a:ahLst/>
            <a:cxnLst/>
            <a:rect l="l" t="t" r="r" b="b"/>
            <a:pathLst>
              <a:path w="500551" h="500551">
                <a:moveTo>
                  <a:pt x="0" y="0"/>
                </a:moveTo>
                <a:lnTo>
                  <a:pt x="500551" y="0"/>
                </a:lnTo>
                <a:lnTo>
                  <a:pt x="500551" y="500551"/>
                </a:lnTo>
                <a:lnTo>
                  <a:pt x="0" y="500551"/>
                </a:lnTo>
                <a:lnTo>
                  <a:pt x="0" y="0"/>
                </a:lnTo>
                <a:close/>
              </a:path>
            </a:pathLst>
          </a:custGeom>
          <a:solidFill>
            <a:srgbClr val="DDFF00"/>
          </a:solidFill>
          <a:ln/>
        </p:spPr>
      </p:sp>
      <p:sp>
        <p:nvSpPr>
          <p:cNvPr id="56" name="Shape 54"/>
          <p:cNvSpPr/>
          <p:nvPr/>
        </p:nvSpPr>
        <p:spPr>
          <a:xfrm>
            <a:off x="6523033" y="3718270"/>
            <a:ext cx="214522" cy="214522"/>
          </a:xfrm>
          <a:custGeom>
            <a:avLst/>
            <a:gdLst/>
            <a:ahLst/>
            <a:cxnLst/>
            <a:rect l="l" t="t" r="r" b="b"/>
            <a:pathLst>
              <a:path w="214522" h="214522">
                <a:moveTo>
                  <a:pt x="23338" y="83672"/>
                </a:moveTo>
                <a:lnTo>
                  <a:pt x="36284" y="96619"/>
                </a:lnTo>
                <a:cubicBezTo>
                  <a:pt x="38798" y="99133"/>
                  <a:pt x="42192" y="100557"/>
                  <a:pt x="45754" y="100557"/>
                </a:cubicBezTo>
                <a:lnTo>
                  <a:pt x="54762" y="100557"/>
                </a:lnTo>
                <a:cubicBezTo>
                  <a:pt x="58323" y="100557"/>
                  <a:pt x="61717" y="101982"/>
                  <a:pt x="64231" y="104496"/>
                </a:cubicBezTo>
                <a:lnTo>
                  <a:pt x="76507" y="116772"/>
                </a:lnTo>
                <a:cubicBezTo>
                  <a:pt x="79021" y="119286"/>
                  <a:pt x="80446" y="122680"/>
                  <a:pt x="80446" y="126241"/>
                </a:cubicBezTo>
                <a:lnTo>
                  <a:pt x="80446" y="141953"/>
                </a:lnTo>
                <a:cubicBezTo>
                  <a:pt x="80446" y="145515"/>
                  <a:pt x="81870" y="148908"/>
                  <a:pt x="84384" y="151422"/>
                </a:cubicBezTo>
                <a:lnTo>
                  <a:pt x="89957" y="156995"/>
                </a:lnTo>
                <a:cubicBezTo>
                  <a:pt x="92471" y="159509"/>
                  <a:pt x="93895" y="162903"/>
                  <a:pt x="93895" y="166464"/>
                </a:cubicBezTo>
                <a:lnTo>
                  <a:pt x="93895" y="174299"/>
                </a:lnTo>
                <a:cubicBezTo>
                  <a:pt x="93895" y="181715"/>
                  <a:pt x="99887" y="187707"/>
                  <a:pt x="107303" y="187707"/>
                </a:cubicBezTo>
                <a:cubicBezTo>
                  <a:pt x="114719" y="187707"/>
                  <a:pt x="120711" y="181715"/>
                  <a:pt x="120711" y="174299"/>
                </a:cubicBezTo>
                <a:lnTo>
                  <a:pt x="120711" y="173168"/>
                </a:lnTo>
                <a:cubicBezTo>
                  <a:pt x="120711" y="169606"/>
                  <a:pt x="122135" y="166213"/>
                  <a:pt x="124649" y="163699"/>
                </a:cubicBezTo>
                <a:lnTo>
                  <a:pt x="143629" y="144719"/>
                </a:lnTo>
                <a:cubicBezTo>
                  <a:pt x="146143" y="142205"/>
                  <a:pt x="147568" y="138811"/>
                  <a:pt x="147568" y="135249"/>
                </a:cubicBezTo>
                <a:lnTo>
                  <a:pt x="147568" y="120711"/>
                </a:lnTo>
                <a:cubicBezTo>
                  <a:pt x="147568" y="113294"/>
                  <a:pt x="141576" y="107303"/>
                  <a:pt x="134160" y="107303"/>
                </a:cubicBezTo>
                <a:lnTo>
                  <a:pt x="99510" y="107303"/>
                </a:lnTo>
                <a:cubicBezTo>
                  <a:pt x="95948" y="107303"/>
                  <a:pt x="92555" y="105878"/>
                  <a:pt x="90041" y="103364"/>
                </a:cubicBezTo>
                <a:lnTo>
                  <a:pt x="83337" y="96661"/>
                </a:lnTo>
                <a:cubicBezTo>
                  <a:pt x="81577" y="94901"/>
                  <a:pt x="80571" y="92471"/>
                  <a:pt x="80571" y="89957"/>
                </a:cubicBezTo>
                <a:cubicBezTo>
                  <a:pt x="80571" y="84719"/>
                  <a:pt x="84803" y="80488"/>
                  <a:pt x="90041" y="80488"/>
                </a:cubicBezTo>
                <a:lnTo>
                  <a:pt x="104579" y="80488"/>
                </a:lnTo>
                <a:cubicBezTo>
                  <a:pt x="109817" y="80488"/>
                  <a:pt x="114049" y="76256"/>
                  <a:pt x="114049" y="71019"/>
                </a:cubicBezTo>
                <a:cubicBezTo>
                  <a:pt x="114049" y="68505"/>
                  <a:pt x="113043" y="66074"/>
                  <a:pt x="111283" y="64315"/>
                </a:cubicBezTo>
                <a:lnTo>
                  <a:pt x="103029" y="56061"/>
                </a:lnTo>
                <a:cubicBezTo>
                  <a:pt x="101395" y="54468"/>
                  <a:pt x="100557" y="52415"/>
                  <a:pt x="100557" y="50279"/>
                </a:cubicBezTo>
                <a:cubicBezTo>
                  <a:pt x="100557" y="48142"/>
                  <a:pt x="101395" y="46089"/>
                  <a:pt x="102945" y="44538"/>
                </a:cubicBezTo>
                <a:lnTo>
                  <a:pt x="110194" y="37290"/>
                </a:lnTo>
                <a:cubicBezTo>
                  <a:pt x="112624" y="34860"/>
                  <a:pt x="114007" y="31550"/>
                  <a:pt x="114007" y="28114"/>
                </a:cubicBezTo>
                <a:cubicBezTo>
                  <a:pt x="114007" y="25097"/>
                  <a:pt x="113001" y="22374"/>
                  <a:pt x="111325" y="20195"/>
                </a:cubicBezTo>
                <a:cubicBezTo>
                  <a:pt x="109984" y="20153"/>
                  <a:pt x="108644" y="20111"/>
                  <a:pt x="107303" y="20111"/>
                </a:cubicBezTo>
                <a:cubicBezTo>
                  <a:pt x="67331" y="20111"/>
                  <a:pt x="33687" y="47010"/>
                  <a:pt x="23380" y="83672"/>
                </a:cubicBezTo>
                <a:close/>
                <a:moveTo>
                  <a:pt x="194411" y="107261"/>
                </a:moveTo>
                <a:cubicBezTo>
                  <a:pt x="194411" y="92764"/>
                  <a:pt x="190891" y="79105"/>
                  <a:pt x="184606" y="67122"/>
                </a:cubicBezTo>
                <a:cubicBezTo>
                  <a:pt x="181925" y="67499"/>
                  <a:pt x="179285" y="68756"/>
                  <a:pt x="177106" y="70935"/>
                </a:cubicBezTo>
                <a:lnTo>
                  <a:pt x="171492" y="76549"/>
                </a:lnTo>
                <a:cubicBezTo>
                  <a:pt x="168978" y="79063"/>
                  <a:pt x="167553" y="82457"/>
                  <a:pt x="167553" y="86018"/>
                </a:cubicBezTo>
                <a:lnTo>
                  <a:pt x="167553" y="100557"/>
                </a:lnTo>
                <a:cubicBezTo>
                  <a:pt x="167553" y="107973"/>
                  <a:pt x="173545" y="113965"/>
                  <a:pt x="180961" y="113965"/>
                </a:cubicBezTo>
                <a:lnTo>
                  <a:pt x="191059" y="113965"/>
                </a:lnTo>
                <a:cubicBezTo>
                  <a:pt x="192106" y="113965"/>
                  <a:pt x="193154" y="113839"/>
                  <a:pt x="194117" y="113630"/>
                </a:cubicBezTo>
                <a:cubicBezTo>
                  <a:pt x="194285" y="111535"/>
                  <a:pt x="194327" y="109398"/>
                  <a:pt x="194327" y="107261"/>
                </a:cubicBezTo>
                <a:close/>
                <a:moveTo>
                  <a:pt x="0" y="107261"/>
                </a:moveTo>
                <a:cubicBezTo>
                  <a:pt x="0" y="48062"/>
                  <a:pt x="48062" y="0"/>
                  <a:pt x="107261" y="0"/>
                </a:cubicBezTo>
                <a:cubicBezTo>
                  <a:pt x="166460" y="0"/>
                  <a:pt x="214522" y="48062"/>
                  <a:pt x="214522" y="107261"/>
                </a:cubicBezTo>
                <a:cubicBezTo>
                  <a:pt x="214522" y="166460"/>
                  <a:pt x="166460" y="214522"/>
                  <a:pt x="107261" y="214522"/>
                </a:cubicBezTo>
                <a:cubicBezTo>
                  <a:pt x="48062" y="214522"/>
                  <a:pt x="0" y="166460"/>
                  <a:pt x="0" y="107261"/>
                </a:cubicBezTo>
                <a:close/>
              </a:path>
            </a:pathLst>
          </a:custGeom>
          <a:solidFill>
            <a:srgbClr val="000000"/>
          </a:solidFill>
          <a:ln/>
        </p:spPr>
      </p:sp>
      <p:sp>
        <p:nvSpPr>
          <p:cNvPr id="57" name="Text 55"/>
          <p:cNvSpPr/>
          <p:nvPr/>
        </p:nvSpPr>
        <p:spPr>
          <a:xfrm>
            <a:off x="7023584" y="3575255"/>
            <a:ext cx="4710545" cy="250276"/>
          </a:xfrm>
          <a:prstGeom prst="rect">
            <a:avLst/>
          </a:prstGeom>
          <a:noFill/>
          <a:ln/>
        </p:spPr>
        <p:txBody>
          <a:bodyPr wrap="square" lIns="0" tIns="0" rIns="0" bIns="0" rtlCol="0" anchor="ctr"/>
          <a:lstStyle/>
          <a:p>
            <a:pPr>
              <a:lnSpc>
                <a:spcPct val="130000"/>
              </a:lnSpc>
            </a:pPr>
            <a:r>
              <a:rPr lang="en-US" sz="1267" b="1" dirty="0">
                <a:solidFill>
                  <a:srgbClr val="FFFFFF"/>
                </a:solidFill>
                <a:latin typeface="Liter" pitchFamily="34" charset="0"/>
                <a:ea typeface="Liter" pitchFamily="34" charset="-122"/>
                <a:cs typeface="Liter" pitchFamily="34" charset="-120"/>
              </a:rPr>
              <a:t>Global Impact</a:t>
            </a:r>
            <a:endParaRPr lang="en-US" sz="1600" dirty="0"/>
          </a:p>
        </p:txBody>
      </p:sp>
      <p:sp>
        <p:nvSpPr>
          <p:cNvPr id="58" name="Text 56"/>
          <p:cNvSpPr/>
          <p:nvPr/>
        </p:nvSpPr>
        <p:spPr>
          <a:xfrm>
            <a:off x="7023584" y="3861285"/>
            <a:ext cx="4701607" cy="214522"/>
          </a:xfrm>
          <a:prstGeom prst="rect">
            <a:avLst/>
          </a:prstGeom>
          <a:noFill/>
          <a:ln/>
        </p:spPr>
        <p:txBody>
          <a:bodyPr wrap="square" lIns="0" tIns="0" rIns="0" bIns="0" rtlCol="0" anchor="ctr"/>
          <a:lstStyle/>
          <a:p>
            <a:pPr>
              <a:lnSpc>
                <a:spcPct val="130000"/>
              </a:lnSpc>
            </a:pPr>
            <a:r>
              <a:rPr lang="en-US" sz="1126" dirty="0">
                <a:solidFill>
                  <a:srgbClr val="FFFFFF">
                    <a:alpha val="70000"/>
                  </a:srgbClr>
                </a:solidFill>
                <a:latin typeface="Liter" pitchFamily="34" charset="0"/>
                <a:ea typeface="Liter" pitchFamily="34" charset="-122"/>
                <a:cs typeface="Liter" pitchFamily="34" charset="-120"/>
              </a:rPr>
              <a:t>Cyber crimes can affect victims across international borders instantly</a:t>
            </a:r>
            <a:endParaRPr lang="en-US" sz="1600" dirty="0"/>
          </a:p>
        </p:txBody>
      </p:sp>
      <p:sp>
        <p:nvSpPr>
          <p:cNvPr id="59" name="Shape 57"/>
          <p:cNvSpPr/>
          <p:nvPr/>
        </p:nvSpPr>
        <p:spPr>
          <a:xfrm>
            <a:off x="6380018" y="4218821"/>
            <a:ext cx="500551" cy="500551"/>
          </a:xfrm>
          <a:custGeom>
            <a:avLst/>
            <a:gdLst/>
            <a:ahLst/>
            <a:cxnLst/>
            <a:rect l="l" t="t" r="r" b="b"/>
            <a:pathLst>
              <a:path w="500551" h="500551">
                <a:moveTo>
                  <a:pt x="0" y="0"/>
                </a:moveTo>
                <a:lnTo>
                  <a:pt x="500551" y="0"/>
                </a:lnTo>
                <a:lnTo>
                  <a:pt x="500551" y="500551"/>
                </a:lnTo>
                <a:lnTo>
                  <a:pt x="0" y="500551"/>
                </a:lnTo>
                <a:lnTo>
                  <a:pt x="0" y="0"/>
                </a:lnTo>
                <a:close/>
              </a:path>
            </a:pathLst>
          </a:custGeom>
          <a:solidFill>
            <a:srgbClr val="DDFF00"/>
          </a:solidFill>
          <a:ln/>
        </p:spPr>
      </p:sp>
      <p:sp>
        <p:nvSpPr>
          <p:cNvPr id="60" name="Shape 58"/>
          <p:cNvSpPr/>
          <p:nvPr/>
        </p:nvSpPr>
        <p:spPr>
          <a:xfrm>
            <a:off x="6549848" y="4361836"/>
            <a:ext cx="160891" cy="214522"/>
          </a:xfrm>
          <a:custGeom>
            <a:avLst/>
            <a:gdLst/>
            <a:ahLst/>
            <a:cxnLst/>
            <a:rect l="l" t="t" r="r" b="b"/>
            <a:pathLst>
              <a:path w="160891" h="214522">
                <a:moveTo>
                  <a:pt x="0" y="26815"/>
                </a:moveTo>
                <a:cubicBezTo>
                  <a:pt x="0" y="12025"/>
                  <a:pt x="12025" y="0"/>
                  <a:pt x="26815" y="0"/>
                </a:cubicBezTo>
                <a:lnTo>
                  <a:pt x="89454" y="0"/>
                </a:lnTo>
                <a:cubicBezTo>
                  <a:pt x="96577" y="0"/>
                  <a:pt x="103406" y="2807"/>
                  <a:pt x="108434" y="7835"/>
                </a:cubicBezTo>
                <a:lnTo>
                  <a:pt x="153056" y="52499"/>
                </a:lnTo>
                <a:cubicBezTo>
                  <a:pt x="158084" y="57527"/>
                  <a:pt x="160891" y="64357"/>
                  <a:pt x="160891" y="71479"/>
                </a:cubicBezTo>
                <a:lnTo>
                  <a:pt x="160891" y="187707"/>
                </a:lnTo>
                <a:cubicBezTo>
                  <a:pt x="160891" y="202497"/>
                  <a:pt x="148867" y="214522"/>
                  <a:pt x="134076" y="214522"/>
                </a:cubicBezTo>
                <a:lnTo>
                  <a:pt x="26815" y="214522"/>
                </a:lnTo>
                <a:cubicBezTo>
                  <a:pt x="12025" y="214522"/>
                  <a:pt x="0" y="202497"/>
                  <a:pt x="0" y="187707"/>
                </a:cubicBezTo>
                <a:lnTo>
                  <a:pt x="0" y="26815"/>
                </a:lnTo>
                <a:close/>
                <a:moveTo>
                  <a:pt x="87150" y="24511"/>
                </a:moveTo>
                <a:lnTo>
                  <a:pt x="87150" y="63686"/>
                </a:lnTo>
                <a:cubicBezTo>
                  <a:pt x="87150" y="69259"/>
                  <a:pt x="91633" y="73742"/>
                  <a:pt x="97205" y="73742"/>
                </a:cubicBezTo>
                <a:lnTo>
                  <a:pt x="136381" y="73742"/>
                </a:lnTo>
                <a:lnTo>
                  <a:pt x="87150" y="24511"/>
                </a:lnTo>
                <a:close/>
                <a:moveTo>
                  <a:pt x="64608" y="123853"/>
                </a:moveTo>
                <a:cubicBezTo>
                  <a:pt x="68211" y="119621"/>
                  <a:pt x="67750" y="113294"/>
                  <a:pt x="63519" y="109691"/>
                </a:cubicBezTo>
                <a:cubicBezTo>
                  <a:pt x="59287" y="106088"/>
                  <a:pt x="52960" y="106549"/>
                  <a:pt x="49357" y="110780"/>
                </a:cubicBezTo>
                <a:lnTo>
                  <a:pt x="29245" y="134244"/>
                </a:lnTo>
                <a:cubicBezTo>
                  <a:pt x="26019" y="138015"/>
                  <a:pt x="26019" y="143545"/>
                  <a:pt x="29245" y="147316"/>
                </a:cubicBezTo>
                <a:lnTo>
                  <a:pt x="49357" y="170780"/>
                </a:lnTo>
                <a:cubicBezTo>
                  <a:pt x="52960" y="175011"/>
                  <a:pt x="59329" y="175472"/>
                  <a:pt x="63519" y="171869"/>
                </a:cubicBezTo>
                <a:cubicBezTo>
                  <a:pt x="67709" y="168266"/>
                  <a:pt x="68211" y="161897"/>
                  <a:pt x="64608" y="157707"/>
                </a:cubicBezTo>
                <a:lnTo>
                  <a:pt x="50111" y="140780"/>
                </a:lnTo>
                <a:lnTo>
                  <a:pt x="64608" y="123853"/>
                </a:lnTo>
                <a:close/>
                <a:moveTo>
                  <a:pt x="111535" y="110780"/>
                </a:moveTo>
                <a:cubicBezTo>
                  <a:pt x="107931" y="106549"/>
                  <a:pt x="101563" y="106088"/>
                  <a:pt x="97373" y="109691"/>
                </a:cubicBezTo>
                <a:cubicBezTo>
                  <a:pt x="93183" y="113294"/>
                  <a:pt x="92680" y="119663"/>
                  <a:pt x="96284" y="123853"/>
                </a:cubicBezTo>
                <a:lnTo>
                  <a:pt x="110780" y="140780"/>
                </a:lnTo>
                <a:lnTo>
                  <a:pt x="96284" y="157707"/>
                </a:lnTo>
                <a:cubicBezTo>
                  <a:pt x="92680" y="161939"/>
                  <a:pt x="93141" y="168266"/>
                  <a:pt x="97373" y="171869"/>
                </a:cubicBezTo>
                <a:cubicBezTo>
                  <a:pt x="101605" y="175472"/>
                  <a:pt x="107931" y="175011"/>
                  <a:pt x="111535" y="170780"/>
                </a:cubicBezTo>
                <a:lnTo>
                  <a:pt x="131646" y="147316"/>
                </a:lnTo>
                <a:cubicBezTo>
                  <a:pt x="134872" y="143545"/>
                  <a:pt x="134872" y="138015"/>
                  <a:pt x="131646" y="134244"/>
                </a:cubicBezTo>
                <a:lnTo>
                  <a:pt x="111535" y="110780"/>
                </a:lnTo>
                <a:close/>
              </a:path>
            </a:pathLst>
          </a:custGeom>
          <a:solidFill>
            <a:srgbClr val="000000"/>
          </a:solidFill>
          <a:ln/>
        </p:spPr>
      </p:sp>
      <p:sp>
        <p:nvSpPr>
          <p:cNvPr id="61" name="Text 59"/>
          <p:cNvSpPr/>
          <p:nvPr/>
        </p:nvSpPr>
        <p:spPr>
          <a:xfrm>
            <a:off x="7023584" y="4218821"/>
            <a:ext cx="4710545" cy="250276"/>
          </a:xfrm>
          <a:prstGeom prst="rect">
            <a:avLst/>
          </a:prstGeom>
          <a:noFill/>
          <a:ln/>
        </p:spPr>
        <p:txBody>
          <a:bodyPr wrap="square" lIns="0" tIns="0" rIns="0" bIns="0" rtlCol="0" anchor="ctr"/>
          <a:lstStyle/>
          <a:p>
            <a:pPr>
              <a:lnSpc>
                <a:spcPct val="130000"/>
              </a:lnSpc>
            </a:pPr>
            <a:r>
              <a:rPr lang="en-US" sz="1267" b="1" dirty="0">
                <a:solidFill>
                  <a:srgbClr val="FFFFFF"/>
                </a:solidFill>
                <a:latin typeface="Liter" pitchFamily="34" charset="0"/>
                <a:ea typeface="Liter" pitchFamily="34" charset="-122"/>
                <a:cs typeface="Liter" pitchFamily="34" charset="-120"/>
              </a:rPr>
              <a:t>Digital Evidence</a:t>
            </a:r>
            <a:endParaRPr lang="en-US" sz="1600" dirty="0"/>
          </a:p>
        </p:txBody>
      </p:sp>
      <p:sp>
        <p:nvSpPr>
          <p:cNvPr id="62" name="Text 60"/>
          <p:cNvSpPr/>
          <p:nvPr/>
        </p:nvSpPr>
        <p:spPr>
          <a:xfrm>
            <a:off x="7023584" y="4504851"/>
            <a:ext cx="4701607" cy="214522"/>
          </a:xfrm>
          <a:prstGeom prst="rect">
            <a:avLst/>
          </a:prstGeom>
          <a:noFill/>
          <a:ln/>
        </p:spPr>
        <p:txBody>
          <a:bodyPr wrap="square" lIns="0" tIns="0" rIns="0" bIns="0" rtlCol="0" anchor="ctr"/>
          <a:lstStyle/>
          <a:p>
            <a:pPr>
              <a:lnSpc>
                <a:spcPct val="130000"/>
              </a:lnSpc>
            </a:pPr>
            <a:r>
              <a:rPr lang="en-US" sz="1126" dirty="0">
                <a:solidFill>
                  <a:srgbClr val="FFFFFF">
                    <a:alpha val="70000"/>
                  </a:srgbClr>
                </a:solidFill>
                <a:latin typeface="Liter" pitchFamily="34" charset="0"/>
                <a:ea typeface="Liter" pitchFamily="34" charset="-122"/>
                <a:cs typeface="Liter" pitchFamily="34" charset="-120"/>
              </a:rPr>
              <a:t>Evidence exists in digital form, requiring specialized forensic techniques</a:t>
            </a:r>
            <a:endParaRPr lang="en-US" sz="1600" dirty="0"/>
          </a:p>
        </p:txBody>
      </p:sp>
      <p:sp>
        <p:nvSpPr>
          <p:cNvPr id="63" name="Shape 61"/>
          <p:cNvSpPr/>
          <p:nvPr/>
        </p:nvSpPr>
        <p:spPr>
          <a:xfrm>
            <a:off x="6204825" y="5871982"/>
            <a:ext cx="5620476" cy="722224"/>
          </a:xfrm>
          <a:custGeom>
            <a:avLst/>
            <a:gdLst/>
            <a:ahLst/>
            <a:cxnLst/>
            <a:rect l="l" t="t" r="r" b="b"/>
            <a:pathLst>
              <a:path w="5620476" h="722224">
                <a:moveTo>
                  <a:pt x="0" y="0"/>
                </a:moveTo>
                <a:lnTo>
                  <a:pt x="5620476" y="0"/>
                </a:lnTo>
                <a:lnTo>
                  <a:pt x="5620476" y="722224"/>
                </a:lnTo>
                <a:lnTo>
                  <a:pt x="0" y="722224"/>
                </a:lnTo>
                <a:lnTo>
                  <a:pt x="0" y="0"/>
                </a:lnTo>
                <a:close/>
              </a:path>
            </a:pathLst>
          </a:custGeom>
          <a:solidFill>
            <a:srgbClr val="DDFF00">
              <a:alpha val="10196"/>
            </a:srgbClr>
          </a:solidFill>
          <a:ln w="10160">
            <a:solidFill>
              <a:srgbClr val="DDFF00"/>
            </a:solidFill>
            <a:prstDash val="solid"/>
          </a:ln>
        </p:spPr>
      </p:sp>
      <p:sp>
        <p:nvSpPr>
          <p:cNvPr id="64" name="Shape 62"/>
          <p:cNvSpPr/>
          <p:nvPr/>
        </p:nvSpPr>
        <p:spPr>
          <a:xfrm>
            <a:off x="6369292" y="6099018"/>
            <a:ext cx="268152" cy="268152"/>
          </a:xfrm>
          <a:custGeom>
            <a:avLst/>
            <a:gdLst/>
            <a:ahLst/>
            <a:cxnLst/>
            <a:rect l="l" t="t" r="r" b="b"/>
            <a:pathLst>
              <a:path w="268152" h="268152">
                <a:moveTo>
                  <a:pt x="33519" y="33519"/>
                </a:moveTo>
                <a:cubicBezTo>
                  <a:pt x="33519" y="24249"/>
                  <a:pt x="26030" y="16760"/>
                  <a:pt x="16760" y="16760"/>
                </a:cubicBezTo>
                <a:cubicBezTo>
                  <a:pt x="7489" y="16760"/>
                  <a:pt x="0" y="24249"/>
                  <a:pt x="0" y="33519"/>
                </a:cubicBezTo>
                <a:lnTo>
                  <a:pt x="0" y="209494"/>
                </a:lnTo>
                <a:cubicBezTo>
                  <a:pt x="0" y="232643"/>
                  <a:pt x="18750" y="251393"/>
                  <a:pt x="41899" y="251393"/>
                </a:cubicBezTo>
                <a:lnTo>
                  <a:pt x="251393" y="251393"/>
                </a:lnTo>
                <a:cubicBezTo>
                  <a:pt x="260663" y="251393"/>
                  <a:pt x="268152" y="243904"/>
                  <a:pt x="268152" y="234633"/>
                </a:cubicBezTo>
                <a:cubicBezTo>
                  <a:pt x="268152" y="225363"/>
                  <a:pt x="260663" y="217874"/>
                  <a:pt x="251393" y="217874"/>
                </a:cubicBezTo>
                <a:lnTo>
                  <a:pt x="41899" y="217874"/>
                </a:lnTo>
                <a:cubicBezTo>
                  <a:pt x="37290" y="217874"/>
                  <a:pt x="33519" y="214103"/>
                  <a:pt x="33519" y="209494"/>
                </a:cubicBezTo>
                <a:lnTo>
                  <a:pt x="33519" y="33519"/>
                </a:lnTo>
                <a:close/>
                <a:moveTo>
                  <a:pt x="246470" y="78875"/>
                </a:moveTo>
                <a:cubicBezTo>
                  <a:pt x="253017" y="72328"/>
                  <a:pt x="253017" y="61696"/>
                  <a:pt x="246470" y="55149"/>
                </a:cubicBezTo>
                <a:cubicBezTo>
                  <a:pt x="239923" y="48603"/>
                  <a:pt x="229291" y="48603"/>
                  <a:pt x="222745" y="55149"/>
                </a:cubicBezTo>
                <a:lnTo>
                  <a:pt x="167595" y="110351"/>
                </a:lnTo>
                <a:lnTo>
                  <a:pt x="137533" y="80341"/>
                </a:lnTo>
                <a:cubicBezTo>
                  <a:pt x="130986" y="73794"/>
                  <a:pt x="120354" y="73794"/>
                  <a:pt x="113808" y="80341"/>
                </a:cubicBezTo>
                <a:lnTo>
                  <a:pt x="63529" y="130620"/>
                </a:lnTo>
                <a:cubicBezTo>
                  <a:pt x="56982" y="137166"/>
                  <a:pt x="56982" y="147798"/>
                  <a:pt x="63529" y="154345"/>
                </a:cubicBezTo>
                <a:cubicBezTo>
                  <a:pt x="70076" y="160891"/>
                  <a:pt x="80708" y="160891"/>
                  <a:pt x="87254" y="154345"/>
                </a:cubicBezTo>
                <a:lnTo>
                  <a:pt x="125696" y="115903"/>
                </a:lnTo>
                <a:lnTo>
                  <a:pt x="155759" y="145965"/>
                </a:lnTo>
                <a:cubicBezTo>
                  <a:pt x="162306" y="152512"/>
                  <a:pt x="172937" y="152512"/>
                  <a:pt x="179484" y="145965"/>
                </a:cubicBezTo>
                <a:lnTo>
                  <a:pt x="246522" y="78927"/>
                </a:lnTo>
                <a:close/>
              </a:path>
            </a:pathLst>
          </a:custGeom>
          <a:solidFill>
            <a:srgbClr val="DDFF00"/>
          </a:solidFill>
          <a:ln/>
        </p:spPr>
      </p:sp>
      <p:sp>
        <p:nvSpPr>
          <p:cNvPr id="65" name="Text 63"/>
          <p:cNvSpPr/>
          <p:nvPr/>
        </p:nvSpPr>
        <p:spPr>
          <a:xfrm>
            <a:off x="6760013" y="6018572"/>
            <a:ext cx="4987636" cy="429044"/>
          </a:xfrm>
          <a:prstGeom prst="rect">
            <a:avLst/>
          </a:prstGeom>
          <a:noFill/>
          <a:ln/>
        </p:spPr>
        <p:txBody>
          <a:bodyPr wrap="square" lIns="0" tIns="0" rIns="0" bIns="0" rtlCol="0" anchor="ctr"/>
          <a:lstStyle/>
          <a:p>
            <a:pPr>
              <a:lnSpc>
                <a:spcPct val="130000"/>
              </a:lnSpc>
            </a:pPr>
            <a:r>
              <a:rPr lang="en-US" sz="1126" b="1" dirty="0">
                <a:solidFill>
                  <a:srgbClr val="DDFF00"/>
                </a:solidFill>
                <a:latin typeface="Liter" pitchFamily="34" charset="0"/>
                <a:ea typeface="Liter" pitchFamily="34" charset="-122"/>
                <a:cs typeface="Liter" pitchFamily="34" charset="-120"/>
              </a:rPr>
              <a:t>Rising Threat:</a:t>
            </a:r>
            <a:pPr>
              <a:lnSpc>
                <a:spcPct val="130000"/>
              </a:lnSpc>
            </a:pPr>
            <a:r>
              <a:rPr lang="en-US" sz="1126" dirty="0">
                <a:solidFill>
                  <a:srgbClr val="FFFFFF"/>
                </a:solidFill>
                <a:latin typeface="Liter" pitchFamily="34" charset="0"/>
                <a:ea typeface="Liter" pitchFamily="34" charset="-122"/>
                <a:cs typeface="Liter" pitchFamily="34" charset="-120"/>
              </a:rPr>
              <a:t> Cyber crime costs are projected to reach </a:t>
            </a:r>
            <a:pPr>
              <a:lnSpc>
                <a:spcPct val="130000"/>
              </a:lnSpc>
            </a:pPr>
            <a:r>
              <a:rPr lang="en-US" sz="1126" b="1" dirty="0">
                <a:solidFill>
                  <a:srgbClr val="DDFF00"/>
                </a:solidFill>
                <a:highlight>
                  <a:srgbClr val="DDFF00">
                    <a:alpha val="30000"/>
                  </a:srgbClr>
                </a:highlight>
                <a:latin typeface="Liter" pitchFamily="34" charset="0"/>
                <a:ea typeface="Liter" pitchFamily="34" charset="-122"/>
                <a:cs typeface="Liter" pitchFamily="34" charset="-120"/>
              </a:rPr>
              <a:t>$10.5 trillion annually </a:t>
            </a:r>
            <a:pPr>
              <a:lnSpc>
                <a:spcPct val="130000"/>
              </a:lnSpc>
            </a:pPr>
            <a:r>
              <a:rPr lang="en-US" sz="1126" dirty="0">
                <a:solidFill>
                  <a:srgbClr val="FFFFFF"/>
                </a:solidFill>
                <a:latin typeface="Liter" pitchFamily="34" charset="0"/>
                <a:ea typeface="Liter" pitchFamily="34" charset="-122"/>
                <a:cs typeface="Liter" pitchFamily="34" charset="-120"/>
              </a:rPr>
              <a:t>by 2025</a:t>
            </a:r>
            <a:endParaRPr lang="en-US" sz="1600" dirty="0"/>
          </a:p>
        </p:txBody>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17500" y="396875"/>
            <a:ext cx="63500" cy="381000"/>
          </a:xfrm>
          <a:custGeom>
            <a:avLst/>
            <a:gdLst/>
            <a:ahLst/>
            <a:cxnLst/>
            <a:rect l="l" t="t" r="r" b="b"/>
            <a:pathLst>
              <a:path w="63500" h="381000">
                <a:moveTo>
                  <a:pt x="0" y="0"/>
                </a:moveTo>
                <a:lnTo>
                  <a:pt x="63500" y="0"/>
                </a:lnTo>
                <a:lnTo>
                  <a:pt x="63500" y="381000"/>
                </a:lnTo>
                <a:lnTo>
                  <a:pt x="0" y="381000"/>
                </a:lnTo>
                <a:lnTo>
                  <a:pt x="0" y="0"/>
                </a:lnTo>
                <a:close/>
              </a:path>
            </a:pathLst>
          </a:custGeom>
          <a:solidFill>
            <a:srgbClr val="DDFF00"/>
          </a:solidFill>
          <a:ln/>
        </p:spPr>
      </p:sp>
      <p:sp>
        <p:nvSpPr>
          <p:cNvPr id="3" name="Text 1"/>
          <p:cNvSpPr/>
          <p:nvPr/>
        </p:nvSpPr>
        <p:spPr>
          <a:xfrm>
            <a:off x="508000" y="317500"/>
            <a:ext cx="3357563" cy="158750"/>
          </a:xfrm>
          <a:prstGeom prst="rect">
            <a:avLst/>
          </a:prstGeom>
          <a:noFill/>
          <a:ln/>
        </p:spPr>
        <p:txBody>
          <a:bodyPr wrap="square" lIns="0" tIns="0" rIns="0" bIns="0" rtlCol="0" anchor="ctr"/>
          <a:lstStyle/>
          <a:p>
            <a:pPr>
              <a:lnSpc>
                <a:spcPct val="120000"/>
              </a:lnSpc>
            </a:pPr>
            <a:r>
              <a:rPr lang="en-US" sz="875" b="1" spc="88" kern="0" dirty="0">
                <a:solidFill>
                  <a:srgbClr val="DDFF00"/>
                </a:solidFill>
                <a:latin typeface="Liter" pitchFamily="34" charset="0"/>
                <a:ea typeface="Liter" pitchFamily="34" charset="-122"/>
                <a:cs typeface="Liter" pitchFamily="34" charset="-120"/>
              </a:rPr>
              <a:t>CHAPTER 04</a:t>
            </a:r>
            <a:endParaRPr lang="en-US" sz="1600" dirty="0"/>
          </a:p>
        </p:txBody>
      </p:sp>
      <p:sp>
        <p:nvSpPr>
          <p:cNvPr id="4" name="Text 2"/>
          <p:cNvSpPr/>
          <p:nvPr/>
        </p:nvSpPr>
        <p:spPr>
          <a:xfrm>
            <a:off x="508000" y="476250"/>
            <a:ext cx="3492500" cy="381000"/>
          </a:xfrm>
          <a:prstGeom prst="rect">
            <a:avLst/>
          </a:prstGeom>
          <a:noFill/>
          <a:ln/>
        </p:spPr>
        <p:txBody>
          <a:bodyPr wrap="square" lIns="0" tIns="0" rIns="0" bIns="0" rtlCol="0" anchor="ctr"/>
          <a:lstStyle/>
          <a:p>
            <a:pPr>
              <a:lnSpc>
                <a:spcPct val="80000"/>
              </a:lnSpc>
            </a:pPr>
            <a:r>
              <a:rPr lang="en-US" sz="3000" b="1" dirty="0">
                <a:solidFill>
                  <a:srgbClr val="FFFFFF"/>
                </a:solidFill>
                <a:latin typeface="Liter" pitchFamily="34" charset="0"/>
                <a:ea typeface="Liter" pitchFamily="34" charset="-122"/>
                <a:cs typeface="Liter" pitchFamily="34" charset="-120"/>
              </a:rPr>
              <a:t>Conventional Crime</a:t>
            </a:r>
            <a:endParaRPr lang="en-US" sz="1600" dirty="0"/>
          </a:p>
        </p:txBody>
      </p:sp>
      <p:sp>
        <p:nvSpPr>
          <p:cNvPr id="5" name="Shape 3"/>
          <p:cNvSpPr/>
          <p:nvPr/>
        </p:nvSpPr>
        <p:spPr>
          <a:xfrm>
            <a:off x="333375" y="1079500"/>
            <a:ext cx="4524375" cy="2468563"/>
          </a:xfrm>
          <a:custGeom>
            <a:avLst/>
            <a:gdLst/>
            <a:ahLst/>
            <a:cxnLst/>
            <a:rect l="l" t="t" r="r" b="b"/>
            <a:pathLst>
              <a:path w="4524375" h="2468563">
                <a:moveTo>
                  <a:pt x="0" y="0"/>
                </a:moveTo>
                <a:lnTo>
                  <a:pt x="4524375" y="0"/>
                </a:lnTo>
                <a:lnTo>
                  <a:pt x="4524375" y="2468563"/>
                </a:lnTo>
                <a:lnTo>
                  <a:pt x="0" y="2468563"/>
                </a:lnTo>
                <a:lnTo>
                  <a:pt x="0" y="0"/>
                </a:lnTo>
                <a:close/>
              </a:path>
            </a:pathLst>
          </a:custGeom>
          <a:solidFill>
            <a:srgbClr val="111111"/>
          </a:solidFill>
          <a:ln/>
        </p:spPr>
      </p:sp>
      <p:sp>
        <p:nvSpPr>
          <p:cNvPr id="6" name="Shape 4"/>
          <p:cNvSpPr/>
          <p:nvPr/>
        </p:nvSpPr>
        <p:spPr>
          <a:xfrm>
            <a:off x="333375" y="1079500"/>
            <a:ext cx="31750" cy="2468563"/>
          </a:xfrm>
          <a:custGeom>
            <a:avLst/>
            <a:gdLst/>
            <a:ahLst/>
            <a:cxnLst/>
            <a:rect l="l" t="t" r="r" b="b"/>
            <a:pathLst>
              <a:path w="31750" h="2468563">
                <a:moveTo>
                  <a:pt x="0" y="0"/>
                </a:moveTo>
                <a:lnTo>
                  <a:pt x="31750" y="0"/>
                </a:lnTo>
                <a:lnTo>
                  <a:pt x="31750" y="2468563"/>
                </a:lnTo>
                <a:lnTo>
                  <a:pt x="0" y="2468563"/>
                </a:lnTo>
                <a:lnTo>
                  <a:pt x="0" y="0"/>
                </a:lnTo>
                <a:close/>
              </a:path>
            </a:pathLst>
          </a:custGeom>
          <a:solidFill>
            <a:srgbClr val="DDFF00"/>
          </a:solidFill>
          <a:ln/>
        </p:spPr>
      </p:sp>
      <p:sp>
        <p:nvSpPr>
          <p:cNvPr id="7" name="Text 5"/>
          <p:cNvSpPr/>
          <p:nvPr/>
        </p:nvSpPr>
        <p:spPr>
          <a:xfrm>
            <a:off x="539750" y="1270000"/>
            <a:ext cx="4222750" cy="254000"/>
          </a:xfrm>
          <a:prstGeom prst="rect">
            <a:avLst/>
          </a:prstGeom>
          <a:noFill/>
          <a:ln/>
        </p:spPr>
        <p:txBody>
          <a:bodyPr wrap="square" lIns="0" tIns="0" rIns="0" bIns="0" rtlCol="0" anchor="ctr"/>
          <a:lstStyle/>
          <a:p>
            <a:pPr>
              <a:lnSpc>
                <a:spcPct val="110000"/>
              </a:lnSpc>
            </a:pPr>
            <a:r>
              <a:rPr lang="en-US" sz="1500" b="1" dirty="0">
                <a:solidFill>
                  <a:srgbClr val="DDFF00"/>
                </a:solidFill>
                <a:latin typeface="Liter" pitchFamily="34" charset="0"/>
                <a:ea typeface="Liter" pitchFamily="34" charset="-122"/>
                <a:cs typeface="Liter" pitchFamily="34" charset="-120"/>
              </a:rPr>
              <a:t>What is Conventional Crime?</a:t>
            </a:r>
            <a:endParaRPr lang="en-US" sz="1600" dirty="0"/>
          </a:p>
        </p:txBody>
      </p:sp>
      <p:sp>
        <p:nvSpPr>
          <p:cNvPr id="8" name="Text 6"/>
          <p:cNvSpPr/>
          <p:nvPr/>
        </p:nvSpPr>
        <p:spPr>
          <a:xfrm>
            <a:off x="539750" y="1650901"/>
            <a:ext cx="4198938" cy="928688"/>
          </a:xfrm>
          <a:prstGeom prst="rect">
            <a:avLst/>
          </a:prstGeom>
          <a:noFill/>
          <a:ln/>
        </p:spPr>
        <p:txBody>
          <a:bodyPr wrap="square" lIns="0" tIns="0" rIns="0" bIns="0" rtlCol="0" anchor="ctr"/>
          <a:lstStyle/>
          <a:p>
            <a:pPr>
              <a:lnSpc>
                <a:spcPct val="140000"/>
              </a:lnSpc>
            </a:pPr>
            <a:r>
              <a:rPr lang="en-US" sz="1125" dirty="0">
                <a:solidFill>
                  <a:srgbClr val="FFFFFF">
                    <a:alpha val="90000"/>
                  </a:srgbClr>
                </a:solidFill>
                <a:latin typeface="Liter" pitchFamily="34" charset="0"/>
                <a:ea typeface="Liter" pitchFamily="34" charset="-122"/>
                <a:cs typeface="Liter" pitchFamily="34" charset="-120"/>
              </a:rPr>
              <a:t>Conventional crime refers to </a:t>
            </a:r>
            <a:pPr>
              <a:lnSpc>
                <a:spcPct val="140000"/>
              </a:lnSpc>
            </a:pPr>
            <a:r>
              <a:rPr lang="en-US" sz="1125" dirty="0">
                <a:solidFill>
                  <a:srgbClr val="DDFF00"/>
                </a:solidFill>
                <a:highlight>
                  <a:srgbClr val="DDFF00">
                    <a:alpha val="20000"/>
                  </a:srgbClr>
                </a:highlight>
                <a:latin typeface="Liter" pitchFamily="34" charset="0"/>
                <a:ea typeface="Liter" pitchFamily="34" charset="-122"/>
                <a:cs typeface="Liter" pitchFamily="34" charset="-120"/>
              </a:rPr>
              <a:t>traditional physical crimes </a:t>
            </a:r>
            <a:pPr>
              <a:lnSpc>
                <a:spcPct val="140000"/>
              </a:lnSpc>
            </a:pPr>
            <a:r>
              <a:rPr lang="en-US" sz="1125" dirty="0">
                <a:solidFill>
                  <a:srgbClr val="FFFFFF">
                    <a:alpha val="90000"/>
                  </a:srgbClr>
                </a:solidFill>
                <a:latin typeface="Liter" pitchFamily="34" charset="0"/>
                <a:ea typeface="Liter" pitchFamily="34" charset="-122"/>
                <a:cs typeface="Liter" pitchFamily="34" charset="-120"/>
              </a:rPr>
              <a:t>committed in the real world. These crimes have existed throughout human history and involve direct physical interaction between the offender and the victim or target.</a:t>
            </a:r>
            <a:endParaRPr lang="en-US" sz="1600" dirty="0"/>
          </a:p>
        </p:txBody>
      </p:sp>
      <p:sp>
        <p:nvSpPr>
          <p:cNvPr id="9" name="Shape 7"/>
          <p:cNvSpPr/>
          <p:nvPr/>
        </p:nvSpPr>
        <p:spPr>
          <a:xfrm>
            <a:off x="542925" y="2709764"/>
            <a:ext cx="4125912" cy="641350"/>
          </a:xfrm>
          <a:custGeom>
            <a:avLst/>
            <a:gdLst/>
            <a:ahLst/>
            <a:cxnLst/>
            <a:rect l="l" t="t" r="r" b="b"/>
            <a:pathLst>
              <a:path w="4125912" h="641350">
                <a:moveTo>
                  <a:pt x="0" y="0"/>
                </a:moveTo>
                <a:lnTo>
                  <a:pt x="4125912" y="0"/>
                </a:lnTo>
                <a:lnTo>
                  <a:pt x="4125912" y="641350"/>
                </a:lnTo>
                <a:lnTo>
                  <a:pt x="0" y="641350"/>
                </a:lnTo>
                <a:lnTo>
                  <a:pt x="0" y="0"/>
                </a:lnTo>
                <a:close/>
              </a:path>
            </a:pathLst>
          </a:custGeom>
          <a:solidFill>
            <a:srgbClr val="DDFF00">
              <a:alpha val="10196"/>
            </a:srgbClr>
          </a:solidFill>
          <a:ln w="10160">
            <a:solidFill>
              <a:srgbClr val="DDFF00"/>
            </a:solidFill>
            <a:prstDash val="solid"/>
          </a:ln>
        </p:spPr>
      </p:sp>
      <p:sp>
        <p:nvSpPr>
          <p:cNvPr id="10" name="Shape 8"/>
          <p:cNvSpPr/>
          <p:nvPr/>
        </p:nvSpPr>
        <p:spPr>
          <a:xfrm>
            <a:off x="688975" y="2865339"/>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55563" y="39688"/>
                </a:moveTo>
                <a:cubicBezTo>
                  <a:pt x="55563" y="35307"/>
                  <a:pt x="59119" y="31750"/>
                  <a:pt x="63500" y="31750"/>
                </a:cubicBezTo>
                <a:cubicBezTo>
                  <a:pt x="67881" y="31750"/>
                  <a:pt x="71438" y="35307"/>
                  <a:pt x="71438" y="39688"/>
                </a:cubicBezTo>
                <a:cubicBezTo>
                  <a:pt x="71438" y="44068"/>
                  <a:pt x="67881" y="47625"/>
                  <a:pt x="63500" y="47625"/>
                </a:cubicBezTo>
                <a:cubicBezTo>
                  <a:pt x="59119" y="47625"/>
                  <a:pt x="55563" y="44068"/>
                  <a:pt x="55563" y="39688"/>
                </a:cubicBezTo>
                <a:close/>
                <a:moveTo>
                  <a:pt x="53578" y="55563"/>
                </a:moveTo>
                <a:lnTo>
                  <a:pt x="65484" y="55563"/>
                </a:lnTo>
                <a:cubicBezTo>
                  <a:pt x="68783" y="55563"/>
                  <a:pt x="71438" y="58217"/>
                  <a:pt x="71438" y="61516"/>
                </a:cubicBezTo>
                <a:lnTo>
                  <a:pt x="71438" y="83344"/>
                </a:lnTo>
                <a:lnTo>
                  <a:pt x="73422" y="83344"/>
                </a:lnTo>
                <a:cubicBezTo>
                  <a:pt x="76721" y="83344"/>
                  <a:pt x="79375" y="85998"/>
                  <a:pt x="79375" y="89297"/>
                </a:cubicBezTo>
                <a:cubicBezTo>
                  <a:pt x="79375" y="92596"/>
                  <a:pt x="76721" y="95250"/>
                  <a:pt x="73422" y="95250"/>
                </a:cubicBezTo>
                <a:lnTo>
                  <a:pt x="53578" y="95250"/>
                </a:lnTo>
                <a:cubicBezTo>
                  <a:pt x="50279" y="95250"/>
                  <a:pt x="47625" y="92596"/>
                  <a:pt x="47625" y="89297"/>
                </a:cubicBezTo>
                <a:cubicBezTo>
                  <a:pt x="47625" y="85998"/>
                  <a:pt x="50279" y="83344"/>
                  <a:pt x="53578" y="83344"/>
                </a:cubicBezTo>
                <a:lnTo>
                  <a:pt x="59531" y="83344"/>
                </a:lnTo>
                <a:lnTo>
                  <a:pt x="59531" y="67469"/>
                </a:lnTo>
                <a:lnTo>
                  <a:pt x="53578" y="67469"/>
                </a:lnTo>
                <a:cubicBezTo>
                  <a:pt x="50279" y="67469"/>
                  <a:pt x="47625" y="64815"/>
                  <a:pt x="47625" y="61516"/>
                </a:cubicBezTo>
                <a:cubicBezTo>
                  <a:pt x="47625" y="58217"/>
                  <a:pt x="50279" y="55563"/>
                  <a:pt x="53578" y="55563"/>
                </a:cubicBezTo>
                <a:close/>
              </a:path>
            </a:pathLst>
          </a:custGeom>
          <a:solidFill>
            <a:srgbClr val="DDFF00"/>
          </a:solidFill>
          <a:ln/>
        </p:spPr>
      </p:sp>
      <p:sp>
        <p:nvSpPr>
          <p:cNvPr id="11" name="Text 9"/>
          <p:cNvSpPr/>
          <p:nvPr/>
        </p:nvSpPr>
        <p:spPr>
          <a:xfrm>
            <a:off x="871538" y="2839939"/>
            <a:ext cx="3730625" cy="381000"/>
          </a:xfrm>
          <a:prstGeom prst="rect">
            <a:avLst/>
          </a:prstGeom>
          <a:noFill/>
          <a:ln/>
        </p:spPr>
        <p:txBody>
          <a:bodyPr wrap="square" lIns="0" tIns="0" rIns="0" bIns="0" rtlCol="0" anchor="ctr"/>
          <a:lstStyle/>
          <a:p>
            <a:pPr>
              <a:lnSpc>
                <a:spcPct val="130000"/>
              </a:lnSpc>
            </a:pPr>
            <a:r>
              <a:rPr lang="en-US" sz="1000" b="1" dirty="0">
                <a:solidFill>
                  <a:srgbClr val="DDFF00"/>
                </a:solidFill>
                <a:latin typeface="Liter" pitchFamily="34" charset="0"/>
                <a:ea typeface="Liter" pitchFamily="34" charset="-122"/>
                <a:cs typeface="Liter" pitchFamily="34" charset="-120"/>
              </a:rPr>
              <a:t>Key Aspect:</a:t>
            </a:r>
            <a:pPr>
              <a:lnSpc>
                <a:spcPct val="130000"/>
              </a:lnSpc>
            </a:pPr>
            <a:r>
              <a:rPr lang="en-US" sz="1000" dirty="0">
                <a:solidFill>
                  <a:srgbClr val="FFFFFF"/>
                </a:solidFill>
                <a:latin typeface="Liter" pitchFamily="34" charset="0"/>
                <a:ea typeface="Liter" pitchFamily="34" charset="-122"/>
                <a:cs typeface="Liter" pitchFamily="34" charset="-120"/>
              </a:rPr>
              <a:t> These crimes are governed by traditional criminal law and investigated through conventional policing methods.</a:t>
            </a:r>
            <a:endParaRPr lang="en-US" sz="1600" dirty="0"/>
          </a:p>
        </p:txBody>
      </p:sp>
      <p:sp>
        <p:nvSpPr>
          <p:cNvPr id="12" name="Shape 10"/>
          <p:cNvSpPr/>
          <p:nvPr/>
        </p:nvSpPr>
        <p:spPr>
          <a:xfrm>
            <a:off x="317500" y="3671789"/>
            <a:ext cx="4540250" cy="3802062"/>
          </a:xfrm>
          <a:custGeom>
            <a:avLst/>
            <a:gdLst/>
            <a:ahLst/>
            <a:cxnLst/>
            <a:rect l="l" t="t" r="r" b="b"/>
            <a:pathLst>
              <a:path w="4540250" h="3802062">
                <a:moveTo>
                  <a:pt x="0" y="0"/>
                </a:moveTo>
                <a:lnTo>
                  <a:pt x="4540250" y="0"/>
                </a:lnTo>
                <a:lnTo>
                  <a:pt x="4540250" y="3802062"/>
                </a:lnTo>
                <a:lnTo>
                  <a:pt x="0" y="3802062"/>
                </a:lnTo>
                <a:lnTo>
                  <a:pt x="0" y="0"/>
                </a:lnTo>
                <a:close/>
              </a:path>
            </a:pathLst>
          </a:custGeom>
          <a:solidFill>
            <a:srgbClr val="111111"/>
          </a:solidFill>
          <a:ln/>
        </p:spPr>
      </p:sp>
      <p:sp>
        <p:nvSpPr>
          <p:cNvPr id="13" name="Shape 11"/>
          <p:cNvSpPr/>
          <p:nvPr/>
        </p:nvSpPr>
        <p:spPr>
          <a:xfrm>
            <a:off x="496094" y="3862289"/>
            <a:ext cx="158750" cy="158750"/>
          </a:xfrm>
          <a:custGeom>
            <a:avLst/>
            <a:gdLst/>
            <a:ahLst/>
            <a:cxnLst/>
            <a:rect l="l" t="t" r="r" b="b"/>
            <a:pathLst>
              <a:path w="158750" h="158750">
                <a:moveTo>
                  <a:pt x="14883" y="44648"/>
                </a:moveTo>
                <a:cubicBezTo>
                  <a:pt x="23097" y="44648"/>
                  <a:pt x="29766" y="37980"/>
                  <a:pt x="29766" y="29766"/>
                </a:cubicBezTo>
                <a:cubicBezTo>
                  <a:pt x="29766" y="21552"/>
                  <a:pt x="23097" y="14883"/>
                  <a:pt x="14883" y="14883"/>
                </a:cubicBezTo>
                <a:cubicBezTo>
                  <a:pt x="6669" y="14883"/>
                  <a:pt x="0" y="21552"/>
                  <a:pt x="0" y="29766"/>
                </a:cubicBezTo>
                <a:cubicBezTo>
                  <a:pt x="0" y="37980"/>
                  <a:pt x="6669" y="44648"/>
                  <a:pt x="14883" y="44648"/>
                </a:cubicBezTo>
                <a:close/>
                <a:moveTo>
                  <a:pt x="59531" y="19844"/>
                </a:moveTo>
                <a:cubicBezTo>
                  <a:pt x="54043" y="19844"/>
                  <a:pt x="49609" y="24278"/>
                  <a:pt x="49609" y="29766"/>
                </a:cubicBezTo>
                <a:cubicBezTo>
                  <a:pt x="49609" y="35254"/>
                  <a:pt x="54043" y="39688"/>
                  <a:pt x="59531" y="39688"/>
                </a:cubicBezTo>
                <a:lnTo>
                  <a:pt x="148828" y="39688"/>
                </a:lnTo>
                <a:cubicBezTo>
                  <a:pt x="154316" y="39688"/>
                  <a:pt x="158750" y="35254"/>
                  <a:pt x="158750" y="29766"/>
                </a:cubicBezTo>
                <a:cubicBezTo>
                  <a:pt x="158750" y="24278"/>
                  <a:pt x="154316" y="19844"/>
                  <a:pt x="148828" y="19844"/>
                </a:cubicBezTo>
                <a:lnTo>
                  <a:pt x="59531" y="19844"/>
                </a:lnTo>
                <a:close/>
                <a:moveTo>
                  <a:pt x="59531" y="69453"/>
                </a:moveTo>
                <a:cubicBezTo>
                  <a:pt x="54043" y="69453"/>
                  <a:pt x="49609" y="73887"/>
                  <a:pt x="49609" y="79375"/>
                </a:cubicBezTo>
                <a:cubicBezTo>
                  <a:pt x="49609" y="84863"/>
                  <a:pt x="54043" y="89297"/>
                  <a:pt x="59531" y="89297"/>
                </a:cubicBezTo>
                <a:lnTo>
                  <a:pt x="148828" y="89297"/>
                </a:lnTo>
                <a:cubicBezTo>
                  <a:pt x="154316" y="89297"/>
                  <a:pt x="158750" y="84863"/>
                  <a:pt x="158750" y="79375"/>
                </a:cubicBezTo>
                <a:cubicBezTo>
                  <a:pt x="158750" y="73887"/>
                  <a:pt x="154316" y="69453"/>
                  <a:pt x="148828" y="69453"/>
                </a:cubicBezTo>
                <a:lnTo>
                  <a:pt x="59531" y="69453"/>
                </a:lnTo>
                <a:close/>
                <a:moveTo>
                  <a:pt x="59531" y="119062"/>
                </a:moveTo>
                <a:cubicBezTo>
                  <a:pt x="54043" y="119062"/>
                  <a:pt x="49609" y="123496"/>
                  <a:pt x="49609" y="128984"/>
                </a:cubicBezTo>
                <a:cubicBezTo>
                  <a:pt x="49609" y="134472"/>
                  <a:pt x="54043" y="138906"/>
                  <a:pt x="59531" y="138906"/>
                </a:cubicBezTo>
                <a:lnTo>
                  <a:pt x="148828" y="138906"/>
                </a:lnTo>
                <a:cubicBezTo>
                  <a:pt x="154316" y="138906"/>
                  <a:pt x="158750" y="134472"/>
                  <a:pt x="158750" y="128984"/>
                </a:cubicBezTo>
                <a:cubicBezTo>
                  <a:pt x="158750" y="123496"/>
                  <a:pt x="154316" y="119062"/>
                  <a:pt x="148828" y="119062"/>
                </a:cubicBezTo>
                <a:lnTo>
                  <a:pt x="59531" y="119062"/>
                </a:lnTo>
                <a:close/>
                <a:moveTo>
                  <a:pt x="14883" y="143867"/>
                </a:moveTo>
                <a:cubicBezTo>
                  <a:pt x="23097" y="143867"/>
                  <a:pt x="29766" y="137198"/>
                  <a:pt x="29766" y="128984"/>
                </a:cubicBezTo>
                <a:cubicBezTo>
                  <a:pt x="29766" y="120770"/>
                  <a:pt x="23097" y="114102"/>
                  <a:pt x="14883" y="114102"/>
                </a:cubicBezTo>
                <a:cubicBezTo>
                  <a:pt x="6669" y="114102"/>
                  <a:pt x="0" y="120770"/>
                  <a:pt x="0" y="128984"/>
                </a:cubicBezTo>
                <a:cubicBezTo>
                  <a:pt x="0" y="137198"/>
                  <a:pt x="6669" y="143867"/>
                  <a:pt x="14883" y="143867"/>
                </a:cubicBezTo>
                <a:close/>
                <a:moveTo>
                  <a:pt x="29766" y="79375"/>
                </a:moveTo>
                <a:cubicBezTo>
                  <a:pt x="29766" y="71161"/>
                  <a:pt x="23097" y="64492"/>
                  <a:pt x="14883" y="64492"/>
                </a:cubicBezTo>
                <a:cubicBezTo>
                  <a:pt x="6669" y="64492"/>
                  <a:pt x="0" y="71161"/>
                  <a:pt x="0" y="79375"/>
                </a:cubicBezTo>
                <a:cubicBezTo>
                  <a:pt x="0" y="87589"/>
                  <a:pt x="6669" y="94258"/>
                  <a:pt x="14883" y="94258"/>
                </a:cubicBezTo>
                <a:cubicBezTo>
                  <a:pt x="23097" y="94258"/>
                  <a:pt x="29766" y="87589"/>
                  <a:pt x="29766" y="79375"/>
                </a:cubicBezTo>
                <a:close/>
              </a:path>
            </a:pathLst>
          </a:custGeom>
          <a:solidFill>
            <a:srgbClr val="DDFF00"/>
          </a:solidFill>
          <a:ln/>
        </p:spPr>
      </p:sp>
      <p:sp>
        <p:nvSpPr>
          <p:cNvPr id="14" name="Text 12"/>
          <p:cNvSpPr/>
          <p:nvPr/>
        </p:nvSpPr>
        <p:spPr>
          <a:xfrm>
            <a:off x="674688" y="3830539"/>
            <a:ext cx="4103688" cy="222250"/>
          </a:xfrm>
          <a:prstGeom prst="rect">
            <a:avLst/>
          </a:prstGeom>
          <a:noFill/>
          <a:ln/>
        </p:spPr>
        <p:txBody>
          <a:bodyPr wrap="square" lIns="0" tIns="0" rIns="0" bIns="0" rtlCol="0" anchor="ctr"/>
          <a:lstStyle/>
          <a:p>
            <a:pPr>
              <a:lnSpc>
                <a:spcPct val="120000"/>
              </a:lnSpc>
            </a:pPr>
            <a:r>
              <a:rPr lang="en-US" sz="1250" b="1" dirty="0">
                <a:solidFill>
                  <a:srgbClr val="DDFF00"/>
                </a:solidFill>
                <a:latin typeface="Liter" pitchFamily="34" charset="0"/>
                <a:ea typeface="Liter" pitchFamily="34" charset="-122"/>
                <a:cs typeface="Liter" pitchFamily="34" charset="-120"/>
              </a:rPr>
              <a:t>Examples of Conventional Crimes</a:t>
            </a:r>
            <a:endParaRPr lang="en-US" sz="1600" dirty="0"/>
          </a:p>
        </p:txBody>
      </p:sp>
      <p:sp>
        <p:nvSpPr>
          <p:cNvPr id="15" name="Shape 13"/>
          <p:cNvSpPr/>
          <p:nvPr/>
        </p:nvSpPr>
        <p:spPr>
          <a:xfrm>
            <a:off x="479425" y="4182964"/>
            <a:ext cx="2062162" cy="974725"/>
          </a:xfrm>
          <a:custGeom>
            <a:avLst/>
            <a:gdLst/>
            <a:ahLst/>
            <a:cxnLst/>
            <a:rect l="l" t="t" r="r" b="b"/>
            <a:pathLst>
              <a:path w="2062162" h="974725">
                <a:moveTo>
                  <a:pt x="0" y="0"/>
                </a:moveTo>
                <a:lnTo>
                  <a:pt x="2062162" y="0"/>
                </a:lnTo>
                <a:lnTo>
                  <a:pt x="2062162" y="974725"/>
                </a:lnTo>
                <a:lnTo>
                  <a:pt x="0" y="974725"/>
                </a:lnTo>
                <a:lnTo>
                  <a:pt x="0" y="0"/>
                </a:lnTo>
                <a:close/>
              </a:path>
            </a:pathLst>
          </a:custGeom>
          <a:solidFill>
            <a:srgbClr val="000000"/>
          </a:solidFill>
          <a:ln w="10160">
            <a:solidFill>
              <a:srgbClr val="DDFF00">
                <a:alpha val="30196"/>
              </a:srgbClr>
            </a:solidFill>
            <a:prstDash val="solid"/>
          </a:ln>
        </p:spPr>
      </p:sp>
      <p:sp>
        <p:nvSpPr>
          <p:cNvPr id="16" name="Shape 14"/>
          <p:cNvSpPr/>
          <p:nvPr/>
        </p:nvSpPr>
        <p:spPr>
          <a:xfrm>
            <a:off x="1377057" y="4313138"/>
            <a:ext cx="267891" cy="238125"/>
          </a:xfrm>
          <a:custGeom>
            <a:avLst/>
            <a:gdLst/>
            <a:ahLst/>
            <a:cxnLst/>
            <a:rect l="l" t="t" r="r" b="b"/>
            <a:pathLst>
              <a:path w="267891" h="238125">
                <a:moveTo>
                  <a:pt x="133945" y="-7441"/>
                </a:moveTo>
                <a:cubicBezTo>
                  <a:pt x="127760" y="-7441"/>
                  <a:pt x="122783" y="-2465"/>
                  <a:pt x="122783" y="3721"/>
                </a:cubicBezTo>
                <a:lnTo>
                  <a:pt x="122783" y="9302"/>
                </a:lnTo>
                <a:lnTo>
                  <a:pt x="121946" y="9302"/>
                </a:lnTo>
                <a:cubicBezTo>
                  <a:pt x="104924" y="9302"/>
                  <a:pt x="91157" y="23115"/>
                  <a:pt x="91157" y="40091"/>
                </a:cubicBezTo>
                <a:cubicBezTo>
                  <a:pt x="91157" y="55625"/>
                  <a:pt x="102738" y="68740"/>
                  <a:pt x="118132" y="70647"/>
                </a:cubicBezTo>
                <a:lnTo>
                  <a:pt x="146503" y="74182"/>
                </a:lnTo>
                <a:cubicBezTo>
                  <a:pt x="148875" y="74461"/>
                  <a:pt x="150688" y="76507"/>
                  <a:pt x="150688" y="78925"/>
                </a:cubicBezTo>
                <a:cubicBezTo>
                  <a:pt x="150688" y="81576"/>
                  <a:pt x="148549" y="83669"/>
                  <a:pt x="145945" y="83669"/>
                </a:cubicBezTo>
                <a:lnTo>
                  <a:pt x="111621" y="83716"/>
                </a:lnTo>
                <a:cubicBezTo>
                  <a:pt x="104412" y="83716"/>
                  <a:pt x="98599" y="89529"/>
                  <a:pt x="98599" y="96738"/>
                </a:cubicBezTo>
                <a:cubicBezTo>
                  <a:pt x="98599" y="103947"/>
                  <a:pt x="104412" y="109761"/>
                  <a:pt x="111621" y="109761"/>
                </a:cubicBezTo>
                <a:lnTo>
                  <a:pt x="122783" y="109761"/>
                </a:lnTo>
                <a:lnTo>
                  <a:pt x="122783" y="115342"/>
                </a:lnTo>
                <a:cubicBezTo>
                  <a:pt x="122783" y="121527"/>
                  <a:pt x="127760" y="126504"/>
                  <a:pt x="133945" y="126504"/>
                </a:cubicBezTo>
                <a:cubicBezTo>
                  <a:pt x="140131" y="126504"/>
                  <a:pt x="145107" y="121527"/>
                  <a:pt x="145107" y="115342"/>
                </a:cubicBezTo>
                <a:lnTo>
                  <a:pt x="145107" y="109761"/>
                </a:lnTo>
                <a:lnTo>
                  <a:pt x="145945" y="109761"/>
                </a:lnTo>
                <a:cubicBezTo>
                  <a:pt x="162967" y="109761"/>
                  <a:pt x="176733" y="95948"/>
                  <a:pt x="176733" y="78972"/>
                </a:cubicBezTo>
                <a:cubicBezTo>
                  <a:pt x="176733" y="63438"/>
                  <a:pt x="165153" y="50323"/>
                  <a:pt x="149758" y="48416"/>
                </a:cubicBezTo>
                <a:lnTo>
                  <a:pt x="121388" y="44881"/>
                </a:lnTo>
                <a:cubicBezTo>
                  <a:pt x="119016" y="44602"/>
                  <a:pt x="117202" y="42556"/>
                  <a:pt x="117202" y="40137"/>
                </a:cubicBezTo>
                <a:cubicBezTo>
                  <a:pt x="117202" y="37486"/>
                  <a:pt x="119342" y="35393"/>
                  <a:pt x="121946" y="35393"/>
                </a:cubicBezTo>
                <a:lnTo>
                  <a:pt x="152549" y="35347"/>
                </a:lnTo>
                <a:cubicBezTo>
                  <a:pt x="159758" y="35347"/>
                  <a:pt x="165571" y="29533"/>
                  <a:pt x="165571" y="22324"/>
                </a:cubicBezTo>
                <a:cubicBezTo>
                  <a:pt x="165571" y="15115"/>
                  <a:pt x="159758" y="9302"/>
                  <a:pt x="152549" y="9302"/>
                </a:cubicBezTo>
                <a:lnTo>
                  <a:pt x="145107" y="9302"/>
                </a:lnTo>
                <a:lnTo>
                  <a:pt x="145107" y="3721"/>
                </a:lnTo>
                <a:cubicBezTo>
                  <a:pt x="145107" y="-2465"/>
                  <a:pt x="140131" y="-7441"/>
                  <a:pt x="133945" y="-7441"/>
                </a:cubicBezTo>
                <a:close/>
                <a:moveTo>
                  <a:pt x="50834" y="158828"/>
                </a:moveTo>
                <a:lnTo>
                  <a:pt x="31021" y="178594"/>
                </a:lnTo>
                <a:lnTo>
                  <a:pt x="14883" y="178594"/>
                </a:lnTo>
                <a:cubicBezTo>
                  <a:pt x="6651" y="178594"/>
                  <a:pt x="0" y="185245"/>
                  <a:pt x="0" y="193477"/>
                </a:cubicBezTo>
                <a:lnTo>
                  <a:pt x="0" y="223242"/>
                </a:lnTo>
                <a:cubicBezTo>
                  <a:pt x="0" y="231474"/>
                  <a:pt x="6651" y="238125"/>
                  <a:pt x="14883" y="238125"/>
                </a:cubicBezTo>
                <a:lnTo>
                  <a:pt x="163943" y="238125"/>
                </a:lnTo>
                <a:cubicBezTo>
                  <a:pt x="177431" y="238125"/>
                  <a:pt x="190593" y="233800"/>
                  <a:pt x="201476" y="225800"/>
                </a:cubicBezTo>
                <a:lnTo>
                  <a:pt x="260356" y="182407"/>
                </a:lnTo>
                <a:cubicBezTo>
                  <a:pt x="268635" y="176315"/>
                  <a:pt x="270402" y="164688"/>
                  <a:pt x="264309" y="156409"/>
                </a:cubicBezTo>
                <a:cubicBezTo>
                  <a:pt x="258217" y="148130"/>
                  <a:pt x="246590" y="146363"/>
                  <a:pt x="238311" y="152456"/>
                </a:cubicBezTo>
                <a:lnTo>
                  <a:pt x="182594" y="193477"/>
                </a:lnTo>
                <a:lnTo>
                  <a:pt x="130225" y="193477"/>
                </a:lnTo>
                <a:cubicBezTo>
                  <a:pt x="124039" y="193477"/>
                  <a:pt x="119062" y="188500"/>
                  <a:pt x="119062" y="182314"/>
                </a:cubicBezTo>
                <a:cubicBezTo>
                  <a:pt x="119062" y="176129"/>
                  <a:pt x="124039" y="171152"/>
                  <a:pt x="130225" y="171152"/>
                </a:cubicBezTo>
                <a:lnTo>
                  <a:pt x="163711" y="171152"/>
                </a:lnTo>
                <a:cubicBezTo>
                  <a:pt x="171943" y="171152"/>
                  <a:pt x="178594" y="164502"/>
                  <a:pt x="178594" y="156270"/>
                </a:cubicBezTo>
                <a:cubicBezTo>
                  <a:pt x="178594" y="148037"/>
                  <a:pt x="171943" y="141387"/>
                  <a:pt x="163711" y="141387"/>
                </a:cubicBezTo>
                <a:lnTo>
                  <a:pt x="92925" y="141387"/>
                </a:lnTo>
                <a:cubicBezTo>
                  <a:pt x="77158" y="141387"/>
                  <a:pt x="61996" y="147665"/>
                  <a:pt x="50834" y="158828"/>
                </a:cubicBezTo>
                <a:close/>
              </a:path>
            </a:pathLst>
          </a:custGeom>
          <a:solidFill>
            <a:srgbClr val="DDFF00"/>
          </a:solidFill>
          <a:ln/>
        </p:spPr>
      </p:sp>
      <p:sp>
        <p:nvSpPr>
          <p:cNvPr id="17" name="Text 15"/>
          <p:cNvSpPr/>
          <p:nvPr/>
        </p:nvSpPr>
        <p:spPr>
          <a:xfrm>
            <a:off x="573881" y="4614763"/>
            <a:ext cx="1873250" cy="222250"/>
          </a:xfrm>
          <a:prstGeom prst="rect">
            <a:avLst/>
          </a:prstGeom>
          <a:noFill/>
          <a:ln/>
        </p:spPr>
        <p:txBody>
          <a:bodyPr wrap="square" lIns="0" tIns="0" rIns="0" bIns="0" rtlCol="0" anchor="ctr"/>
          <a:lstStyle/>
          <a:p>
            <a:pPr algn="ctr">
              <a:lnSpc>
                <a:spcPct val="130000"/>
              </a:lnSpc>
            </a:pPr>
            <a:r>
              <a:rPr lang="en-US" sz="1125" b="1" dirty="0">
                <a:solidFill>
                  <a:srgbClr val="FFFFFF"/>
                </a:solidFill>
                <a:latin typeface="Liter" pitchFamily="34" charset="0"/>
                <a:ea typeface="Liter" pitchFamily="34" charset="-122"/>
                <a:cs typeface="Liter" pitchFamily="34" charset="-120"/>
              </a:rPr>
              <a:t>Theft</a:t>
            </a:r>
            <a:endParaRPr lang="en-US" sz="1600" dirty="0"/>
          </a:p>
        </p:txBody>
      </p:sp>
      <p:sp>
        <p:nvSpPr>
          <p:cNvPr id="18" name="Text 16"/>
          <p:cNvSpPr/>
          <p:nvPr/>
        </p:nvSpPr>
        <p:spPr>
          <a:xfrm>
            <a:off x="581819" y="4868763"/>
            <a:ext cx="1857375" cy="158750"/>
          </a:xfrm>
          <a:prstGeom prst="rect">
            <a:avLst/>
          </a:prstGeom>
          <a:noFill/>
          <a:ln/>
        </p:spPr>
        <p:txBody>
          <a:bodyPr wrap="square" lIns="0" tIns="0" rIns="0" bIns="0" rtlCol="0" anchor="ctr"/>
          <a:lstStyle/>
          <a:p>
            <a:pPr algn="ctr">
              <a:lnSpc>
                <a:spcPct val="120000"/>
              </a:lnSpc>
            </a:pPr>
            <a:r>
              <a:rPr lang="en-US" sz="875" dirty="0">
                <a:solidFill>
                  <a:srgbClr val="FFFFFF">
                    <a:alpha val="60000"/>
                  </a:srgbClr>
                </a:solidFill>
                <a:latin typeface="Liter" pitchFamily="34" charset="0"/>
                <a:ea typeface="Liter" pitchFamily="34" charset="-122"/>
                <a:cs typeface="Liter" pitchFamily="34" charset="-120"/>
              </a:rPr>
              <a:t>Taking property without consent</a:t>
            </a:r>
            <a:endParaRPr lang="en-US" sz="1600" dirty="0"/>
          </a:p>
        </p:txBody>
      </p:sp>
      <p:sp>
        <p:nvSpPr>
          <p:cNvPr id="19" name="Shape 17"/>
          <p:cNvSpPr/>
          <p:nvPr/>
        </p:nvSpPr>
        <p:spPr>
          <a:xfrm>
            <a:off x="2640310" y="4182964"/>
            <a:ext cx="2062162" cy="974725"/>
          </a:xfrm>
          <a:custGeom>
            <a:avLst/>
            <a:gdLst/>
            <a:ahLst/>
            <a:cxnLst/>
            <a:rect l="l" t="t" r="r" b="b"/>
            <a:pathLst>
              <a:path w="2062162" h="974725">
                <a:moveTo>
                  <a:pt x="0" y="0"/>
                </a:moveTo>
                <a:lnTo>
                  <a:pt x="2062162" y="0"/>
                </a:lnTo>
                <a:lnTo>
                  <a:pt x="2062162" y="974725"/>
                </a:lnTo>
                <a:lnTo>
                  <a:pt x="0" y="974725"/>
                </a:lnTo>
                <a:lnTo>
                  <a:pt x="0" y="0"/>
                </a:lnTo>
                <a:close/>
              </a:path>
            </a:pathLst>
          </a:custGeom>
          <a:solidFill>
            <a:srgbClr val="000000"/>
          </a:solidFill>
          <a:ln w="10160">
            <a:solidFill>
              <a:srgbClr val="DDFF00">
                <a:alpha val="30196"/>
              </a:srgbClr>
            </a:solidFill>
            <a:prstDash val="solid"/>
          </a:ln>
        </p:spPr>
      </p:sp>
      <p:sp>
        <p:nvSpPr>
          <p:cNvPr id="20" name="Shape 18"/>
          <p:cNvSpPr/>
          <p:nvPr/>
        </p:nvSpPr>
        <p:spPr>
          <a:xfrm>
            <a:off x="3567708" y="4313138"/>
            <a:ext cx="208359" cy="238125"/>
          </a:xfrm>
          <a:custGeom>
            <a:avLst/>
            <a:gdLst/>
            <a:ahLst/>
            <a:cxnLst/>
            <a:rect l="l" t="t" r="r" b="b"/>
            <a:pathLst>
              <a:path w="208359" h="238125">
                <a:moveTo>
                  <a:pt x="163711" y="59531"/>
                </a:moveTo>
                <a:cubicBezTo>
                  <a:pt x="163711" y="92413"/>
                  <a:pt x="137061" y="119062"/>
                  <a:pt x="104180" y="119062"/>
                </a:cubicBezTo>
                <a:cubicBezTo>
                  <a:pt x="77577" y="119062"/>
                  <a:pt x="55066" y="101622"/>
                  <a:pt x="47439" y="77530"/>
                </a:cubicBezTo>
                <a:cubicBezTo>
                  <a:pt x="46927" y="78135"/>
                  <a:pt x="46416" y="78739"/>
                  <a:pt x="45811" y="79297"/>
                </a:cubicBezTo>
                <a:cubicBezTo>
                  <a:pt x="38463" y="86646"/>
                  <a:pt x="27766" y="88925"/>
                  <a:pt x="20882" y="89576"/>
                </a:cubicBezTo>
                <a:cubicBezTo>
                  <a:pt x="17115" y="89948"/>
                  <a:pt x="14092" y="86925"/>
                  <a:pt x="14464" y="83158"/>
                </a:cubicBezTo>
                <a:cubicBezTo>
                  <a:pt x="15115" y="76321"/>
                  <a:pt x="17394" y="65577"/>
                  <a:pt x="24743" y="58229"/>
                </a:cubicBezTo>
                <a:cubicBezTo>
                  <a:pt x="27440" y="55531"/>
                  <a:pt x="30603" y="53532"/>
                  <a:pt x="33858" y="51997"/>
                </a:cubicBezTo>
                <a:cubicBezTo>
                  <a:pt x="30603" y="50509"/>
                  <a:pt x="27440" y="48462"/>
                  <a:pt x="24743" y="45765"/>
                </a:cubicBezTo>
                <a:cubicBezTo>
                  <a:pt x="17394" y="38416"/>
                  <a:pt x="15115" y="27719"/>
                  <a:pt x="14464" y="20836"/>
                </a:cubicBezTo>
                <a:cubicBezTo>
                  <a:pt x="14092" y="17069"/>
                  <a:pt x="17115" y="14046"/>
                  <a:pt x="20882" y="14418"/>
                </a:cubicBezTo>
                <a:cubicBezTo>
                  <a:pt x="27719" y="15069"/>
                  <a:pt x="38463" y="17348"/>
                  <a:pt x="45811" y="24696"/>
                </a:cubicBezTo>
                <a:cubicBezTo>
                  <a:pt x="48044" y="26929"/>
                  <a:pt x="49857" y="29533"/>
                  <a:pt x="51253" y="32184"/>
                </a:cubicBezTo>
                <a:cubicBezTo>
                  <a:pt x="61159" y="13022"/>
                  <a:pt x="81158" y="-93"/>
                  <a:pt x="104180" y="-93"/>
                </a:cubicBezTo>
                <a:cubicBezTo>
                  <a:pt x="137061" y="-93"/>
                  <a:pt x="163711" y="26557"/>
                  <a:pt x="163711" y="59438"/>
                </a:cubicBezTo>
                <a:close/>
                <a:moveTo>
                  <a:pt x="66973" y="52090"/>
                </a:moveTo>
                <a:cubicBezTo>
                  <a:pt x="66973" y="56183"/>
                  <a:pt x="70321" y="59531"/>
                  <a:pt x="74414" y="59531"/>
                </a:cubicBezTo>
                <a:lnTo>
                  <a:pt x="133945" y="59531"/>
                </a:lnTo>
                <a:cubicBezTo>
                  <a:pt x="138038" y="59531"/>
                  <a:pt x="141387" y="56183"/>
                  <a:pt x="141387" y="52090"/>
                </a:cubicBezTo>
                <a:cubicBezTo>
                  <a:pt x="141387" y="47997"/>
                  <a:pt x="138038" y="44648"/>
                  <a:pt x="133945" y="44648"/>
                </a:cubicBezTo>
                <a:lnTo>
                  <a:pt x="74414" y="44648"/>
                </a:lnTo>
                <a:cubicBezTo>
                  <a:pt x="70321" y="44648"/>
                  <a:pt x="66973" y="47997"/>
                  <a:pt x="66973" y="52090"/>
                </a:cubicBezTo>
                <a:close/>
                <a:moveTo>
                  <a:pt x="66322" y="150223"/>
                </a:moveTo>
                <a:lnTo>
                  <a:pt x="97482" y="173571"/>
                </a:lnTo>
                <a:cubicBezTo>
                  <a:pt x="101436" y="176547"/>
                  <a:pt x="106924" y="176547"/>
                  <a:pt x="110877" y="173571"/>
                </a:cubicBezTo>
                <a:lnTo>
                  <a:pt x="142038" y="150223"/>
                </a:lnTo>
                <a:cubicBezTo>
                  <a:pt x="145061" y="147944"/>
                  <a:pt x="149107" y="147340"/>
                  <a:pt x="152549" y="148921"/>
                </a:cubicBezTo>
                <a:cubicBezTo>
                  <a:pt x="181105" y="162037"/>
                  <a:pt x="200964" y="190872"/>
                  <a:pt x="200964" y="224312"/>
                </a:cubicBezTo>
                <a:cubicBezTo>
                  <a:pt x="200964" y="231939"/>
                  <a:pt x="194779" y="238125"/>
                  <a:pt x="187151" y="238125"/>
                </a:cubicBezTo>
                <a:lnTo>
                  <a:pt x="21255" y="238125"/>
                </a:lnTo>
                <a:cubicBezTo>
                  <a:pt x="13627" y="238125"/>
                  <a:pt x="7441" y="231939"/>
                  <a:pt x="7441" y="224312"/>
                </a:cubicBezTo>
                <a:cubicBezTo>
                  <a:pt x="7441" y="190826"/>
                  <a:pt x="27301" y="161990"/>
                  <a:pt x="55857" y="148921"/>
                </a:cubicBezTo>
                <a:cubicBezTo>
                  <a:pt x="59299" y="147340"/>
                  <a:pt x="63345" y="147944"/>
                  <a:pt x="66368" y="150223"/>
                </a:cubicBezTo>
                <a:close/>
              </a:path>
            </a:pathLst>
          </a:custGeom>
          <a:solidFill>
            <a:srgbClr val="DDFF00"/>
          </a:solidFill>
          <a:ln/>
        </p:spPr>
      </p:sp>
      <p:sp>
        <p:nvSpPr>
          <p:cNvPr id="21" name="Text 19"/>
          <p:cNvSpPr/>
          <p:nvPr/>
        </p:nvSpPr>
        <p:spPr>
          <a:xfrm>
            <a:off x="2734766" y="4614763"/>
            <a:ext cx="1873250" cy="222250"/>
          </a:xfrm>
          <a:prstGeom prst="rect">
            <a:avLst/>
          </a:prstGeom>
          <a:noFill/>
          <a:ln/>
        </p:spPr>
        <p:txBody>
          <a:bodyPr wrap="square" lIns="0" tIns="0" rIns="0" bIns="0" rtlCol="0" anchor="ctr"/>
          <a:lstStyle/>
          <a:p>
            <a:pPr algn="ctr">
              <a:lnSpc>
                <a:spcPct val="130000"/>
              </a:lnSpc>
            </a:pPr>
            <a:r>
              <a:rPr lang="en-US" sz="1125" b="1" dirty="0">
                <a:solidFill>
                  <a:srgbClr val="FFFFFF"/>
                </a:solidFill>
                <a:latin typeface="Liter" pitchFamily="34" charset="0"/>
                <a:ea typeface="Liter" pitchFamily="34" charset="-122"/>
                <a:cs typeface="Liter" pitchFamily="34" charset="-120"/>
              </a:rPr>
              <a:t>Robbery</a:t>
            </a:r>
            <a:endParaRPr lang="en-US" sz="1600" dirty="0"/>
          </a:p>
        </p:txBody>
      </p:sp>
      <p:sp>
        <p:nvSpPr>
          <p:cNvPr id="22" name="Text 20"/>
          <p:cNvSpPr/>
          <p:nvPr/>
        </p:nvSpPr>
        <p:spPr>
          <a:xfrm>
            <a:off x="2742704" y="4868763"/>
            <a:ext cx="1857375" cy="158750"/>
          </a:xfrm>
          <a:prstGeom prst="rect">
            <a:avLst/>
          </a:prstGeom>
          <a:noFill/>
          <a:ln/>
        </p:spPr>
        <p:txBody>
          <a:bodyPr wrap="square" lIns="0" tIns="0" rIns="0" bIns="0" rtlCol="0" anchor="ctr"/>
          <a:lstStyle/>
          <a:p>
            <a:pPr algn="ctr">
              <a:lnSpc>
                <a:spcPct val="120000"/>
              </a:lnSpc>
            </a:pPr>
            <a:r>
              <a:rPr lang="en-US" sz="875" dirty="0">
                <a:solidFill>
                  <a:srgbClr val="FFFFFF">
                    <a:alpha val="60000"/>
                  </a:srgbClr>
                </a:solidFill>
                <a:latin typeface="Liter" pitchFamily="34" charset="0"/>
                <a:ea typeface="Liter" pitchFamily="34" charset="-122"/>
                <a:cs typeface="Liter" pitchFamily="34" charset="-120"/>
              </a:rPr>
              <a:t>Theft with force or threat</a:t>
            </a:r>
            <a:endParaRPr lang="en-US" sz="1600" dirty="0"/>
          </a:p>
        </p:txBody>
      </p:sp>
      <p:sp>
        <p:nvSpPr>
          <p:cNvPr id="23" name="Shape 21"/>
          <p:cNvSpPr/>
          <p:nvPr/>
        </p:nvSpPr>
        <p:spPr>
          <a:xfrm>
            <a:off x="479425" y="5259288"/>
            <a:ext cx="2062162" cy="974725"/>
          </a:xfrm>
          <a:custGeom>
            <a:avLst/>
            <a:gdLst/>
            <a:ahLst/>
            <a:cxnLst/>
            <a:rect l="l" t="t" r="r" b="b"/>
            <a:pathLst>
              <a:path w="2062162" h="974725">
                <a:moveTo>
                  <a:pt x="0" y="0"/>
                </a:moveTo>
                <a:lnTo>
                  <a:pt x="2062162" y="0"/>
                </a:lnTo>
                <a:lnTo>
                  <a:pt x="2062162" y="974725"/>
                </a:lnTo>
                <a:lnTo>
                  <a:pt x="0" y="974725"/>
                </a:lnTo>
                <a:lnTo>
                  <a:pt x="0" y="0"/>
                </a:lnTo>
                <a:close/>
              </a:path>
            </a:pathLst>
          </a:custGeom>
          <a:solidFill>
            <a:srgbClr val="000000"/>
          </a:solidFill>
          <a:ln w="10160">
            <a:solidFill>
              <a:srgbClr val="DDFF00">
                <a:alpha val="30196"/>
              </a:srgbClr>
            </a:solidFill>
            <a:prstDash val="solid"/>
          </a:ln>
        </p:spPr>
      </p:sp>
      <p:sp>
        <p:nvSpPr>
          <p:cNvPr id="24" name="Shape 22"/>
          <p:cNvSpPr/>
          <p:nvPr/>
        </p:nvSpPr>
        <p:spPr>
          <a:xfrm>
            <a:off x="1391940" y="5389464"/>
            <a:ext cx="238125" cy="238125"/>
          </a:xfrm>
          <a:custGeom>
            <a:avLst/>
            <a:gdLst/>
            <a:ahLst/>
            <a:cxnLst/>
            <a:rect l="l" t="t" r="r" b="b"/>
            <a:pathLst>
              <a:path w="238125" h="238125">
                <a:moveTo>
                  <a:pt x="193477" y="198779"/>
                </a:moveTo>
                <a:cubicBezTo>
                  <a:pt x="220684" y="178315"/>
                  <a:pt x="238125" y="146875"/>
                  <a:pt x="238125" y="111621"/>
                </a:cubicBezTo>
                <a:cubicBezTo>
                  <a:pt x="238125" y="49997"/>
                  <a:pt x="184826" y="0"/>
                  <a:pt x="119062" y="0"/>
                </a:cubicBezTo>
                <a:cubicBezTo>
                  <a:pt x="53299" y="0"/>
                  <a:pt x="0" y="49997"/>
                  <a:pt x="0" y="111621"/>
                </a:cubicBezTo>
                <a:cubicBezTo>
                  <a:pt x="0" y="146875"/>
                  <a:pt x="17441" y="178315"/>
                  <a:pt x="44648" y="198779"/>
                </a:cubicBezTo>
                <a:lnTo>
                  <a:pt x="44648" y="215801"/>
                </a:lnTo>
                <a:cubicBezTo>
                  <a:pt x="44648" y="228126"/>
                  <a:pt x="54648" y="238125"/>
                  <a:pt x="66973" y="238125"/>
                </a:cubicBezTo>
                <a:lnTo>
                  <a:pt x="81855" y="238125"/>
                </a:lnTo>
                <a:lnTo>
                  <a:pt x="81855" y="219521"/>
                </a:lnTo>
                <a:cubicBezTo>
                  <a:pt x="81855" y="213336"/>
                  <a:pt x="86832" y="208359"/>
                  <a:pt x="93018" y="208359"/>
                </a:cubicBezTo>
                <a:cubicBezTo>
                  <a:pt x="99203" y="208359"/>
                  <a:pt x="104180" y="213336"/>
                  <a:pt x="104180" y="219521"/>
                </a:cubicBezTo>
                <a:lnTo>
                  <a:pt x="104180" y="238125"/>
                </a:lnTo>
                <a:lnTo>
                  <a:pt x="133945" y="238125"/>
                </a:lnTo>
                <a:lnTo>
                  <a:pt x="133945" y="219521"/>
                </a:lnTo>
                <a:cubicBezTo>
                  <a:pt x="133945" y="213336"/>
                  <a:pt x="138922" y="208359"/>
                  <a:pt x="145107" y="208359"/>
                </a:cubicBezTo>
                <a:cubicBezTo>
                  <a:pt x="151293" y="208359"/>
                  <a:pt x="156270" y="213336"/>
                  <a:pt x="156270" y="219521"/>
                </a:cubicBezTo>
                <a:lnTo>
                  <a:pt x="156270" y="238125"/>
                </a:lnTo>
                <a:lnTo>
                  <a:pt x="171152" y="238125"/>
                </a:lnTo>
                <a:cubicBezTo>
                  <a:pt x="183477" y="238125"/>
                  <a:pt x="193477" y="228126"/>
                  <a:pt x="193477" y="215801"/>
                </a:cubicBezTo>
                <a:lnTo>
                  <a:pt x="193477" y="198779"/>
                </a:lnTo>
                <a:close/>
                <a:moveTo>
                  <a:pt x="44648" y="119062"/>
                </a:moveTo>
                <a:cubicBezTo>
                  <a:pt x="44648" y="102634"/>
                  <a:pt x="57986" y="89297"/>
                  <a:pt x="74414" y="89297"/>
                </a:cubicBezTo>
                <a:cubicBezTo>
                  <a:pt x="90842" y="89297"/>
                  <a:pt x="104180" y="102634"/>
                  <a:pt x="104180" y="119062"/>
                </a:cubicBezTo>
                <a:cubicBezTo>
                  <a:pt x="104180" y="135491"/>
                  <a:pt x="90842" y="148828"/>
                  <a:pt x="74414" y="148828"/>
                </a:cubicBezTo>
                <a:cubicBezTo>
                  <a:pt x="57986" y="148828"/>
                  <a:pt x="44648" y="135491"/>
                  <a:pt x="44648" y="119062"/>
                </a:cubicBezTo>
                <a:close/>
                <a:moveTo>
                  <a:pt x="163711" y="89297"/>
                </a:moveTo>
                <a:cubicBezTo>
                  <a:pt x="180139" y="89297"/>
                  <a:pt x="193477" y="102634"/>
                  <a:pt x="193477" y="119062"/>
                </a:cubicBezTo>
                <a:cubicBezTo>
                  <a:pt x="193477" y="135491"/>
                  <a:pt x="180139" y="148828"/>
                  <a:pt x="163711" y="148828"/>
                </a:cubicBezTo>
                <a:cubicBezTo>
                  <a:pt x="147283" y="148828"/>
                  <a:pt x="133945" y="135491"/>
                  <a:pt x="133945" y="119062"/>
                </a:cubicBezTo>
                <a:cubicBezTo>
                  <a:pt x="133945" y="102634"/>
                  <a:pt x="147283" y="89297"/>
                  <a:pt x="163711" y="89297"/>
                </a:cubicBezTo>
                <a:close/>
              </a:path>
            </a:pathLst>
          </a:custGeom>
          <a:solidFill>
            <a:srgbClr val="DDFF00"/>
          </a:solidFill>
          <a:ln/>
        </p:spPr>
      </p:sp>
      <p:sp>
        <p:nvSpPr>
          <p:cNvPr id="25" name="Text 23"/>
          <p:cNvSpPr/>
          <p:nvPr/>
        </p:nvSpPr>
        <p:spPr>
          <a:xfrm>
            <a:off x="573881" y="5691089"/>
            <a:ext cx="1873250" cy="222250"/>
          </a:xfrm>
          <a:prstGeom prst="rect">
            <a:avLst/>
          </a:prstGeom>
          <a:noFill/>
          <a:ln/>
        </p:spPr>
        <p:txBody>
          <a:bodyPr wrap="square" lIns="0" tIns="0" rIns="0" bIns="0" rtlCol="0" anchor="ctr"/>
          <a:lstStyle/>
          <a:p>
            <a:pPr algn="ctr">
              <a:lnSpc>
                <a:spcPct val="130000"/>
              </a:lnSpc>
            </a:pPr>
            <a:r>
              <a:rPr lang="en-US" sz="1125" b="1" dirty="0">
                <a:solidFill>
                  <a:srgbClr val="FFFFFF"/>
                </a:solidFill>
                <a:latin typeface="Liter" pitchFamily="34" charset="0"/>
                <a:ea typeface="Liter" pitchFamily="34" charset="-122"/>
                <a:cs typeface="Liter" pitchFamily="34" charset="-120"/>
              </a:rPr>
              <a:t>Murder</a:t>
            </a:r>
            <a:endParaRPr lang="en-US" sz="1600" dirty="0"/>
          </a:p>
        </p:txBody>
      </p:sp>
      <p:sp>
        <p:nvSpPr>
          <p:cNvPr id="26" name="Text 24"/>
          <p:cNvSpPr/>
          <p:nvPr/>
        </p:nvSpPr>
        <p:spPr>
          <a:xfrm>
            <a:off x="581819" y="5945089"/>
            <a:ext cx="1857375" cy="158750"/>
          </a:xfrm>
          <a:prstGeom prst="rect">
            <a:avLst/>
          </a:prstGeom>
          <a:noFill/>
          <a:ln/>
        </p:spPr>
        <p:txBody>
          <a:bodyPr wrap="square" lIns="0" tIns="0" rIns="0" bIns="0" rtlCol="0" anchor="ctr"/>
          <a:lstStyle/>
          <a:p>
            <a:pPr algn="ctr">
              <a:lnSpc>
                <a:spcPct val="120000"/>
              </a:lnSpc>
            </a:pPr>
            <a:r>
              <a:rPr lang="en-US" sz="875" dirty="0">
                <a:solidFill>
                  <a:srgbClr val="FFFFFF">
                    <a:alpha val="60000"/>
                  </a:srgbClr>
                </a:solidFill>
                <a:latin typeface="Liter" pitchFamily="34" charset="0"/>
                <a:ea typeface="Liter" pitchFamily="34" charset="-122"/>
                <a:cs typeface="Liter" pitchFamily="34" charset="-120"/>
              </a:rPr>
              <a:t>Unlawful killing of a person</a:t>
            </a:r>
            <a:endParaRPr lang="en-US" sz="1600" dirty="0"/>
          </a:p>
        </p:txBody>
      </p:sp>
      <p:sp>
        <p:nvSpPr>
          <p:cNvPr id="27" name="Shape 25"/>
          <p:cNvSpPr/>
          <p:nvPr/>
        </p:nvSpPr>
        <p:spPr>
          <a:xfrm>
            <a:off x="2640310" y="5259288"/>
            <a:ext cx="2062162" cy="974725"/>
          </a:xfrm>
          <a:custGeom>
            <a:avLst/>
            <a:gdLst/>
            <a:ahLst/>
            <a:cxnLst/>
            <a:rect l="l" t="t" r="r" b="b"/>
            <a:pathLst>
              <a:path w="2062162" h="974725">
                <a:moveTo>
                  <a:pt x="0" y="0"/>
                </a:moveTo>
                <a:lnTo>
                  <a:pt x="2062162" y="0"/>
                </a:lnTo>
                <a:lnTo>
                  <a:pt x="2062162" y="974725"/>
                </a:lnTo>
                <a:lnTo>
                  <a:pt x="0" y="974725"/>
                </a:lnTo>
                <a:lnTo>
                  <a:pt x="0" y="0"/>
                </a:lnTo>
                <a:close/>
              </a:path>
            </a:pathLst>
          </a:custGeom>
          <a:solidFill>
            <a:srgbClr val="000000"/>
          </a:solidFill>
          <a:ln w="10160">
            <a:solidFill>
              <a:srgbClr val="DDFF00">
                <a:alpha val="30196"/>
              </a:srgbClr>
            </a:solidFill>
            <a:prstDash val="solid"/>
          </a:ln>
        </p:spPr>
      </p:sp>
      <p:sp>
        <p:nvSpPr>
          <p:cNvPr id="28" name="Shape 26"/>
          <p:cNvSpPr/>
          <p:nvPr/>
        </p:nvSpPr>
        <p:spPr>
          <a:xfrm>
            <a:off x="3582591" y="5389464"/>
            <a:ext cx="178594" cy="238125"/>
          </a:xfrm>
          <a:custGeom>
            <a:avLst/>
            <a:gdLst/>
            <a:ahLst/>
            <a:cxnLst/>
            <a:rect l="l" t="t" r="r" b="b"/>
            <a:pathLst>
              <a:path w="178594" h="238125">
                <a:moveTo>
                  <a:pt x="3442" y="117946"/>
                </a:moveTo>
                <a:cubicBezTo>
                  <a:pt x="1209" y="114365"/>
                  <a:pt x="0" y="110272"/>
                  <a:pt x="0" y="106040"/>
                </a:cubicBezTo>
                <a:lnTo>
                  <a:pt x="0" y="89297"/>
                </a:lnTo>
                <a:cubicBezTo>
                  <a:pt x="0" y="76972"/>
                  <a:pt x="9999" y="66973"/>
                  <a:pt x="22324" y="66973"/>
                </a:cubicBezTo>
                <a:lnTo>
                  <a:pt x="29766" y="66973"/>
                </a:lnTo>
                <a:lnTo>
                  <a:pt x="29766" y="29766"/>
                </a:lnTo>
                <a:cubicBezTo>
                  <a:pt x="29766" y="17441"/>
                  <a:pt x="39765" y="7441"/>
                  <a:pt x="52090" y="7441"/>
                </a:cubicBezTo>
                <a:cubicBezTo>
                  <a:pt x="60136" y="7441"/>
                  <a:pt x="67159" y="11674"/>
                  <a:pt x="71112" y="18045"/>
                </a:cubicBezTo>
                <a:cubicBezTo>
                  <a:pt x="73112" y="7767"/>
                  <a:pt x="82181" y="0"/>
                  <a:pt x="93018" y="0"/>
                </a:cubicBezTo>
                <a:cubicBezTo>
                  <a:pt x="103901" y="0"/>
                  <a:pt x="112970" y="7813"/>
                  <a:pt x="114923" y="18092"/>
                </a:cubicBezTo>
                <a:cubicBezTo>
                  <a:pt x="118318" y="16046"/>
                  <a:pt x="122272" y="14883"/>
                  <a:pt x="126504" y="14883"/>
                </a:cubicBezTo>
                <a:cubicBezTo>
                  <a:pt x="136782" y="14883"/>
                  <a:pt x="145479" y="21859"/>
                  <a:pt x="148037" y="31347"/>
                </a:cubicBezTo>
                <a:cubicBezTo>
                  <a:pt x="150595" y="30324"/>
                  <a:pt x="153339" y="29766"/>
                  <a:pt x="156270" y="29766"/>
                </a:cubicBezTo>
                <a:cubicBezTo>
                  <a:pt x="168594" y="29766"/>
                  <a:pt x="178594" y="39765"/>
                  <a:pt x="178594" y="52090"/>
                </a:cubicBezTo>
                <a:lnTo>
                  <a:pt x="178594" y="97157"/>
                </a:lnTo>
                <a:cubicBezTo>
                  <a:pt x="178594" y="101761"/>
                  <a:pt x="177524" y="106319"/>
                  <a:pt x="175431" y="110458"/>
                </a:cubicBezTo>
                <a:lnTo>
                  <a:pt x="157014" y="147247"/>
                </a:lnTo>
                <a:cubicBezTo>
                  <a:pt x="151991" y="157339"/>
                  <a:pt x="141666" y="163711"/>
                  <a:pt x="130411" y="163711"/>
                </a:cubicBezTo>
                <a:lnTo>
                  <a:pt x="44648" y="163711"/>
                </a:lnTo>
                <a:cubicBezTo>
                  <a:pt x="36974" y="163711"/>
                  <a:pt x="29859" y="159804"/>
                  <a:pt x="25766" y="153293"/>
                </a:cubicBezTo>
                <a:lnTo>
                  <a:pt x="3442" y="117946"/>
                </a:lnTo>
                <a:close/>
                <a:moveTo>
                  <a:pt x="14883" y="223242"/>
                </a:moveTo>
                <a:lnTo>
                  <a:pt x="14883" y="200918"/>
                </a:lnTo>
                <a:cubicBezTo>
                  <a:pt x="14883" y="192686"/>
                  <a:pt x="21534" y="186035"/>
                  <a:pt x="29766" y="186035"/>
                </a:cubicBezTo>
                <a:lnTo>
                  <a:pt x="148828" y="186035"/>
                </a:lnTo>
                <a:cubicBezTo>
                  <a:pt x="157060" y="186035"/>
                  <a:pt x="163711" y="192686"/>
                  <a:pt x="163711" y="200918"/>
                </a:cubicBezTo>
                <a:lnTo>
                  <a:pt x="163711" y="223242"/>
                </a:lnTo>
                <a:cubicBezTo>
                  <a:pt x="163711" y="231474"/>
                  <a:pt x="157060" y="238125"/>
                  <a:pt x="148828" y="238125"/>
                </a:cubicBezTo>
                <a:lnTo>
                  <a:pt x="29766" y="238125"/>
                </a:lnTo>
                <a:cubicBezTo>
                  <a:pt x="21534" y="238125"/>
                  <a:pt x="14883" y="231474"/>
                  <a:pt x="14883" y="223242"/>
                </a:cubicBezTo>
                <a:close/>
              </a:path>
            </a:pathLst>
          </a:custGeom>
          <a:solidFill>
            <a:srgbClr val="DDFF00"/>
          </a:solidFill>
          <a:ln/>
        </p:spPr>
      </p:sp>
      <p:sp>
        <p:nvSpPr>
          <p:cNvPr id="29" name="Text 27"/>
          <p:cNvSpPr/>
          <p:nvPr/>
        </p:nvSpPr>
        <p:spPr>
          <a:xfrm>
            <a:off x="2734766" y="5691089"/>
            <a:ext cx="1873250" cy="222250"/>
          </a:xfrm>
          <a:prstGeom prst="rect">
            <a:avLst/>
          </a:prstGeom>
          <a:noFill/>
          <a:ln/>
        </p:spPr>
        <p:txBody>
          <a:bodyPr wrap="square" lIns="0" tIns="0" rIns="0" bIns="0" rtlCol="0" anchor="ctr"/>
          <a:lstStyle/>
          <a:p>
            <a:pPr algn="ctr">
              <a:lnSpc>
                <a:spcPct val="130000"/>
              </a:lnSpc>
            </a:pPr>
            <a:r>
              <a:rPr lang="en-US" sz="1125" b="1" dirty="0">
                <a:solidFill>
                  <a:srgbClr val="FFFFFF"/>
                </a:solidFill>
                <a:latin typeface="Liter" pitchFamily="34" charset="0"/>
                <a:ea typeface="Liter" pitchFamily="34" charset="-122"/>
                <a:cs typeface="Liter" pitchFamily="34" charset="-120"/>
              </a:rPr>
              <a:t>Assault</a:t>
            </a:r>
            <a:endParaRPr lang="en-US" sz="1600" dirty="0"/>
          </a:p>
        </p:txBody>
      </p:sp>
      <p:sp>
        <p:nvSpPr>
          <p:cNvPr id="30" name="Text 28"/>
          <p:cNvSpPr/>
          <p:nvPr/>
        </p:nvSpPr>
        <p:spPr>
          <a:xfrm>
            <a:off x="2742704" y="5945089"/>
            <a:ext cx="1857375" cy="158750"/>
          </a:xfrm>
          <a:prstGeom prst="rect">
            <a:avLst/>
          </a:prstGeom>
          <a:noFill/>
          <a:ln/>
        </p:spPr>
        <p:txBody>
          <a:bodyPr wrap="square" lIns="0" tIns="0" rIns="0" bIns="0" rtlCol="0" anchor="ctr"/>
          <a:lstStyle/>
          <a:p>
            <a:pPr algn="ctr">
              <a:lnSpc>
                <a:spcPct val="120000"/>
              </a:lnSpc>
            </a:pPr>
            <a:r>
              <a:rPr lang="en-US" sz="875" dirty="0">
                <a:solidFill>
                  <a:srgbClr val="FFFFFF">
                    <a:alpha val="60000"/>
                  </a:srgbClr>
                </a:solidFill>
                <a:latin typeface="Liter" pitchFamily="34" charset="0"/>
                <a:ea typeface="Liter" pitchFamily="34" charset="-122"/>
                <a:cs typeface="Liter" pitchFamily="34" charset="-120"/>
              </a:rPr>
              <a:t>Physical attack on a person</a:t>
            </a:r>
            <a:endParaRPr lang="en-US" sz="1600" dirty="0"/>
          </a:p>
        </p:txBody>
      </p:sp>
      <p:sp>
        <p:nvSpPr>
          <p:cNvPr id="31" name="Shape 29"/>
          <p:cNvSpPr/>
          <p:nvPr/>
        </p:nvSpPr>
        <p:spPr>
          <a:xfrm>
            <a:off x="479425" y="6335614"/>
            <a:ext cx="2062162" cy="974725"/>
          </a:xfrm>
          <a:custGeom>
            <a:avLst/>
            <a:gdLst/>
            <a:ahLst/>
            <a:cxnLst/>
            <a:rect l="l" t="t" r="r" b="b"/>
            <a:pathLst>
              <a:path w="2062162" h="974725">
                <a:moveTo>
                  <a:pt x="0" y="0"/>
                </a:moveTo>
                <a:lnTo>
                  <a:pt x="2062162" y="0"/>
                </a:lnTo>
                <a:lnTo>
                  <a:pt x="2062162" y="974725"/>
                </a:lnTo>
                <a:lnTo>
                  <a:pt x="0" y="974725"/>
                </a:lnTo>
                <a:lnTo>
                  <a:pt x="0" y="0"/>
                </a:lnTo>
                <a:close/>
              </a:path>
            </a:pathLst>
          </a:custGeom>
          <a:solidFill>
            <a:srgbClr val="000000"/>
          </a:solidFill>
          <a:ln w="10160">
            <a:solidFill>
              <a:srgbClr val="DDFF00">
                <a:alpha val="30196"/>
              </a:srgbClr>
            </a:solidFill>
            <a:prstDash val="solid"/>
          </a:ln>
        </p:spPr>
      </p:sp>
      <p:sp>
        <p:nvSpPr>
          <p:cNvPr id="32" name="Shape 30"/>
          <p:cNvSpPr/>
          <p:nvPr/>
        </p:nvSpPr>
        <p:spPr>
          <a:xfrm>
            <a:off x="1391940" y="6465789"/>
            <a:ext cx="238125" cy="238125"/>
          </a:xfrm>
          <a:custGeom>
            <a:avLst/>
            <a:gdLst/>
            <a:ahLst/>
            <a:cxnLst/>
            <a:rect l="l" t="t" r="r" b="b"/>
            <a:pathLst>
              <a:path w="238125" h="238125">
                <a:moveTo>
                  <a:pt x="108924" y="4000"/>
                </a:moveTo>
                <a:cubicBezTo>
                  <a:pt x="114644" y="-1302"/>
                  <a:pt x="123481" y="-1302"/>
                  <a:pt x="129155" y="4000"/>
                </a:cubicBezTo>
                <a:lnTo>
                  <a:pt x="171152" y="42928"/>
                </a:lnTo>
                <a:lnTo>
                  <a:pt x="171152" y="37207"/>
                </a:lnTo>
                <a:cubicBezTo>
                  <a:pt x="171152" y="28975"/>
                  <a:pt x="177803" y="22324"/>
                  <a:pt x="186035" y="22324"/>
                </a:cubicBezTo>
                <a:lnTo>
                  <a:pt x="200918" y="22324"/>
                </a:lnTo>
                <a:cubicBezTo>
                  <a:pt x="209150" y="22324"/>
                  <a:pt x="215801" y="28975"/>
                  <a:pt x="215801" y="37207"/>
                </a:cubicBezTo>
                <a:lnTo>
                  <a:pt x="215801" y="84413"/>
                </a:lnTo>
                <a:lnTo>
                  <a:pt x="233381" y="100738"/>
                </a:lnTo>
                <a:cubicBezTo>
                  <a:pt x="237846" y="104924"/>
                  <a:pt x="239334" y="111389"/>
                  <a:pt x="237102" y="117063"/>
                </a:cubicBezTo>
                <a:cubicBezTo>
                  <a:pt x="234869" y="122737"/>
                  <a:pt x="229381" y="126504"/>
                  <a:pt x="223242" y="126504"/>
                </a:cubicBezTo>
                <a:lnTo>
                  <a:pt x="215801" y="126504"/>
                </a:lnTo>
                <a:lnTo>
                  <a:pt x="215801" y="208359"/>
                </a:lnTo>
                <a:cubicBezTo>
                  <a:pt x="215801" y="224777"/>
                  <a:pt x="202453" y="238125"/>
                  <a:pt x="186035" y="238125"/>
                </a:cubicBezTo>
                <a:lnTo>
                  <a:pt x="136922" y="238125"/>
                </a:lnTo>
                <a:lnTo>
                  <a:pt x="119062" y="208359"/>
                </a:lnTo>
                <a:lnTo>
                  <a:pt x="156642" y="177059"/>
                </a:lnTo>
                <a:cubicBezTo>
                  <a:pt x="160269" y="174036"/>
                  <a:pt x="160176" y="168408"/>
                  <a:pt x="156456" y="165478"/>
                </a:cubicBezTo>
                <a:lnTo>
                  <a:pt x="101668" y="122411"/>
                </a:lnTo>
                <a:cubicBezTo>
                  <a:pt x="94878" y="117063"/>
                  <a:pt x="85948" y="125667"/>
                  <a:pt x="91064" y="132643"/>
                </a:cubicBezTo>
                <a:lnTo>
                  <a:pt x="119062" y="171152"/>
                </a:lnTo>
                <a:lnTo>
                  <a:pt x="79297" y="204267"/>
                </a:lnTo>
                <a:cubicBezTo>
                  <a:pt x="76460" y="206592"/>
                  <a:pt x="75809" y="210685"/>
                  <a:pt x="77670" y="213801"/>
                </a:cubicBezTo>
                <a:lnTo>
                  <a:pt x="92227" y="238078"/>
                </a:lnTo>
                <a:lnTo>
                  <a:pt x="52043" y="238078"/>
                </a:lnTo>
                <a:cubicBezTo>
                  <a:pt x="35626" y="238078"/>
                  <a:pt x="22278" y="224730"/>
                  <a:pt x="22278" y="208313"/>
                </a:cubicBezTo>
                <a:lnTo>
                  <a:pt x="22278" y="126457"/>
                </a:lnTo>
                <a:lnTo>
                  <a:pt x="14836" y="126457"/>
                </a:lnTo>
                <a:cubicBezTo>
                  <a:pt x="8697" y="126457"/>
                  <a:pt x="3209" y="122690"/>
                  <a:pt x="977" y="117016"/>
                </a:cubicBezTo>
                <a:cubicBezTo>
                  <a:pt x="-1256" y="111342"/>
                  <a:pt x="233" y="104831"/>
                  <a:pt x="4697" y="100692"/>
                </a:cubicBezTo>
                <a:lnTo>
                  <a:pt x="108877" y="3953"/>
                </a:lnTo>
                <a:close/>
              </a:path>
            </a:pathLst>
          </a:custGeom>
          <a:solidFill>
            <a:srgbClr val="DDFF00"/>
          </a:solidFill>
          <a:ln/>
        </p:spPr>
      </p:sp>
      <p:sp>
        <p:nvSpPr>
          <p:cNvPr id="33" name="Text 31"/>
          <p:cNvSpPr/>
          <p:nvPr/>
        </p:nvSpPr>
        <p:spPr>
          <a:xfrm>
            <a:off x="573881" y="6767414"/>
            <a:ext cx="1873250" cy="222250"/>
          </a:xfrm>
          <a:prstGeom prst="rect">
            <a:avLst/>
          </a:prstGeom>
          <a:noFill/>
          <a:ln/>
        </p:spPr>
        <p:txBody>
          <a:bodyPr wrap="square" lIns="0" tIns="0" rIns="0" bIns="0" rtlCol="0" anchor="ctr"/>
          <a:lstStyle/>
          <a:p>
            <a:pPr algn="ctr">
              <a:lnSpc>
                <a:spcPct val="130000"/>
              </a:lnSpc>
            </a:pPr>
            <a:r>
              <a:rPr lang="en-US" sz="1125" b="1" dirty="0">
                <a:solidFill>
                  <a:srgbClr val="FFFFFF"/>
                </a:solidFill>
                <a:latin typeface="Liter" pitchFamily="34" charset="0"/>
                <a:ea typeface="Liter" pitchFamily="34" charset="-122"/>
                <a:cs typeface="Liter" pitchFamily="34" charset="-120"/>
              </a:rPr>
              <a:t>Burglary</a:t>
            </a:r>
            <a:endParaRPr lang="en-US" sz="1600" dirty="0"/>
          </a:p>
        </p:txBody>
      </p:sp>
      <p:sp>
        <p:nvSpPr>
          <p:cNvPr id="34" name="Text 32"/>
          <p:cNvSpPr/>
          <p:nvPr/>
        </p:nvSpPr>
        <p:spPr>
          <a:xfrm>
            <a:off x="581819" y="7021414"/>
            <a:ext cx="1857375" cy="158750"/>
          </a:xfrm>
          <a:prstGeom prst="rect">
            <a:avLst/>
          </a:prstGeom>
          <a:noFill/>
          <a:ln/>
        </p:spPr>
        <p:txBody>
          <a:bodyPr wrap="square" lIns="0" tIns="0" rIns="0" bIns="0" rtlCol="0" anchor="ctr"/>
          <a:lstStyle/>
          <a:p>
            <a:pPr algn="ctr">
              <a:lnSpc>
                <a:spcPct val="120000"/>
              </a:lnSpc>
            </a:pPr>
            <a:r>
              <a:rPr lang="en-US" sz="875" dirty="0">
                <a:solidFill>
                  <a:srgbClr val="FFFFFF">
                    <a:alpha val="60000"/>
                  </a:srgbClr>
                </a:solidFill>
                <a:latin typeface="Liter" pitchFamily="34" charset="0"/>
                <a:ea typeface="Liter" pitchFamily="34" charset="-122"/>
                <a:cs typeface="Liter" pitchFamily="34" charset="-120"/>
              </a:rPr>
              <a:t>Illegal entry to commit crime</a:t>
            </a:r>
            <a:endParaRPr lang="en-US" sz="1600" dirty="0"/>
          </a:p>
        </p:txBody>
      </p:sp>
      <p:sp>
        <p:nvSpPr>
          <p:cNvPr id="35" name="Shape 33"/>
          <p:cNvSpPr/>
          <p:nvPr/>
        </p:nvSpPr>
        <p:spPr>
          <a:xfrm>
            <a:off x="2640310" y="6335614"/>
            <a:ext cx="2062162" cy="974725"/>
          </a:xfrm>
          <a:custGeom>
            <a:avLst/>
            <a:gdLst/>
            <a:ahLst/>
            <a:cxnLst/>
            <a:rect l="l" t="t" r="r" b="b"/>
            <a:pathLst>
              <a:path w="2062162" h="974725">
                <a:moveTo>
                  <a:pt x="0" y="0"/>
                </a:moveTo>
                <a:lnTo>
                  <a:pt x="2062162" y="0"/>
                </a:lnTo>
                <a:lnTo>
                  <a:pt x="2062162" y="974725"/>
                </a:lnTo>
                <a:lnTo>
                  <a:pt x="0" y="974725"/>
                </a:lnTo>
                <a:lnTo>
                  <a:pt x="0" y="0"/>
                </a:lnTo>
                <a:close/>
              </a:path>
            </a:pathLst>
          </a:custGeom>
          <a:solidFill>
            <a:srgbClr val="000000"/>
          </a:solidFill>
          <a:ln w="10160">
            <a:solidFill>
              <a:srgbClr val="DDFF00">
                <a:alpha val="30196"/>
              </a:srgbClr>
            </a:solidFill>
            <a:prstDash val="solid"/>
          </a:ln>
        </p:spPr>
      </p:sp>
      <p:sp>
        <p:nvSpPr>
          <p:cNvPr id="36" name="Shape 34"/>
          <p:cNvSpPr/>
          <p:nvPr/>
        </p:nvSpPr>
        <p:spPr>
          <a:xfrm>
            <a:off x="3523059" y="6465789"/>
            <a:ext cx="297656" cy="238125"/>
          </a:xfrm>
          <a:custGeom>
            <a:avLst/>
            <a:gdLst/>
            <a:ahLst/>
            <a:cxnLst/>
            <a:rect l="l" t="t" r="r" b="b"/>
            <a:pathLst>
              <a:path w="297656" h="238125">
                <a:moveTo>
                  <a:pt x="107900" y="7488"/>
                </a:moveTo>
                <a:lnTo>
                  <a:pt x="107900" y="-14836"/>
                </a:lnTo>
                <a:cubicBezTo>
                  <a:pt x="107900" y="-21022"/>
                  <a:pt x="102924" y="-25998"/>
                  <a:pt x="96738" y="-25998"/>
                </a:cubicBezTo>
                <a:cubicBezTo>
                  <a:pt x="90553" y="-25998"/>
                  <a:pt x="85576" y="-21022"/>
                  <a:pt x="85576" y="-14836"/>
                </a:cubicBezTo>
                <a:lnTo>
                  <a:pt x="85576" y="7488"/>
                </a:lnTo>
                <a:cubicBezTo>
                  <a:pt x="85576" y="13674"/>
                  <a:pt x="90553" y="18650"/>
                  <a:pt x="96738" y="18650"/>
                </a:cubicBezTo>
                <a:cubicBezTo>
                  <a:pt x="102924" y="18650"/>
                  <a:pt x="107900" y="13674"/>
                  <a:pt x="107900" y="7488"/>
                </a:cubicBezTo>
                <a:close/>
                <a:moveTo>
                  <a:pt x="14883" y="78181"/>
                </a:moveTo>
                <a:lnTo>
                  <a:pt x="37207" y="78181"/>
                </a:lnTo>
                <a:cubicBezTo>
                  <a:pt x="43393" y="78181"/>
                  <a:pt x="48369" y="73205"/>
                  <a:pt x="48369" y="67019"/>
                </a:cubicBezTo>
                <a:cubicBezTo>
                  <a:pt x="48369" y="60833"/>
                  <a:pt x="43393" y="55857"/>
                  <a:pt x="37207" y="55857"/>
                </a:cubicBezTo>
                <a:lnTo>
                  <a:pt x="14883" y="55857"/>
                </a:lnTo>
                <a:cubicBezTo>
                  <a:pt x="8697" y="55857"/>
                  <a:pt x="3721" y="60833"/>
                  <a:pt x="3721" y="67019"/>
                </a:cubicBezTo>
                <a:cubicBezTo>
                  <a:pt x="3721" y="73205"/>
                  <a:pt x="8697" y="78181"/>
                  <a:pt x="14883" y="78181"/>
                </a:cubicBezTo>
                <a:close/>
                <a:moveTo>
                  <a:pt x="130922" y="32835"/>
                </a:moveTo>
                <a:cubicBezTo>
                  <a:pt x="135294" y="37207"/>
                  <a:pt x="142363" y="37207"/>
                  <a:pt x="146689" y="32835"/>
                </a:cubicBezTo>
                <a:lnTo>
                  <a:pt x="162455" y="17069"/>
                </a:lnTo>
                <a:cubicBezTo>
                  <a:pt x="166827" y="12697"/>
                  <a:pt x="166827" y="5628"/>
                  <a:pt x="162455" y="1302"/>
                </a:cubicBezTo>
                <a:cubicBezTo>
                  <a:pt x="158083" y="-3023"/>
                  <a:pt x="151014" y="-3070"/>
                  <a:pt x="146689" y="1302"/>
                </a:cubicBezTo>
                <a:lnTo>
                  <a:pt x="130922" y="17022"/>
                </a:lnTo>
                <a:cubicBezTo>
                  <a:pt x="126550" y="21394"/>
                  <a:pt x="126550" y="28463"/>
                  <a:pt x="130922" y="32789"/>
                </a:cubicBezTo>
                <a:close/>
                <a:moveTo>
                  <a:pt x="46741" y="132829"/>
                </a:moveTo>
                <a:lnTo>
                  <a:pt x="62508" y="117063"/>
                </a:lnTo>
                <a:cubicBezTo>
                  <a:pt x="66880" y="112691"/>
                  <a:pt x="66880" y="105621"/>
                  <a:pt x="62508" y="101296"/>
                </a:cubicBezTo>
                <a:cubicBezTo>
                  <a:pt x="58136" y="96971"/>
                  <a:pt x="51067" y="96924"/>
                  <a:pt x="46741" y="101296"/>
                </a:cubicBezTo>
                <a:lnTo>
                  <a:pt x="30975" y="117016"/>
                </a:lnTo>
                <a:cubicBezTo>
                  <a:pt x="26603" y="121388"/>
                  <a:pt x="26603" y="128457"/>
                  <a:pt x="30975" y="132783"/>
                </a:cubicBezTo>
                <a:cubicBezTo>
                  <a:pt x="35347" y="137108"/>
                  <a:pt x="42416" y="137154"/>
                  <a:pt x="46741" y="132783"/>
                </a:cubicBezTo>
                <a:close/>
                <a:moveTo>
                  <a:pt x="30975" y="1256"/>
                </a:moveTo>
                <a:cubicBezTo>
                  <a:pt x="26603" y="5628"/>
                  <a:pt x="26603" y="12697"/>
                  <a:pt x="30975" y="17022"/>
                </a:cubicBezTo>
                <a:lnTo>
                  <a:pt x="46741" y="32789"/>
                </a:lnTo>
                <a:cubicBezTo>
                  <a:pt x="51113" y="37161"/>
                  <a:pt x="58182" y="37161"/>
                  <a:pt x="62508" y="32789"/>
                </a:cubicBezTo>
                <a:cubicBezTo>
                  <a:pt x="66833" y="28417"/>
                  <a:pt x="66880" y="21348"/>
                  <a:pt x="62508" y="17022"/>
                </a:cubicBezTo>
                <a:lnTo>
                  <a:pt x="46741" y="1256"/>
                </a:lnTo>
                <a:cubicBezTo>
                  <a:pt x="42370" y="-3116"/>
                  <a:pt x="35347" y="-3116"/>
                  <a:pt x="30975" y="1256"/>
                </a:cubicBezTo>
                <a:close/>
                <a:moveTo>
                  <a:pt x="164130" y="81576"/>
                </a:moveTo>
                <a:lnTo>
                  <a:pt x="234869" y="100552"/>
                </a:lnTo>
                <a:cubicBezTo>
                  <a:pt x="237846" y="101343"/>
                  <a:pt x="240032" y="103947"/>
                  <a:pt x="240357" y="107017"/>
                </a:cubicBezTo>
                <a:lnTo>
                  <a:pt x="243706" y="141433"/>
                </a:lnTo>
                <a:lnTo>
                  <a:pt x="136038" y="112598"/>
                </a:lnTo>
                <a:lnTo>
                  <a:pt x="156130" y="84460"/>
                </a:lnTo>
                <a:cubicBezTo>
                  <a:pt x="157944" y="81948"/>
                  <a:pt x="161106" y="80786"/>
                  <a:pt x="164130" y="81576"/>
                </a:cubicBezTo>
                <a:close/>
                <a:moveTo>
                  <a:pt x="103994" y="106273"/>
                </a:moveTo>
                <a:lnTo>
                  <a:pt x="103017" y="107621"/>
                </a:lnTo>
                <a:cubicBezTo>
                  <a:pt x="92925" y="110179"/>
                  <a:pt x="84460" y="117993"/>
                  <a:pt x="81576" y="128783"/>
                </a:cubicBezTo>
                <a:cubicBezTo>
                  <a:pt x="79670" y="135992"/>
                  <a:pt x="75809" y="150363"/>
                  <a:pt x="70042" y="171896"/>
                </a:cubicBezTo>
                <a:lnTo>
                  <a:pt x="66182" y="186268"/>
                </a:lnTo>
                <a:cubicBezTo>
                  <a:pt x="64043" y="194221"/>
                  <a:pt x="68786" y="202360"/>
                  <a:pt x="76693" y="204499"/>
                </a:cubicBezTo>
                <a:lnTo>
                  <a:pt x="83902" y="206406"/>
                </a:lnTo>
                <a:cubicBezTo>
                  <a:pt x="91855" y="208545"/>
                  <a:pt x="99994" y="203802"/>
                  <a:pt x="102133" y="195895"/>
                </a:cubicBezTo>
                <a:lnTo>
                  <a:pt x="105994" y="181524"/>
                </a:lnTo>
                <a:lnTo>
                  <a:pt x="235381" y="216173"/>
                </a:lnTo>
                <a:lnTo>
                  <a:pt x="231521" y="230544"/>
                </a:lnTo>
                <a:cubicBezTo>
                  <a:pt x="229381" y="238497"/>
                  <a:pt x="234125" y="246636"/>
                  <a:pt x="242032" y="248776"/>
                </a:cubicBezTo>
                <a:lnTo>
                  <a:pt x="249241" y="250682"/>
                </a:lnTo>
                <a:cubicBezTo>
                  <a:pt x="257194" y="252822"/>
                  <a:pt x="265333" y="248078"/>
                  <a:pt x="267472" y="240171"/>
                </a:cubicBezTo>
                <a:cubicBezTo>
                  <a:pt x="269379" y="232963"/>
                  <a:pt x="273239" y="218591"/>
                  <a:pt x="279006" y="197058"/>
                </a:cubicBezTo>
                <a:lnTo>
                  <a:pt x="282866" y="182687"/>
                </a:lnTo>
                <a:cubicBezTo>
                  <a:pt x="285750" y="171896"/>
                  <a:pt x="282355" y="160920"/>
                  <a:pt x="274867" y="153619"/>
                </a:cubicBezTo>
                <a:lnTo>
                  <a:pt x="274727" y="151944"/>
                </a:lnTo>
                <a:lnTo>
                  <a:pt x="270077" y="104040"/>
                </a:lnTo>
                <a:cubicBezTo>
                  <a:pt x="268588" y="88599"/>
                  <a:pt x="257659" y="75716"/>
                  <a:pt x="242683" y="71717"/>
                </a:cubicBezTo>
                <a:lnTo>
                  <a:pt x="171850" y="52834"/>
                </a:lnTo>
                <a:cubicBezTo>
                  <a:pt x="156874" y="48834"/>
                  <a:pt x="140968" y="54508"/>
                  <a:pt x="131945" y="67159"/>
                </a:cubicBezTo>
                <a:lnTo>
                  <a:pt x="103947" y="106319"/>
                </a:lnTo>
                <a:close/>
                <a:moveTo>
                  <a:pt x="126643" y="133155"/>
                </a:moveTo>
                <a:cubicBezTo>
                  <a:pt x="131860" y="134461"/>
                  <a:pt x="135967" y="138479"/>
                  <a:pt x="137385" y="143667"/>
                </a:cubicBezTo>
                <a:cubicBezTo>
                  <a:pt x="138803" y="148854"/>
                  <a:pt x="137313" y="154403"/>
                  <a:pt x="133486" y="158182"/>
                </a:cubicBezTo>
                <a:cubicBezTo>
                  <a:pt x="129660" y="161961"/>
                  <a:pt x="124092" y="163381"/>
                  <a:pt x="118923" y="161897"/>
                </a:cubicBezTo>
                <a:cubicBezTo>
                  <a:pt x="113706" y="160591"/>
                  <a:pt x="109600" y="156572"/>
                  <a:pt x="108181" y="151385"/>
                </a:cubicBezTo>
                <a:cubicBezTo>
                  <a:pt x="106763" y="146197"/>
                  <a:pt x="108254" y="140648"/>
                  <a:pt x="112080" y="136870"/>
                </a:cubicBezTo>
                <a:cubicBezTo>
                  <a:pt x="115907" y="133091"/>
                  <a:pt x="121474" y="131671"/>
                  <a:pt x="126643" y="133155"/>
                </a:cubicBezTo>
                <a:close/>
                <a:moveTo>
                  <a:pt x="223428" y="174501"/>
                </a:moveTo>
                <a:cubicBezTo>
                  <a:pt x="224734" y="169284"/>
                  <a:pt x="228753" y="165178"/>
                  <a:pt x="233940" y="163759"/>
                </a:cubicBezTo>
                <a:cubicBezTo>
                  <a:pt x="239128" y="162341"/>
                  <a:pt x="244677" y="163832"/>
                  <a:pt x="248456" y="167658"/>
                </a:cubicBezTo>
                <a:cubicBezTo>
                  <a:pt x="252234" y="171485"/>
                  <a:pt x="253654" y="177052"/>
                  <a:pt x="252171" y="182221"/>
                </a:cubicBezTo>
                <a:cubicBezTo>
                  <a:pt x="250865" y="187438"/>
                  <a:pt x="246846" y="191545"/>
                  <a:pt x="241658" y="192963"/>
                </a:cubicBezTo>
                <a:cubicBezTo>
                  <a:pt x="236471" y="194381"/>
                  <a:pt x="230922" y="192891"/>
                  <a:pt x="227143" y="189064"/>
                </a:cubicBezTo>
                <a:cubicBezTo>
                  <a:pt x="223365" y="185238"/>
                  <a:pt x="221944" y="179670"/>
                  <a:pt x="223428" y="174501"/>
                </a:cubicBezTo>
                <a:close/>
              </a:path>
            </a:pathLst>
          </a:custGeom>
          <a:solidFill>
            <a:srgbClr val="DDFF00"/>
          </a:solidFill>
          <a:ln/>
        </p:spPr>
      </p:sp>
      <p:sp>
        <p:nvSpPr>
          <p:cNvPr id="37" name="Text 35"/>
          <p:cNvSpPr/>
          <p:nvPr/>
        </p:nvSpPr>
        <p:spPr>
          <a:xfrm>
            <a:off x="2734766" y="6767414"/>
            <a:ext cx="1873250" cy="222250"/>
          </a:xfrm>
          <a:prstGeom prst="rect">
            <a:avLst/>
          </a:prstGeom>
          <a:noFill/>
          <a:ln/>
        </p:spPr>
        <p:txBody>
          <a:bodyPr wrap="square" lIns="0" tIns="0" rIns="0" bIns="0" rtlCol="0" anchor="ctr"/>
          <a:lstStyle/>
          <a:p>
            <a:pPr algn="ctr">
              <a:lnSpc>
                <a:spcPct val="130000"/>
              </a:lnSpc>
            </a:pPr>
            <a:r>
              <a:rPr lang="en-US" sz="1125" b="1" dirty="0">
                <a:solidFill>
                  <a:srgbClr val="FFFFFF"/>
                </a:solidFill>
                <a:latin typeface="Liter" pitchFamily="34" charset="0"/>
                <a:ea typeface="Liter" pitchFamily="34" charset="-122"/>
                <a:cs typeface="Liter" pitchFamily="34" charset="-120"/>
              </a:rPr>
              <a:t>Vandalism</a:t>
            </a:r>
            <a:endParaRPr lang="en-US" sz="1600" dirty="0"/>
          </a:p>
        </p:txBody>
      </p:sp>
      <p:sp>
        <p:nvSpPr>
          <p:cNvPr id="38" name="Text 36"/>
          <p:cNvSpPr/>
          <p:nvPr/>
        </p:nvSpPr>
        <p:spPr>
          <a:xfrm>
            <a:off x="2742704" y="7021414"/>
            <a:ext cx="1857375" cy="158750"/>
          </a:xfrm>
          <a:prstGeom prst="rect">
            <a:avLst/>
          </a:prstGeom>
          <a:noFill/>
          <a:ln/>
        </p:spPr>
        <p:txBody>
          <a:bodyPr wrap="square" lIns="0" tIns="0" rIns="0" bIns="0" rtlCol="0" anchor="ctr"/>
          <a:lstStyle/>
          <a:p>
            <a:pPr algn="ctr">
              <a:lnSpc>
                <a:spcPct val="120000"/>
              </a:lnSpc>
            </a:pPr>
            <a:r>
              <a:rPr lang="en-US" sz="875" dirty="0">
                <a:solidFill>
                  <a:srgbClr val="FFFFFF">
                    <a:alpha val="60000"/>
                  </a:srgbClr>
                </a:solidFill>
                <a:latin typeface="Liter" pitchFamily="34" charset="0"/>
                <a:ea typeface="Liter" pitchFamily="34" charset="-122"/>
                <a:cs typeface="Liter" pitchFamily="34" charset="-120"/>
              </a:rPr>
              <a:t>Deliberate property damage</a:t>
            </a:r>
            <a:endParaRPr lang="en-US" sz="1600" dirty="0"/>
          </a:p>
        </p:txBody>
      </p:sp>
      <p:sp>
        <p:nvSpPr>
          <p:cNvPr id="39" name="Shape 37"/>
          <p:cNvSpPr/>
          <p:nvPr/>
        </p:nvSpPr>
        <p:spPr>
          <a:xfrm>
            <a:off x="5052021" y="1079500"/>
            <a:ext cx="6826250" cy="6389688"/>
          </a:xfrm>
          <a:custGeom>
            <a:avLst/>
            <a:gdLst/>
            <a:ahLst/>
            <a:cxnLst/>
            <a:rect l="l" t="t" r="r" b="b"/>
            <a:pathLst>
              <a:path w="6826250" h="6389688">
                <a:moveTo>
                  <a:pt x="0" y="0"/>
                </a:moveTo>
                <a:lnTo>
                  <a:pt x="6826250" y="0"/>
                </a:lnTo>
                <a:lnTo>
                  <a:pt x="6826250" y="6389688"/>
                </a:lnTo>
                <a:lnTo>
                  <a:pt x="0" y="6389688"/>
                </a:lnTo>
                <a:lnTo>
                  <a:pt x="0" y="0"/>
                </a:lnTo>
                <a:close/>
              </a:path>
            </a:pathLst>
          </a:custGeom>
          <a:solidFill>
            <a:srgbClr val="111111"/>
          </a:solidFill>
          <a:ln/>
        </p:spPr>
      </p:sp>
      <p:sp>
        <p:nvSpPr>
          <p:cNvPr id="40" name="Shape 38"/>
          <p:cNvSpPr/>
          <p:nvPr/>
        </p:nvSpPr>
        <p:spPr>
          <a:xfrm>
            <a:off x="5290146" y="1301651"/>
            <a:ext cx="142875" cy="190500"/>
          </a:xfrm>
          <a:custGeom>
            <a:avLst/>
            <a:gdLst/>
            <a:ahLst/>
            <a:cxnLst/>
            <a:rect l="l" t="t" r="r" b="b"/>
            <a:pathLst>
              <a:path w="142875" h="190500">
                <a:moveTo>
                  <a:pt x="115863" y="11906"/>
                </a:moveTo>
                <a:lnTo>
                  <a:pt x="119063" y="11906"/>
                </a:lnTo>
                <a:cubicBezTo>
                  <a:pt x="132197" y="11906"/>
                  <a:pt x="142875" y="22585"/>
                  <a:pt x="142875" y="35719"/>
                </a:cubicBezTo>
                <a:lnTo>
                  <a:pt x="142875" y="166688"/>
                </a:lnTo>
                <a:cubicBezTo>
                  <a:pt x="142875" y="179822"/>
                  <a:pt x="132197" y="190500"/>
                  <a:pt x="119063" y="190500"/>
                </a:cubicBezTo>
                <a:lnTo>
                  <a:pt x="23812" y="190500"/>
                </a:lnTo>
                <a:cubicBezTo>
                  <a:pt x="10678" y="190500"/>
                  <a:pt x="0" y="179822"/>
                  <a:pt x="0" y="166688"/>
                </a:cubicBezTo>
                <a:lnTo>
                  <a:pt x="0" y="35719"/>
                </a:lnTo>
                <a:cubicBezTo>
                  <a:pt x="0" y="22585"/>
                  <a:pt x="10678" y="11906"/>
                  <a:pt x="23812" y="11906"/>
                </a:cubicBezTo>
                <a:lnTo>
                  <a:pt x="27012" y="11906"/>
                </a:lnTo>
                <a:cubicBezTo>
                  <a:pt x="31105" y="4800"/>
                  <a:pt x="38807" y="0"/>
                  <a:pt x="47625" y="0"/>
                </a:cubicBezTo>
                <a:lnTo>
                  <a:pt x="95250" y="0"/>
                </a:lnTo>
                <a:cubicBezTo>
                  <a:pt x="104068" y="0"/>
                  <a:pt x="111770" y="4800"/>
                  <a:pt x="115863" y="11906"/>
                </a:cubicBezTo>
                <a:close/>
                <a:moveTo>
                  <a:pt x="92273" y="41672"/>
                </a:moveTo>
                <a:cubicBezTo>
                  <a:pt x="97222" y="41672"/>
                  <a:pt x="101203" y="37691"/>
                  <a:pt x="101203" y="32742"/>
                </a:cubicBezTo>
                <a:cubicBezTo>
                  <a:pt x="101203" y="27794"/>
                  <a:pt x="97222" y="23812"/>
                  <a:pt x="92273" y="23812"/>
                </a:cubicBezTo>
                <a:lnTo>
                  <a:pt x="50602" y="23812"/>
                </a:lnTo>
                <a:cubicBezTo>
                  <a:pt x="45653" y="23812"/>
                  <a:pt x="41672" y="27794"/>
                  <a:pt x="41672" y="32742"/>
                </a:cubicBezTo>
                <a:cubicBezTo>
                  <a:pt x="41672" y="37691"/>
                  <a:pt x="45653" y="41672"/>
                  <a:pt x="50602" y="41672"/>
                </a:cubicBezTo>
                <a:lnTo>
                  <a:pt x="92273" y="41672"/>
                </a:lnTo>
                <a:close/>
                <a:moveTo>
                  <a:pt x="47625" y="95250"/>
                </a:moveTo>
                <a:cubicBezTo>
                  <a:pt x="47625" y="88679"/>
                  <a:pt x="42290" y="83344"/>
                  <a:pt x="35719" y="83344"/>
                </a:cubicBezTo>
                <a:cubicBezTo>
                  <a:pt x="29148" y="83344"/>
                  <a:pt x="23812" y="88679"/>
                  <a:pt x="23812" y="95250"/>
                </a:cubicBezTo>
                <a:cubicBezTo>
                  <a:pt x="23812" y="101821"/>
                  <a:pt x="29148" y="107156"/>
                  <a:pt x="35719" y="107156"/>
                </a:cubicBezTo>
                <a:cubicBezTo>
                  <a:pt x="42290" y="107156"/>
                  <a:pt x="47625" y="101821"/>
                  <a:pt x="47625" y="95250"/>
                </a:cubicBezTo>
                <a:close/>
                <a:moveTo>
                  <a:pt x="59531" y="95250"/>
                </a:moveTo>
                <a:cubicBezTo>
                  <a:pt x="59531" y="100199"/>
                  <a:pt x="63512" y="104180"/>
                  <a:pt x="68461" y="104180"/>
                </a:cubicBezTo>
                <a:lnTo>
                  <a:pt x="110133" y="104180"/>
                </a:lnTo>
                <a:cubicBezTo>
                  <a:pt x="115081" y="104180"/>
                  <a:pt x="119063" y="100199"/>
                  <a:pt x="119063" y="95250"/>
                </a:cubicBezTo>
                <a:cubicBezTo>
                  <a:pt x="119063" y="90301"/>
                  <a:pt x="115081" y="86320"/>
                  <a:pt x="110133" y="86320"/>
                </a:cubicBezTo>
                <a:lnTo>
                  <a:pt x="68461" y="86320"/>
                </a:lnTo>
                <a:cubicBezTo>
                  <a:pt x="63512" y="86320"/>
                  <a:pt x="59531" y="90301"/>
                  <a:pt x="59531" y="95250"/>
                </a:cubicBezTo>
                <a:close/>
                <a:moveTo>
                  <a:pt x="59531" y="142875"/>
                </a:moveTo>
                <a:cubicBezTo>
                  <a:pt x="59531" y="147824"/>
                  <a:pt x="63512" y="151805"/>
                  <a:pt x="68461" y="151805"/>
                </a:cubicBezTo>
                <a:lnTo>
                  <a:pt x="110133" y="151805"/>
                </a:lnTo>
                <a:cubicBezTo>
                  <a:pt x="115081" y="151805"/>
                  <a:pt x="119063" y="147824"/>
                  <a:pt x="119063" y="142875"/>
                </a:cubicBezTo>
                <a:cubicBezTo>
                  <a:pt x="119063" y="137926"/>
                  <a:pt x="115081" y="133945"/>
                  <a:pt x="110133" y="133945"/>
                </a:cubicBezTo>
                <a:lnTo>
                  <a:pt x="68461" y="133945"/>
                </a:lnTo>
                <a:cubicBezTo>
                  <a:pt x="63512" y="133945"/>
                  <a:pt x="59531" y="137926"/>
                  <a:pt x="59531" y="142875"/>
                </a:cubicBezTo>
                <a:close/>
                <a:moveTo>
                  <a:pt x="35719" y="154781"/>
                </a:moveTo>
                <a:cubicBezTo>
                  <a:pt x="42290" y="154781"/>
                  <a:pt x="47625" y="149446"/>
                  <a:pt x="47625" y="142875"/>
                </a:cubicBezTo>
                <a:cubicBezTo>
                  <a:pt x="47625" y="136304"/>
                  <a:pt x="42290" y="130969"/>
                  <a:pt x="35719" y="130969"/>
                </a:cubicBezTo>
                <a:cubicBezTo>
                  <a:pt x="29148" y="130969"/>
                  <a:pt x="23812" y="136304"/>
                  <a:pt x="23812" y="142875"/>
                </a:cubicBezTo>
                <a:cubicBezTo>
                  <a:pt x="23812" y="149446"/>
                  <a:pt x="29148" y="154781"/>
                  <a:pt x="35719" y="154781"/>
                </a:cubicBezTo>
                <a:close/>
              </a:path>
            </a:pathLst>
          </a:custGeom>
          <a:solidFill>
            <a:srgbClr val="DDFF00"/>
          </a:solidFill>
          <a:ln/>
        </p:spPr>
      </p:sp>
      <p:sp>
        <p:nvSpPr>
          <p:cNvPr id="41" name="Text 39"/>
          <p:cNvSpPr/>
          <p:nvPr/>
        </p:nvSpPr>
        <p:spPr>
          <a:xfrm>
            <a:off x="5480646" y="1270000"/>
            <a:ext cx="6302375" cy="254000"/>
          </a:xfrm>
          <a:prstGeom prst="rect">
            <a:avLst/>
          </a:prstGeom>
          <a:noFill/>
          <a:ln/>
        </p:spPr>
        <p:txBody>
          <a:bodyPr wrap="square" lIns="0" tIns="0" rIns="0" bIns="0" rtlCol="0" anchor="ctr"/>
          <a:lstStyle/>
          <a:p>
            <a:pPr>
              <a:lnSpc>
                <a:spcPct val="110000"/>
              </a:lnSpc>
            </a:pPr>
            <a:r>
              <a:rPr lang="en-US" sz="1500" b="1" dirty="0">
                <a:solidFill>
                  <a:srgbClr val="DDFF00"/>
                </a:solidFill>
                <a:latin typeface="Liter" pitchFamily="34" charset="0"/>
                <a:ea typeface="Liter" pitchFamily="34" charset="-122"/>
                <a:cs typeface="Liter" pitchFamily="34" charset="-120"/>
              </a:rPr>
              <a:t>Key Characteristics</a:t>
            </a:r>
            <a:endParaRPr lang="en-US" sz="1600" dirty="0"/>
          </a:p>
        </p:txBody>
      </p:sp>
      <p:sp>
        <p:nvSpPr>
          <p:cNvPr id="42" name="Shape 40"/>
          <p:cNvSpPr/>
          <p:nvPr/>
        </p:nvSpPr>
        <p:spPr>
          <a:xfrm>
            <a:off x="5242521" y="1714401"/>
            <a:ext cx="508000" cy="508000"/>
          </a:xfrm>
          <a:custGeom>
            <a:avLst/>
            <a:gdLst/>
            <a:ahLst/>
            <a:cxnLst/>
            <a:rect l="l" t="t" r="r" b="b"/>
            <a:pathLst>
              <a:path w="508000" h="508000">
                <a:moveTo>
                  <a:pt x="0" y="0"/>
                </a:moveTo>
                <a:lnTo>
                  <a:pt x="508000" y="0"/>
                </a:lnTo>
                <a:lnTo>
                  <a:pt x="508000" y="508000"/>
                </a:lnTo>
                <a:lnTo>
                  <a:pt x="0" y="508000"/>
                </a:lnTo>
                <a:lnTo>
                  <a:pt x="0" y="0"/>
                </a:lnTo>
                <a:close/>
              </a:path>
            </a:pathLst>
          </a:custGeom>
          <a:solidFill>
            <a:srgbClr val="DDFF00"/>
          </a:solidFill>
          <a:ln/>
        </p:spPr>
      </p:sp>
      <p:sp>
        <p:nvSpPr>
          <p:cNvPr id="43" name="Shape 41"/>
          <p:cNvSpPr/>
          <p:nvPr/>
        </p:nvSpPr>
        <p:spPr>
          <a:xfrm>
            <a:off x="5425083" y="1873151"/>
            <a:ext cx="142875" cy="190500"/>
          </a:xfrm>
          <a:custGeom>
            <a:avLst/>
            <a:gdLst/>
            <a:ahLst/>
            <a:cxnLst/>
            <a:rect l="l" t="t" r="r" b="b"/>
            <a:pathLst>
              <a:path w="142875" h="190500">
                <a:moveTo>
                  <a:pt x="71438" y="29766"/>
                </a:moveTo>
                <a:cubicBezTo>
                  <a:pt x="82937" y="29766"/>
                  <a:pt x="92273" y="20429"/>
                  <a:pt x="92273" y="8930"/>
                </a:cubicBezTo>
                <a:cubicBezTo>
                  <a:pt x="92273" y="-2570"/>
                  <a:pt x="82937" y="-11906"/>
                  <a:pt x="71438" y="-11906"/>
                </a:cubicBezTo>
                <a:cubicBezTo>
                  <a:pt x="59938" y="-11906"/>
                  <a:pt x="50602" y="-2570"/>
                  <a:pt x="50602" y="8930"/>
                </a:cubicBezTo>
                <a:cubicBezTo>
                  <a:pt x="50602" y="20429"/>
                  <a:pt x="59938" y="29766"/>
                  <a:pt x="71438" y="29766"/>
                </a:cubicBezTo>
                <a:close/>
                <a:moveTo>
                  <a:pt x="39216" y="84795"/>
                </a:moveTo>
                <a:lnTo>
                  <a:pt x="47625" y="76386"/>
                </a:lnTo>
                <a:lnTo>
                  <a:pt x="47625" y="102171"/>
                </a:lnTo>
                <a:cubicBezTo>
                  <a:pt x="47625" y="112588"/>
                  <a:pt x="52164" y="122523"/>
                  <a:pt x="60089" y="129294"/>
                </a:cubicBezTo>
                <a:lnTo>
                  <a:pt x="86655" y="152065"/>
                </a:lnTo>
                <a:cubicBezTo>
                  <a:pt x="88850" y="153963"/>
                  <a:pt x="90301" y="156567"/>
                  <a:pt x="90711" y="159432"/>
                </a:cubicBezTo>
                <a:lnTo>
                  <a:pt x="95399" y="192212"/>
                </a:lnTo>
                <a:cubicBezTo>
                  <a:pt x="96329" y="198723"/>
                  <a:pt x="102357" y="203262"/>
                  <a:pt x="108868" y="202332"/>
                </a:cubicBezTo>
                <a:cubicBezTo>
                  <a:pt x="115379" y="201402"/>
                  <a:pt x="119918" y="195374"/>
                  <a:pt x="118988" y="188863"/>
                </a:cubicBezTo>
                <a:lnTo>
                  <a:pt x="114300" y="156083"/>
                </a:lnTo>
                <a:cubicBezTo>
                  <a:pt x="113072" y="147489"/>
                  <a:pt x="108756" y="139675"/>
                  <a:pt x="102171" y="134020"/>
                </a:cubicBezTo>
                <a:lnTo>
                  <a:pt x="89334" y="123006"/>
                </a:lnTo>
                <a:lnTo>
                  <a:pt x="89334" y="80144"/>
                </a:lnTo>
                <a:lnTo>
                  <a:pt x="90748" y="81893"/>
                </a:lnTo>
                <a:cubicBezTo>
                  <a:pt x="97520" y="90376"/>
                  <a:pt x="107789" y="95287"/>
                  <a:pt x="118653" y="95287"/>
                </a:cubicBezTo>
                <a:lnTo>
                  <a:pt x="131006" y="95287"/>
                </a:lnTo>
                <a:cubicBezTo>
                  <a:pt x="137592" y="95287"/>
                  <a:pt x="142912" y="89967"/>
                  <a:pt x="142912" y="83381"/>
                </a:cubicBezTo>
                <a:cubicBezTo>
                  <a:pt x="142912" y="76795"/>
                  <a:pt x="137592" y="71475"/>
                  <a:pt x="131006" y="71475"/>
                </a:cubicBezTo>
                <a:lnTo>
                  <a:pt x="118653" y="71475"/>
                </a:lnTo>
                <a:cubicBezTo>
                  <a:pt x="115044" y="71475"/>
                  <a:pt x="111621" y="69838"/>
                  <a:pt x="109351" y="67010"/>
                </a:cubicBezTo>
                <a:lnTo>
                  <a:pt x="102691" y="58675"/>
                </a:lnTo>
                <a:cubicBezTo>
                  <a:pt x="94134" y="47960"/>
                  <a:pt x="81149" y="41709"/>
                  <a:pt x="67419" y="41709"/>
                </a:cubicBezTo>
                <a:cubicBezTo>
                  <a:pt x="55438" y="41709"/>
                  <a:pt x="43942" y="46472"/>
                  <a:pt x="35496" y="54955"/>
                </a:cubicBezTo>
                <a:lnTo>
                  <a:pt x="22361" y="67940"/>
                </a:lnTo>
                <a:cubicBezTo>
                  <a:pt x="15664" y="74637"/>
                  <a:pt x="11906" y="83716"/>
                  <a:pt x="11906" y="93204"/>
                </a:cubicBezTo>
                <a:lnTo>
                  <a:pt x="11906" y="107156"/>
                </a:lnTo>
                <a:cubicBezTo>
                  <a:pt x="11906" y="113742"/>
                  <a:pt x="17227" y="119063"/>
                  <a:pt x="23812" y="119063"/>
                </a:cubicBezTo>
                <a:cubicBezTo>
                  <a:pt x="30398" y="119063"/>
                  <a:pt x="35719" y="113742"/>
                  <a:pt x="35719" y="107156"/>
                </a:cubicBezTo>
                <a:lnTo>
                  <a:pt x="35719" y="93204"/>
                </a:lnTo>
                <a:cubicBezTo>
                  <a:pt x="35719" y="90041"/>
                  <a:pt x="36984" y="87027"/>
                  <a:pt x="39216" y="84795"/>
                </a:cubicBezTo>
                <a:close/>
                <a:moveTo>
                  <a:pt x="43830" y="151544"/>
                </a:moveTo>
                <a:cubicBezTo>
                  <a:pt x="43272" y="153479"/>
                  <a:pt x="42230" y="155265"/>
                  <a:pt x="40816" y="156679"/>
                </a:cubicBezTo>
                <a:lnTo>
                  <a:pt x="15404" y="182091"/>
                </a:lnTo>
                <a:cubicBezTo>
                  <a:pt x="10753" y="186742"/>
                  <a:pt x="10753" y="194295"/>
                  <a:pt x="15404" y="198946"/>
                </a:cubicBezTo>
                <a:cubicBezTo>
                  <a:pt x="20055" y="203597"/>
                  <a:pt x="27608" y="203597"/>
                  <a:pt x="32258" y="198946"/>
                </a:cubicBezTo>
                <a:lnTo>
                  <a:pt x="57671" y="173534"/>
                </a:lnTo>
                <a:cubicBezTo>
                  <a:pt x="61950" y="169255"/>
                  <a:pt x="65075" y="163934"/>
                  <a:pt x="66749" y="158093"/>
                </a:cubicBezTo>
                <a:lnTo>
                  <a:pt x="67568" y="155265"/>
                </a:lnTo>
                <a:lnTo>
                  <a:pt x="50453" y="140605"/>
                </a:lnTo>
                <a:cubicBezTo>
                  <a:pt x="49523" y="139787"/>
                  <a:pt x="48592" y="138968"/>
                  <a:pt x="47699" y="138075"/>
                </a:cubicBezTo>
                <a:lnTo>
                  <a:pt x="43830" y="151544"/>
                </a:lnTo>
                <a:close/>
              </a:path>
            </a:pathLst>
          </a:custGeom>
          <a:solidFill>
            <a:srgbClr val="000000"/>
          </a:solidFill>
          <a:ln/>
        </p:spPr>
      </p:sp>
      <p:sp>
        <p:nvSpPr>
          <p:cNvPr id="44" name="Text 42"/>
          <p:cNvSpPr/>
          <p:nvPr/>
        </p:nvSpPr>
        <p:spPr>
          <a:xfrm>
            <a:off x="5909271" y="1714401"/>
            <a:ext cx="5857875" cy="222250"/>
          </a:xfrm>
          <a:prstGeom prst="rect">
            <a:avLst/>
          </a:prstGeom>
          <a:noFill/>
          <a:ln/>
        </p:spPr>
        <p:txBody>
          <a:bodyPr wrap="square" lIns="0" tIns="0" rIns="0" bIns="0" rtlCol="0" anchor="ctr"/>
          <a:lstStyle/>
          <a:p>
            <a:pPr>
              <a:lnSpc>
                <a:spcPct val="120000"/>
              </a:lnSpc>
            </a:pPr>
            <a:r>
              <a:rPr lang="en-US" sz="1250" b="1" dirty="0">
                <a:solidFill>
                  <a:srgbClr val="FFFFFF"/>
                </a:solidFill>
                <a:latin typeface="Liter" pitchFamily="34" charset="0"/>
                <a:ea typeface="Liter" pitchFamily="34" charset="-122"/>
                <a:cs typeface="Liter" pitchFamily="34" charset="-120"/>
              </a:rPr>
              <a:t>Requires Physical Presence</a:t>
            </a:r>
            <a:endParaRPr lang="en-US" sz="1600" dirty="0"/>
          </a:p>
        </p:txBody>
      </p:sp>
      <p:sp>
        <p:nvSpPr>
          <p:cNvPr id="45" name="Text 43"/>
          <p:cNvSpPr/>
          <p:nvPr/>
        </p:nvSpPr>
        <p:spPr>
          <a:xfrm>
            <a:off x="5909271" y="2000151"/>
            <a:ext cx="5842000" cy="619125"/>
          </a:xfrm>
          <a:prstGeom prst="rect">
            <a:avLst/>
          </a:prstGeom>
          <a:noFill/>
          <a:ln/>
        </p:spPr>
        <p:txBody>
          <a:bodyPr wrap="square" lIns="0" tIns="0" rIns="0" bIns="0" rtlCol="0" anchor="ctr"/>
          <a:lstStyle/>
          <a:p>
            <a:pPr>
              <a:lnSpc>
                <a:spcPct val="140000"/>
              </a:lnSpc>
            </a:pPr>
            <a:r>
              <a:rPr lang="en-US" sz="1000" dirty="0">
                <a:solidFill>
                  <a:srgbClr val="FFFFFF">
                    <a:alpha val="80000"/>
                  </a:srgbClr>
                </a:solidFill>
                <a:latin typeface="Liter" pitchFamily="34" charset="0"/>
                <a:ea typeface="Liter" pitchFamily="34" charset="-122"/>
                <a:cs typeface="Liter" pitchFamily="34" charset="-120"/>
              </a:rPr>
              <a:t>The offender must be physically present at the crime scene to commit the offense. This creates opportunities for witnesses, surveillance footage, and physical evidence collection. The geographical constraint limits the scope but also aids in investigation.</a:t>
            </a:r>
            <a:endParaRPr lang="en-US" sz="1600" dirty="0"/>
          </a:p>
        </p:txBody>
      </p:sp>
      <p:sp>
        <p:nvSpPr>
          <p:cNvPr id="46" name="Shape 44"/>
          <p:cNvSpPr/>
          <p:nvPr/>
        </p:nvSpPr>
        <p:spPr>
          <a:xfrm>
            <a:off x="5242521" y="2778026"/>
            <a:ext cx="508000" cy="508000"/>
          </a:xfrm>
          <a:custGeom>
            <a:avLst/>
            <a:gdLst/>
            <a:ahLst/>
            <a:cxnLst/>
            <a:rect l="l" t="t" r="r" b="b"/>
            <a:pathLst>
              <a:path w="508000" h="508000">
                <a:moveTo>
                  <a:pt x="0" y="0"/>
                </a:moveTo>
                <a:lnTo>
                  <a:pt x="508000" y="0"/>
                </a:lnTo>
                <a:lnTo>
                  <a:pt x="508000" y="508000"/>
                </a:lnTo>
                <a:lnTo>
                  <a:pt x="0" y="508000"/>
                </a:lnTo>
                <a:lnTo>
                  <a:pt x="0" y="0"/>
                </a:lnTo>
                <a:close/>
              </a:path>
            </a:pathLst>
          </a:custGeom>
          <a:solidFill>
            <a:srgbClr val="DDFF00"/>
          </a:solidFill>
          <a:ln/>
        </p:spPr>
      </p:sp>
      <p:sp>
        <p:nvSpPr>
          <p:cNvPr id="47" name="Shape 45"/>
          <p:cNvSpPr/>
          <p:nvPr/>
        </p:nvSpPr>
        <p:spPr>
          <a:xfrm>
            <a:off x="5401271" y="2936776"/>
            <a:ext cx="190500" cy="190500"/>
          </a:xfrm>
          <a:custGeom>
            <a:avLst/>
            <a:gdLst/>
            <a:ahLst/>
            <a:cxnLst/>
            <a:rect l="l" t="t" r="r" b="b"/>
            <a:pathLst>
              <a:path w="190500" h="190500">
                <a:moveTo>
                  <a:pt x="17859" y="95250"/>
                </a:moveTo>
                <a:cubicBezTo>
                  <a:pt x="17859" y="52499"/>
                  <a:pt x="52499" y="17859"/>
                  <a:pt x="95250" y="17859"/>
                </a:cubicBezTo>
                <a:cubicBezTo>
                  <a:pt x="118728" y="17859"/>
                  <a:pt x="139750" y="28315"/>
                  <a:pt x="153963" y="44834"/>
                </a:cubicBezTo>
                <a:cubicBezTo>
                  <a:pt x="157163" y="48592"/>
                  <a:pt x="162818" y="49002"/>
                  <a:pt x="166539" y="45802"/>
                </a:cubicBezTo>
                <a:cubicBezTo>
                  <a:pt x="170259" y="42602"/>
                  <a:pt x="170706" y="36947"/>
                  <a:pt x="167506" y="33226"/>
                </a:cubicBezTo>
                <a:cubicBezTo>
                  <a:pt x="150056" y="12874"/>
                  <a:pt x="124160" y="0"/>
                  <a:pt x="95250" y="0"/>
                </a:cubicBezTo>
                <a:cubicBezTo>
                  <a:pt x="42639" y="0"/>
                  <a:pt x="0" y="42639"/>
                  <a:pt x="0" y="95250"/>
                </a:cubicBezTo>
                <a:lnTo>
                  <a:pt x="0" y="110133"/>
                </a:lnTo>
                <a:cubicBezTo>
                  <a:pt x="0" y="115081"/>
                  <a:pt x="3981" y="119063"/>
                  <a:pt x="8930" y="119063"/>
                </a:cubicBezTo>
                <a:cubicBezTo>
                  <a:pt x="13878" y="119063"/>
                  <a:pt x="17859" y="115081"/>
                  <a:pt x="17859" y="110133"/>
                </a:cubicBezTo>
                <a:lnTo>
                  <a:pt x="17859" y="95250"/>
                </a:lnTo>
                <a:close/>
                <a:moveTo>
                  <a:pt x="188454" y="75567"/>
                </a:moveTo>
                <a:cubicBezTo>
                  <a:pt x="187449" y="70731"/>
                  <a:pt x="182687" y="67642"/>
                  <a:pt x="177887" y="68684"/>
                </a:cubicBezTo>
                <a:cubicBezTo>
                  <a:pt x="173087" y="69726"/>
                  <a:pt x="169962" y="74451"/>
                  <a:pt x="171004" y="79251"/>
                </a:cubicBezTo>
                <a:cubicBezTo>
                  <a:pt x="172083" y="84423"/>
                  <a:pt x="172678" y="89781"/>
                  <a:pt x="172678" y="95287"/>
                </a:cubicBezTo>
                <a:lnTo>
                  <a:pt x="172678" y="110170"/>
                </a:lnTo>
                <a:cubicBezTo>
                  <a:pt x="172678" y="115119"/>
                  <a:pt x="176659" y="119100"/>
                  <a:pt x="181608" y="119100"/>
                </a:cubicBezTo>
                <a:cubicBezTo>
                  <a:pt x="186556" y="119100"/>
                  <a:pt x="190537" y="115119"/>
                  <a:pt x="190537" y="110170"/>
                </a:cubicBezTo>
                <a:lnTo>
                  <a:pt x="190537" y="95287"/>
                </a:lnTo>
                <a:cubicBezTo>
                  <a:pt x="190537" y="88553"/>
                  <a:pt x="189830" y="81967"/>
                  <a:pt x="188491" y="75605"/>
                </a:cubicBezTo>
                <a:close/>
                <a:moveTo>
                  <a:pt x="95250" y="29766"/>
                </a:moveTo>
                <a:cubicBezTo>
                  <a:pt x="88181" y="29766"/>
                  <a:pt x="81335" y="30882"/>
                  <a:pt x="74972" y="32965"/>
                </a:cubicBezTo>
                <a:cubicBezTo>
                  <a:pt x="69317" y="34826"/>
                  <a:pt x="68014" y="41783"/>
                  <a:pt x="71884" y="46323"/>
                </a:cubicBezTo>
                <a:cubicBezTo>
                  <a:pt x="74526" y="49411"/>
                  <a:pt x="78879" y="50341"/>
                  <a:pt x="82823" y="49262"/>
                </a:cubicBezTo>
                <a:cubicBezTo>
                  <a:pt x="86767" y="48183"/>
                  <a:pt x="90934" y="47625"/>
                  <a:pt x="95250" y="47625"/>
                </a:cubicBezTo>
                <a:cubicBezTo>
                  <a:pt x="121555" y="47625"/>
                  <a:pt x="142875" y="68945"/>
                  <a:pt x="142875" y="95250"/>
                </a:cubicBezTo>
                <a:lnTo>
                  <a:pt x="142875" y="104515"/>
                </a:lnTo>
                <a:cubicBezTo>
                  <a:pt x="142875" y="113891"/>
                  <a:pt x="142317" y="123230"/>
                  <a:pt x="141238" y="132531"/>
                </a:cubicBezTo>
                <a:cubicBezTo>
                  <a:pt x="140605" y="137964"/>
                  <a:pt x="144735" y="142875"/>
                  <a:pt x="150242" y="142875"/>
                </a:cubicBezTo>
                <a:cubicBezTo>
                  <a:pt x="154632" y="142875"/>
                  <a:pt x="158390" y="139675"/>
                  <a:pt x="158911" y="135322"/>
                </a:cubicBezTo>
                <a:cubicBezTo>
                  <a:pt x="160139" y="125127"/>
                  <a:pt x="160772" y="114858"/>
                  <a:pt x="160772" y="104552"/>
                </a:cubicBezTo>
                <a:lnTo>
                  <a:pt x="160772" y="95287"/>
                </a:lnTo>
                <a:cubicBezTo>
                  <a:pt x="160772" y="59122"/>
                  <a:pt x="131452" y="29803"/>
                  <a:pt x="95287" y="29803"/>
                </a:cubicBezTo>
                <a:close/>
                <a:moveTo>
                  <a:pt x="56071" y="55327"/>
                </a:moveTo>
                <a:cubicBezTo>
                  <a:pt x="52685" y="51383"/>
                  <a:pt x="46658" y="51085"/>
                  <a:pt x="43458" y="55178"/>
                </a:cubicBezTo>
                <a:cubicBezTo>
                  <a:pt x="34863" y="66266"/>
                  <a:pt x="29766" y="80144"/>
                  <a:pt x="29766" y="95250"/>
                </a:cubicBezTo>
                <a:lnTo>
                  <a:pt x="29766" y="104515"/>
                </a:lnTo>
                <a:cubicBezTo>
                  <a:pt x="29766" y="113519"/>
                  <a:pt x="28798" y="122523"/>
                  <a:pt x="26863" y="131266"/>
                </a:cubicBezTo>
                <a:cubicBezTo>
                  <a:pt x="25598" y="137071"/>
                  <a:pt x="29803" y="142838"/>
                  <a:pt x="35756" y="142838"/>
                </a:cubicBezTo>
                <a:cubicBezTo>
                  <a:pt x="39663" y="142838"/>
                  <a:pt x="43160" y="140233"/>
                  <a:pt x="44016" y="136401"/>
                </a:cubicBezTo>
                <a:cubicBezTo>
                  <a:pt x="46397" y="125946"/>
                  <a:pt x="47625" y="115267"/>
                  <a:pt x="47625" y="104477"/>
                </a:cubicBezTo>
                <a:lnTo>
                  <a:pt x="47625" y="95213"/>
                </a:lnTo>
                <a:cubicBezTo>
                  <a:pt x="47625" y="85092"/>
                  <a:pt x="50788" y="75716"/>
                  <a:pt x="56145" y="68014"/>
                </a:cubicBezTo>
                <a:cubicBezTo>
                  <a:pt x="58824" y="64145"/>
                  <a:pt x="59122" y="58862"/>
                  <a:pt x="56071" y="55290"/>
                </a:cubicBezTo>
                <a:close/>
                <a:moveTo>
                  <a:pt x="95250" y="59531"/>
                </a:moveTo>
                <a:cubicBezTo>
                  <a:pt x="75530" y="59531"/>
                  <a:pt x="59531" y="75530"/>
                  <a:pt x="59531" y="95250"/>
                </a:cubicBezTo>
                <a:lnTo>
                  <a:pt x="59531" y="104515"/>
                </a:lnTo>
                <a:cubicBezTo>
                  <a:pt x="59531" y="117872"/>
                  <a:pt x="57820" y="131118"/>
                  <a:pt x="54397" y="143991"/>
                </a:cubicBezTo>
                <a:cubicBezTo>
                  <a:pt x="52983" y="149312"/>
                  <a:pt x="56890" y="154781"/>
                  <a:pt x="62396" y="154781"/>
                </a:cubicBezTo>
                <a:cubicBezTo>
                  <a:pt x="65931" y="154781"/>
                  <a:pt x="69056" y="152474"/>
                  <a:pt x="69986" y="149051"/>
                </a:cubicBezTo>
                <a:cubicBezTo>
                  <a:pt x="73893" y="134541"/>
                  <a:pt x="75902" y="119583"/>
                  <a:pt x="75902" y="104515"/>
                </a:cubicBezTo>
                <a:lnTo>
                  <a:pt x="75902" y="95250"/>
                </a:lnTo>
                <a:cubicBezTo>
                  <a:pt x="75902" y="84572"/>
                  <a:pt x="84572" y="75902"/>
                  <a:pt x="95250" y="75902"/>
                </a:cubicBezTo>
                <a:cubicBezTo>
                  <a:pt x="105928" y="75902"/>
                  <a:pt x="114598" y="84572"/>
                  <a:pt x="114598" y="95250"/>
                </a:cubicBezTo>
                <a:lnTo>
                  <a:pt x="114598" y="104515"/>
                </a:lnTo>
                <a:cubicBezTo>
                  <a:pt x="114598" y="118021"/>
                  <a:pt x="113295" y="131452"/>
                  <a:pt x="110728" y="144661"/>
                </a:cubicBezTo>
                <a:cubicBezTo>
                  <a:pt x="109724" y="149833"/>
                  <a:pt x="113593" y="154781"/>
                  <a:pt x="118839" y="154781"/>
                </a:cubicBezTo>
                <a:cubicBezTo>
                  <a:pt x="122634" y="154781"/>
                  <a:pt x="125909" y="152177"/>
                  <a:pt x="126653" y="148456"/>
                </a:cubicBezTo>
                <a:cubicBezTo>
                  <a:pt x="129518" y="134020"/>
                  <a:pt x="130969" y="119323"/>
                  <a:pt x="130969" y="104515"/>
                </a:cubicBezTo>
                <a:lnTo>
                  <a:pt x="130969" y="95250"/>
                </a:lnTo>
                <a:cubicBezTo>
                  <a:pt x="130969" y="75530"/>
                  <a:pt x="114970" y="59531"/>
                  <a:pt x="95250" y="59531"/>
                </a:cubicBezTo>
                <a:close/>
                <a:moveTo>
                  <a:pt x="104180" y="95250"/>
                </a:moveTo>
                <a:cubicBezTo>
                  <a:pt x="104180" y="90301"/>
                  <a:pt x="100199" y="86320"/>
                  <a:pt x="95250" y="86320"/>
                </a:cubicBezTo>
                <a:cubicBezTo>
                  <a:pt x="90301" y="86320"/>
                  <a:pt x="86320" y="90301"/>
                  <a:pt x="86320" y="95250"/>
                </a:cubicBezTo>
                <a:lnTo>
                  <a:pt x="86320" y="104515"/>
                </a:lnTo>
                <a:cubicBezTo>
                  <a:pt x="86320" y="126802"/>
                  <a:pt x="82228" y="148903"/>
                  <a:pt x="74228" y="169701"/>
                </a:cubicBezTo>
                <a:lnTo>
                  <a:pt x="72033" y="175394"/>
                </a:lnTo>
                <a:cubicBezTo>
                  <a:pt x="70247" y="180008"/>
                  <a:pt x="72554" y="185179"/>
                  <a:pt x="77167" y="186928"/>
                </a:cubicBezTo>
                <a:cubicBezTo>
                  <a:pt x="81781" y="188677"/>
                  <a:pt x="86953" y="186407"/>
                  <a:pt x="88702" y="181794"/>
                </a:cubicBezTo>
                <a:lnTo>
                  <a:pt x="90897" y="176101"/>
                </a:lnTo>
                <a:cubicBezTo>
                  <a:pt x="99678" y="153256"/>
                  <a:pt x="104180" y="128997"/>
                  <a:pt x="104180" y="104515"/>
                </a:cubicBezTo>
                <a:lnTo>
                  <a:pt x="104180" y="95250"/>
                </a:lnTo>
                <a:close/>
              </a:path>
            </a:pathLst>
          </a:custGeom>
          <a:solidFill>
            <a:srgbClr val="000000"/>
          </a:solidFill>
          <a:ln/>
        </p:spPr>
      </p:sp>
      <p:sp>
        <p:nvSpPr>
          <p:cNvPr id="48" name="Text 46"/>
          <p:cNvSpPr/>
          <p:nvPr/>
        </p:nvSpPr>
        <p:spPr>
          <a:xfrm>
            <a:off x="5909271" y="2778026"/>
            <a:ext cx="5857875" cy="222250"/>
          </a:xfrm>
          <a:prstGeom prst="rect">
            <a:avLst/>
          </a:prstGeom>
          <a:noFill/>
          <a:ln/>
        </p:spPr>
        <p:txBody>
          <a:bodyPr wrap="square" lIns="0" tIns="0" rIns="0" bIns="0" rtlCol="0" anchor="ctr"/>
          <a:lstStyle/>
          <a:p>
            <a:pPr>
              <a:lnSpc>
                <a:spcPct val="120000"/>
              </a:lnSpc>
            </a:pPr>
            <a:r>
              <a:rPr lang="en-US" sz="1250" b="1" dirty="0">
                <a:solidFill>
                  <a:srgbClr val="FFFFFF"/>
                </a:solidFill>
                <a:latin typeface="Liter" pitchFamily="34" charset="0"/>
                <a:ea typeface="Liter" pitchFamily="34" charset="-122"/>
                <a:cs typeface="Liter" pitchFamily="34" charset="-120"/>
              </a:rPr>
              <a:t>Physical Evidence</a:t>
            </a:r>
            <a:endParaRPr lang="en-US" sz="1600" dirty="0"/>
          </a:p>
        </p:txBody>
      </p:sp>
      <p:sp>
        <p:nvSpPr>
          <p:cNvPr id="49" name="Text 47"/>
          <p:cNvSpPr/>
          <p:nvPr/>
        </p:nvSpPr>
        <p:spPr>
          <a:xfrm>
            <a:off x="5909271" y="3063776"/>
            <a:ext cx="5842000" cy="619125"/>
          </a:xfrm>
          <a:prstGeom prst="rect">
            <a:avLst/>
          </a:prstGeom>
          <a:noFill/>
          <a:ln/>
        </p:spPr>
        <p:txBody>
          <a:bodyPr wrap="square" lIns="0" tIns="0" rIns="0" bIns="0" rtlCol="0" anchor="ctr"/>
          <a:lstStyle/>
          <a:p>
            <a:pPr>
              <a:lnSpc>
                <a:spcPct val="140000"/>
              </a:lnSpc>
            </a:pPr>
            <a:r>
              <a:rPr lang="en-US" sz="1000" dirty="0">
                <a:solidFill>
                  <a:srgbClr val="FFFFFF">
                    <a:alpha val="80000"/>
                  </a:srgbClr>
                </a:solidFill>
                <a:latin typeface="Liter" pitchFamily="34" charset="0"/>
                <a:ea typeface="Liter" pitchFamily="34" charset="-122"/>
                <a:cs typeface="Liter" pitchFamily="34" charset="-120"/>
              </a:rPr>
              <a:t>Conventional crimes leave tangible evidence such as fingerprints, DNA, footprints, weapons, and physical damage. This evidence can be collected, preserved, and analyzed using established forensic science techniques, making prosecution more straightforward.</a:t>
            </a:r>
            <a:endParaRPr lang="en-US" sz="1600" dirty="0"/>
          </a:p>
        </p:txBody>
      </p:sp>
      <p:sp>
        <p:nvSpPr>
          <p:cNvPr id="50" name="Shape 48"/>
          <p:cNvSpPr/>
          <p:nvPr/>
        </p:nvSpPr>
        <p:spPr>
          <a:xfrm>
            <a:off x="5242521" y="3841651"/>
            <a:ext cx="508000" cy="508000"/>
          </a:xfrm>
          <a:custGeom>
            <a:avLst/>
            <a:gdLst/>
            <a:ahLst/>
            <a:cxnLst/>
            <a:rect l="l" t="t" r="r" b="b"/>
            <a:pathLst>
              <a:path w="508000" h="508000">
                <a:moveTo>
                  <a:pt x="0" y="0"/>
                </a:moveTo>
                <a:lnTo>
                  <a:pt x="508000" y="0"/>
                </a:lnTo>
                <a:lnTo>
                  <a:pt x="508000" y="508000"/>
                </a:lnTo>
                <a:lnTo>
                  <a:pt x="0" y="508000"/>
                </a:lnTo>
                <a:lnTo>
                  <a:pt x="0" y="0"/>
                </a:lnTo>
                <a:close/>
              </a:path>
            </a:pathLst>
          </a:custGeom>
          <a:solidFill>
            <a:srgbClr val="DDFF00"/>
          </a:solidFill>
          <a:ln/>
        </p:spPr>
      </p:sp>
      <p:sp>
        <p:nvSpPr>
          <p:cNvPr id="51" name="Shape 49"/>
          <p:cNvSpPr/>
          <p:nvPr/>
        </p:nvSpPr>
        <p:spPr>
          <a:xfrm>
            <a:off x="5425083" y="4000401"/>
            <a:ext cx="142875" cy="190500"/>
          </a:xfrm>
          <a:custGeom>
            <a:avLst/>
            <a:gdLst/>
            <a:ahLst/>
            <a:cxnLst/>
            <a:rect l="l" t="t" r="r" b="b"/>
            <a:pathLst>
              <a:path w="142875" h="190500">
                <a:moveTo>
                  <a:pt x="0" y="70172"/>
                </a:moveTo>
                <a:cubicBezTo>
                  <a:pt x="0" y="31403"/>
                  <a:pt x="31998" y="0"/>
                  <a:pt x="71438" y="0"/>
                </a:cubicBezTo>
                <a:cubicBezTo>
                  <a:pt x="110877" y="0"/>
                  <a:pt x="142875" y="31403"/>
                  <a:pt x="142875" y="70172"/>
                </a:cubicBezTo>
                <a:cubicBezTo>
                  <a:pt x="142875" y="114560"/>
                  <a:pt x="98152" y="167767"/>
                  <a:pt x="79474" y="188044"/>
                </a:cubicBezTo>
                <a:cubicBezTo>
                  <a:pt x="75084" y="192807"/>
                  <a:pt x="67754" y="192807"/>
                  <a:pt x="63364" y="188044"/>
                </a:cubicBezTo>
                <a:cubicBezTo>
                  <a:pt x="44686" y="167767"/>
                  <a:pt x="-37" y="114560"/>
                  <a:pt x="-37" y="70172"/>
                </a:cubicBezTo>
                <a:close/>
                <a:moveTo>
                  <a:pt x="71438" y="95250"/>
                </a:moveTo>
                <a:cubicBezTo>
                  <a:pt x="84580" y="95250"/>
                  <a:pt x="95250" y="84580"/>
                  <a:pt x="95250" y="71438"/>
                </a:cubicBezTo>
                <a:cubicBezTo>
                  <a:pt x="95250" y="58295"/>
                  <a:pt x="84580" y="47625"/>
                  <a:pt x="71438" y="47625"/>
                </a:cubicBezTo>
                <a:cubicBezTo>
                  <a:pt x="58295" y="47625"/>
                  <a:pt x="47625" y="58295"/>
                  <a:pt x="47625" y="71438"/>
                </a:cubicBezTo>
                <a:cubicBezTo>
                  <a:pt x="47625" y="84580"/>
                  <a:pt x="58295" y="95250"/>
                  <a:pt x="71438" y="95250"/>
                </a:cubicBezTo>
                <a:close/>
              </a:path>
            </a:pathLst>
          </a:custGeom>
          <a:solidFill>
            <a:srgbClr val="000000"/>
          </a:solidFill>
          <a:ln/>
        </p:spPr>
      </p:sp>
      <p:sp>
        <p:nvSpPr>
          <p:cNvPr id="52" name="Text 50"/>
          <p:cNvSpPr/>
          <p:nvPr/>
        </p:nvSpPr>
        <p:spPr>
          <a:xfrm>
            <a:off x="5909271" y="3841651"/>
            <a:ext cx="5857875" cy="222250"/>
          </a:xfrm>
          <a:prstGeom prst="rect">
            <a:avLst/>
          </a:prstGeom>
          <a:noFill/>
          <a:ln/>
        </p:spPr>
        <p:txBody>
          <a:bodyPr wrap="square" lIns="0" tIns="0" rIns="0" bIns="0" rtlCol="0" anchor="ctr"/>
          <a:lstStyle/>
          <a:p>
            <a:pPr>
              <a:lnSpc>
                <a:spcPct val="120000"/>
              </a:lnSpc>
            </a:pPr>
            <a:r>
              <a:rPr lang="en-US" sz="1250" b="1" dirty="0">
                <a:solidFill>
                  <a:srgbClr val="FFFFFF"/>
                </a:solidFill>
                <a:latin typeface="Liter" pitchFamily="34" charset="0"/>
                <a:ea typeface="Liter" pitchFamily="34" charset="-122"/>
                <a:cs typeface="Liter" pitchFamily="34" charset="-120"/>
              </a:rPr>
              <a:t>Usually Local Impact</a:t>
            </a:r>
            <a:endParaRPr lang="en-US" sz="1600" dirty="0"/>
          </a:p>
        </p:txBody>
      </p:sp>
      <p:sp>
        <p:nvSpPr>
          <p:cNvPr id="53" name="Text 51"/>
          <p:cNvSpPr/>
          <p:nvPr/>
        </p:nvSpPr>
        <p:spPr>
          <a:xfrm>
            <a:off x="5909271" y="4127401"/>
            <a:ext cx="5842000" cy="619125"/>
          </a:xfrm>
          <a:prstGeom prst="rect">
            <a:avLst/>
          </a:prstGeom>
          <a:noFill/>
          <a:ln/>
        </p:spPr>
        <p:txBody>
          <a:bodyPr wrap="square" lIns="0" tIns="0" rIns="0" bIns="0" rtlCol="0" anchor="ctr"/>
          <a:lstStyle/>
          <a:p>
            <a:pPr>
              <a:lnSpc>
                <a:spcPct val="140000"/>
              </a:lnSpc>
            </a:pPr>
            <a:r>
              <a:rPr lang="en-US" sz="1000" dirty="0">
                <a:solidFill>
                  <a:srgbClr val="FFFFFF">
                    <a:alpha val="80000"/>
                  </a:srgbClr>
                </a:solidFill>
                <a:latin typeface="Liter" pitchFamily="34" charset="0"/>
                <a:ea typeface="Liter" pitchFamily="34" charset="-122"/>
                <a:cs typeface="Liter" pitchFamily="34" charset="-120"/>
              </a:rPr>
              <a:t>Most conventional crimes affect a limited geographical area—typically a neighborhood, city, or region. This localized nature allows for community-based policing and jurisdiction-specific legal frameworks, though some crimes may have broader implications.</a:t>
            </a:r>
            <a:endParaRPr lang="en-US" sz="1600" dirty="0"/>
          </a:p>
        </p:txBody>
      </p:sp>
      <p:sp>
        <p:nvSpPr>
          <p:cNvPr id="54" name="Shape 52"/>
          <p:cNvSpPr/>
          <p:nvPr/>
        </p:nvSpPr>
        <p:spPr>
          <a:xfrm>
            <a:off x="5242521" y="4905276"/>
            <a:ext cx="508000" cy="508000"/>
          </a:xfrm>
          <a:custGeom>
            <a:avLst/>
            <a:gdLst/>
            <a:ahLst/>
            <a:cxnLst/>
            <a:rect l="l" t="t" r="r" b="b"/>
            <a:pathLst>
              <a:path w="508000" h="508000">
                <a:moveTo>
                  <a:pt x="0" y="0"/>
                </a:moveTo>
                <a:lnTo>
                  <a:pt x="508000" y="0"/>
                </a:lnTo>
                <a:lnTo>
                  <a:pt x="508000" y="508000"/>
                </a:lnTo>
                <a:lnTo>
                  <a:pt x="0" y="508000"/>
                </a:lnTo>
                <a:lnTo>
                  <a:pt x="0" y="0"/>
                </a:lnTo>
                <a:close/>
              </a:path>
            </a:pathLst>
          </a:custGeom>
          <a:solidFill>
            <a:srgbClr val="DDFF00"/>
          </a:solidFill>
          <a:ln/>
        </p:spPr>
      </p:sp>
      <p:sp>
        <p:nvSpPr>
          <p:cNvPr id="55" name="Shape 53"/>
          <p:cNvSpPr/>
          <p:nvPr/>
        </p:nvSpPr>
        <p:spPr>
          <a:xfrm>
            <a:off x="5389364" y="5064026"/>
            <a:ext cx="214313" cy="190500"/>
          </a:xfrm>
          <a:custGeom>
            <a:avLst/>
            <a:gdLst/>
            <a:ahLst/>
            <a:cxnLst/>
            <a:rect l="l" t="t" r="r" b="b"/>
            <a:pathLst>
              <a:path w="214313" h="190500">
                <a:moveTo>
                  <a:pt x="63103" y="57076"/>
                </a:moveTo>
                <a:lnTo>
                  <a:pt x="56145" y="50118"/>
                </a:lnTo>
                <a:cubicBezTo>
                  <a:pt x="51495" y="45467"/>
                  <a:pt x="51495" y="37914"/>
                  <a:pt x="56145" y="33263"/>
                </a:cubicBezTo>
                <a:lnTo>
                  <a:pt x="98822" y="-9451"/>
                </a:lnTo>
                <a:cubicBezTo>
                  <a:pt x="103473" y="-14101"/>
                  <a:pt x="111026" y="-14101"/>
                  <a:pt x="115677" y="-9451"/>
                </a:cubicBezTo>
                <a:lnTo>
                  <a:pt x="122634" y="-2456"/>
                </a:lnTo>
                <a:cubicBezTo>
                  <a:pt x="127285" y="2195"/>
                  <a:pt x="127285" y="9748"/>
                  <a:pt x="122634" y="14399"/>
                </a:cubicBezTo>
                <a:lnTo>
                  <a:pt x="79958" y="57076"/>
                </a:lnTo>
                <a:cubicBezTo>
                  <a:pt x="75307" y="61726"/>
                  <a:pt x="67754" y="61726"/>
                  <a:pt x="63103" y="57076"/>
                </a:cubicBezTo>
                <a:close/>
                <a:moveTo>
                  <a:pt x="102691" y="78767"/>
                </a:moveTo>
                <a:lnTo>
                  <a:pt x="91008" y="67084"/>
                </a:lnTo>
                <a:lnTo>
                  <a:pt x="132680" y="25412"/>
                </a:lnTo>
                <a:lnTo>
                  <a:pt x="177105" y="69838"/>
                </a:lnTo>
                <a:lnTo>
                  <a:pt x="135434" y="111509"/>
                </a:lnTo>
                <a:lnTo>
                  <a:pt x="123751" y="99826"/>
                </a:lnTo>
                <a:lnTo>
                  <a:pt x="37430" y="186147"/>
                </a:lnTo>
                <a:cubicBezTo>
                  <a:pt x="31626" y="191951"/>
                  <a:pt x="22213" y="191951"/>
                  <a:pt x="16371" y="186147"/>
                </a:cubicBezTo>
                <a:cubicBezTo>
                  <a:pt x="10530" y="180342"/>
                  <a:pt x="10567" y="170929"/>
                  <a:pt x="16371" y="165088"/>
                </a:cubicBezTo>
                <a:lnTo>
                  <a:pt x="102691" y="78767"/>
                </a:lnTo>
                <a:close/>
                <a:moveTo>
                  <a:pt x="145442" y="139378"/>
                </a:moveTo>
                <a:cubicBezTo>
                  <a:pt x="140791" y="134727"/>
                  <a:pt x="140791" y="127174"/>
                  <a:pt x="145442" y="122523"/>
                </a:cubicBezTo>
                <a:lnTo>
                  <a:pt x="188119" y="79846"/>
                </a:lnTo>
                <a:cubicBezTo>
                  <a:pt x="192770" y="75195"/>
                  <a:pt x="200323" y="75195"/>
                  <a:pt x="204974" y="79846"/>
                </a:cubicBezTo>
                <a:lnTo>
                  <a:pt x="211931" y="86804"/>
                </a:lnTo>
                <a:cubicBezTo>
                  <a:pt x="216582" y="91455"/>
                  <a:pt x="216582" y="99008"/>
                  <a:pt x="211931" y="103659"/>
                </a:cubicBezTo>
                <a:lnTo>
                  <a:pt x="169255" y="146372"/>
                </a:lnTo>
                <a:cubicBezTo>
                  <a:pt x="164604" y="151023"/>
                  <a:pt x="157051" y="151023"/>
                  <a:pt x="152400" y="146372"/>
                </a:cubicBezTo>
                <a:lnTo>
                  <a:pt x="145442" y="139415"/>
                </a:lnTo>
                <a:close/>
              </a:path>
            </a:pathLst>
          </a:custGeom>
          <a:solidFill>
            <a:srgbClr val="000000"/>
          </a:solidFill>
          <a:ln/>
        </p:spPr>
      </p:sp>
      <p:sp>
        <p:nvSpPr>
          <p:cNvPr id="56" name="Text 54"/>
          <p:cNvSpPr/>
          <p:nvPr/>
        </p:nvSpPr>
        <p:spPr>
          <a:xfrm>
            <a:off x="5909271" y="4905276"/>
            <a:ext cx="5857875" cy="222250"/>
          </a:xfrm>
          <a:prstGeom prst="rect">
            <a:avLst/>
          </a:prstGeom>
          <a:noFill/>
          <a:ln/>
        </p:spPr>
        <p:txBody>
          <a:bodyPr wrap="square" lIns="0" tIns="0" rIns="0" bIns="0" rtlCol="0" anchor="ctr"/>
          <a:lstStyle/>
          <a:p>
            <a:pPr>
              <a:lnSpc>
                <a:spcPct val="120000"/>
              </a:lnSpc>
            </a:pPr>
            <a:r>
              <a:rPr lang="en-US" sz="1250" b="1" dirty="0">
                <a:solidFill>
                  <a:srgbClr val="FFFFFF"/>
                </a:solidFill>
                <a:latin typeface="Liter" pitchFamily="34" charset="0"/>
                <a:ea typeface="Liter" pitchFamily="34" charset="-122"/>
                <a:cs typeface="Liter" pitchFamily="34" charset="-120"/>
              </a:rPr>
              <a:t>Traditional Policing</a:t>
            </a:r>
            <a:endParaRPr lang="en-US" sz="1600" dirty="0"/>
          </a:p>
        </p:txBody>
      </p:sp>
      <p:sp>
        <p:nvSpPr>
          <p:cNvPr id="57" name="Text 55"/>
          <p:cNvSpPr/>
          <p:nvPr/>
        </p:nvSpPr>
        <p:spPr>
          <a:xfrm>
            <a:off x="5909271" y="5191026"/>
            <a:ext cx="5842000" cy="619125"/>
          </a:xfrm>
          <a:prstGeom prst="rect">
            <a:avLst/>
          </a:prstGeom>
          <a:noFill/>
          <a:ln/>
        </p:spPr>
        <p:txBody>
          <a:bodyPr wrap="square" lIns="0" tIns="0" rIns="0" bIns="0" rtlCol="0" anchor="ctr"/>
          <a:lstStyle/>
          <a:p>
            <a:pPr>
              <a:lnSpc>
                <a:spcPct val="140000"/>
              </a:lnSpc>
            </a:pPr>
            <a:r>
              <a:rPr lang="en-US" sz="1000" dirty="0">
                <a:solidFill>
                  <a:srgbClr val="FFFFFF">
                    <a:alpha val="80000"/>
                  </a:srgbClr>
                </a:solidFill>
                <a:latin typeface="Liter" pitchFamily="34" charset="0"/>
                <a:ea typeface="Liter" pitchFamily="34" charset="-122"/>
                <a:cs typeface="Liter" pitchFamily="34" charset="-120"/>
              </a:rPr>
              <a:t>Investigations rely on time-tested methods: witness interviews, crime scene examination, forensic analysis, and community intelligence. Law enforcement agencies have decades of experience and established protocols for handling these crimes effectively.</a:t>
            </a:r>
            <a:endParaRPr lang="en-US" sz="1600" dirty="0"/>
          </a:p>
        </p:txBody>
      </p:sp>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17500" y="396875"/>
            <a:ext cx="63500" cy="381000"/>
          </a:xfrm>
          <a:custGeom>
            <a:avLst/>
            <a:gdLst/>
            <a:ahLst/>
            <a:cxnLst/>
            <a:rect l="l" t="t" r="r" b="b"/>
            <a:pathLst>
              <a:path w="63500" h="381000">
                <a:moveTo>
                  <a:pt x="0" y="0"/>
                </a:moveTo>
                <a:lnTo>
                  <a:pt x="63500" y="0"/>
                </a:lnTo>
                <a:lnTo>
                  <a:pt x="63500" y="381000"/>
                </a:lnTo>
                <a:lnTo>
                  <a:pt x="0" y="381000"/>
                </a:lnTo>
                <a:lnTo>
                  <a:pt x="0" y="0"/>
                </a:lnTo>
                <a:close/>
              </a:path>
            </a:pathLst>
          </a:custGeom>
          <a:solidFill>
            <a:srgbClr val="DDFF00"/>
          </a:solidFill>
          <a:ln/>
        </p:spPr>
      </p:sp>
      <p:sp>
        <p:nvSpPr>
          <p:cNvPr id="3" name="Text 1"/>
          <p:cNvSpPr/>
          <p:nvPr/>
        </p:nvSpPr>
        <p:spPr>
          <a:xfrm>
            <a:off x="508000" y="317500"/>
            <a:ext cx="6088063" cy="158750"/>
          </a:xfrm>
          <a:prstGeom prst="rect">
            <a:avLst/>
          </a:prstGeom>
          <a:noFill/>
          <a:ln/>
        </p:spPr>
        <p:txBody>
          <a:bodyPr wrap="square" lIns="0" tIns="0" rIns="0" bIns="0" rtlCol="0" anchor="ctr"/>
          <a:lstStyle/>
          <a:p>
            <a:pPr>
              <a:lnSpc>
                <a:spcPct val="120000"/>
              </a:lnSpc>
            </a:pPr>
            <a:r>
              <a:rPr lang="en-US" sz="875" b="1" spc="88" kern="0" dirty="0">
                <a:solidFill>
                  <a:srgbClr val="DDFF00"/>
                </a:solidFill>
                <a:latin typeface="Liter" pitchFamily="34" charset="0"/>
                <a:ea typeface="Liter" pitchFamily="34" charset="-122"/>
                <a:cs typeface="Liter" pitchFamily="34" charset="-120"/>
              </a:rPr>
              <a:t>CHAPTER 05</a:t>
            </a:r>
            <a:endParaRPr lang="en-US" sz="1600" dirty="0"/>
          </a:p>
        </p:txBody>
      </p:sp>
      <p:sp>
        <p:nvSpPr>
          <p:cNvPr id="4" name="Text 2"/>
          <p:cNvSpPr/>
          <p:nvPr/>
        </p:nvSpPr>
        <p:spPr>
          <a:xfrm>
            <a:off x="508000" y="476250"/>
            <a:ext cx="6223000" cy="381000"/>
          </a:xfrm>
          <a:prstGeom prst="rect">
            <a:avLst/>
          </a:prstGeom>
          <a:noFill/>
          <a:ln/>
        </p:spPr>
        <p:txBody>
          <a:bodyPr wrap="square" lIns="0" tIns="0" rIns="0" bIns="0" rtlCol="0" anchor="ctr"/>
          <a:lstStyle/>
          <a:p>
            <a:pPr>
              <a:lnSpc>
                <a:spcPct val="80000"/>
              </a:lnSpc>
            </a:pPr>
            <a:r>
              <a:rPr lang="en-US" sz="3000" b="1" dirty="0">
                <a:solidFill>
                  <a:srgbClr val="FFFFFF"/>
                </a:solidFill>
                <a:latin typeface="Liter" pitchFamily="34" charset="0"/>
                <a:ea typeface="Liter" pitchFamily="34" charset="-122"/>
                <a:cs typeface="Liter" pitchFamily="34" charset="-120"/>
              </a:rPr>
              <a:t>Cyber Crime vs. Conventional Crime</a:t>
            </a:r>
            <a:endParaRPr lang="en-US" sz="1600" dirty="0"/>
          </a:p>
        </p:txBody>
      </p:sp>
      <p:sp>
        <p:nvSpPr>
          <p:cNvPr id="5" name="Shape 3"/>
          <p:cNvSpPr/>
          <p:nvPr/>
        </p:nvSpPr>
        <p:spPr>
          <a:xfrm>
            <a:off x="317500" y="1079500"/>
            <a:ext cx="11557000" cy="5484813"/>
          </a:xfrm>
          <a:custGeom>
            <a:avLst/>
            <a:gdLst/>
            <a:ahLst/>
            <a:cxnLst/>
            <a:rect l="l" t="t" r="r" b="b"/>
            <a:pathLst>
              <a:path w="11557000" h="5484813">
                <a:moveTo>
                  <a:pt x="0" y="0"/>
                </a:moveTo>
                <a:lnTo>
                  <a:pt x="11557000" y="0"/>
                </a:lnTo>
                <a:lnTo>
                  <a:pt x="11557000" y="5484813"/>
                </a:lnTo>
                <a:lnTo>
                  <a:pt x="0" y="5484813"/>
                </a:lnTo>
                <a:lnTo>
                  <a:pt x="0" y="0"/>
                </a:lnTo>
                <a:close/>
              </a:path>
            </a:pathLst>
          </a:custGeom>
          <a:solidFill>
            <a:srgbClr val="111111"/>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8000" y="1270000"/>
          <a:ext cx="11176000" cy="5103813"/>
        </p:xfrm>
        <a:graphic>
          <a:graphicData uri="http://schemas.openxmlformats.org/drawingml/2006/table">
            <a:tbl>
              <a:tblPr/>
              <a:tblGrid>
                <a:gridCol w="5897563"/>
                <a:gridCol w="5278438"/>
              </a:tblGrid>
              <a:tr h="850636">
                <a:tc>
                  <a:txBody>
                    <a:bodyPr/>
                    <a:lstStyle/>
                    <a:p>
                      <a:pPr algn="l"/>
                      <a:r>
                        <a:rPr lang="en-US" sz="1000" b="1" u="none" dirty="0">
                          <a:solidFill>
                            <a:srgbClr val="FFFFFF"/>
                          </a:solidFill>
                          <a:latin typeface="微软雅黑" pitchFamily="34" charset="0"/>
                          <a:ea typeface="微软雅黑" pitchFamily="34" charset="-122"/>
                          <a:cs typeface="微软雅黑" pitchFamily="34" charset="-120"/>
                        </a:rPr>
                        <a:t>DIMENSION</a:t>
                      </a:r>
                      <a:endParaRPr lang="en-US" sz="1000" dirty="0">
                        <a:latin typeface="微软雅黑" charset="0"/>
                        <a:ea typeface="微软雅黑" charset="0"/>
                        <a:cs typeface="微软雅黑" charset="0"/>
                      </a:endParaRPr>
                    </a:p>
                    <a:p>
                      <a:pPr algn="l"/>
                      <a:r>
                        <a:rPr lang="en-US" sz="1000" b="1" u="none" dirty="0">
                          <a:solidFill>
                            <a:srgbClr val="FFFFFF"/>
                          </a:solidFill>
                          <a:latin typeface="微软雅黑" pitchFamily="34" charset="0"/>
                          <a:ea typeface="微软雅黑" pitchFamily="34" charset="-122"/>
                          <a:cs typeface="微软雅黑" pitchFamily="34" charset="-120"/>
                        </a:rPr>
                        <a:t>Cyber Crime</a:t>
                      </a:r>
                      <a:endParaRPr lang="en-US" sz="1000" dirty="0">
                        <a:latin typeface="微软雅黑" charset="0"/>
                        <a:ea typeface="微软雅黑" charset="0"/>
                        <a:cs typeface="微软雅黑" charset="0"/>
                      </a:endParaRPr>
                    </a:p>
                  </a:txBody>
                  <a:tcPr marL="127000" marR="127000" marT="127000" marB="127000" anchor="ctr">
                    <a:lnL w="0" cap="flat" cmpd="sng" algn="ctr">
                      <a:noFill/>
                    </a:lnL>
                    <a:lnR w="0" cap="flat" cmpd="sng" algn="ctr">
                      <a:noFill/>
                    </a:lnR>
                    <a:lnT w="0" cap="flat" cmpd="sng" algn="ctr">
                      <a:noFill/>
                    </a:lnT>
                    <a:lnB w="50800" cap="flat" cmpd="sng" algn="ctr">
                      <a:solidFill>
                        <a:srgbClr val="DDFF00"/>
                      </a:solidFill>
                      <a:prstDash val="solid"/>
                      <a:round/>
                      <a:headEnd type="none" w="med" len="med"/>
                      <a:tailEnd type="none" w="med" len="med"/>
                    </a:lnB>
                    <a:solidFill>
                      <a:srgbClr val="DDFF00"/>
                    </a:solidFill>
                  </a:tcPr>
                </a:tc>
                <a:tc>
                  <a:txBody>
                    <a:bodyPr/>
                    <a:lstStyle/>
                    <a:p>
                      <a:pPr algn="l"/>
                      <a:r>
                        <a:rPr lang="en-US" sz="1000" b="1" u="none" dirty="0">
                          <a:solidFill>
                            <a:srgbClr val="FFFFFF"/>
                          </a:solidFill>
                          <a:latin typeface="微软雅黑" pitchFamily="34" charset="0"/>
                          <a:ea typeface="微软雅黑" pitchFamily="34" charset="-122"/>
                          <a:cs typeface="微软雅黑" pitchFamily="34" charset="-120"/>
                        </a:rPr>
                        <a:t>DIMENSION</a:t>
                      </a:r>
                      <a:endParaRPr lang="en-US" sz="1000" dirty="0">
                        <a:latin typeface="微软雅黑" charset="0"/>
                        <a:ea typeface="微软雅黑" charset="0"/>
                        <a:cs typeface="微软雅黑" charset="0"/>
                      </a:endParaRPr>
                    </a:p>
                    <a:p>
                      <a:pPr algn="l"/>
                      <a:r>
                        <a:rPr lang="en-US" sz="1000" b="1" u="none" dirty="0">
                          <a:solidFill>
                            <a:srgbClr val="FFFFFF"/>
                          </a:solidFill>
                          <a:latin typeface="微软雅黑" pitchFamily="34" charset="0"/>
                          <a:ea typeface="微软雅黑" pitchFamily="34" charset="-122"/>
                          <a:cs typeface="微软雅黑" pitchFamily="34" charset="-120"/>
                        </a:rPr>
                        <a:t>Conventional Crime</a:t>
                      </a:r>
                      <a:endParaRPr lang="en-US" sz="1000" dirty="0">
                        <a:latin typeface="微软雅黑" charset="0"/>
                        <a:ea typeface="微软雅黑" charset="0"/>
                        <a:cs typeface="微软雅黑" charset="0"/>
                      </a:endParaRPr>
                    </a:p>
                  </a:txBody>
                  <a:tcPr marL="127000" marR="127000" marT="127000" marB="127000" anchor="ctr">
                    <a:lnL w="50800" cap="flat" cmpd="sng" algn="ctr">
                      <a:solidFill>
                        <a:srgbClr val="DDFF00"/>
                      </a:solidFill>
                      <a:prstDash val="solid"/>
                      <a:round/>
                      <a:headEnd type="none" w="med" len="med"/>
                      <a:tailEnd type="none" w="med" len="med"/>
                    </a:lnL>
                    <a:lnR w="0" cap="flat" cmpd="sng" algn="ctr">
                      <a:noFill/>
                    </a:lnR>
                    <a:lnT w="0" cap="flat" cmpd="sng" algn="ctr">
                      <a:noFill/>
                    </a:lnT>
                    <a:lnB w="50800" cap="flat" cmpd="sng" algn="ctr">
                      <a:solidFill>
                        <a:srgbClr val="DDFF00"/>
                      </a:solidFill>
                      <a:prstDash val="solid"/>
                      <a:round/>
                      <a:headEnd type="none" w="med" len="med"/>
                      <a:tailEnd type="none" w="med" len="med"/>
                    </a:lnB>
                    <a:solidFill>
                      <a:srgbClr val="000000"/>
                    </a:solidFill>
                  </a:tcPr>
                </a:tc>
              </a:tr>
              <a:tr h="850636">
                <a:tc>
                  <a:txBody>
                    <a:bodyPr/>
                    <a:lstStyle/>
                    <a:p>
                      <a:r>
                        <a:rPr lang="en-US" sz="1000" u="none" dirty="0">
                          <a:solidFill>
                            <a:srgbClr val="FFFFFF"/>
                          </a:solidFill>
                          <a:latin typeface="微软雅黑" pitchFamily="34" charset="0"/>
                          <a:ea typeface="微软雅黑" pitchFamily="34" charset="-122"/>
                          <a:cs typeface="微软雅黑" pitchFamily="34" charset="-120"/>
                        </a:rPr>
                        <a:t>Tools &amp; Methods</a:t>
                      </a:r>
                      <a:endParaRPr lang="en-US" sz="1000" dirty="0">
                        <a:latin typeface="微软雅黑" charset="0"/>
                        <a:ea typeface="微软雅黑" charset="0"/>
                        <a:cs typeface="微软雅黑" charset="0"/>
                      </a:endParaRPr>
                    </a:p>
                    <a:p>
                      <a:r>
                        <a:rPr lang="en-US" sz="1000" u="none" dirty="0">
                          <a:solidFill>
                            <a:srgbClr val="FFFFFF"/>
                          </a:solidFill>
                          <a:latin typeface="微软雅黑" pitchFamily="34" charset="0"/>
                          <a:ea typeface="微软雅黑" pitchFamily="34" charset="-122"/>
                          <a:cs typeface="微软雅黑" pitchFamily="34" charset="-120"/>
                        </a:rPr>
                        <a:t>Uses digital tools, malware, hacking techniques, and online platforms to commit crimes remotely</a:t>
                      </a:r>
                      <a:endParaRPr lang="en-US" sz="1000" dirty="0">
                        <a:latin typeface="微软雅黑" charset="0"/>
                        <a:ea typeface="微软雅黑" charset="0"/>
                        <a:cs typeface="微软雅黑" charset="0"/>
                      </a:endParaRPr>
                    </a:p>
                  </a:txBody>
                  <a:tcPr marL="127000" marR="127000" marT="127000" marB="127000"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FFFFFF"/>
                          </a:solidFill>
                          <a:latin typeface="微软雅黑" pitchFamily="34" charset="0"/>
                          <a:ea typeface="微软雅黑" pitchFamily="34" charset="-122"/>
                          <a:cs typeface="微软雅黑" pitchFamily="34" charset="-120"/>
                        </a:rPr>
                        <a:t>Tools &amp; Methods</a:t>
                      </a:r>
                      <a:endParaRPr lang="en-US" sz="1000" dirty="0">
                        <a:latin typeface="微软雅黑" charset="0"/>
                        <a:ea typeface="微软雅黑" charset="0"/>
                        <a:cs typeface="微软雅黑" charset="0"/>
                      </a:endParaRPr>
                    </a:p>
                    <a:p>
                      <a:r>
                        <a:rPr lang="en-US" sz="1000" u="none" dirty="0">
                          <a:solidFill>
                            <a:srgbClr val="FFFFFF"/>
                          </a:solidFill>
                          <a:latin typeface="微软雅黑" pitchFamily="34" charset="0"/>
                          <a:ea typeface="微软雅黑" pitchFamily="34" charset="-122"/>
                          <a:cs typeface="微软雅黑" pitchFamily="34" charset="-120"/>
                        </a:rPr>
                        <a:t>Uses physical force, weapons, or direct confrontation to commit crimes</a:t>
                      </a:r>
                      <a:endParaRPr lang="en-US" sz="1000" dirty="0">
                        <a:latin typeface="微软雅黑" charset="0"/>
                        <a:ea typeface="微软雅黑" charset="0"/>
                        <a:cs typeface="微软雅黑" charset="0"/>
                      </a:endParaRPr>
                    </a:p>
                  </a:txBody>
                  <a:tcPr marL="127000" marR="127000" marT="127000" marB="127000" anchor="ctr">
                    <a:lnL w="50800" cap="flat" cmpd="sng" algn="ctr">
                      <a:solidFill>
                        <a:srgbClr val="DDFF00"/>
                      </a:solidFill>
                      <a:prstDash val="solid"/>
                      <a:round/>
                      <a:headEnd type="none" w="med" len="med"/>
                      <a:tailEnd type="none" w="med" len="med"/>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r>
              <a:tr h="850636">
                <a:tc>
                  <a:txBody>
                    <a:bodyPr/>
                    <a:lstStyle/>
                    <a:p>
                      <a:r>
                        <a:rPr lang="en-US" sz="1000" u="none" dirty="0">
                          <a:solidFill>
                            <a:srgbClr val="FFFFFF"/>
                          </a:solidFill>
                          <a:latin typeface="微软雅黑" pitchFamily="34" charset="0"/>
                          <a:ea typeface="微软雅黑" pitchFamily="34" charset="-122"/>
                          <a:cs typeface="微软雅黑" pitchFamily="34" charset="-120"/>
                        </a:rPr>
                        <a:t>Geographical Scope</a:t>
                      </a:r>
                      <a:endParaRPr lang="en-US" sz="1000" dirty="0">
                        <a:latin typeface="微软雅黑" charset="0"/>
                        <a:ea typeface="微软雅黑" charset="0"/>
                        <a:cs typeface="微软雅黑" charset="0"/>
                      </a:endParaRPr>
                    </a:p>
                    <a:p>
                      <a:r>
                        <a:rPr lang="en-US" sz="1000" u="none" dirty="0">
                          <a:solidFill>
                            <a:srgbClr val="FFFFFF"/>
                          </a:solidFill>
                          <a:latin typeface="微软雅黑" pitchFamily="34" charset="0"/>
                          <a:ea typeface="微软雅黑" pitchFamily="34" charset="-122"/>
                          <a:cs typeface="微软雅黑" pitchFamily="34" charset="-120"/>
                        </a:rPr>
                        <a:t>No physical boundary—can target victims across the world instantly from any location</a:t>
                      </a:r>
                      <a:endParaRPr lang="en-US" sz="1000" dirty="0">
                        <a:latin typeface="微软雅黑" charset="0"/>
                        <a:ea typeface="微软雅黑" charset="0"/>
                        <a:cs typeface="微软雅黑" charset="0"/>
                      </a:endParaRPr>
                    </a:p>
                  </a:txBody>
                  <a:tcPr marL="127000" marR="127000" marT="127000" marB="127000"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FFFFFF"/>
                          </a:solidFill>
                          <a:latin typeface="微软雅黑" pitchFamily="34" charset="0"/>
                          <a:ea typeface="微软雅黑" pitchFamily="34" charset="-122"/>
                          <a:cs typeface="微软雅黑" pitchFamily="34" charset="-120"/>
                        </a:rPr>
                        <a:t>Geographical Scope</a:t>
                      </a:r>
                      <a:endParaRPr lang="en-US" sz="1000" dirty="0">
                        <a:latin typeface="微软雅黑" charset="0"/>
                        <a:ea typeface="微软雅黑" charset="0"/>
                        <a:cs typeface="微软雅黑" charset="0"/>
                      </a:endParaRPr>
                    </a:p>
                    <a:p>
                      <a:r>
                        <a:rPr lang="en-US" sz="1000" u="none" dirty="0">
                          <a:solidFill>
                            <a:srgbClr val="FFFFFF"/>
                          </a:solidFill>
                          <a:latin typeface="微软雅黑" pitchFamily="34" charset="0"/>
                          <a:ea typeface="微软雅黑" pitchFamily="34" charset="-122"/>
                          <a:cs typeface="微软雅黑" pitchFamily="34" charset="-120"/>
                        </a:rPr>
                        <a:t>Limited by geographical boundary—requires physical presence at the crime scene</a:t>
                      </a:r>
                      <a:endParaRPr lang="en-US" sz="1000" dirty="0">
                        <a:latin typeface="微软雅黑" charset="0"/>
                        <a:ea typeface="微软雅黑" charset="0"/>
                        <a:cs typeface="微软雅黑" charset="0"/>
                      </a:endParaRPr>
                    </a:p>
                  </a:txBody>
                  <a:tcPr marL="127000" marR="127000" marT="127000" marB="127000" anchor="ctr">
                    <a:lnL w="50800" cap="flat" cmpd="sng" algn="ctr">
                      <a:solidFill>
                        <a:srgbClr val="DDFF00"/>
                      </a:solidFill>
                      <a:prstDash val="solid"/>
                      <a:round/>
                      <a:headEnd type="none" w="med" len="med"/>
                      <a:tailEnd type="none" w="med" len="med"/>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r>
              <a:tr h="850636">
                <a:tc>
                  <a:txBody>
                    <a:bodyPr/>
                    <a:lstStyle/>
                    <a:p>
                      <a:r>
                        <a:rPr lang="en-US" sz="1000" u="none" dirty="0">
                          <a:solidFill>
                            <a:srgbClr val="FFFFFF"/>
                          </a:solidFill>
                          <a:latin typeface="微软雅黑" pitchFamily="34" charset="0"/>
                          <a:ea typeface="微软雅黑" pitchFamily="34" charset="-122"/>
                          <a:cs typeface="微软雅黑" pitchFamily="34" charset="-120"/>
                        </a:rPr>
                        <a:t>Evidence Type</a:t>
                      </a:r>
                      <a:endParaRPr lang="en-US" sz="1000" dirty="0">
                        <a:latin typeface="微软雅黑" charset="0"/>
                        <a:ea typeface="微软雅黑" charset="0"/>
                        <a:cs typeface="微软雅黑" charset="0"/>
                      </a:endParaRPr>
                    </a:p>
                    <a:p>
                      <a:r>
                        <a:rPr lang="en-US" sz="1000" u="none" dirty="0">
                          <a:solidFill>
                            <a:srgbClr val="FFFFFF"/>
                          </a:solidFill>
                          <a:latin typeface="微软雅黑" pitchFamily="34" charset="0"/>
                          <a:ea typeface="微软雅黑" pitchFamily="34" charset="-122"/>
                          <a:cs typeface="微软雅黑" pitchFamily="34" charset="-120"/>
                        </a:rPr>
                        <a:t>Digital evidence—logs, metadata, IP addresses, electronic trails that can be easily altered</a:t>
                      </a:r>
                      <a:endParaRPr lang="en-US" sz="1000" dirty="0">
                        <a:latin typeface="微软雅黑" charset="0"/>
                        <a:ea typeface="微软雅黑" charset="0"/>
                        <a:cs typeface="微软雅黑" charset="0"/>
                      </a:endParaRPr>
                    </a:p>
                  </a:txBody>
                  <a:tcPr marL="127000" marR="127000" marT="127000" marB="127000"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FFFFFF"/>
                          </a:solidFill>
                          <a:latin typeface="微软雅黑" pitchFamily="34" charset="0"/>
                          <a:ea typeface="微软雅黑" pitchFamily="34" charset="-122"/>
                          <a:cs typeface="微软雅黑" pitchFamily="34" charset="-120"/>
                        </a:rPr>
                        <a:t>Evidence Type</a:t>
                      </a:r>
                      <a:endParaRPr lang="en-US" sz="1000" dirty="0">
                        <a:latin typeface="微软雅黑" charset="0"/>
                        <a:ea typeface="微软雅黑" charset="0"/>
                        <a:cs typeface="微软雅黑" charset="0"/>
                      </a:endParaRPr>
                    </a:p>
                    <a:p>
                      <a:r>
                        <a:rPr lang="en-US" sz="1000" u="none" dirty="0">
                          <a:solidFill>
                            <a:srgbClr val="FFFFFF"/>
                          </a:solidFill>
                          <a:latin typeface="微软雅黑" pitchFamily="34" charset="0"/>
                          <a:ea typeface="微软雅黑" pitchFamily="34" charset="-122"/>
                          <a:cs typeface="微软雅黑" pitchFamily="34" charset="-120"/>
                        </a:rPr>
                        <a:t>Physical evidence—fingerprints, DNA, weapons, footprints that are harder to destroy</a:t>
                      </a:r>
                      <a:endParaRPr lang="en-US" sz="1000" dirty="0">
                        <a:latin typeface="微软雅黑" charset="0"/>
                        <a:ea typeface="微软雅黑" charset="0"/>
                        <a:cs typeface="微软雅黑" charset="0"/>
                      </a:endParaRPr>
                    </a:p>
                  </a:txBody>
                  <a:tcPr marL="127000" marR="127000" marT="127000" marB="127000" anchor="ctr">
                    <a:lnL w="50800" cap="flat" cmpd="sng" algn="ctr">
                      <a:solidFill>
                        <a:srgbClr val="DDFF00"/>
                      </a:solidFill>
                      <a:prstDash val="solid"/>
                      <a:round/>
                      <a:headEnd type="none" w="med" len="med"/>
                      <a:tailEnd type="none" w="med" len="med"/>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r>
              <a:tr h="850636">
                <a:tc>
                  <a:txBody>
                    <a:bodyPr/>
                    <a:lstStyle/>
                    <a:p>
                      <a:r>
                        <a:rPr lang="en-US" sz="1000" u="none" dirty="0">
                          <a:solidFill>
                            <a:srgbClr val="FFFFFF"/>
                          </a:solidFill>
                          <a:latin typeface="微软雅黑" pitchFamily="34" charset="0"/>
                          <a:ea typeface="微软雅黑" pitchFamily="34" charset="-122"/>
                          <a:cs typeface="微软雅黑" pitchFamily="34" charset="-120"/>
                        </a:rPr>
                        <a:t>Execution</a:t>
                      </a:r>
                      <a:endParaRPr lang="en-US" sz="1000" dirty="0">
                        <a:latin typeface="微软雅黑" charset="0"/>
                        <a:ea typeface="微软雅黑" charset="0"/>
                        <a:cs typeface="微软雅黑" charset="0"/>
                      </a:endParaRPr>
                    </a:p>
                    <a:p>
                      <a:r>
                        <a:rPr lang="en-US" sz="1000" u="none" dirty="0">
                          <a:solidFill>
                            <a:srgbClr val="FFFFFF"/>
                          </a:solidFill>
                          <a:latin typeface="微软雅黑" pitchFamily="34" charset="0"/>
                          <a:ea typeface="微软雅黑" pitchFamily="34" charset="-122"/>
                          <a:cs typeface="微软雅黑" pitchFamily="34" charset="-120"/>
                        </a:rPr>
                        <a:t>Remote execution—offender can be thousands of miles away from the victim</a:t>
                      </a:r>
                      <a:endParaRPr lang="en-US" sz="1000" dirty="0">
                        <a:latin typeface="微软雅黑" charset="0"/>
                        <a:ea typeface="微软雅黑" charset="0"/>
                        <a:cs typeface="微软雅黑" charset="0"/>
                      </a:endParaRPr>
                    </a:p>
                  </a:txBody>
                  <a:tcPr marL="127000" marR="127000" marT="127000" marB="127000" anchor="ctr">
                    <a:lnL w="0" cap="flat" cmpd="sng" algn="ctr">
                      <a:noFill/>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FFFFFF"/>
                          </a:solidFill>
                          <a:latin typeface="微软雅黑" pitchFamily="34" charset="0"/>
                          <a:ea typeface="微软雅黑" pitchFamily="34" charset="-122"/>
                          <a:cs typeface="微软雅黑" pitchFamily="34" charset="-120"/>
                        </a:rPr>
                        <a:t>Execution</a:t>
                      </a:r>
                      <a:endParaRPr lang="en-US" sz="1000" dirty="0">
                        <a:latin typeface="微软雅黑" charset="0"/>
                        <a:ea typeface="微软雅黑" charset="0"/>
                        <a:cs typeface="微软雅黑" charset="0"/>
                      </a:endParaRPr>
                    </a:p>
                    <a:p>
                      <a:r>
                        <a:rPr lang="en-US" sz="1000" u="none" dirty="0">
                          <a:solidFill>
                            <a:srgbClr val="FFFFFF"/>
                          </a:solidFill>
                          <a:latin typeface="微软雅黑" pitchFamily="34" charset="0"/>
                          <a:ea typeface="微软雅黑" pitchFamily="34" charset="-122"/>
                          <a:cs typeface="微软雅黑" pitchFamily="34" charset="-120"/>
                        </a:rPr>
                        <a:t>Direct involvement—requires physical presence and direct interaction</a:t>
                      </a:r>
                      <a:endParaRPr lang="en-US" sz="1000" dirty="0">
                        <a:latin typeface="微软雅黑" charset="0"/>
                        <a:ea typeface="微软雅黑" charset="0"/>
                        <a:cs typeface="微软雅黑" charset="0"/>
                      </a:endParaRPr>
                    </a:p>
                  </a:txBody>
                  <a:tcPr marL="127000" marR="127000" marT="127000" marB="127000" anchor="ctr">
                    <a:lnL w="50800" cap="flat" cmpd="sng" algn="ctr">
                      <a:solidFill>
                        <a:srgbClr val="DDFF00"/>
                      </a:solidFill>
                      <a:prstDash val="solid"/>
                      <a:round/>
                      <a:headEnd type="none" w="med" len="med"/>
                      <a:tailEnd type="none" w="med" len="med"/>
                    </a:lnL>
                    <a:lnR w="0" cap="flat" cmpd="sng" algn="ctr">
                      <a:noFill/>
                    </a:lnR>
                    <a:lnT w="0" cap="flat" cmpd="sng" algn="ctr">
                      <a:noFill/>
                    </a:lnT>
                    <a:lnB w="10160" cap="flat" cmpd="sng" algn="ctr">
                      <a:solidFill>
                        <a:srgbClr val="000000"/>
                      </a:solidFill>
                      <a:prstDash val="solid"/>
                      <a:round/>
                      <a:headEnd type="none" w="med" len="med"/>
                      <a:tailEnd type="none" w="med" len="med"/>
                    </a:lnB>
                    <a:solidFill>
                      <a:srgbClr val="FFFFFF">
                        <a:alpha val="0"/>
                      </a:srgbClr>
                    </a:solidFill>
                  </a:tcPr>
                </a:tc>
              </a:tr>
              <a:tr h="850636">
                <a:tc>
                  <a:txBody>
                    <a:bodyPr/>
                    <a:lstStyle/>
                    <a:p>
                      <a:r>
                        <a:rPr lang="en-US" sz="1000" u="none" dirty="0">
                          <a:solidFill>
                            <a:srgbClr val="FFFFFF"/>
                          </a:solidFill>
                          <a:latin typeface="微软雅黑" pitchFamily="34" charset="0"/>
                          <a:ea typeface="微软雅黑" pitchFamily="34" charset="-122"/>
                          <a:cs typeface="微软雅黑" pitchFamily="34" charset="-120"/>
                        </a:rPr>
                        <a:t>Investigation</a:t>
                      </a:r>
                      <a:endParaRPr lang="en-US" sz="1000" dirty="0">
                        <a:latin typeface="微软雅黑" charset="0"/>
                        <a:ea typeface="微软雅黑" charset="0"/>
                        <a:cs typeface="微软雅黑" charset="0"/>
                      </a:endParaRPr>
                    </a:p>
                    <a:p>
                      <a:r>
                        <a:rPr lang="en-US" sz="1000" u="none" dirty="0">
                          <a:solidFill>
                            <a:srgbClr val="FFFFFF"/>
                          </a:solidFill>
                          <a:latin typeface="微软雅黑" pitchFamily="34" charset="0"/>
                          <a:ea typeface="微软雅黑" pitchFamily="34" charset="-122"/>
                          <a:cs typeface="微软雅黑" pitchFamily="34" charset="-120"/>
                        </a:rPr>
                        <a:t>Complex investigation—requires specialized cyber forensic skills and international cooperation</a:t>
                      </a:r>
                      <a:endParaRPr lang="en-US" sz="1000" dirty="0">
                        <a:latin typeface="微软雅黑" charset="0"/>
                        <a:ea typeface="微软雅黑" charset="0"/>
                        <a:cs typeface="微软雅黑" charset="0"/>
                      </a:endParaRPr>
                    </a:p>
                  </a:txBody>
                  <a:tcPr marL="127000" marR="127000" marT="127000" marB="1270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r>
                        <a:rPr lang="en-US" sz="1000" u="none" dirty="0">
                          <a:solidFill>
                            <a:srgbClr val="FFFFFF"/>
                          </a:solidFill>
                          <a:latin typeface="微软雅黑" pitchFamily="34" charset="0"/>
                          <a:ea typeface="微软雅黑" pitchFamily="34" charset="-122"/>
                          <a:cs typeface="微软雅黑" pitchFamily="34" charset="-120"/>
                        </a:rPr>
                        <a:t>Investigation</a:t>
                      </a:r>
                      <a:endParaRPr lang="en-US" sz="1000" dirty="0">
                        <a:latin typeface="微软雅黑" charset="0"/>
                        <a:ea typeface="微软雅黑" charset="0"/>
                        <a:cs typeface="微软雅黑" charset="0"/>
                      </a:endParaRPr>
                    </a:p>
                    <a:p>
                      <a:r>
                        <a:rPr lang="en-US" sz="1000" u="none" dirty="0">
                          <a:solidFill>
                            <a:srgbClr val="FFFFFF"/>
                          </a:solidFill>
                          <a:latin typeface="微软雅黑" pitchFamily="34" charset="0"/>
                          <a:ea typeface="微软雅黑" pitchFamily="34" charset="-122"/>
                          <a:cs typeface="微软雅黑" pitchFamily="34" charset="-120"/>
                        </a:rPr>
                        <a:t>Traditional policing—uses established forensic methods and local law enforcement</a:t>
                      </a:r>
                      <a:endParaRPr lang="en-US" sz="1000" dirty="0">
                        <a:latin typeface="微软雅黑" charset="0"/>
                        <a:ea typeface="微软雅黑" charset="0"/>
                        <a:cs typeface="微软雅黑" charset="0"/>
                      </a:endParaRPr>
                    </a:p>
                  </a:txBody>
                  <a:tcPr marL="127000" marR="127000" marT="127000" marB="127000" anchor="ctr">
                    <a:lnL w="50800" cap="flat" cmpd="sng" algn="ctr">
                      <a:solidFill>
                        <a:srgbClr val="DDFF00"/>
                      </a:solidFill>
                      <a:prstDash val="solid"/>
                      <a:round/>
                      <a:headEnd type="none" w="med" len="med"/>
                      <a:tailEnd type="none" w="med" len="med"/>
                    </a:lnL>
                    <a:lnR w="0" cap="flat" cmpd="sng" algn="ctr">
                      <a:noFill/>
                    </a:lnR>
                    <a:lnT w="0" cap="flat" cmpd="sng" algn="ctr">
                      <a:noFill/>
                    </a:lnT>
                    <a:lnB w="0" cap="flat" cmpd="sng" algn="ctr">
                      <a:noFill/>
                    </a:lnB>
                    <a:solidFill>
                      <a:srgbClr val="FFFFFF">
                        <a:alpha val="0"/>
                      </a:srgbClr>
                    </a:solidFill>
                  </a:tcPr>
                </a:tc>
              </a:tr>
            </a:tbl>
          </a:graphicData>
        </a:graphic>
      </p:graphicFrame>
      <p:sp>
        <p:nvSpPr>
          <p:cNvPr id="7" name="Shape 4"/>
          <p:cNvSpPr/>
          <p:nvPr/>
        </p:nvSpPr>
        <p:spPr>
          <a:xfrm>
            <a:off x="317500" y="6692902"/>
            <a:ext cx="11557000" cy="476250"/>
          </a:xfrm>
          <a:custGeom>
            <a:avLst/>
            <a:gdLst/>
            <a:ahLst/>
            <a:cxnLst/>
            <a:rect l="l" t="t" r="r" b="b"/>
            <a:pathLst>
              <a:path w="11557000" h="476250">
                <a:moveTo>
                  <a:pt x="0" y="0"/>
                </a:moveTo>
                <a:lnTo>
                  <a:pt x="11557000" y="0"/>
                </a:lnTo>
                <a:lnTo>
                  <a:pt x="11557000" y="476250"/>
                </a:lnTo>
                <a:lnTo>
                  <a:pt x="0" y="476250"/>
                </a:lnTo>
                <a:lnTo>
                  <a:pt x="0" y="0"/>
                </a:lnTo>
                <a:close/>
              </a:path>
            </a:pathLst>
          </a:custGeom>
          <a:solidFill>
            <a:srgbClr val="DDFF00"/>
          </a:solidFill>
          <a:ln/>
        </p:spPr>
      </p:sp>
      <p:sp>
        <p:nvSpPr>
          <p:cNvPr id="8" name="Shape 5"/>
          <p:cNvSpPr/>
          <p:nvPr/>
        </p:nvSpPr>
        <p:spPr>
          <a:xfrm>
            <a:off x="2324497" y="6835777"/>
            <a:ext cx="142875" cy="190500"/>
          </a:xfrm>
          <a:custGeom>
            <a:avLst/>
            <a:gdLst/>
            <a:ahLst/>
            <a:cxnLst/>
            <a:rect l="l" t="t" r="r" b="b"/>
            <a:pathLst>
              <a:path w="142875" h="190500">
                <a:moveTo>
                  <a:pt x="108979" y="142875"/>
                </a:moveTo>
                <a:cubicBezTo>
                  <a:pt x="111696" y="134578"/>
                  <a:pt x="117128" y="127062"/>
                  <a:pt x="123267" y="120588"/>
                </a:cubicBezTo>
                <a:cubicBezTo>
                  <a:pt x="135434" y="107789"/>
                  <a:pt x="142875" y="90488"/>
                  <a:pt x="142875" y="71438"/>
                </a:cubicBezTo>
                <a:cubicBezTo>
                  <a:pt x="142875" y="31998"/>
                  <a:pt x="110877" y="0"/>
                  <a:pt x="71437" y="0"/>
                </a:cubicBezTo>
                <a:cubicBezTo>
                  <a:pt x="31998" y="0"/>
                  <a:pt x="0" y="31998"/>
                  <a:pt x="0" y="71438"/>
                </a:cubicBezTo>
                <a:cubicBezTo>
                  <a:pt x="0" y="90488"/>
                  <a:pt x="7441" y="107789"/>
                  <a:pt x="19608" y="120588"/>
                </a:cubicBezTo>
                <a:cubicBezTo>
                  <a:pt x="25747" y="127062"/>
                  <a:pt x="31217" y="134578"/>
                  <a:pt x="33896" y="142875"/>
                </a:cubicBezTo>
                <a:lnTo>
                  <a:pt x="108942" y="142875"/>
                </a:lnTo>
                <a:close/>
                <a:moveTo>
                  <a:pt x="107156" y="160734"/>
                </a:moveTo>
                <a:lnTo>
                  <a:pt x="35719" y="160734"/>
                </a:lnTo>
                <a:lnTo>
                  <a:pt x="35719" y="166688"/>
                </a:lnTo>
                <a:cubicBezTo>
                  <a:pt x="35719" y="183133"/>
                  <a:pt x="49039" y="196453"/>
                  <a:pt x="65484" y="196453"/>
                </a:cubicBezTo>
                <a:lnTo>
                  <a:pt x="77391" y="196453"/>
                </a:lnTo>
                <a:cubicBezTo>
                  <a:pt x="93836" y="196453"/>
                  <a:pt x="107156" y="183133"/>
                  <a:pt x="107156" y="166688"/>
                </a:cubicBezTo>
                <a:lnTo>
                  <a:pt x="107156" y="160734"/>
                </a:lnTo>
                <a:close/>
                <a:moveTo>
                  <a:pt x="68461" y="41672"/>
                </a:moveTo>
                <a:cubicBezTo>
                  <a:pt x="53653" y="41672"/>
                  <a:pt x="41672" y="53653"/>
                  <a:pt x="41672" y="68461"/>
                </a:cubicBezTo>
                <a:cubicBezTo>
                  <a:pt x="41672" y="73409"/>
                  <a:pt x="37691" y="77391"/>
                  <a:pt x="32742" y="77391"/>
                </a:cubicBezTo>
                <a:cubicBezTo>
                  <a:pt x="27794" y="77391"/>
                  <a:pt x="23812" y="73409"/>
                  <a:pt x="23812" y="68461"/>
                </a:cubicBezTo>
                <a:cubicBezTo>
                  <a:pt x="23812" y="43793"/>
                  <a:pt x="43793" y="23812"/>
                  <a:pt x="68461" y="23812"/>
                </a:cubicBezTo>
                <a:cubicBezTo>
                  <a:pt x="73409" y="23812"/>
                  <a:pt x="77391" y="27794"/>
                  <a:pt x="77391" y="32742"/>
                </a:cubicBezTo>
                <a:cubicBezTo>
                  <a:pt x="77391" y="37691"/>
                  <a:pt x="73409" y="41672"/>
                  <a:pt x="68461" y="41672"/>
                </a:cubicBezTo>
                <a:close/>
              </a:path>
            </a:pathLst>
          </a:custGeom>
          <a:solidFill>
            <a:srgbClr val="000000"/>
          </a:solidFill>
          <a:ln/>
        </p:spPr>
      </p:sp>
      <p:sp>
        <p:nvSpPr>
          <p:cNvPr id="9" name="Text 6"/>
          <p:cNvSpPr/>
          <p:nvPr/>
        </p:nvSpPr>
        <p:spPr>
          <a:xfrm>
            <a:off x="2641997" y="6819902"/>
            <a:ext cx="7342188" cy="222250"/>
          </a:xfrm>
          <a:prstGeom prst="rect">
            <a:avLst/>
          </a:prstGeom>
          <a:noFill/>
          <a:ln/>
        </p:spPr>
        <p:txBody>
          <a:bodyPr wrap="square" lIns="0" tIns="0" rIns="0" bIns="0" rtlCol="0" anchor="ctr"/>
          <a:lstStyle/>
          <a:p>
            <a:pPr>
              <a:lnSpc>
                <a:spcPct val="130000"/>
              </a:lnSpc>
            </a:pPr>
            <a:r>
              <a:rPr lang="en-US" sz="1125" b="1" dirty="0">
                <a:solidFill>
                  <a:srgbClr val="000000"/>
                </a:solidFill>
                <a:latin typeface="Liter" pitchFamily="34" charset="0"/>
                <a:ea typeface="Liter" pitchFamily="34" charset="-122"/>
                <a:cs typeface="Liter" pitchFamily="34" charset="-120"/>
              </a:rPr>
              <a:t>Understanding these differences is crucial for developing effective legal frameworks and law enforcement strategies</a:t>
            </a:r>
            <a:endParaRPr lang="en-US" sz="1600" dirty="0"/>
          </a:p>
        </p:txBody>
      </p:sp>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pic>
        <p:nvPicPr>
          <p:cNvPr id="2" name="Image 0" descr="https://kimi-web-img.moonshot.cn/img/thumbs.dreamstime.com/4c022183b608e2375ccbc24550db6dca4f70d9e6.jpg">    </p:cNvPr>
          <p:cNvPicPr>
            <a:picLocks noChangeAspect="1"/>
          </p:cNvPicPr>
          <p:nvPr/>
        </p:nvPicPr>
        <p:blipFill>
          <a:blip r:embed="rId1">
            <a:alphaModFix amt="20000"/>
          </a:blip>
          <a:srcRect l="123" r="123" t="0" b="0"/>
          <a:stretch/>
        </p:blipFill>
        <p:spPr>
          <a:xfrm>
            <a:off x="0" y="0"/>
            <a:ext cx="12192000" cy="6859600"/>
          </a:xfrm>
          <a:prstGeom prst="roundRect">
            <a:avLst>
              <a:gd name="adj" fmla="val 0"/>
            </a:avLst>
          </a:prstGeom>
        </p:spPr>
      </p:pic>
      <p:sp>
        <p:nvSpPr>
          <p:cNvPr id="3" name="Shape 0"/>
          <p:cNvSpPr/>
          <p:nvPr/>
        </p:nvSpPr>
        <p:spPr>
          <a:xfrm>
            <a:off x="0" y="0"/>
            <a:ext cx="12192000" cy="6859600"/>
          </a:xfrm>
          <a:custGeom>
            <a:avLst/>
            <a:gdLst/>
            <a:ahLst/>
            <a:cxnLst/>
            <a:rect l="l" t="t" r="r" b="b"/>
            <a:pathLst>
              <a:path w="12192000" h="6859600">
                <a:moveTo>
                  <a:pt x="0" y="0"/>
                </a:moveTo>
                <a:lnTo>
                  <a:pt x="12192000" y="0"/>
                </a:lnTo>
                <a:lnTo>
                  <a:pt x="12192000" y="6859600"/>
                </a:lnTo>
                <a:lnTo>
                  <a:pt x="0" y="6859600"/>
                </a:lnTo>
                <a:lnTo>
                  <a:pt x="0" y="0"/>
                </a:lnTo>
                <a:close/>
              </a:path>
            </a:pathLst>
          </a:custGeom>
          <a:gradFill rotWithShape="1" flip="none">
            <a:gsLst>
              <a:gs pos="0">
                <a:srgbClr val="000000"/>
              </a:gs>
              <a:gs pos="50000">
                <a:srgbClr val="000000">
                  <a:alpha val="95000"/>
                </a:srgbClr>
              </a:gs>
              <a:gs pos="100000">
                <a:srgbClr val="000000">
                  <a:alpha val="80000"/>
                </a:srgbClr>
              </a:gs>
            </a:gsLst>
            <a:lin ang="0" scaled="1"/>
          </a:gradFill>
          <a:ln/>
        </p:spPr>
      </p:sp>
      <p:sp>
        <p:nvSpPr>
          <p:cNvPr id="4" name="Shape 1"/>
          <p:cNvSpPr/>
          <p:nvPr/>
        </p:nvSpPr>
        <p:spPr>
          <a:xfrm>
            <a:off x="341274" y="426592"/>
            <a:ext cx="68255" cy="409528"/>
          </a:xfrm>
          <a:custGeom>
            <a:avLst/>
            <a:gdLst/>
            <a:ahLst/>
            <a:cxnLst/>
            <a:rect l="l" t="t" r="r" b="b"/>
            <a:pathLst>
              <a:path w="68255" h="409528">
                <a:moveTo>
                  <a:pt x="0" y="0"/>
                </a:moveTo>
                <a:lnTo>
                  <a:pt x="68255" y="0"/>
                </a:lnTo>
                <a:lnTo>
                  <a:pt x="68255" y="409528"/>
                </a:lnTo>
                <a:lnTo>
                  <a:pt x="0" y="409528"/>
                </a:lnTo>
                <a:lnTo>
                  <a:pt x="0" y="0"/>
                </a:lnTo>
                <a:close/>
              </a:path>
            </a:pathLst>
          </a:custGeom>
          <a:solidFill>
            <a:srgbClr val="DDFF00"/>
          </a:solidFill>
          <a:ln/>
        </p:spPr>
      </p:sp>
      <p:sp>
        <p:nvSpPr>
          <p:cNvPr id="5" name="Text 2"/>
          <p:cNvSpPr/>
          <p:nvPr/>
        </p:nvSpPr>
        <p:spPr>
          <a:xfrm>
            <a:off x="546038" y="341274"/>
            <a:ext cx="6774281" cy="170637"/>
          </a:xfrm>
          <a:prstGeom prst="rect">
            <a:avLst/>
          </a:prstGeom>
          <a:noFill/>
          <a:ln/>
        </p:spPr>
        <p:txBody>
          <a:bodyPr wrap="square" lIns="0" tIns="0" rIns="0" bIns="0" rtlCol="0" anchor="ctr"/>
          <a:lstStyle/>
          <a:p>
            <a:pPr>
              <a:lnSpc>
                <a:spcPct val="120000"/>
              </a:lnSpc>
            </a:pPr>
            <a:r>
              <a:rPr lang="en-US" sz="941" b="1" spc="94" kern="0" dirty="0">
                <a:solidFill>
                  <a:srgbClr val="DDFF00"/>
                </a:solidFill>
                <a:latin typeface="Liter" pitchFamily="34" charset="0"/>
                <a:ea typeface="Liter" pitchFamily="34" charset="-122"/>
                <a:cs typeface="Liter" pitchFamily="34" charset="-120"/>
              </a:rPr>
              <a:t>CHAPTER 06</a:t>
            </a:r>
            <a:endParaRPr lang="en-US" sz="1600" dirty="0"/>
          </a:p>
        </p:txBody>
      </p:sp>
      <p:sp>
        <p:nvSpPr>
          <p:cNvPr id="6" name="Text 3"/>
          <p:cNvSpPr/>
          <p:nvPr/>
        </p:nvSpPr>
        <p:spPr>
          <a:xfrm>
            <a:off x="546038" y="511910"/>
            <a:ext cx="6919323" cy="409528"/>
          </a:xfrm>
          <a:prstGeom prst="rect">
            <a:avLst/>
          </a:prstGeom>
          <a:noFill/>
          <a:ln/>
        </p:spPr>
        <p:txBody>
          <a:bodyPr wrap="square" lIns="0" tIns="0" rIns="0" bIns="0" rtlCol="0" anchor="ctr"/>
          <a:lstStyle/>
          <a:p>
            <a:pPr>
              <a:lnSpc>
                <a:spcPct val="80000"/>
              </a:lnSpc>
            </a:pPr>
            <a:r>
              <a:rPr lang="en-US" sz="3225" b="1" dirty="0">
                <a:solidFill>
                  <a:srgbClr val="FFFFFF"/>
                </a:solidFill>
                <a:latin typeface="Liter" pitchFamily="34" charset="0"/>
                <a:ea typeface="Liter" pitchFamily="34" charset="-122"/>
                <a:cs typeface="Liter" pitchFamily="34" charset="-120"/>
              </a:rPr>
              <a:t>Electronic Commerce (E-Commerce)</a:t>
            </a:r>
            <a:endParaRPr lang="en-US" sz="1600" dirty="0"/>
          </a:p>
        </p:txBody>
      </p:sp>
      <p:sp>
        <p:nvSpPr>
          <p:cNvPr id="7" name="Shape 4"/>
          <p:cNvSpPr/>
          <p:nvPr/>
        </p:nvSpPr>
        <p:spPr>
          <a:xfrm>
            <a:off x="358337" y="1160330"/>
            <a:ext cx="5639547" cy="1467477"/>
          </a:xfrm>
          <a:custGeom>
            <a:avLst/>
            <a:gdLst/>
            <a:ahLst/>
            <a:cxnLst/>
            <a:rect l="l" t="t" r="r" b="b"/>
            <a:pathLst>
              <a:path w="5639547" h="1467477">
                <a:moveTo>
                  <a:pt x="0" y="0"/>
                </a:moveTo>
                <a:lnTo>
                  <a:pt x="5639547" y="0"/>
                </a:lnTo>
                <a:lnTo>
                  <a:pt x="5639547" y="1467477"/>
                </a:lnTo>
                <a:lnTo>
                  <a:pt x="0" y="1467477"/>
                </a:lnTo>
                <a:lnTo>
                  <a:pt x="0" y="0"/>
                </a:lnTo>
                <a:close/>
              </a:path>
            </a:pathLst>
          </a:custGeom>
          <a:solidFill>
            <a:srgbClr val="111111">
              <a:alpha val="90196"/>
            </a:srgbClr>
          </a:solidFill>
          <a:ln/>
        </p:spPr>
      </p:sp>
      <p:sp>
        <p:nvSpPr>
          <p:cNvPr id="8" name="Shape 5"/>
          <p:cNvSpPr/>
          <p:nvPr/>
        </p:nvSpPr>
        <p:spPr>
          <a:xfrm>
            <a:off x="358337" y="1160330"/>
            <a:ext cx="34127" cy="1467477"/>
          </a:xfrm>
          <a:custGeom>
            <a:avLst/>
            <a:gdLst/>
            <a:ahLst/>
            <a:cxnLst/>
            <a:rect l="l" t="t" r="r" b="b"/>
            <a:pathLst>
              <a:path w="34127" h="1467477">
                <a:moveTo>
                  <a:pt x="0" y="0"/>
                </a:moveTo>
                <a:lnTo>
                  <a:pt x="34127" y="0"/>
                </a:lnTo>
                <a:lnTo>
                  <a:pt x="34127" y="1467477"/>
                </a:lnTo>
                <a:lnTo>
                  <a:pt x="0" y="1467477"/>
                </a:lnTo>
                <a:lnTo>
                  <a:pt x="0" y="0"/>
                </a:lnTo>
                <a:close/>
              </a:path>
            </a:pathLst>
          </a:custGeom>
          <a:solidFill>
            <a:srgbClr val="DDFF00"/>
          </a:solidFill>
          <a:ln/>
        </p:spPr>
      </p:sp>
      <p:sp>
        <p:nvSpPr>
          <p:cNvPr id="9" name="Text 6"/>
          <p:cNvSpPr/>
          <p:nvPr/>
        </p:nvSpPr>
        <p:spPr>
          <a:xfrm>
            <a:off x="546038" y="1330967"/>
            <a:ext cx="5383591" cy="273019"/>
          </a:xfrm>
          <a:prstGeom prst="rect">
            <a:avLst/>
          </a:prstGeom>
          <a:noFill/>
          <a:ln/>
        </p:spPr>
        <p:txBody>
          <a:bodyPr wrap="square" lIns="0" tIns="0" rIns="0" bIns="0" rtlCol="0" anchor="ctr"/>
          <a:lstStyle/>
          <a:p>
            <a:pPr>
              <a:lnSpc>
                <a:spcPct val="110000"/>
              </a:lnSpc>
            </a:pPr>
            <a:r>
              <a:rPr lang="en-US" sz="1612" b="1" dirty="0">
                <a:solidFill>
                  <a:srgbClr val="DDFF00"/>
                </a:solidFill>
                <a:latin typeface="Liter" pitchFamily="34" charset="0"/>
                <a:ea typeface="Liter" pitchFamily="34" charset="-122"/>
                <a:cs typeface="Liter" pitchFamily="34" charset="-120"/>
              </a:rPr>
              <a:t>What is E-Commerce?</a:t>
            </a:r>
            <a:endParaRPr lang="en-US" sz="1600" dirty="0"/>
          </a:p>
        </p:txBody>
      </p:sp>
      <p:sp>
        <p:nvSpPr>
          <p:cNvPr id="10" name="Text 7"/>
          <p:cNvSpPr/>
          <p:nvPr/>
        </p:nvSpPr>
        <p:spPr>
          <a:xfrm>
            <a:off x="546038" y="1706264"/>
            <a:ext cx="5357996" cy="750802"/>
          </a:xfrm>
          <a:prstGeom prst="rect">
            <a:avLst/>
          </a:prstGeom>
          <a:noFill/>
          <a:ln/>
        </p:spPr>
        <p:txBody>
          <a:bodyPr wrap="square" lIns="0" tIns="0" rIns="0" bIns="0" rtlCol="0" anchor="ctr"/>
          <a:lstStyle/>
          <a:p>
            <a:pPr>
              <a:lnSpc>
                <a:spcPct val="140000"/>
              </a:lnSpc>
            </a:pPr>
            <a:r>
              <a:rPr lang="en-US" sz="1209" dirty="0">
                <a:solidFill>
                  <a:srgbClr val="FFFFFF">
                    <a:alpha val="90000"/>
                  </a:srgbClr>
                </a:solidFill>
                <a:latin typeface="Liter" pitchFamily="34" charset="0"/>
                <a:ea typeface="Liter" pitchFamily="34" charset="-122"/>
                <a:cs typeface="Liter" pitchFamily="34" charset="-120"/>
              </a:rPr>
              <a:t>E-commerce refers to </a:t>
            </a:r>
            <a:pPr>
              <a:lnSpc>
                <a:spcPct val="140000"/>
              </a:lnSpc>
            </a:pPr>
            <a:r>
              <a:rPr lang="en-US" sz="1209" dirty="0">
                <a:solidFill>
                  <a:srgbClr val="DDFF00"/>
                </a:solidFill>
                <a:highlight>
                  <a:srgbClr val="DDFF00">
                    <a:alpha val="20000"/>
                  </a:srgbClr>
                </a:highlight>
                <a:latin typeface="Liter" pitchFamily="34" charset="0"/>
                <a:ea typeface="Liter" pitchFamily="34" charset="-122"/>
                <a:cs typeface="Liter" pitchFamily="34" charset="-120"/>
              </a:rPr>
              <a:t>buying and selling goods and services </a:t>
            </a:r>
            <a:pPr>
              <a:lnSpc>
                <a:spcPct val="140000"/>
              </a:lnSpc>
            </a:pPr>
            <a:r>
              <a:rPr lang="en-US" sz="1209" dirty="0">
                <a:solidFill>
                  <a:srgbClr val="FFFFFF">
                    <a:alpha val="90000"/>
                  </a:srgbClr>
                </a:solidFill>
                <a:latin typeface="Liter" pitchFamily="34" charset="0"/>
                <a:ea typeface="Liter" pitchFamily="34" charset="-122"/>
                <a:cs typeface="Liter" pitchFamily="34" charset="-120"/>
              </a:rPr>
              <a:t>through the internet. It encompasses all commercial transactions conducted electronically, revolutionizing how businesses operate and consumers shop.</a:t>
            </a:r>
            <a:endParaRPr lang="en-US" sz="1600" dirty="0"/>
          </a:p>
        </p:txBody>
      </p:sp>
      <p:sp>
        <p:nvSpPr>
          <p:cNvPr id="11" name="Shape 8"/>
          <p:cNvSpPr/>
          <p:nvPr/>
        </p:nvSpPr>
        <p:spPr>
          <a:xfrm>
            <a:off x="341274" y="2762079"/>
            <a:ext cx="5656610" cy="4095283"/>
          </a:xfrm>
          <a:custGeom>
            <a:avLst/>
            <a:gdLst/>
            <a:ahLst/>
            <a:cxnLst/>
            <a:rect l="l" t="t" r="r" b="b"/>
            <a:pathLst>
              <a:path w="5656610" h="4095283">
                <a:moveTo>
                  <a:pt x="0" y="0"/>
                </a:moveTo>
                <a:lnTo>
                  <a:pt x="5656610" y="0"/>
                </a:lnTo>
                <a:lnTo>
                  <a:pt x="5656610" y="4095283"/>
                </a:lnTo>
                <a:lnTo>
                  <a:pt x="0" y="4095283"/>
                </a:lnTo>
                <a:lnTo>
                  <a:pt x="0" y="0"/>
                </a:lnTo>
                <a:close/>
              </a:path>
            </a:pathLst>
          </a:custGeom>
          <a:solidFill>
            <a:srgbClr val="111111">
              <a:alpha val="90196"/>
            </a:srgbClr>
          </a:solidFill>
          <a:ln/>
        </p:spPr>
      </p:sp>
      <p:sp>
        <p:nvSpPr>
          <p:cNvPr id="12" name="Shape 9"/>
          <p:cNvSpPr/>
          <p:nvPr/>
        </p:nvSpPr>
        <p:spPr>
          <a:xfrm>
            <a:off x="533240" y="2966843"/>
            <a:ext cx="170637" cy="170637"/>
          </a:xfrm>
          <a:custGeom>
            <a:avLst/>
            <a:gdLst/>
            <a:ahLst/>
            <a:cxnLst/>
            <a:rect l="l" t="t" r="r" b="b"/>
            <a:pathLst>
              <a:path w="170637" h="170637">
                <a:moveTo>
                  <a:pt x="10232" y="24096"/>
                </a:moveTo>
                <a:cubicBezTo>
                  <a:pt x="12531" y="16131"/>
                  <a:pt x="19830" y="10665"/>
                  <a:pt x="28128" y="10665"/>
                </a:cubicBezTo>
                <a:lnTo>
                  <a:pt x="142775" y="10665"/>
                </a:lnTo>
                <a:cubicBezTo>
                  <a:pt x="151074" y="10665"/>
                  <a:pt x="158372" y="16131"/>
                  <a:pt x="160705" y="24096"/>
                </a:cubicBezTo>
                <a:lnTo>
                  <a:pt x="168504" y="50824"/>
                </a:lnTo>
                <a:cubicBezTo>
                  <a:pt x="172770" y="65389"/>
                  <a:pt x="161805" y="79986"/>
                  <a:pt x="146641" y="79986"/>
                </a:cubicBezTo>
                <a:cubicBezTo>
                  <a:pt x="137876" y="79986"/>
                  <a:pt x="130177" y="75020"/>
                  <a:pt x="126378" y="67622"/>
                </a:cubicBezTo>
                <a:cubicBezTo>
                  <a:pt x="122512" y="74920"/>
                  <a:pt x="114847" y="79986"/>
                  <a:pt x="105915" y="79986"/>
                </a:cubicBezTo>
                <a:cubicBezTo>
                  <a:pt x="97050" y="79986"/>
                  <a:pt x="89351" y="74987"/>
                  <a:pt x="85485" y="67655"/>
                </a:cubicBezTo>
                <a:cubicBezTo>
                  <a:pt x="81619" y="74987"/>
                  <a:pt x="73920" y="79986"/>
                  <a:pt x="65055" y="79986"/>
                </a:cubicBezTo>
                <a:cubicBezTo>
                  <a:pt x="56124" y="79986"/>
                  <a:pt x="48458" y="74954"/>
                  <a:pt x="44592" y="67622"/>
                </a:cubicBezTo>
                <a:cubicBezTo>
                  <a:pt x="40793" y="74987"/>
                  <a:pt x="33094" y="79986"/>
                  <a:pt x="24329" y="79986"/>
                </a:cubicBezTo>
                <a:cubicBezTo>
                  <a:pt x="9132" y="79986"/>
                  <a:pt x="-1800" y="65422"/>
                  <a:pt x="2466" y="50824"/>
                </a:cubicBezTo>
                <a:lnTo>
                  <a:pt x="10232" y="24096"/>
                </a:lnTo>
                <a:close/>
                <a:moveTo>
                  <a:pt x="32128" y="117313"/>
                </a:moveTo>
                <a:lnTo>
                  <a:pt x="138776" y="117313"/>
                </a:lnTo>
                <a:lnTo>
                  <a:pt x="138776" y="95183"/>
                </a:lnTo>
                <a:cubicBezTo>
                  <a:pt x="141309" y="95717"/>
                  <a:pt x="143941" y="95983"/>
                  <a:pt x="146608" y="95983"/>
                </a:cubicBezTo>
                <a:cubicBezTo>
                  <a:pt x="151374" y="95983"/>
                  <a:pt x="155939" y="95117"/>
                  <a:pt x="160105" y="93584"/>
                </a:cubicBezTo>
                <a:lnTo>
                  <a:pt x="160105" y="143975"/>
                </a:lnTo>
                <a:cubicBezTo>
                  <a:pt x="160105" y="152807"/>
                  <a:pt x="152940" y="159972"/>
                  <a:pt x="144108" y="159972"/>
                </a:cubicBezTo>
                <a:lnTo>
                  <a:pt x="26795" y="159972"/>
                </a:lnTo>
                <a:cubicBezTo>
                  <a:pt x="17964" y="159972"/>
                  <a:pt x="10798" y="152807"/>
                  <a:pt x="10798" y="143975"/>
                </a:cubicBezTo>
                <a:lnTo>
                  <a:pt x="10798" y="93584"/>
                </a:lnTo>
                <a:cubicBezTo>
                  <a:pt x="14964" y="95117"/>
                  <a:pt x="19497" y="95983"/>
                  <a:pt x="24296" y="95983"/>
                </a:cubicBezTo>
                <a:cubicBezTo>
                  <a:pt x="26995" y="95983"/>
                  <a:pt x="29595" y="95717"/>
                  <a:pt x="32128" y="95183"/>
                </a:cubicBezTo>
                <a:lnTo>
                  <a:pt x="32128" y="117313"/>
                </a:lnTo>
                <a:close/>
              </a:path>
            </a:pathLst>
          </a:custGeom>
          <a:solidFill>
            <a:srgbClr val="DDFF00"/>
          </a:solidFill>
          <a:ln/>
        </p:spPr>
      </p:sp>
      <p:sp>
        <p:nvSpPr>
          <p:cNvPr id="13" name="Text 10"/>
          <p:cNvSpPr/>
          <p:nvPr/>
        </p:nvSpPr>
        <p:spPr>
          <a:xfrm>
            <a:off x="725206" y="2932716"/>
            <a:ext cx="5187359" cy="238892"/>
          </a:xfrm>
          <a:prstGeom prst="rect">
            <a:avLst/>
          </a:prstGeom>
          <a:noFill/>
          <a:ln/>
        </p:spPr>
        <p:txBody>
          <a:bodyPr wrap="square" lIns="0" tIns="0" rIns="0" bIns="0" rtlCol="0" anchor="ctr"/>
          <a:lstStyle/>
          <a:p>
            <a:pPr>
              <a:lnSpc>
                <a:spcPct val="120000"/>
              </a:lnSpc>
            </a:pPr>
            <a:r>
              <a:rPr lang="en-US" sz="1344" b="1" dirty="0">
                <a:solidFill>
                  <a:srgbClr val="DDFF00"/>
                </a:solidFill>
                <a:latin typeface="Liter" pitchFamily="34" charset="0"/>
                <a:ea typeface="Liter" pitchFamily="34" charset="-122"/>
                <a:cs typeface="Liter" pitchFamily="34" charset="-120"/>
              </a:rPr>
              <a:t>Popular E-Commerce Platforms</a:t>
            </a:r>
            <a:endParaRPr lang="en-US" sz="1600" dirty="0"/>
          </a:p>
        </p:txBody>
      </p:sp>
      <p:sp>
        <p:nvSpPr>
          <p:cNvPr id="14" name="Shape 11"/>
          <p:cNvSpPr/>
          <p:nvPr/>
        </p:nvSpPr>
        <p:spPr>
          <a:xfrm>
            <a:off x="518736" y="3314942"/>
            <a:ext cx="2573203" cy="1071599"/>
          </a:xfrm>
          <a:custGeom>
            <a:avLst/>
            <a:gdLst/>
            <a:ahLst/>
            <a:cxnLst/>
            <a:rect l="l" t="t" r="r" b="b"/>
            <a:pathLst>
              <a:path w="2573203" h="1071599">
                <a:moveTo>
                  <a:pt x="0" y="0"/>
                </a:moveTo>
                <a:lnTo>
                  <a:pt x="2573203" y="0"/>
                </a:lnTo>
                <a:lnTo>
                  <a:pt x="2573203" y="1071599"/>
                </a:lnTo>
                <a:lnTo>
                  <a:pt x="0" y="1071599"/>
                </a:lnTo>
                <a:lnTo>
                  <a:pt x="0" y="0"/>
                </a:lnTo>
                <a:close/>
              </a:path>
            </a:pathLst>
          </a:custGeom>
          <a:solidFill>
            <a:srgbClr val="000000"/>
          </a:solidFill>
          <a:ln w="20320">
            <a:solidFill>
              <a:srgbClr val="DDFF00"/>
            </a:solidFill>
            <a:prstDash val="solid"/>
          </a:ln>
        </p:spPr>
      </p:sp>
      <p:sp>
        <p:nvSpPr>
          <p:cNvPr id="15" name="Shape 12"/>
          <p:cNvSpPr/>
          <p:nvPr/>
        </p:nvSpPr>
        <p:spPr>
          <a:xfrm>
            <a:off x="1671494" y="3458274"/>
            <a:ext cx="268753" cy="307146"/>
          </a:xfrm>
          <a:custGeom>
            <a:avLst/>
            <a:gdLst/>
            <a:ahLst/>
            <a:cxnLst/>
            <a:rect l="l" t="t" r="r" b="b"/>
            <a:pathLst>
              <a:path w="268753" h="307146">
                <a:moveTo>
                  <a:pt x="154593" y="97603"/>
                </a:moveTo>
                <a:cubicBezTo>
                  <a:pt x="125378" y="98683"/>
                  <a:pt x="52911" y="106901"/>
                  <a:pt x="52911" y="168091"/>
                </a:cubicBezTo>
                <a:cubicBezTo>
                  <a:pt x="52911" y="233779"/>
                  <a:pt x="135876" y="236479"/>
                  <a:pt x="162991" y="194006"/>
                </a:cubicBezTo>
                <a:cubicBezTo>
                  <a:pt x="166891" y="200125"/>
                  <a:pt x="184228" y="216502"/>
                  <a:pt x="190167" y="222081"/>
                </a:cubicBezTo>
                <a:lnTo>
                  <a:pt x="224241" y="188487"/>
                </a:lnTo>
                <a:cubicBezTo>
                  <a:pt x="224241" y="188487"/>
                  <a:pt x="204864" y="173310"/>
                  <a:pt x="204864" y="156813"/>
                </a:cubicBezTo>
                <a:lnTo>
                  <a:pt x="204864" y="68568"/>
                </a:lnTo>
                <a:cubicBezTo>
                  <a:pt x="204864" y="53391"/>
                  <a:pt x="190167" y="19197"/>
                  <a:pt x="137496" y="19197"/>
                </a:cubicBezTo>
                <a:cubicBezTo>
                  <a:pt x="84705" y="19197"/>
                  <a:pt x="56690" y="52191"/>
                  <a:pt x="56690" y="81766"/>
                </a:cubicBezTo>
                <a:lnTo>
                  <a:pt x="100782" y="85845"/>
                </a:lnTo>
                <a:cubicBezTo>
                  <a:pt x="110561" y="56150"/>
                  <a:pt x="133297" y="56150"/>
                  <a:pt x="133297" y="56150"/>
                </a:cubicBezTo>
                <a:cubicBezTo>
                  <a:pt x="157712" y="56090"/>
                  <a:pt x="154593" y="74027"/>
                  <a:pt x="154593" y="97603"/>
                </a:cubicBezTo>
                <a:close/>
                <a:moveTo>
                  <a:pt x="154593" y="149674"/>
                </a:moveTo>
                <a:cubicBezTo>
                  <a:pt x="154593" y="197665"/>
                  <a:pt x="104082" y="190467"/>
                  <a:pt x="104082" y="159992"/>
                </a:cubicBezTo>
                <a:cubicBezTo>
                  <a:pt x="104082" y="131677"/>
                  <a:pt x="134376" y="125978"/>
                  <a:pt x="154593" y="125318"/>
                </a:cubicBezTo>
                <a:lnTo>
                  <a:pt x="154593" y="149674"/>
                </a:lnTo>
                <a:close/>
                <a:moveTo>
                  <a:pt x="236179" y="247757"/>
                </a:moveTo>
                <a:cubicBezTo>
                  <a:pt x="231559" y="253756"/>
                  <a:pt x="194186" y="287950"/>
                  <a:pt x="131497" y="287950"/>
                </a:cubicBezTo>
                <a:cubicBezTo>
                  <a:pt x="68808" y="287950"/>
                  <a:pt x="20816" y="245057"/>
                  <a:pt x="6119" y="227360"/>
                </a:cubicBezTo>
                <a:cubicBezTo>
                  <a:pt x="2040" y="222741"/>
                  <a:pt x="6719" y="220581"/>
                  <a:pt x="9418" y="222381"/>
                </a:cubicBezTo>
                <a:cubicBezTo>
                  <a:pt x="53391" y="249076"/>
                  <a:pt x="122079" y="293049"/>
                  <a:pt x="232879" y="240558"/>
                </a:cubicBezTo>
                <a:cubicBezTo>
                  <a:pt x="237378" y="238338"/>
                  <a:pt x="240858" y="241758"/>
                  <a:pt x="236179" y="247757"/>
                </a:cubicBezTo>
                <a:close/>
                <a:moveTo>
                  <a:pt x="260054" y="249076"/>
                </a:moveTo>
                <a:cubicBezTo>
                  <a:pt x="256155" y="258555"/>
                  <a:pt x="250456" y="265154"/>
                  <a:pt x="247337" y="267673"/>
                </a:cubicBezTo>
                <a:cubicBezTo>
                  <a:pt x="244037" y="270373"/>
                  <a:pt x="241638" y="269293"/>
                  <a:pt x="243437" y="265394"/>
                </a:cubicBezTo>
                <a:cubicBezTo>
                  <a:pt x="245237" y="261494"/>
                  <a:pt x="255015" y="237498"/>
                  <a:pt x="251056" y="232399"/>
                </a:cubicBezTo>
                <a:cubicBezTo>
                  <a:pt x="247157" y="227420"/>
                  <a:pt x="228860" y="229820"/>
                  <a:pt x="222261" y="230480"/>
                </a:cubicBezTo>
                <a:cubicBezTo>
                  <a:pt x="215782" y="231080"/>
                  <a:pt x="214462" y="231679"/>
                  <a:pt x="213863" y="230300"/>
                </a:cubicBezTo>
                <a:cubicBezTo>
                  <a:pt x="212483" y="226880"/>
                  <a:pt x="226880" y="221001"/>
                  <a:pt x="236359" y="219802"/>
                </a:cubicBezTo>
                <a:cubicBezTo>
                  <a:pt x="245777" y="218722"/>
                  <a:pt x="260954" y="219322"/>
                  <a:pt x="263954" y="223221"/>
                </a:cubicBezTo>
                <a:cubicBezTo>
                  <a:pt x="266173" y="226280"/>
                  <a:pt x="263954" y="239478"/>
                  <a:pt x="260054" y="249076"/>
                </a:cubicBezTo>
                <a:close/>
              </a:path>
            </a:pathLst>
          </a:custGeom>
          <a:solidFill>
            <a:srgbClr val="DDFF00"/>
          </a:solidFill>
          <a:ln/>
        </p:spPr>
      </p:sp>
      <p:sp>
        <p:nvSpPr>
          <p:cNvPr id="16" name="Text 13"/>
          <p:cNvSpPr/>
          <p:nvPr/>
        </p:nvSpPr>
        <p:spPr>
          <a:xfrm>
            <a:off x="623678" y="3833675"/>
            <a:ext cx="2363320" cy="238892"/>
          </a:xfrm>
          <a:prstGeom prst="rect">
            <a:avLst/>
          </a:prstGeom>
          <a:noFill/>
          <a:ln/>
        </p:spPr>
        <p:txBody>
          <a:bodyPr wrap="square" lIns="0" tIns="0" rIns="0" bIns="0" rtlCol="0" anchor="ctr"/>
          <a:lstStyle/>
          <a:p>
            <a:pPr algn="ctr">
              <a:lnSpc>
                <a:spcPct val="130000"/>
              </a:lnSpc>
            </a:pPr>
            <a:r>
              <a:rPr lang="en-US" sz="1209" b="1" dirty="0">
                <a:solidFill>
                  <a:srgbClr val="FFFFFF"/>
                </a:solidFill>
                <a:latin typeface="Liter" pitchFamily="34" charset="0"/>
                <a:ea typeface="Liter" pitchFamily="34" charset="-122"/>
                <a:cs typeface="Liter" pitchFamily="34" charset="-120"/>
              </a:rPr>
              <a:t>Amazon</a:t>
            </a:r>
            <a:endParaRPr lang="en-US" sz="1600" dirty="0"/>
          </a:p>
        </p:txBody>
      </p:sp>
      <p:sp>
        <p:nvSpPr>
          <p:cNvPr id="17" name="Text 14"/>
          <p:cNvSpPr/>
          <p:nvPr/>
        </p:nvSpPr>
        <p:spPr>
          <a:xfrm>
            <a:off x="632209" y="4072567"/>
            <a:ext cx="2346256" cy="170637"/>
          </a:xfrm>
          <a:prstGeom prst="rect">
            <a:avLst/>
          </a:prstGeom>
          <a:noFill/>
          <a:ln/>
        </p:spPr>
        <p:txBody>
          <a:bodyPr wrap="square" lIns="0" tIns="0" rIns="0" bIns="0" rtlCol="0" anchor="ctr"/>
          <a:lstStyle/>
          <a:p>
            <a:pPr algn="ctr">
              <a:lnSpc>
                <a:spcPct val="120000"/>
              </a:lnSpc>
            </a:pPr>
            <a:r>
              <a:rPr lang="en-US" sz="941" dirty="0">
                <a:solidFill>
                  <a:srgbClr val="FFFFFF">
                    <a:alpha val="60000"/>
                  </a:srgbClr>
                </a:solidFill>
                <a:latin typeface="Liter" pitchFamily="34" charset="0"/>
                <a:ea typeface="Liter" pitchFamily="34" charset="-122"/>
                <a:cs typeface="Liter" pitchFamily="34" charset="-120"/>
              </a:rPr>
              <a:t>Global marketplace</a:t>
            </a:r>
            <a:endParaRPr lang="en-US" sz="1600" dirty="0"/>
          </a:p>
        </p:txBody>
      </p:sp>
      <p:sp>
        <p:nvSpPr>
          <p:cNvPr id="18" name="Shape 15"/>
          <p:cNvSpPr/>
          <p:nvPr/>
        </p:nvSpPr>
        <p:spPr>
          <a:xfrm>
            <a:off x="3243166" y="3314942"/>
            <a:ext cx="2573203" cy="1071599"/>
          </a:xfrm>
          <a:custGeom>
            <a:avLst/>
            <a:gdLst/>
            <a:ahLst/>
            <a:cxnLst/>
            <a:rect l="l" t="t" r="r" b="b"/>
            <a:pathLst>
              <a:path w="2573203" h="1071599">
                <a:moveTo>
                  <a:pt x="0" y="0"/>
                </a:moveTo>
                <a:lnTo>
                  <a:pt x="2573203" y="0"/>
                </a:lnTo>
                <a:lnTo>
                  <a:pt x="2573203" y="1071599"/>
                </a:lnTo>
                <a:lnTo>
                  <a:pt x="0" y="1071599"/>
                </a:lnTo>
                <a:lnTo>
                  <a:pt x="0" y="0"/>
                </a:lnTo>
                <a:close/>
              </a:path>
            </a:pathLst>
          </a:custGeom>
          <a:solidFill>
            <a:srgbClr val="000000"/>
          </a:solidFill>
          <a:ln w="20320">
            <a:solidFill>
              <a:srgbClr val="DDFF00"/>
            </a:solidFill>
            <a:prstDash val="solid"/>
          </a:ln>
        </p:spPr>
      </p:sp>
      <p:sp>
        <p:nvSpPr>
          <p:cNvPr id="19" name="Shape 16"/>
          <p:cNvSpPr/>
          <p:nvPr/>
        </p:nvSpPr>
        <p:spPr>
          <a:xfrm>
            <a:off x="4395924" y="3458274"/>
            <a:ext cx="268753" cy="307146"/>
          </a:xfrm>
          <a:custGeom>
            <a:avLst/>
            <a:gdLst/>
            <a:ahLst/>
            <a:cxnLst/>
            <a:rect l="l" t="t" r="r" b="b"/>
            <a:pathLst>
              <a:path w="268753" h="307146">
                <a:moveTo>
                  <a:pt x="95983" y="47992"/>
                </a:moveTo>
                <a:cubicBezTo>
                  <a:pt x="95983" y="26815"/>
                  <a:pt x="113200" y="9598"/>
                  <a:pt x="134376" y="9598"/>
                </a:cubicBezTo>
                <a:cubicBezTo>
                  <a:pt x="155553" y="9598"/>
                  <a:pt x="172770" y="26815"/>
                  <a:pt x="172770" y="47992"/>
                </a:cubicBezTo>
                <a:lnTo>
                  <a:pt x="172770" y="76787"/>
                </a:lnTo>
                <a:lnTo>
                  <a:pt x="95983" y="76787"/>
                </a:lnTo>
                <a:lnTo>
                  <a:pt x="95983" y="47992"/>
                </a:lnTo>
                <a:close/>
                <a:moveTo>
                  <a:pt x="67188" y="76787"/>
                </a:moveTo>
                <a:lnTo>
                  <a:pt x="28795" y="76787"/>
                </a:lnTo>
                <a:cubicBezTo>
                  <a:pt x="12898" y="76787"/>
                  <a:pt x="0" y="89684"/>
                  <a:pt x="0" y="105582"/>
                </a:cubicBezTo>
                <a:lnTo>
                  <a:pt x="0" y="230360"/>
                </a:lnTo>
                <a:cubicBezTo>
                  <a:pt x="0" y="262154"/>
                  <a:pt x="25795" y="287950"/>
                  <a:pt x="57590" y="287950"/>
                </a:cubicBezTo>
                <a:lnTo>
                  <a:pt x="211163" y="287950"/>
                </a:lnTo>
                <a:cubicBezTo>
                  <a:pt x="242957" y="287950"/>
                  <a:pt x="268753" y="262154"/>
                  <a:pt x="268753" y="230360"/>
                </a:cubicBezTo>
                <a:lnTo>
                  <a:pt x="268753" y="105582"/>
                </a:lnTo>
                <a:cubicBezTo>
                  <a:pt x="268753" y="89684"/>
                  <a:pt x="255855" y="76787"/>
                  <a:pt x="239958" y="76787"/>
                </a:cubicBezTo>
                <a:lnTo>
                  <a:pt x="201565" y="76787"/>
                </a:lnTo>
                <a:lnTo>
                  <a:pt x="201565" y="47992"/>
                </a:lnTo>
                <a:cubicBezTo>
                  <a:pt x="201565" y="10858"/>
                  <a:pt x="171510" y="-19197"/>
                  <a:pt x="134376" y="-19197"/>
                </a:cubicBezTo>
                <a:cubicBezTo>
                  <a:pt x="97243" y="-19197"/>
                  <a:pt x="67188" y="10858"/>
                  <a:pt x="67188" y="47992"/>
                </a:cubicBezTo>
                <a:lnTo>
                  <a:pt x="67188" y="76787"/>
                </a:lnTo>
                <a:close/>
                <a:moveTo>
                  <a:pt x="81586" y="105582"/>
                </a:moveTo>
                <a:cubicBezTo>
                  <a:pt x="89532" y="105582"/>
                  <a:pt x="95983" y="112033"/>
                  <a:pt x="95983" y="119979"/>
                </a:cubicBezTo>
                <a:cubicBezTo>
                  <a:pt x="95983" y="127925"/>
                  <a:pt x="89532" y="134376"/>
                  <a:pt x="81586" y="134376"/>
                </a:cubicBezTo>
                <a:cubicBezTo>
                  <a:pt x="73640" y="134376"/>
                  <a:pt x="67188" y="127925"/>
                  <a:pt x="67188" y="119979"/>
                </a:cubicBezTo>
                <a:cubicBezTo>
                  <a:pt x="67188" y="112033"/>
                  <a:pt x="73640" y="105582"/>
                  <a:pt x="81586" y="105582"/>
                </a:cubicBezTo>
                <a:close/>
                <a:moveTo>
                  <a:pt x="172770" y="119979"/>
                </a:moveTo>
                <a:cubicBezTo>
                  <a:pt x="172770" y="112033"/>
                  <a:pt x="179221" y="105582"/>
                  <a:pt x="187167" y="105582"/>
                </a:cubicBezTo>
                <a:cubicBezTo>
                  <a:pt x="195113" y="105582"/>
                  <a:pt x="201565" y="112033"/>
                  <a:pt x="201565" y="119979"/>
                </a:cubicBezTo>
                <a:cubicBezTo>
                  <a:pt x="201565" y="127925"/>
                  <a:pt x="195113" y="134376"/>
                  <a:pt x="187167" y="134376"/>
                </a:cubicBezTo>
                <a:cubicBezTo>
                  <a:pt x="179221" y="134376"/>
                  <a:pt x="172770" y="127925"/>
                  <a:pt x="172770" y="119979"/>
                </a:cubicBezTo>
                <a:close/>
              </a:path>
            </a:pathLst>
          </a:custGeom>
          <a:solidFill>
            <a:srgbClr val="DDFF00"/>
          </a:solidFill>
          <a:ln/>
        </p:spPr>
      </p:sp>
      <p:sp>
        <p:nvSpPr>
          <p:cNvPr id="20" name="Text 17"/>
          <p:cNvSpPr/>
          <p:nvPr/>
        </p:nvSpPr>
        <p:spPr>
          <a:xfrm>
            <a:off x="3348108" y="3833675"/>
            <a:ext cx="2363320" cy="238892"/>
          </a:xfrm>
          <a:prstGeom prst="rect">
            <a:avLst/>
          </a:prstGeom>
          <a:noFill/>
          <a:ln/>
        </p:spPr>
        <p:txBody>
          <a:bodyPr wrap="square" lIns="0" tIns="0" rIns="0" bIns="0" rtlCol="0" anchor="ctr"/>
          <a:lstStyle/>
          <a:p>
            <a:pPr algn="ctr">
              <a:lnSpc>
                <a:spcPct val="130000"/>
              </a:lnSpc>
            </a:pPr>
            <a:r>
              <a:rPr lang="en-US" sz="1209" b="1" dirty="0">
                <a:solidFill>
                  <a:srgbClr val="FFFFFF"/>
                </a:solidFill>
                <a:latin typeface="Liter" pitchFamily="34" charset="0"/>
                <a:ea typeface="Liter" pitchFamily="34" charset="-122"/>
                <a:cs typeface="Liter" pitchFamily="34" charset="-120"/>
              </a:rPr>
              <a:t>Flipkart</a:t>
            </a:r>
            <a:endParaRPr lang="en-US" sz="1600" dirty="0"/>
          </a:p>
        </p:txBody>
      </p:sp>
      <p:sp>
        <p:nvSpPr>
          <p:cNvPr id="21" name="Text 18"/>
          <p:cNvSpPr/>
          <p:nvPr/>
        </p:nvSpPr>
        <p:spPr>
          <a:xfrm>
            <a:off x="3356639" y="4072567"/>
            <a:ext cx="2346256" cy="170637"/>
          </a:xfrm>
          <a:prstGeom prst="rect">
            <a:avLst/>
          </a:prstGeom>
          <a:noFill/>
          <a:ln/>
        </p:spPr>
        <p:txBody>
          <a:bodyPr wrap="square" lIns="0" tIns="0" rIns="0" bIns="0" rtlCol="0" anchor="ctr"/>
          <a:lstStyle/>
          <a:p>
            <a:pPr algn="ctr">
              <a:lnSpc>
                <a:spcPct val="120000"/>
              </a:lnSpc>
            </a:pPr>
            <a:r>
              <a:rPr lang="en-US" sz="941" dirty="0">
                <a:solidFill>
                  <a:srgbClr val="FFFFFF">
                    <a:alpha val="60000"/>
                  </a:srgbClr>
                </a:solidFill>
                <a:latin typeface="Liter" pitchFamily="34" charset="0"/>
                <a:ea typeface="Liter" pitchFamily="34" charset="-122"/>
                <a:cs typeface="Liter" pitchFamily="34" charset="-120"/>
              </a:rPr>
              <a:t>India's leading platform</a:t>
            </a:r>
            <a:endParaRPr lang="en-US" sz="1600" dirty="0"/>
          </a:p>
        </p:txBody>
      </p:sp>
      <p:sp>
        <p:nvSpPr>
          <p:cNvPr id="22" name="Shape 19"/>
          <p:cNvSpPr/>
          <p:nvPr/>
        </p:nvSpPr>
        <p:spPr>
          <a:xfrm>
            <a:off x="518736" y="4536700"/>
            <a:ext cx="2573203" cy="1071599"/>
          </a:xfrm>
          <a:custGeom>
            <a:avLst/>
            <a:gdLst/>
            <a:ahLst/>
            <a:cxnLst/>
            <a:rect l="l" t="t" r="r" b="b"/>
            <a:pathLst>
              <a:path w="2573203" h="1071599">
                <a:moveTo>
                  <a:pt x="0" y="0"/>
                </a:moveTo>
                <a:lnTo>
                  <a:pt x="2573203" y="0"/>
                </a:lnTo>
                <a:lnTo>
                  <a:pt x="2573203" y="1071599"/>
                </a:lnTo>
                <a:lnTo>
                  <a:pt x="0" y="1071599"/>
                </a:lnTo>
                <a:lnTo>
                  <a:pt x="0" y="0"/>
                </a:lnTo>
                <a:close/>
              </a:path>
            </a:pathLst>
          </a:custGeom>
          <a:solidFill>
            <a:srgbClr val="000000"/>
          </a:solidFill>
          <a:ln w="20320">
            <a:solidFill>
              <a:srgbClr val="DDFF00"/>
            </a:solidFill>
            <a:prstDash val="solid"/>
          </a:ln>
        </p:spPr>
      </p:sp>
      <p:sp>
        <p:nvSpPr>
          <p:cNvPr id="23" name="Shape 20"/>
          <p:cNvSpPr/>
          <p:nvPr/>
        </p:nvSpPr>
        <p:spPr>
          <a:xfrm>
            <a:off x="1671494" y="4680035"/>
            <a:ext cx="268753" cy="307146"/>
          </a:xfrm>
          <a:custGeom>
            <a:avLst/>
            <a:gdLst/>
            <a:ahLst/>
            <a:cxnLst/>
            <a:rect l="l" t="t" r="r" b="b"/>
            <a:pathLst>
              <a:path w="268753" h="307146">
                <a:moveTo>
                  <a:pt x="233059" y="62449"/>
                </a:moveTo>
                <a:cubicBezTo>
                  <a:pt x="232939" y="61789"/>
                  <a:pt x="232639" y="61189"/>
                  <a:pt x="232159" y="60769"/>
                </a:cubicBezTo>
                <a:cubicBezTo>
                  <a:pt x="231679" y="60349"/>
                  <a:pt x="231080" y="60049"/>
                  <a:pt x="230420" y="60049"/>
                </a:cubicBezTo>
                <a:cubicBezTo>
                  <a:pt x="229220" y="60049"/>
                  <a:pt x="208104" y="59570"/>
                  <a:pt x="208104" y="59570"/>
                </a:cubicBezTo>
                <a:cubicBezTo>
                  <a:pt x="208104" y="59570"/>
                  <a:pt x="195146" y="47092"/>
                  <a:pt x="190347" y="42293"/>
                </a:cubicBezTo>
                <a:lnTo>
                  <a:pt x="190347" y="301867"/>
                </a:lnTo>
                <a:lnTo>
                  <a:pt x="265753" y="283150"/>
                </a:lnTo>
                <a:cubicBezTo>
                  <a:pt x="265753" y="283150"/>
                  <a:pt x="233359" y="63889"/>
                  <a:pt x="233119" y="62449"/>
                </a:cubicBezTo>
                <a:close/>
                <a:moveTo>
                  <a:pt x="173310" y="42293"/>
                </a:moveTo>
                <a:cubicBezTo>
                  <a:pt x="172170" y="38633"/>
                  <a:pt x="170730" y="35154"/>
                  <a:pt x="168990" y="31734"/>
                </a:cubicBezTo>
                <a:cubicBezTo>
                  <a:pt x="162752" y="19737"/>
                  <a:pt x="153393" y="13198"/>
                  <a:pt x="142355" y="13198"/>
                </a:cubicBezTo>
                <a:cubicBezTo>
                  <a:pt x="141575" y="13198"/>
                  <a:pt x="140735" y="13258"/>
                  <a:pt x="139956" y="13438"/>
                </a:cubicBezTo>
                <a:cubicBezTo>
                  <a:pt x="139716" y="12958"/>
                  <a:pt x="139236" y="12718"/>
                  <a:pt x="138996" y="12238"/>
                </a:cubicBezTo>
                <a:cubicBezTo>
                  <a:pt x="134197" y="6959"/>
                  <a:pt x="127958" y="4559"/>
                  <a:pt x="120519" y="4799"/>
                </a:cubicBezTo>
                <a:cubicBezTo>
                  <a:pt x="106121" y="5279"/>
                  <a:pt x="91724" y="15597"/>
                  <a:pt x="80206" y="34074"/>
                </a:cubicBezTo>
                <a:cubicBezTo>
                  <a:pt x="72047" y="47032"/>
                  <a:pt x="65808" y="63349"/>
                  <a:pt x="64129" y="76127"/>
                </a:cubicBezTo>
                <a:cubicBezTo>
                  <a:pt x="47572" y="81166"/>
                  <a:pt x="36054" y="84765"/>
                  <a:pt x="35814" y="85005"/>
                </a:cubicBezTo>
                <a:cubicBezTo>
                  <a:pt x="27415" y="87645"/>
                  <a:pt x="27175" y="87885"/>
                  <a:pt x="26215" y="95803"/>
                </a:cubicBezTo>
                <a:cubicBezTo>
                  <a:pt x="25496" y="101802"/>
                  <a:pt x="3419" y="270853"/>
                  <a:pt x="3419" y="270853"/>
                </a:cubicBezTo>
                <a:lnTo>
                  <a:pt x="184948" y="302347"/>
                </a:lnTo>
                <a:lnTo>
                  <a:pt x="184948" y="39413"/>
                </a:lnTo>
                <a:cubicBezTo>
                  <a:pt x="184048" y="39473"/>
                  <a:pt x="183208" y="39533"/>
                  <a:pt x="182308" y="39653"/>
                </a:cubicBezTo>
                <a:cubicBezTo>
                  <a:pt x="182308" y="39653"/>
                  <a:pt x="178949" y="40613"/>
                  <a:pt x="173430" y="42293"/>
                </a:cubicBezTo>
                <a:close/>
                <a:moveTo>
                  <a:pt x="140135" y="52611"/>
                </a:moveTo>
                <a:cubicBezTo>
                  <a:pt x="130537" y="55490"/>
                  <a:pt x="119979" y="58850"/>
                  <a:pt x="109661" y="61969"/>
                </a:cubicBezTo>
                <a:cubicBezTo>
                  <a:pt x="112540" y="50691"/>
                  <a:pt x="118299" y="39413"/>
                  <a:pt x="125018" y="31974"/>
                </a:cubicBezTo>
                <a:cubicBezTo>
                  <a:pt x="127658" y="29335"/>
                  <a:pt x="131257" y="26215"/>
                  <a:pt x="135336" y="24296"/>
                </a:cubicBezTo>
                <a:cubicBezTo>
                  <a:pt x="139416" y="32934"/>
                  <a:pt x="140375" y="44692"/>
                  <a:pt x="140135" y="52611"/>
                </a:cubicBezTo>
                <a:close/>
                <a:moveTo>
                  <a:pt x="120459" y="14637"/>
                </a:moveTo>
                <a:cubicBezTo>
                  <a:pt x="123458" y="14517"/>
                  <a:pt x="126458" y="15297"/>
                  <a:pt x="129097" y="16797"/>
                </a:cubicBezTo>
                <a:cubicBezTo>
                  <a:pt x="125258" y="18717"/>
                  <a:pt x="121419" y="21836"/>
                  <a:pt x="117819" y="25436"/>
                </a:cubicBezTo>
                <a:cubicBezTo>
                  <a:pt x="108701" y="35274"/>
                  <a:pt x="101742" y="50631"/>
                  <a:pt x="98863" y="65329"/>
                </a:cubicBezTo>
                <a:cubicBezTo>
                  <a:pt x="90224" y="67968"/>
                  <a:pt x="81586" y="70608"/>
                  <a:pt x="73667" y="73007"/>
                </a:cubicBezTo>
                <a:cubicBezTo>
                  <a:pt x="78946" y="49971"/>
                  <a:pt x="98383" y="15177"/>
                  <a:pt x="120459" y="14697"/>
                </a:cubicBezTo>
                <a:close/>
                <a:moveTo>
                  <a:pt x="92624" y="146734"/>
                </a:moveTo>
                <a:cubicBezTo>
                  <a:pt x="93584" y="162092"/>
                  <a:pt x="134137" y="165451"/>
                  <a:pt x="136536" y="201745"/>
                </a:cubicBezTo>
                <a:cubicBezTo>
                  <a:pt x="138216" y="230300"/>
                  <a:pt x="121419" y="249796"/>
                  <a:pt x="97183" y="251236"/>
                </a:cubicBezTo>
                <a:cubicBezTo>
                  <a:pt x="67908" y="253156"/>
                  <a:pt x="51831" y="235879"/>
                  <a:pt x="51831" y="235879"/>
                </a:cubicBezTo>
                <a:lnTo>
                  <a:pt x="58070" y="209483"/>
                </a:lnTo>
                <a:cubicBezTo>
                  <a:pt x="58070" y="209483"/>
                  <a:pt x="74147" y="221721"/>
                  <a:pt x="87105" y="220761"/>
                </a:cubicBezTo>
                <a:cubicBezTo>
                  <a:pt x="95503" y="220281"/>
                  <a:pt x="98623" y="213323"/>
                  <a:pt x="98383" y="208524"/>
                </a:cubicBezTo>
                <a:cubicBezTo>
                  <a:pt x="97183" y="188367"/>
                  <a:pt x="64069" y="189567"/>
                  <a:pt x="61909" y="156393"/>
                </a:cubicBezTo>
                <a:cubicBezTo>
                  <a:pt x="59990" y="128558"/>
                  <a:pt x="78226" y="100422"/>
                  <a:pt x="118599" y="97783"/>
                </a:cubicBezTo>
                <a:cubicBezTo>
                  <a:pt x="134197" y="96823"/>
                  <a:pt x="142115" y="100662"/>
                  <a:pt x="142115" y="100662"/>
                </a:cubicBezTo>
                <a:lnTo>
                  <a:pt x="132997" y="135216"/>
                </a:lnTo>
                <a:cubicBezTo>
                  <a:pt x="132997" y="135216"/>
                  <a:pt x="122679" y="130417"/>
                  <a:pt x="110441" y="131377"/>
                </a:cubicBezTo>
                <a:cubicBezTo>
                  <a:pt x="92684" y="132577"/>
                  <a:pt x="92444" y="143855"/>
                  <a:pt x="92684" y="146734"/>
                </a:cubicBezTo>
                <a:close/>
                <a:moveTo>
                  <a:pt x="149734" y="49731"/>
                </a:moveTo>
                <a:cubicBezTo>
                  <a:pt x="149734" y="42533"/>
                  <a:pt x="148774" y="32214"/>
                  <a:pt x="145415" y="23576"/>
                </a:cubicBezTo>
                <a:cubicBezTo>
                  <a:pt x="156453" y="25735"/>
                  <a:pt x="161732" y="37973"/>
                  <a:pt x="164131" y="45412"/>
                </a:cubicBezTo>
                <a:cubicBezTo>
                  <a:pt x="159812" y="46612"/>
                  <a:pt x="155013" y="48052"/>
                  <a:pt x="149734" y="49731"/>
                </a:cubicBezTo>
                <a:close/>
              </a:path>
            </a:pathLst>
          </a:custGeom>
          <a:solidFill>
            <a:srgbClr val="DDFF00"/>
          </a:solidFill>
          <a:ln/>
        </p:spPr>
      </p:sp>
      <p:sp>
        <p:nvSpPr>
          <p:cNvPr id="24" name="Text 21"/>
          <p:cNvSpPr/>
          <p:nvPr/>
        </p:nvSpPr>
        <p:spPr>
          <a:xfrm>
            <a:off x="623678" y="5055436"/>
            <a:ext cx="2363320" cy="238892"/>
          </a:xfrm>
          <a:prstGeom prst="rect">
            <a:avLst/>
          </a:prstGeom>
          <a:noFill/>
          <a:ln/>
        </p:spPr>
        <p:txBody>
          <a:bodyPr wrap="square" lIns="0" tIns="0" rIns="0" bIns="0" rtlCol="0" anchor="ctr"/>
          <a:lstStyle/>
          <a:p>
            <a:pPr algn="ctr">
              <a:lnSpc>
                <a:spcPct val="130000"/>
              </a:lnSpc>
            </a:pPr>
            <a:r>
              <a:rPr lang="en-US" sz="1209" b="1" dirty="0">
                <a:solidFill>
                  <a:srgbClr val="FFFFFF"/>
                </a:solidFill>
                <a:latin typeface="Liter" pitchFamily="34" charset="0"/>
                <a:ea typeface="Liter" pitchFamily="34" charset="-122"/>
                <a:cs typeface="Liter" pitchFamily="34" charset="-120"/>
              </a:rPr>
              <a:t>Shopify</a:t>
            </a:r>
            <a:endParaRPr lang="en-US" sz="1600" dirty="0"/>
          </a:p>
        </p:txBody>
      </p:sp>
      <p:sp>
        <p:nvSpPr>
          <p:cNvPr id="25" name="Text 22"/>
          <p:cNvSpPr/>
          <p:nvPr/>
        </p:nvSpPr>
        <p:spPr>
          <a:xfrm>
            <a:off x="632209" y="5294328"/>
            <a:ext cx="2346256" cy="170637"/>
          </a:xfrm>
          <a:prstGeom prst="rect">
            <a:avLst/>
          </a:prstGeom>
          <a:noFill/>
          <a:ln/>
        </p:spPr>
        <p:txBody>
          <a:bodyPr wrap="square" lIns="0" tIns="0" rIns="0" bIns="0" rtlCol="0" anchor="ctr"/>
          <a:lstStyle/>
          <a:p>
            <a:pPr algn="ctr">
              <a:lnSpc>
                <a:spcPct val="120000"/>
              </a:lnSpc>
            </a:pPr>
            <a:r>
              <a:rPr lang="en-US" sz="941" dirty="0">
                <a:solidFill>
                  <a:srgbClr val="FFFFFF">
                    <a:alpha val="60000"/>
                  </a:srgbClr>
                </a:solidFill>
                <a:latin typeface="Liter" pitchFamily="34" charset="0"/>
                <a:ea typeface="Liter" pitchFamily="34" charset="-122"/>
                <a:cs typeface="Liter" pitchFamily="34" charset="-120"/>
              </a:rPr>
              <a:t>E-commerce solutions</a:t>
            </a:r>
            <a:endParaRPr lang="en-US" sz="1600" dirty="0"/>
          </a:p>
        </p:txBody>
      </p:sp>
      <p:sp>
        <p:nvSpPr>
          <p:cNvPr id="26" name="Shape 23"/>
          <p:cNvSpPr/>
          <p:nvPr/>
        </p:nvSpPr>
        <p:spPr>
          <a:xfrm>
            <a:off x="3243166" y="4536700"/>
            <a:ext cx="2573203" cy="1071599"/>
          </a:xfrm>
          <a:custGeom>
            <a:avLst/>
            <a:gdLst/>
            <a:ahLst/>
            <a:cxnLst/>
            <a:rect l="l" t="t" r="r" b="b"/>
            <a:pathLst>
              <a:path w="2573203" h="1071599">
                <a:moveTo>
                  <a:pt x="0" y="0"/>
                </a:moveTo>
                <a:lnTo>
                  <a:pt x="2573203" y="0"/>
                </a:lnTo>
                <a:lnTo>
                  <a:pt x="2573203" y="1071599"/>
                </a:lnTo>
                <a:lnTo>
                  <a:pt x="0" y="1071599"/>
                </a:lnTo>
                <a:lnTo>
                  <a:pt x="0" y="0"/>
                </a:lnTo>
                <a:close/>
              </a:path>
            </a:pathLst>
          </a:custGeom>
          <a:solidFill>
            <a:srgbClr val="000000"/>
          </a:solidFill>
          <a:ln w="20320">
            <a:solidFill>
              <a:srgbClr val="DDFF00"/>
            </a:solidFill>
            <a:prstDash val="solid"/>
          </a:ln>
        </p:spPr>
      </p:sp>
      <p:sp>
        <p:nvSpPr>
          <p:cNvPr id="27" name="Shape 24"/>
          <p:cNvSpPr/>
          <p:nvPr/>
        </p:nvSpPr>
        <p:spPr>
          <a:xfrm>
            <a:off x="4338334" y="4680035"/>
            <a:ext cx="383933" cy="307146"/>
          </a:xfrm>
          <a:custGeom>
            <a:avLst/>
            <a:gdLst/>
            <a:ahLst/>
            <a:cxnLst/>
            <a:rect l="l" t="t" r="r" b="b"/>
            <a:pathLst>
              <a:path w="383933" h="307146">
                <a:moveTo>
                  <a:pt x="363836" y="113680"/>
                </a:moveTo>
                <a:lnTo>
                  <a:pt x="330962" y="179609"/>
                </a:lnTo>
                <a:lnTo>
                  <a:pt x="298028" y="113680"/>
                </a:lnTo>
                <a:lnTo>
                  <a:pt x="275532" y="113680"/>
                </a:lnTo>
                <a:lnTo>
                  <a:pt x="282071" y="126038"/>
                </a:lnTo>
                <a:cubicBezTo>
                  <a:pt x="275172" y="114640"/>
                  <a:pt x="260534" y="110441"/>
                  <a:pt x="244097" y="110441"/>
                </a:cubicBezTo>
                <a:cubicBezTo>
                  <a:pt x="225021" y="110441"/>
                  <a:pt x="203364" y="115660"/>
                  <a:pt x="201205" y="136296"/>
                </a:cubicBezTo>
                <a:lnTo>
                  <a:pt x="221421" y="136296"/>
                </a:lnTo>
                <a:cubicBezTo>
                  <a:pt x="222261" y="128018"/>
                  <a:pt x="230840" y="123218"/>
                  <a:pt x="242418" y="123218"/>
                </a:cubicBezTo>
                <a:cubicBezTo>
                  <a:pt x="258015" y="123218"/>
                  <a:pt x="267013" y="128977"/>
                  <a:pt x="267013" y="143015"/>
                </a:cubicBezTo>
                <a:lnTo>
                  <a:pt x="267013" y="145055"/>
                </a:lnTo>
                <a:cubicBezTo>
                  <a:pt x="259395" y="145055"/>
                  <a:pt x="250216" y="145115"/>
                  <a:pt x="241998" y="145295"/>
                </a:cubicBezTo>
                <a:cubicBezTo>
                  <a:pt x="216562" y="145834"/>
                  <a:pt x="200245" y="151294"/>
                  <a:pt x="195986" y="165931"/>
                </a:cubicBezTo>
                <a:cubicBezTo>
                  <a:pt x="196586" y="162812"/>
                  <a:pt x="196886" y="159572"/>
                  <a:pt x="196886" y="156213"/>
                </a:cubicBezTo>
                <a:cubicBezTo>
                  <a:pt x="196886" y="124958"/>
                  <a:pt x="173070" y="110501"/>
                  <a:pt x="151653" y="110501"/>
                </a:cubicBezTo>
                <a:cubicBezTo>
                  <a:pt x="138876" y="110501"/>
                  <a:pt x="125858" y="113800"/>
                  <a:pt x="116440" y="125018"/>
                </a:cubicBezTo>
                <a:lnTo>
                  <a:pt x="116440" y="76667"/>
                </a:lnTo>
                <a:lnTo>
                  <a:pt x="97183" y="76667"/>
                </a:lnTo>
                <a:lnTo>
                  <a:pt x="97183" y="178349"/>
                </a:lnTo>
                <a:cubicBezTo>
                  <a:pt x="97183" y="184528"/>
                  <a:pt x="96823" y="192086"/>
                  <a:pt x="96523" y="198205"/>
                </a:cubicBezTo>
                <a:lnTo>
                  <a:pt x="115420" y="198205"/>
                </a:lnTo>
                <a:cubicBezTo>
                  <a:pt x="115840" y="194426"/>
                  <a:pt x="116080" y="190467"/>
                  <a:pt x="116080" y="186507"/>
                </a:cubicBezTo>
                <a:cubicBezTo>
                  <a:pt x="124238" y="196466"/>
                  <a:pt x="137316" y="201445"/>
                  <a:pt x="151294" y="201445"/>
                </a:cubicBezTo>
                <a:cubicBezTo>
                  <a:pt x="173430" y="201445"/>
                  <a:pt x="190227" y="188307"/>
                  <a:pt x="195266" y="168930"/>
                </a:cubicBezTo>
                <a:cubicBezTo>
                  <a:pt x="194966" y="170610"/>
                  <a:pt x="194846" y="172410"/>
                  <a:pt x="194846" y="174329"/>
                </a:cubicBezTo>
                <a:cubicBezTo>
                  <a:pt x="194846" y="188787"/>
                  <a:pt x="207504" y="201325"/>
                  <a:pt x="231200" y="201325"/>
                </a:cubicBezTo>
                <a:cubicBezTo>
                  <a:pt x="247157" y="201325"/>
                  <a:pt x="258675" y="197905"/>
                  <a:pt x="268333" y="186027"/>
                </a:cubicBezTo>
                <a:cubicBezTo>
                  <a:pt x="268333" y="189987"/>
                  <a:pt x="268513" y="194006"/>
                  <a:pt x="268993" y="198145"/>
                </a:cubicBezTo>
                <a:lnTo>
                  <a:pt x="286870" y="198145"/>
                </a:lnTo>
                <a:cubicBezTo>
                  <a:pt x="286450" y="193226"/>
                  <a:pt x="286270" y="187647"/>
                  <a:pt x="286270" y="182068"/>
                </a:cubicBezTo>
                <a:lnTo>
                  <a:pt x="286270" y="142715"/>
                </a:lnTo>
                <a:cubicBezTo>
                  <a:pt x="286270" y="137136"/>
                  <a:pt x="285250" y="132397"/>
                  <a:pt x="283390" y="128438"/>
                </a:cubicBezTo>
                <a:lnTo>
                  <a:pt x="320284" y="198085"/>
                </a:lnTo>
                <a:lnTo>
                  <a:pt x="303187" y="230540"/>
                </a:lnTo>
                <a:lnTo>
                  <a:pt x="324723" y="230540"/>
                </a:lnTo>
                <a:lnTo>
                  <a:pt x="384233" y="113680"/>
                </a:lnTo>
                <a:lnTo>
                  <a:pt x="363836" y="113680"/>
                </a:lnTo>
                <a:close/>
                <a:moveTo>
                  <a:pt x="146494" y="188247"/>
                </a:moveTo>
                <a:cubicBezTo>
                  <a:pt x="128737" y="188247"/>
                  <a:pt x="116380" y="175349"/>
                  <a:pt x="116380" y="155973"/>
                </a:cubicBezTo>
                <a:cubicBezTo>
                  <a:pt x="116380" y="136536"/>
                  <a:pt x="128737" y="123698"/>
                  <a:pt x="146494" y="123698"/>
                </a:cubicBezTo>
                <a:cubicBezTo>
                  <a:pt x="164371" y="123698"/>
                  <a:pt x="176609" y="136536"/>
                  <a:pt x="176609" y="155973"/>
                </a:cubicBezTo>
                <a:cubicBezTo>
                  <a:pt x="176609" y="175349"/>
                  <a:pt x="164371" y="188247"/>
                  <a:pt x="146494" y="188247"/>
                </a:cubicBezTo>
                <a:close/>
                <a:moveTo>
                  <a:pt x="267013" y="159872"/>
                </a:moveTo>
                <a:cubicBezTo>
                  <a:pt x="267013" y="177869"/>
                  <a:pt x="256275" y="188907"/>
                  <a:pt x="236059" y="188907"/>
                </a:cubicBezTo>
                <a:cubicBezTo>
                  <a:pt x="221001" y="188907"/>
                  <a:pt x="215062" y="180868"/>
                  <a:pt x="215062" y="173430"/>
                </a:cubicBezTo>
                <a:cubicBezTo>
                  <a:pt x="215062" y="161972"/>
                  <a:pt x="225920" y="158792"/>
                  <a:pt x="243377" y="158252"/>
                </a:cubicBezTo>
                <a:cubicBezTo>
                  <a:pt x="251236" y="157952"/>
                  <a:pt x="259935" y="157892"/>
                  <a:pt x="267013" y="157892"/>
                </a:cubicBezTo>
                <a:lnTo>
                  <a:pt x="267013" y="159872"/>
                </a:lnTo>
                <a:close/>
                <a:moveTo>
                  <a:pt x="19917" y="160832"/>
                </a:moveTo>
                <a:lnTo>
                  <a:pt x="97183" y="160832"/>
                </a:lnTo>
                <a:lnTo>
                  <a:pt x="97183" y="155733"/>
                </a:lnTo>
                <a:cubicBezTo>
                  <a:pt x="97183" y="124718"/>
                  <a:pt x="77326" y="110501"/>
                  <a:pt x="50151" y="110501"/>
                </a:cubicBezTo>
                <a:cubicBezTo>
                  <a:pt x="16077" y="110501"/>
                  <a:pt x="360" y="128977"/>
                  <a:pt x="360" y="157053"/>
                </a:cubicBezTo>
                <a:cubicBezTo>
                  <a:pt x="360" y="182548"/>
                  <a:pt x="15537" y="201445"/>
                  <a:pt x="49851" y="201445"/>
                </a:cubicBezTo>
                <a:cubicBezTo>
                  <a:pt x="68688" y="201445"/>
                  <a:pt x="90644" y="194426"/>
                  <a:pt x="94483" y="173790"/>
                </a:cubicBezTo>
                <a:lnTo>
                  <a:pt x="74627" y="173790"/>
                </a:lnTo>
                <a:cubicBezTo>
                  <a:pt x="67428" y="195266"/>
                  <a:pt x="22016" y="195806"/>
                  <a:pt x="19917" y="160832"/>
                </a:cubicBezTo>
                <a:close/>
                <a:moveTo>
                  <a:pt x="76907" y="147994"/>
                </a:moveTo>
                <a:lnTo>
                  <a:pt x="20276" y="147994"/>
                </a:lnTo>
                <a:cubicBezTo>
                  <a:pt x="24416" y="114040"/>
                  <a:pt x="75527" y="115180"/>
                  <a:pt x="76907" y="147994"/>
                </a:cubicBezTo>
                <a:close/>
              </a:path>
            </a:pathLst>
          </a:custGeom>
          <a:solidFill>
            <a:srgbClr val="DDFF00"/>
          </a:solidFill>
          <a:ln/>
        </p:spPr>
      </p:sp>
      <p:sp>
        <p:nvSpPr>
          <p:cNvPr id="28" name="Text 25"/>
          <p:cNvSpPr/>
          <p:nvPr/>
        </p:nvSpPr>
        <p:spPr>
          <a:xfrm>
            <a:off x="3348108" y="5055436"/>
            <a:ext cx="2363320" cy="238892"/>
          </a:xfrm>
          <a:prstGeom prst="rect">
            <a:avLst/>
          </a:prstGeom>
          <a:noFill/>
          <a:ln/>
        </p:spPr>
        <p:txBody>
          <a:bodyPr wrap="square" lIns="0" tIns="0" rIns="0" bIns="0" rtlCol="0" anchor="ctr"/>
          <a:lstStyle/>
          <a:p>
            <a:pPr algn="ctr">
              <a:lnSpc>
                <a:spcPct val="130000"/>
              </a:lnSpc>
            </a:pPr>
            <a:r>
              <a:rPr lang="en-US" sz="1209" b="1" dirty="0">
                <a:solidFill>
                  <a:srgbClr val="FFFFFF"/>
                </a:solidFill>
                <a:latin typeface="Liter" pitchFamily="34" charset="0"/>
                <a:ea typeface="Liter" pitchFamily="34" charset="-122"/>
                <a:cs typeface="Liter" pitchFamily="34" charset="-120"/>
              </a:rPr>
              <a:t>eBay</a:t>
            </a:r>
            <a:endParaRPr lang="en-US" sz="1600" dirty="0"/>
          </a:p>
        </p:txBody>
      </p:sp>
      <p:sp>
        <p:nvSpPr>
          <p:cNvPr id="29" name="Text 26"/>
          <p:cNvSpPr/>
          <p:nvPr/>
        </p:nvSpPr>
        <p:spPr>
          <a:xfrm>
            <a:off x="3356639" y="5294328"/>
            <a:ext cx="2346256" cy="170637"/>
          </a:xfrm>
          <a:prstGeom prst="rect">
            <a:avLst/>
          </a:prstGeom>
          <a:noFill/>
          <a:ln/>
        </p:spPr>
        <p:txBody>
          <a:bodyPr wrap="square" lIns="0" tIns="0" rIns="0" bIns="0" rtlCol="0" anchor="ctr"/>
          <a:lstStyle/>
          <a:p>
            <a:pPr algn="ctr">
              <a:lnSpc>
                <a:spcPct val="120000"/>
              </a:lnSpc>
            </a:pPr>
            <a:r>
              <a:rPr lang="en-US" sz="941" dirty="0">
                <a:solidFill>
                  <a:srgbClr val="FFFFFF">
                    <a:alpha val="60000"/>
                  </a:srgbClr>
                </a:solidFill>
                <a:latin typeface="Liter" pitchFamily="34" charset="0"/>
                <a:ea typeface="Liter" pitchFamily="34" charset="-122"/>
                <a:cs typeface="Liter" pitchFamily="34" charset="-120"/>
              </a:rPr>
              <a:t>Auction &amp; retail</a:t>
            </a:r>
            <a:endParaRPr lang="en-US" sz="1600" dirty="0"/>
          </a:p>
        </p:txBody>
      </p:sp>
      <p:sp>
        <p:nvSpPr>
          <p:cNvPr id="30" name="Shape 27"/>
          <p:cNvSpPr/>
          <p:nvPr/>
        </p:nvSpPr>
        <p:spPr>
          <a:xfrm>
            <a:off x="6199769" y="1160330"/>
            <a:ext cx="5656610" cy="4197666"/>
          </a:xfrm>
          <a:custGeom>
            <a:avLst/>
            <a:gdLst/>
            <a:ahLst/>
            <a:cxnLst/>
            <a:rect l="l" t="t" r="r" b="b"/>
            <a:pathLst>
              <a:path w="5656610" h="4197666">
                <a:moveTo>
                  <a:pt x="0" y="0"/>
                </a:moveTo>
                <a:lnTo>
                  <a:pt x="5656610" y="0"/>
                </a:lnTo>
                <a:lnTo>
                  <a:pt x="5656610" y="4197666"/>
                </a:lnTo>
                <a:lnTo>
                  <a:pt x="0" y="4197666"/>
                </a:lnTo>
                <a:lnTo>
                  <a:pt x="0" y="0"/>
                </a:lnTo>
                <a:close/>
              </a:path>
            </a:pathLst>
          </a:custGeom>
          <a:solidFill>
            <a:srgbClr val="111111">
              <a:alpha val="90196"/>
            </a:srgbClr>
          </a:solidFill>
          <a:ln/>
        </p:spPr>
      </p:sp>
      <p:sp>
        <p:nvSpPr>
          <p:cNvPr id="31" name="Shape 28"/>
          <p:cNvSpPr/>
          <p:nvPr/>
        </p:nvSpPr>
        <p:spPr>
          <a:xfrm>
            <a:off x="6391735" y="1365094"/>
            <a:ext cx="170637" cy="170637"/>
          </a:xfrm>
          <a:custGeom>
            <a:avLst/>
            <a:gdLst/>
            <a:ahLst/>
            <a:cxnLst/>
            <a:rect l="l" t="t" r="r" b="b"/>
            <a:pathLst>
              <a:path w="170637" h="170637">
                <a:moveTo>
                  <a:pt x="94650" y="-433"/>
                </a:moveTo>
                <a:cubicBezTo>
                  <a:pt x="88884" y="-3766"/>
                  <a:pt x="81752" y="-3766"/>
                  <a:pt x="75987" y="-433"/>
                </a:cubicBezTo>
                <a:lnTo>
                  <a:pt x="47925" y="15764"/>
                </a:lnTo>
                <a:cubicBezTo>
                  <a:pt x="42159" y="19097"/>
                  <a:pt x="38593" y="25262"/>
                  <a:pt x="38593" y="31928"/>
                </a:cubicBezTo>
                <a:lnTo>
                  <a:pt x="38593" y="65888"/>
                </a:lnTo>
                <a:lnTo>
                  <a:pt x="9165" y="82885"/>
                </a:lnTo>
                <a:cubicBezTo>
                  <a:pt x="3399" y="86218"/>
                  <a:pt x="-167" y="92384"/>
                  <a:pt x="-167" y="99049"/>
                </a:cubicBezTo>
                <a:lnTo>
                  <a:pt x="-167" y="131477"/>
                </a:lnTo>
                <a:cubicBezTo>
                  <a:pt x="-167" y="138142"/>
                  <a:pt x="3399" y="144308"/>
                  <a:pt x="9165" y="147641"/>
                </a:cubicBezTo>
                <a:lnTo>
                  <a:pt x="37260" y="163838"/>
                </a:lnTo>
                <a:cubicBezTo>
                  <a:pt x="43026" y="167171"/>
                  <a:pt x="50158" y="167171"/>
                  <a:pt x="55924" y="163838"/>
                </a:cubicBezTo>
                <a:lnTo>
                  <a:pt x="85352" y="146841"/>
                </a:lnTo>
                <a:lnTo>
                  <a:pt x="114780" y="163838"/>
                </a:lnTo>
                <a:cubicBezTo>
                  <a:pt x="120546" y="167171"/>
                  <a:pt x="127678" y="167171"/>
                  <a:pt x="133443" y="163838"/>
                </a:cubicBezTo>
                <a:lnTo>
                  <a:pt x="161472" y="147641"/>
                </a:lnTo>
                <a:cubicBezTo>
                  <a:pt x="167237" y="144308"/>
                  <a:pt x="170803" y="138142"/>
                  <a:pt x="170803" y="131477"/>
                </a:cubicBezTo>
                <a:lnTo>
                  <a:pt x="170803" y="99049"/>
                </a:lnTo>
                <a:cubicBezTo>
                  <a:pt x="170803" y="92384"/>
                  <a:pt x="167237" y="86218"/>
                  <a:pt x="161472" y="82885"/>
                </a:cubicBezTo>
                <a:lnTo>
                  <a:pt x="132044" y="65888"/>
                </a:lnTo>
                <a:lnTo>
                  <a:pt x="132044" y="31928"/>
                </a:lnTo>
                <a:cubicBezTo>
                  <a:pt x="132044" y="25262"/>
                  <a:pt x="128478" y="19097"/>
                  <a:pt x="122712" y="15764"/>
                </a:cubicBezTo>
                <a:lnTo>
                  <a:pt x="94650" y="-433"/>
                </a:lnTo>
                <a:close/>
                <a:moveTo>
                  <a:pt x="77320" y="97516"/>
                </a:moveTo>
                <a:lnTo>
                  <a:pt x="77320" y="133010"/>
                </a:lnTo>
                <a:lnTo>
                  <a:pt x="47892" y="150007"/>
                </a:lnTo>
                <a:cubicBezTo>
                  <a:pt x="47492" y="150240"/>
                  <a:pt x="47025" y="150374"/>
                  <a:pt x="46559" y="150374"/>
                </a:cubicBezTo>
                <a:lnTo>
                  <a:pt x="46559" y="115280"/>
                </a:lnTo>
                <a:lnTo>
                  <a:pt x="77320" y="97516"/>
                </a:lnTo>
                <a:close/>
                <a:moveTo>
                  <a:pt x="154440" y="97716"/>
                </a:moveTo>
                <a:cubicBezTo>
                  <a:pt x="154673" y="98116"/>
                  <a:pt x="154806" y="98583"/>
                  <a:pt x="154806" y="99049"/>
                </a:cubicBezTo>
                <a:lnTo>
                  <a:pt x="154806" y="131477"/>
                </a:lnTo>
                <a:cubicBezTo>
                  <a:pt x="154806" y="132443"/>
                  <a:pt x="154306" y="133310"/>
                  <a:pt x="153473" y="133777"/>
                </a:cubicBezTo>
                <a:lnTo>
                  <a:pt x="125378" y="149974"/>
                </a:lnTo>
                <a:cubicBezTo>
                  <a:pt x="124978" y="150207"/>
                  <a:pt x="124512" y="150340"/>
                  <a:pt x="124045" y="150340"/>
                </a:cubicBezTo>
                <a:lnTo>
                  <a:pt x="124045" y="115247"/>
                </a:lnTo>
                <a:lnTo>
                  <a:pt x="154440" y="97716"/>
                </a:lnTo>
                <a:close/>
                <a:moveTo>
                  <a:pt x="116080" y="31928"/>
                </a:moveTo>
                <a:lnTo>
                  <a:pt x="116080" y="65888"/>
                </a:lnTo>
                <a:lnTo>
                  <a:pt x="85318" y="83652"/>
                </a:lnTo>
                <a:lnTo>
                  <a:pt x="85318" y="48158"/>
                </a:lnTo>
                <a:lnTo>
                  <a:pt x="115713" y="30628"/>
                </a:lnTo>
                <a:cubicBezTo>
                  <a:pt x="115946" y="31028"/>
                  <a:pt x="116080" y="31494"/>
                  <a:pt x="116080" y="31961"/>
                </a:cubicBezTo>
                <a:close/>
              </a:path>
            </a:pathLst>
          </a:custGeom>
          <a:solidFill>
            <a:srgbClr val="DDFF00"/>
          </a:solidFill>
          <a:ln/>
        </p:spPr>
      </p:sp>
      <p:sp>
        <p:nvSpPr>
          <p:cNvPr id="32" name="Text 29"/>
          <p:cNvSpPr/>
          <p:nvPr/>
        </p:nvSpPr>
        <p:spPr>
          <a:xfrm>
            <a:off x="6583702" y="1330967"/>
            <a:ext cx="5187359" cy="238892"/>
          </a:xfrm>
          <a:prstGeom prst="rect">
            <a:avLst/>
          </a:prstGeom>
          <a:noFill/>
          <a:ln/>
        </p:spPr>
        <p:txBody>
          <a:bodyPr wrap="square" lIns="0" tIns="0" rIns="0" bIns="0" rtlCol="0" anchor="ctr"/>
          <a:lstStyle/>
          <a:p>
            <a:pPr>
              <a:lnSpc>
                <a:spcPct val="120000"/>
              </a:lnSpc>
            </a:pPr>
            <a:r>
              <a:rPr lang="en-US" sz="1344" b="1" dirty="0">
                <a:solidFill>
                  <a:srgbClr val="DDFF00"/>
                </a:solidFill>
                <a:latin typeface="Liter" pitchFamily="34" charset="0"/>
                <a:ea typeface="Liter" pitchFamily="34" charset="-122"/>
                <a:cs typeface="Liter" pitchFamily="34" charset="-120"/>
              </a:rPr>
              <a:t>Components of E-Commerce</a:t>
            </a:r>
            <a:endParaRPr lang="en-US" sz="1600" dirty="0"/>
          </a:p>
        </p:txBody>
      </p:sp>
      <p:sp>
        <p:nvSpPr>
          <p:cNvPr id="33" name="Shape 30"/>
          <p:cNvSpPr/>
          <p:nvPr/>
        </p:nvSpPr>
        <p:spPr>
          <a:xfrm>
            <a:off x="6370406" y="1706368"/>
            <a:ext cx="5315337" cy="614293"/>
          </a:xfrm>
          <a:custGeom>
            <a:avLst/>
            <a:gdLst/>
            <a:ahLst/>
            <a:cxnLst/>
            <a:rect l="l" t="t" r="r" b="b"/>
            <a:pathLst>
              <a:path w="5315337" h="614293">
                <a:moveTo>
                  <a:pt x="0" y="0"/>
                </a:moveTo>
                <a:lnTo>
                  <a:pt x="5315337" y="0"/>
                </a:lnTo>
                <a:lnTo>
                  <a:pt x="5315337" y="614293"/>
                </a:lnTo>
                <a:lnTo>
                  <a:pt x="0" y="614293"/>
                </a:lnTo>
                <a:lnTo>
                  <a:pt x="0" y="0"/>
                </a:lnTo>
                <a:close/>
              </a:path>
            </a:pathLst>
          </a:custGeom>
          <a:solidFill>
            <a:srgbClr val="000000"/>
          </a:solidFill>
          <a:ln/>
        </p:spPr>
      </p:sp>
      <p:sp>
        <p:nvSpPr>
          <p:cNvPr id="34" name="Shape 31"/>
          <p:cNvSpPr/>
          <p:nvPr/>
        </p:nvSpPr>
        <p:spPr>
          <a:xfrm>
            <a:off x="6472788" y="1808750"/>
            <a:ext cx="409528" cy="409528"/>
          </a:xfrm>
          <a:custGeom>
            <a:avLst/>
            <a:gdLst/>
            <a:ahLst/>
            <a:cxnLst/>
            <a:rect l="l" t="t" r="r" b="b"/>
            <a:pathLst>
              <a:path w="409528" h="409528">
                <a:moveTo>
                  <a:pt x="0" y="0"/>
                </a:moveTo>
                <a:lnTo>
                  <a:pt x="409528" y="0"/>
                </a:lnTo>
                <a:lnTo>
                  <a:pt x="409528" y="409528"/>
                </a:lnTo>
                <a:lnTo>
                  <a:pt x="0" y="409528"/>
                </a:lnTo>
                <a:lnTo>
                  <a:pt x="0" y="0"/>
                </a:lnTo>
                <a:close/>
              </a:path>
            </a:pathLst>
          </a:custGeom>
          <a:solidFill>
            <a:srgbClr val="DDFF00"/>
          </a:solidFill>
          <a:ln/>
        </p:spPr>
      </p:sp>
      <p:sp>
        <p:nvSpPr>
          <p:cNvPr id="35" name="Shape 32"/>
          <p:cNvSpPr/>
          <p:nvPr/>
        </p:nvSpPr>
        <p:spPr>
          <a:xfrm>
            <a:off x="6592233" y="1928196"/>
            <a:ext cx="170637" cy="170637"/>
          </a:xfrm>
          <a:custGeom>
            <a:avLst/>
            <a:gdLst/>
            <a:ahLst/>
            <a:cxnLst/>
            <a:rect l="l" t="t" r="r" b="b"/>
            <a:pathLst>
              <a:path w="170637" h="170637">
                <a:moveTo>
                  <a:pt x="21330" y="10665"/>
                </a:moveTo>
                <a:cubicBezTo>
                  <a:pt x="9565" y="10665"/>
                  <a:pt x="0" y="20230"/>
                  <a:pt x="0" y="31994"/>
                </a:cubicBezTo>
                <a:lnTo>
                  <a:pt x="0" y="117313"/>
                </a:lnTo>
                <a:cubicBezTo>
                  <a:pt x="0" y="129077"/>
                  <a:pt x="9565" y="138642"/>
                  <a:pt x="21330" y="138642"/>
                </a:cubicBezTo>
                <a:lnTo>
                  <a:pt x="69321" y="138642"/>
                </a:lnTo>
                <a:lnTo>
                  <a:pt x="63989" y="154640"/>
                </a:lnTo>
                <a:lnTo>
                  <a:pt x="39993" y="154640"/>
                </a:lnTo>
                <a:cubicBezTo>
                  <a:pt x="35560" y="154640"/>
                  <a:pt x="31994" y="158206"/>
                  <a:pt x="31994" y="162638"/>
                </a:cubicBezTo>
                <a:cubicBezTo>
                  <a:pt x="31994" y="167071"/>
                  <a:pt x="35560" y="170637"/>
                  <a:pt x="39993" y="170637"/>
                </a:cubicBezTo>
                <a:lnTo>
                  <a:pt x="130644" y="170637"/>
                </a:lnTo>
                <a:cubicBezTo>
                  <a:pt x="135076" y="170637"/>
                  <a:pt x="138642" y="167071"/>
                  <a:pt x="138642" y="162638"/>
                </a:cubicBezTo>
                <a:cubicBezTo>
                  <a:pt x="138642" y="158206"/>
                  <a:pt x="135076" y="154640"/>
                  <a:pt x="130644" y="154640"/>
                </a:cubicBezTo>
                <a:lnTo>
                  <a:pt x="106648" y="154640"/>
                </a:lnTo>
                <a:lnTo>
                  <a:pt x="101316" y="138642"/>
                </a:lnTo>
                <a:lnTo>
                  <a:pt x="149307" y="138642"/>
                </a:lnTo>
                <a:cubicBezTo>
                  <a:pt x="161072" y="138642"/>
                  <a:pt x="170637" y="129077"/>
                  <a:pt x="170637" y="117313"/>
                </a:cubicBezTo>
                <a:lnTo>
                  <a:pt x="170637" y="31994"/>
                </a:lnTo>
                <a:cubicBezTo>
                  <a:pt x="170637" y="20230"/>
                  <a:pt x="161072" y="10665"/>
                  <a:pt x="149307" y="10665"/>
                </a:cubicBezTo>
                <a:lnTo>
                  <a:pt x="21330" y="10665"/>
                </a:lnTo>
                <a:close/>
                <a:moveTo>
                  <a:pt x="31994" y="31994"/>
                </a:moveTo>
                <a:lnTo>
                  <a:pt x="138642" y="31994"/>
                </a:lnTo>
                <a:cubicBezTo>
                  <a:pt x="144541" y="31994"/>
                  <a:pt x="149307" y="36760"/>
                  <a:pt x="149307" y="42659"/>
                </a:cubicBezTo>
                <a:lnTo>
                  <a:pt x="149307" y="95983"/>
                </a:lnTo>
                <a:cubicBezTo>
                  <a:pt x="149307" y="101882"/>
                  <a:pt x="144541" y="106648"/>
                  <a:pt x="138642" y="106648"/>
                </a:cubicBezTo>
                <a:lnTo>
                  <a:pt x="31994" y="106648"/>
                </a:lnTo>
                <a:cubicBezTo>
                  <a:pt x="26095" y="106648"/>
                  <a:pt x="21330" y="101882"/>
                  <a:pt x="21330" y="95983"/>
                </a:cubicBezTo>
                <a:lnTo>
                  <a:pt x="21330" y="42659"/>
                </a:lnTo>
                <a:cubicBezTo>
                  <a:pt x="21330" y="36760"/>
                  <a:pt x="26095" y="31994"/>
                  <a:pt x="31994" y="31994"/>
                </a:cubicBezTo>
                <a:close/>
              </a:path>
            </a:pathLst>
          </a:custGeom>
          <a:solidFill>
            <a:srgbClr val="000000"/>
          </a:solidFill>
          <a:ln/>
        </p:spPr>
      </p:sp>
      <p:sp>
        <p:nvSpPr>
          <p:cNvPr id="36" name="Text 33"/>
          <p:cNvSpPr/>
          <p:nvPr/>
        </p:nvSpPr>
        <p:spPr>
          <a:xfrm>
            <a:off x="7018826" y="1825814"/>
            <a:ext cx="4632789" cy="204764"/>
          </a:xfrm>
          <a:prstGeom prst="rect">
            <a:avLst/>
          </a:prstGeom>
          <a:noFill/>
          <a:ln/>
        </p:spPr>
        <p:txBody>
          <a:bodyPr wrap="square" lIns="0" tIns="0" rIns="0" bIns="0" rtlCol="0" anchor="ctr"/>
          <a:lstStyle/>
          <a:p>
            <a:pPr>
              <a:lnSpc>
                <a:spcPct val="130000"/>
              </a:lnSpc>
            </a:pPr>
            <a:r>
              <a:rPr lang="en-US" sz="1075" b="1" dirty="0">
                <a:solidFill>
                  <a:srgbClr val="FFFFFF"/>
                </a:solidFill>
                <a:latin typeface="Liter" pitchFamily="34" charset="0"/>
                <a:ea typeface="Liter" pitchFamily="34" charset="-122"/>
                <a:cs typeface="Liter" pitchFamily="34" charset="-120"/>
              </a:rPr>
              <a:t>Online Storefront</a:t>
            </a:r>
            <a:endParaRPr lang="en-US" sz="1600" dirty="0"/>
          </a:p>
        </p:txBody>
      </p:sp>
      <p:sp>
        <p:nvSpPr>
          <p:cNvPr id="37" name="Text 34"/>
          <p:cNvSpPr/>
          <p:nvPr/>
        </p:nvSpPr>
        <p:spPr>
          <a:xfrm>
            <a:off x="7018826" y="2030578"/>
            <a:ext cx="4624258" cy="170637"/>
          </a:xfrm>
          <a:prstGeom prst="rect">
            <a:avLst/>
          </a:prstGeom>
          <a:noFill/>
          <a:ln/>
        </p:spPr>
        <p:txBody>
          <a:bodyPr wrap="square" lIns="0" tIns="0" rIns="0" bIns="0" rtlCol="0" anchor="ctr"/>
          <a:lstStyle/>
          <a:p>
            <a:pPr>
              <a:lnSpc>
                <a:spcPct val="120000"/>
              </a:lnSpc>
            </a:pPr>
            <a:r>
              <a:rPr lang="en-US" sz="941" dirty="0">
                <a:solidFill>
                  <a:srgbClr val="FFFFFF">
                    <a:alpha val="60000"/>
                  </a:srgbClr>
                </a:solidFill>
                <a:latin typeface="Liter" pitchFamily="34" charset="0"/>
                <a:ea typeface="Liter" pitchFamily="34" charset="-122"/>
                <a:cs typeface="Liter" pitchFamily="34" charset="-120"/>
              </a:rPr>
              <a:t>Digital shop interface</a:t>
            </a:r>
            <a:endParaRPr lang="en-US" sz="1600" dirty="0"/>
          </a:p>
        </p:txBody>
      </p:sp>
      <p:sp>
        <p:nvSpPr>
          <p:cNvPr id="38" name="Shape 35"/>
          <p:cNvSpPr/>
          <p:nvPr/>
        </p:nvSpPr>
        <p:spPr>
          <a:xfrm>
            <a:off x="6370406" y="2423043"/>
            <a:ext cx="5315337" cy="614293"/>
          </a:xfrm>
          <a:custGeom>
            <a:avLst/>
            <a:gdLst/>
            <a:ahLst/>
            <a:cxnLst/>
            <a:rect l="l" t="t" r="r" b="b"/>
            <a:pathLst>
              <a:path w="5315337" h="614293">
                <a:moveTo>
                  <a:pt x="0" y="0"/>
                </a:moveTo>
                <a:lnTo>
                  <a:pt x="5315337" y="0"/>
                </a:lnTo>
                <a:lnTo>
                  <a:pt x="5315337" y="614293"/>
                </a:lnTo>
                <a:lnTo>
                  <a:pt x="0" y="614293"/>
                </a:lnTo>
                <a:lnTo>
                  <a:pt x="0" y="0"/>
                </a:lnTo>
                <a:close/>
              </a:path>
            </a:pathLst>
          </a:custGeom>
          <a:solidFill>
            <a:srgbClr val="000000"/>
          </a:solidFill>
          <a:ln/>
        </p:spPr>
      </p:sp>
      <p:sp>
        <p:nvSpPr>
          <p:cNvPr id="39" name="Shape 36"/>
          <p:cNvSpPr/>
          <p:nvPr/>
        </p:nvSpPr>
        <p:spPr>
          <a:xfrm>
            <a:off x="6472788" y="2525425"/>
            <a:ext cx="409528" cy="409528"/>
          </a:xfrm>
          <a:custGeom>
            <a:avLst/>
            <a:gdLst/>
            <a:ahLst/>
            <a:cxnLst/>
            <a:rect l="l" t="t" r="r" b="b"/>
            <a:pathLst>
              <a:path w="409528" h="409528">
                <a:moveTo>
                  <a:pt x="0" y="0"/>
                </a:moveTo>
                <a:lnTo>
                  <a:pt x="409528" y="0"/>
                </a:lnTo>
                <a:lnTo>
                  <a:pt x="409528" y="409528"/>
                </a:lnTo>
                <a:lnTo>
                  <a:pt x="0" y="409528"/>
                </a:lnTo>
                <a:lnTo>
                  <a:pt x="0" y="0"/>
                </a:lnTo>
                <a:close/>
              </a:path>
            </a:pathLst>
          </a:custGeom>
          <a:solidFill>
            <a:srgbClr val="DDFF00"/>
          </a:solidFill>
          <a:ln/>
        </p:spPr>
      </p:sp>
      <p:sp>
        <p:nvSpPr>
          <p:cNvPr id="40" name="Shape 37"/>
          <p:cNvSpPr/>
          <p:nvPr/>
        </p:nvSpPr>
        <p:spPr>
          <a:xfrm>
            <a:off x="6592233" y="2644871"/>
            <a:ext cx="170637" cy="170637"/>
          </a:xfrm>
          <a:custGeom>
            <a:avLst/>
            <a:gdLst/>
            <a:ahLst/>
            <a:cxnLst/>
            <a:rect l="l" t="t" r="r" b="b"/>
            <a:pathLst>
              <a:path w="170637" h="170637">
                <a:moveTo>
                  <a:pt x="0" y="42659"/>
                </a:moveTo>
                <a:lnTo>
                  <a:pt x="0" y="53324"/>
                </a:lnTo>
                <a:lnTo>
                  <a:pt x="170637" y="53324"/>
                </a:lnTo>
                <a:lnTo>
                  <a:pt x="170637" y="42659"/>
                </a:lnTo>
                <a:cubicBezTo>
                  <a:pt x="170637" y="30895"/>
                  <a:pt x="161072" y="21330"/>
                  <a:pt x="149307" y="21330"/>
                </a:cubicBezTo>
                <a:lnTo>
                  <a:pt x="21330" y="21330"/>
                </a:lnTo>
                <a:cubicBezTo>
                  <a:pt x="9565" y="21330"/>
                  <a:pt x="0" y="30895"/>
                  <a:pt x="0" y="42659"/>
                </a:cubicBezTo>
                <a:close/>
                <a:moveTo>
                  <a:pt x="0" y="69321"/>
                </a:moveTo>
                <a:lnTo>
                  <a:pt x="0" y="127978"/>
                </a:lnTo>
                <a:cubicBezTo>
                  <a:pt x="0" y="139742"/>
                  <a:pt x="9565" y="149307"/>
                  <a:pt x="21330" y="149307"/>
                </a:cubicBezTo>
                <a:lnTo>
                  <a:pt x="149307" y="149307"/>
                </a:lnTo>
                <a:cubicBezTo>
                  <a:pt x="161072" y="149307"/>
                  <a:pt x="170637" y="139742"/>
                  <a:pt x="170637" y="127978"/>
                </a:cubicBezTo>
                <a:lnTo>
                  <a:pt x="170637" y="69321"/>
                </a:lnTo>
                <a:lnTo>
                  <a:pt x="0" y="69321"/>
                </a:lnTo>
                <a:close/>
                <a:moveTo>
                  <a:pt x="21330" y="119979"/>
                </a:moveTo>
                <a:cubicBezTo>
                  <a:pt x="21330" y="115546"/>
                  <a:pt x="24896" y="111980"/>
                  <a:pt x="29328" y="111980"/>
                </a:cubicBezTo>
                <a:lnTo>
                  <a:pt x="45325" y="111980"/>
                </a:lnTo>
                <a:cubicBezTo>
                  <a:pt x="49758" y="111980"/>
                  <a:pt x="53324" y="115546"/>
                  <a:pt x="53324" y="119979"/>
                </a:cubicBezTo>
                <a:cubicBezTo>
                  <a:pt x="53324" y="124412"/>
                  <a:pt x="49758" y="127978"/>
                  <a:pt x="45325" y="127978"/>
                </a:cubicBezTo>
                <a:lnTo>
                  <a:pt x="29328" y="127978"/>
                </a:lnTo>
                <a:cubicBezTo>
                  <a:pt x="24896" y="127978"/>
                  <a:pt x="21330" y="124412"/>
                  <a:pt x="21330" y="119979"/>
                </a:cubicBezTo>
                <a:close/>
                <a:moveTo>
                  <a:pt x="69321" y="119979"/>
                </a:moveTo>
                <a:cubicBezTo>
                  <a:pt x="69321" y="115546"/>
                  <a:pt x="72887" y="111980"/>
                  <a:pt x="77320" y="111980"/>
                </a:cubicBezTo>
                <a:lnTo>
                  <a:pt x="98649" y="111980"/>
                </a:lnTo>
                <a:cubicBezTo>
                  <a:pt x="103082" y="111980"/>
                  <a:pt x="106648" y="115546"/>
                  <a:pt x="106648" y="119979"/>
                </a:cubicBezTo>
                <a:cubicBezTo>
                  <a:pt x="106648" y="124412"/>
                  <a:pt x="103082" y="127978"/>
                  <a:pt x="98649" y="127978"/>
                </a:cubicBezTo>
                <a:lnTo>
                  <a:pt x="77320" y="127978"/>
                </a:lnTo>
                <a:cubicBezTo>
                  <a:pt x="72887" y="127978"/>
                  <a:pt x="69321" y="124412"/>
                  <a:pt x="69321" y="119979"/>
                </a:cubicBezTo>
                <a:close/>
              </a:path>
            </a:pathLst>
          </a:custGeom>
          <a:solidFill>
            <a:srgbClr val="000000"/>
          </a:solidFill>
          <a:ln/>
        </p:spPr>
      </p:sp>
      <p:sp>
        <p:nvSpPr>
          <p:cNvPr id="41" name="Text 38"/>
          <p:cNvSpPr/>
          <p:nvPr/>
        </p:nvSpPr>
        <p:spPr>
          <a:xfrm>
            <a:off x="7018826" y="2542488"/>
            <a:ext cx="4632789" cy="204764"/>
          </a:xfrm>
          <a:prstGeom prst="rect">
            <a:avLst/>
          </a:prstGeom>
          <a:noFill/>
          <a:ln/>
        </p:spPr>
        <p:txBody>
          <a:bodyPr wrap="square" lIns="0" tIns="0" rIns="0" bIns="0" rtlCol="0" anchor="ctr"/>
          <a:lstStyle/>
          <a:p>
            <a:pPr>
              <a:lnSpc>
                <a:spcPct val="130000"/>
              </a:lnSpc>
            </a:pPr>
            <a:r>
              <a:rPr lang="en-US" sz="1075" b="1" dirty="0">
                <a:solidFill>
                  <a:srgbClr val="FFFFFF"/>
                </a:solidFill>
                <a:latin typeface="Liter" pitchFamily="34" charset="0"/>
                <a:ea typeface="Liter" pitchFamily="34" charset="-122"/>
                <a:cs typeface="Liter" pitchFamily="34" charset="-120"/>
              </a:rPr>
              <a:t>Payment Gateway</a:t>
            </a:r>
            <a:endParaRPr lang="en-US" sz="1600" dirty="0"/>
          </a:p>
        </p:txBody>
      </p:sp>
      <p:sp>
        <p:nvSpPr>
          <p:cNvPr id="42" name="Text 39"/>
          <p:cNvSpPr/>
          <p:nvPr/>
        </p:nvSpPr>
        <p:spPr>
          <a:xfrm>
            <a:off x="7018826" y="2747253"/>
            <a:ext cx="4624258" cy="170637"/>
          </a:xfrm>
          <a:prstGeom prst="rect">
            <a:avLst/>
          </a:prstGeom>
          <a:noFill/>
          <a:ln/>
        </p:spPr>
        <p:txBody>
          <a:bodyPr wrap="square" lIns="0" tIns="0" rIns="0" bIns="0" rtlCol="0" anchor="ctr"/>
          <a:lstStyle/>
          <a:p>
            <a:pPr>
              <a:lnSpc>
                <a:spcPct val="120000"/>
              </a:lnSpc>
            </a:pPr>
            <a:r>
              <a:rPr lang="en-US" sz="941" dirty="0">
                <a:solidFill>
                  <a:srgbClr val="FFFFFF">
                    <a:alpha val="60000"/>
                  </a:srgbClr>
                </a:solidFill>
                <a:latin typeface="Liter" pitchFamily="34" charset="0"/>
                <a:ea typeface="Liter" pitchFamily="34" charset="-122"/>
                <a:cs typeface="Liter" pitchFamily="34" charset="-120"/>
              </a:rPr>
              <a:t>Secure transaction processing</a:t>
            </a:r>
            <a:endParaRPr lang="en-US" sz="1600" dirty="0"/>
          </a:p>
        </p:txBody>
      </p:sp>
      <p:sp>
        <p:nvSpPr>
          <p:cNvPr id="43" name="Shape 40"/>
          <p:cNvSpPr/>
          <p:nvPr/>
        </p:nvSpPr>
        <p:spPr>
          <a:xfrm>
            <a:off x="6370406" y="3139717"/>
            <a:ext cx="5315337" cy="614293"/>
          </a:xfrm>
          <a:custGeom>
            <a:avLst/>
            <a:gdLst/>
            <a:ahLst/>
            <a:cxnLst/>
            <a:rect l="l" t="t" r="r" b="b"/>
            <a:pathLst>
              <a:path w="5315337" h="614293">
                <a:moveTo>
                  <a:pt x="0" y="0"/>
                </a:moveTo>
                <a:lnTo>
                  <a:pt x="5315337" y="0"/>
                </a:lnTo>
                <a:lnTo>
                  <a:pt x="5315337" y="614293"/>
                </a:lnTo>
                <a:lnTo>
                  <a:pt x="0" y="614293"/>
                </a:lnTo>
                <a:lnTo>
                  <a:pt x="0" y="0"/>
                </a:lnTo>
                <a:close/>
              </a:path>
            </a:pathLst>
          </a:custGeom>
          <a:solidFill>
            <a:srgbClr val="000000"/>
          </a:solidFill>
          <a:ln/>
        </p:spPr>
      </p:sp>
      <p:sp>
        <p:nvSpPr>
          <p:cNvPr id="44" name="Shape 41"/>
          <p:cNvSpPr/>
          <p:nvPr/>
        </p:nvSpPr>
        <p:spPr>
          <a:xfrm>
            <a:off x="6472788" y="3242099"/>
            <a:ext cx="409528" cy="409528"/>
          </a:xfrm>
          <a:custGeom>
            <a:avLst/>
            <a:gdLst/>
            <a:ahLst/>
            <a:cxnLst/>
            <a:rect l="l" t="t" r="r" b="b"/>
            <a:pathLst>
              <a:path w="409528" h="409528">
                <a:moveTo>
                  <a:pt x="0" y="0"/>
                </a:moveTo>
                <a:lnTo>
                  <a:pt x="409528" y="0"/>
                </a:lnTo>
                <a:lnTo>
                  <a:pt x="409528" y="409528"/>
                </a:lnTo>
                <a:lnTo>
                  <a:pt x="0" y="409528"/>
                </a:lnTo>
                <a:lnTo>
                  <a:pt x="0" y="0"/>
                </a:lnTo>
                <a:close/>
              </a:path>
            </a:pathLst>
          </a:custGeom>
          <a:solidFill>
            <a:srgbClr val="DDFF00"/>
          </a:solidFill>
          <a:ln/>
        </p:spPr>
      </p:sp>
      <p:sp>
        <p:nvSpPr>
          <p:cNvPr id="45" name="Shape 42"/>
          <p:cNvSpPr/>
          <p:nvPr/>
        </p:nvSpPr>
        <p:spPr>
          <a:xfrm>
            <a:off x="6570904" y="3361545"/>
            <a:ext cx="213296" cy="170637"/>
          </a:xfrm>
          <a:custGeom>
            <a:avLst/>
            <a:gdLst/>
            <a:ahLst/>
            <a:cxnLst/>
            <a:rect l="l" t="t" r="r" b="b"/>
            <a:pathLst>
              <a:path w="213296" h="170637">
                <a:moveTo>
                  <a:pt x="21330" y="31994"/>
                </a:moveTo>
                <a:cubicBezTo>
                  <a:pt x="21330" y="20230"/>
                  <a:pt x="30895" y="10665"/>
                  <a:pt x="42659" y="10665"/>
                </a:cubicBezTo>
                <a:lnTo>
                  <a:pt x="138642" y="10665"/>
                </a:lnTo>
                <a:cubicBezTo>
                  <a:pt x="150407" y="10665"/>
                  <a:pt x="159972" y="20230"/>
                  <a:pt x="159972" y="31994"/>
                </a:cubicBezTo>
                <a:lnTo>
                  <a:pt x="159972" y="42659"/>
                </a:lnTo>
                <a:lnTo>
                  <a:pt x="176869" y="42659"/>
                </a:lnTo>
                <a:cubicBezTo>
                  <a:pt x="182535" y="42659"/>
                  <a:pt x="187967" y="44892"/>
                  <a:pt x="191966" y="48891"/>
                </a:cubicBezTo>
                <a:lnTo>
                  <a:pt x="207064" y="63989"/>
                </a:lnTo>
                <a:cubicBezTo>
                  <a:pt x="211063" y="67988"/>
                  <a:pt x="213296" y="73420"/>
                  <a:pt x="213296" y="79086"/>
                </a:cubicBezTo>
                <a:lnTo>
                  <a:pt x="213296" y="127978"/>
                </a:lnTo>
                <a:cubicBezTo>
                  <a:pt x="213296" y="139742"/>
                  <a:pt x="203731" y="149307"/>
                  <a:pt x="191966" y="149307"/>
                </a:cubicBezTo>
                <a:lnTo>
                  <a:pt x="190867" y="149307"/>
                </a:lnTo>
                <a:cubicBezTo>
                  <a:pt x="187401" y="161605"/>
                  <a:pt x="176069" y="170637"/>
                  <a:pt x="162638" y="170637"/>
                </a:cubicBezTo>
                <a:cubicBezTo>
                  <a:pt x="149207" y="170637"/>
                  <a:pt x="137909" y="161605"/>
                  <a:pt x="134410" y="149307"/>
                </a:cubicBezTo>
                <a:lnTo>
                  <a:pt x="100216" y="149307"/>
                </a:lnTo>
                <a:cubicBezTo>
                  <a:pt x="96750" y="161605"/>
                  <a:pt x="85418" y="170637"/>
                  <a:pt x="71987" y="170637"/>
                </a:cubicBezTo>
                <a:cubicBezTo>
                  <a:pt x="58556" y="170637"/>
                  <a:pt x="47258" y="161605"/>
                  <a:pt x="43759" y="149307"/>
                </a:cubicBezTo>
                <a:lnTo>
                  <a:pt x="42659" y="149307"/>
                </a:lnTo>
                <a:cubicBezTo>
                  <a:pt x="30895" y="149307"/>
                  <a:pt x="21330" y="139742"/>
                  <a:pt x="21330" y="127978"/>
                </a:cubicBezTo>
                <a:lnTo>
                  <a:pt x="21330" y="111980"/>
                </a:lnTo>
                <a:lnTo>
                  <a:pt x="7999" y="111980"/>
                </a:lnTo>
                <a:cubicBezTo>
                  <a:pt x="3566" y="111980"/>
                  <a:pt x="0" y="108414"/>
                  <a:pt x="0" y="103982"/>
                </a:cubicBezTo>
                <a:cubicBezTo>
                  <a:pt x="0" y="99549"/>
                  <a:pt x="3566" y="95983"/>
                  <a:pt x="7999" y="95983"/>
                </a:cubicBezTo>
                <a:lnTo>
                  <a:pt x="45325" y="95983"/>
                </a:lnTo>
                <a:cubicBezTo>
                  <a:pt x="49758" y="95983"/>
                  <a:pt x="53324" y="92417"/>
                  <a:pt x="53324" y="87985"/>
                </a:cubicBezTo>
                <a:cubicBezTo>
                  <a:pt x="53324" y="83552"/>
                  <a:pt x="49758" y="79986"/>
                  <a:pt x="45325" y="79986"/>
                </a:cubicBezTo>
                <a:lnTo>
                  <a:pt x="7999" y="79986"/>
                </a:lnTo>
                <a:cubicBezTo>
                  <a:pt x="3566" y="79986"/>
                  <a:pt x="0" y="76420"/>
                  <a:pt x="0" y="71987"/>
                </a:cubicBezTo>
                <a:cubicBezTo>
                  <a:pt x="0" y="67555"/>
                  <a:pt x="3566" y="63989"/>
                  <a:pt x="7999" y="63989"/>
                </a:cubicBezTo>
                <a:lnTo>
                  <a:pt x="66655" y="63989"/>
                </a:lnTo>
                <a:cubicBezTo>
                  <a:pt x="71088" y="63989"/>
                  <a:pt x="74654" y="60423"/>
                  <a:pt x="74654" y="55990"/>
                </a:cubicBezTo>
                <a:cubicBezTo>
                  <a:pt x="74654" y="51558"/>
                  <a:pt x="71088" y="47992"/>
                  <a:pt x="66655" y="47992"/>
                </a:cubicBezTo>
                <a:lnTo>
                  <a:pt x="7999" y="47992"/>
                </a:lnTo>
                <a:cubicBezTo>
                  <a:pt x="3566" y="47992"/>
                  <a:pt x="0" y="44426"/>
                  <a:pt x="0" y="39993"/>
                </a:cubicBezTo>
                <a:cubicBezTo>
                  <a:pt x="0" y="35560"/>
                  <a:pt x="3566" y="31994"/>
                  <a:pt x="7999" y="31994"/>
                </a:cubicBezTo>
                <a:lnTo>
                  <a:pt x="21330" y="31994"/>
                </a:lnTo>
                <a:close/>
                <a:moveTo>
                  <a:pt x="191966" y="95983"/>
                </a:moveTo>
                <a:lnTo>
                  <a:pt x="191966" y="79086"/>
                </a:lnTo>
                <a:lnTo>
                  <a:pt x="176869" y="63989"/>
                </a:lnTo>
                <a:lnTo>
                  <a:pt x="159972" y="63989"/>
                </a:lnTo>
                <a:lnTo>
                  <a:pt x="159972" y="95983"/>
                </a:lnTo>
                <a:lnTo>
                  <a:pt x="191966" y="95983"/>
                </a:lnTo>
                <a:close/>
                <a:moveTo>
                  <a:pt x="85318" y="141309"/>
                </a:moveTo>
                <a:cubicBezTo>
                  <a:pt x="85318" y="133951"/>
                  <a:pt x="79345" y="127978"/>
                  <a:pt x="71987" y="127978"/>
                </a:cubicBezTo>
                <a:cubicBezTo>
                  <a:pt x="64630" y="127978"/>
                  <a:pt x="58656" y="133951"/>
                  <a:pt x="58656" y="141309"/>
                </a:cubicBezTo>
                <a:cubicBezTo>
                  <a:pt x="58656" y="148666"/>
                  <a:pt x="64630" y="154640"/>
                  <a:pt x="71987" y="154640"/>
                </a:cubicBezTo>
                <a:cubicBezTo>
                  <a:pt x="79345" y="154640"/>
                  <a:pt x="85318" y="148666"/>
                  <a:pt x="85318" y="141309"/>
                </a:cubicBezTo>
                <a:close/>
                <a:moveTo>
                  <a:pt x="162638" y="154640"/>
                </a:moveTo>
                <a:cubicBezTo>
                  <a:pt x="169996" y="154640"/>
                  <a:pt x="175969" y="148666"/>
                  <a:pt x="175969" y="141309"/>
                </a:cubicBezTo>
                <a:cubicBezTo>
                  <a:pt x="175969" y="133951"/>
                  <a:pt x="169996" y="127978"/>
                  <a:pt x="162638" y="127978"/>
                </a:cubicBezTo>
                <a:cubicBezTo>
                  <a:pt x="155281" y="127978"/>
                  <a:pt x="149307" y="133951"/>
                  <a:pt x="149307" y="141309"/>
                </a:cubicBezTo>
                <a:cubicBezTo>
                  <a:pt x="149307" y="148666"/>
                  <a:pt x="155281" y="154640"/>
                  <a:pt x="162638" y="154640"/>
                </a:cubicBezTo>
                <a:close/>
              </a:path>
            </a:pathLst>
          </a:custGeom>
          <a:solidFill>
            <a:srgbClr val="000000"/>
          </a:solidFill>
          <a:ln/>
        </p:spPr>
      </p:sp>
      <p:sp>
        <p:nvSpPr>
          <p:cNvPr id="46" name="Text 43"/>
          <p:cNvSpPr/>
          <p:nvPr/>
        </p:nvSpPr>
        <p:spPr>
          <a:xfrm>
            <a:off x="7018826" y="3259163"/>
            <a:ext cx="4632789" cy="204764"/>
          </a:xfrm>
          <a:prstGeom prst="rect">
            <a:avLst/>
          </a:prstGeom>
          <a:noFill/>
          <a:ln/>
        </p:spPr>
        <p:txBody>
          <a:bodyPr wrap="square" lIns="0" tIns="0" rIns="0" bIns="0" rtlCol="0" anchor="ctr"/>
          <a:lstStyle/>
          <a:p>
            <a:pPr>
              <a:lnSpc>
                <a:spcPct val="130000"/>
              </a:lnSpc>
            </a:pPr>
            <a:r>
              <a:rPr lang="en-US" sz="1075" b="1" dirty="0">
                <a:solidFill>
                  <a:srgbClr val="FFFFFF"/>
                </a:solidFill>
                <a:latin typeface="Liter" pitchFamily="34" charset="0"/>
                <a:ea typeface="Liter" pitchFamily="34" charset="-122"/>
                <a:cs typeface="Liter" pitchFamily="34" charset="-120"/>
              </a:rPr>
              <a:t>Logistics System</a:t>
            </a:r>
            <a:endParaRPr lang="en-US" sz="1600" dirty="0"/>
          </a:p>
        </p:txBody>
      </p:sp>
      <p:sp>
        <p:nvSpPr>
          <p:cNvPr id="47" name="Text 44"/>
          <p:cNvSpPr/>
          <p:nvPr/>
        </p:nvSpPr>
        <p:spPr>
          <a:xfrm>
            <a:off x="7018826" y="3463927"/>
            <a:ext cx="4624258" cy="170637"/>
          </a:xfrm>
          <a:prstGeom prst="rect">
            <a:avLst/>
          </a:prstGeom>
          <a:noFill/>
          <a:ln/>
        </p:spPr>
        <p:txBody>
          <a:bodyPr wrap="square" lIns="0" tIns="0" rIns="0" bIns="0" rtlCol="0" anchor="ctr"/>
          <a:lstStyle/>
          <a:p>
            <a:pPr>
              <a:lnSpc>
                <a:spcPct val="120000"/>
              </a:lnSpc>
            </a:pPr>
            <a:r>
              <a:rPr lang="en-US" sz="941" dirty="0">
                <a:solidFill>
                  <a:srgbClr val="FFFFFF">
                    <a:alpha val="60000"/>
                  </a:srgbClr>
                </a:solidFill>
                <a:latin typeface="Liter" pitchFamily="34" charset="0"/>
                <a:ea typeface="Liter" pitchFamily="34" charset="-122"/>
                <a:cs typeface="Liter" pitchFamily="34" charset="-120"/>
              </a:rPr>
              <a:t>Order fulfillment &amp; delivery</a:t>
            </a:r>
            <a:endParaRPr lang="en-US" sz="1600" dirty="0"/>
          </a:p>
        </p:txBody>
      </p:sp>
      <p:sp>
        <p:nvSpPr>
          <p:cNvPr id="48" name="Shape 45"/>
          <p:cNvSpPr/>
          <p:nvPr/>
        </p:nvSpPr>
        <p:spPr>
          <a:xfrm>
            <a:off x="6370406" y="3856392"/>
            <a:ext cx="5315337" cy="614293"/>
          </a:xfrm>
          <a:custGeom>
            <a:avLst/>
            <a:gdLst/>
            <a:ahLst/>
            <a:cxnLst/>
            <a:rect l="l" t="t" r="r" b="b"/>
            <a:pathLst>
              <a:path w="5315337" h="614293">
                <a:moveTo>
                  <a:pt x="0" y="0"/>
                </a:moveTo>
                <a:lnTo>
                  <a:pt x="5315337" y="0"/>
                </a:lnTo>
                <a:lnTo>
                  <a:pt x="5315337" y="614293"/>
                </a:lnTo>
                <a:lnTo>
                  <a:pt x="0" y="614293"/>
                </a:lnTo>
                <a:lnTo>
                  <a:pt x="0" y="0"/>
                </a:lnTo>
                <a:close/>
              </a:path>
            </a:pathLst>
          </a:custGeom>
          <a:solidFill>
            <a:srgbClr val="000000"/>
          </a:solidFill>
          <a:ln/>
        </p:spPr>
      </p:sp>
      <p:sp>
        <p:nvSpPr>
          <p:cNvPr id="49" name="Shape 46"/>
          <p:cNvSpPr/>
          <p:nvPr/>
        </p:nvSpPr>
        <p:spPr>
          <a:xfrm>
            <a:off x="6472788" y="3958774"/>
            <a:ext cx="409528" cy="409528"/>
          </a:xfrm>
          <a:custGeom>
            <a:avLst/>
            <a:gdLst/>
            <a:ahLst/>
            <a:cxnLst/>
            <a:rect l="l" t="t" r="r" b="b"/>
            <a:pathLst>
              <a:path w="409528" h="409528">
                <a:moveTo>
                  <a:pt x="0" y="0"/>
                </a:moveTo>
                <a:lnTo>
                  <a:pt x="409528" y="0"/>
                </a:lnTo>
                <a:lnTo>
                  <a:pt x="409528" y="409528"/>
                </a:lnTo>
                <a:lnTo>
                  <a:pt x="0" y="409528"/>
                </a:lnTo>
                <a:lnTo>
                  <a:pt x="0" y="0"/>
                </a:lnTo>
                <a:close/>
              </a:path>
            </a:pathLst>
          </a:custGeom>
          <a:solidFill>
            <a:srgbClr val="DDFF00"/>
          </a:solidFill>
          <a:ln/>
        </p:spPr>
      </p:sp>
      <p:sp>
        <p:nvSpPr>
          <p:cNvPr id="50" name="Shape 47"/>
          <p:cNvSpPr/>
          <p:nvPr/>
        </p:nvSpPr>
        <p:spPr>
          <a:xfrm>
            <a:off x="6602898" y="4078220"/>
            <a:ext cx="149307" cy="170637"/>
          </a:xfrm>
          <a:custGeom>
            <a:avLst/>
            <a:gdLst/>
            <a:ahLst/>
            <a:cxnLst/>
            <a:rect l="l" t="t" r="r" b="b"/>
            <a:pathLst>
              <a:path w="149307" h="170637">
                <a:moveTo>
                  <a:pt x="74654" y="21330"/>
                </a:moveTo>
                <a:cubicBezTo>
                  <a:pt x="48325" y="21330"/>
                  <a:pt x="26429" y="40426"/>
                  <a:pt x="22096" y="65555"/>
                </a:cubicBezTo>
                <a:cubicBezTo>
                  <a:pt x="25196" y="64555"/>
                  <a:pt x="28528" y="63989"/>
                  <a:pt x="31994" y="63989"/>
                </a:cubicBezTo>
                <a:lnTo>
                  <a:pt x="37327" y="63989"/>
                </a:lnTo>
                <a:cubicBezTo>
                  <a:pt x="46159" y="63989"/>
                  <a:pt x="53324" y="71154"/>
                  <a:pt x="53324" y="79986"/>
                </a:cubicBezTo>
                <a:lnTo>
                  <a:pt x="53324" y="111980"/>
                </a:lnTo>
                <a:cubicBezTo>
                  <a:pt x="53324" y="120812"/>
                  <a:pt x="46159" y="127978"/>
                  <a:pt x="37327" y="127978"/>
                </a:cubicBezTo>
                <a:lnTo>
                  <a:pt x="31994" y="127978"/>
                </a:lnTo>
                <a:cubicBezTo>
                  <a:pt x="14331" y="127978"/>
                  <a:pt x="0" y="113647"/>
                  <a:pt x="0" y="95983"/>
                </a:cubicBezTo>
                <a:lnTo>
                  <a:pt x="0" y="74654"/>
                </a:lnTo>
                <a:cubicBezTo>
                  <a:pt x="0" y="33427"/>
                  <a:pt x="33427" y="0"/>
                  <a:pt x="74654" y="0"/>
                </a:cubicBezTo>
                <a:cubicBezTo>
                  <a:pt x="115880" y="0"/>
                  <a:pt x="149307" y="33427"/>
                  <a:pt x="149307" y="74654"/>
                </a:cubicBezTo>
                <a:lnTo>
                  <a:pt x="149307" y="130677"/>
                </a:lnTo>
                <a:cubicBezTo>
                  <a:pt x="149307" y="152773"/>
                  <a:pt x="131377" y="170670"/>
                  <a:pt x="109281" y="170670"/>
                </a:cubicBezTo>
                <a:lnTo>
                  <a:pt x="79986" y="170637"/>
                </a:lnTo>
                <a:lnTo>
                  <a:pt x="69321" y="170637"/>
                </a:lnTo>
                <a:cubicBezTo>
                  <a:pt x="60489" y="170637"/>
                  <a:pt x="53324" y="163471"/>
                  <a:pt x="53324" y="154640"/>
                </a:cubicBezTo>
                <a:cubicBezTo>
                  <a:pt x="53324" y="145808"/>
                  <a:pt x="60489" y="138642"/>
                  <a:pt x="69321" y="138642"/>
                </a:cubicBezTo>
                <a:lnTo>
                  <a:pt x="79986" y="138642"/>
                </a:lnTo>
                <a:cubicBezTo>
                  <a:pt x="88818" y="138642"/>
                  <a:pt x="95983" y="145808"/>
                  <a:pt x="95983" y="154640"/>
                </a:cubicBezTo>
                <a:lnTo>
                  <a:pt x="95983" y="154640"/>
                </a:lnTo>
                <a:lnTo>
                  <a:pt x="109314" y="154640"/>
                </a:lnTo>
                <a:cubicBezTo>
                  <a:pt x="122579" y="154640"/>
                  <a:pt x="133310" y="143908"/>
                  <a:pt x="133310" y="130644"/>
                </a:cubicBezTo>
                <a:lnTo>
                  <a:pt x="133310" y="123678"/>
                </a:lnTo>
                <a:cubicBezTo>
                  <a:pt x="128611" y="126411"/>
                  <a:pt x="123145" y="127944"/>
                  <a:pt x="117313" y="127944"/>
                </a:cubicBezTo>
                <a:lnTo>
                  <a:pt x="111980" y="127944"/>
                </a:lnTo>
                <a:cubicBezTo>
                  <a:pt x="103149" y="127944"/>
                  <a:pt x="95983" y="120779"/>
                  <a:pt x="95983" y="111947"/>
                </a:cubicBezTo>
                <a:lnTo>
                  <a:pt x="95983" y="79953"/>
                </a:lnTo>
                <a:cubicBezTo>
                  <a:pt x="95983" y="71121"/>
                  <a:pt x="103149" y="63955"/>
                  <a:pt x="111980" y="63955"/>
                </a:cubicBezTo>
                <a:lnTo>
                  <a:pt x="117313" y="63955"/>
                </a:lnTo>
                <a:cubicBezTo>
                  <a:pt x="120779" y="63955"/>
                  <a:pt x="124078" y="64489"/>
                  <a:pt x="127211" y="65522"/>
                </a:cubicBezTo>
                <a:cubicBezTo>
                  <a:pt x="122878" y="40426"/>
                  <a:pt x="101016" y="21296"/>
                  <a:pt x="74654" y="21296"/>
                </a:cubicBezTo>
                <a:close/>
              </a:path>
            </a:pathLst>
          </a:custGeom>
          <a:solidFill>
            <a:srgbClr val="000000"/>
          </a:solidFill>
          <a:ln/>
        </p:spPr>
      </p:sp>
      <p:sp>
        <p:nvSpPr>
          <p:cNvPr id="51" name="Text 48"/>
          <p:cNvSpPr/>
          <p:nvPr/>
        </p:nvSpPr>
        <p:spPr>
          <a:xfrm>
            <a:off x="7018826" y="3975838"/>
            <a:ext cx="4632789" cy="204764"/>
          </a:xfrm>
          <a:prstGeom prst="rect">
            <a:avLst/>
          </a:prstGeom>
          <a:noFill/>
          <a:ln/>
        </p:spPr>
        <p:txBody>
          <a:bodyPr wrap="square" lIns="0" tIns="0" rIns="0" bIns="0" rtlCol="0" anchor="ctr"/>
          <a:lstStyle/>
          <a:p>
            <a:pPr>
              <a:lnSpc>
                <a:spcPct val="130000"/>
              </a:lnSpc>
            </a:pPr>
            <a:r>
              <a:rPr lang="en-US" sz="1075" b="1" dirty="0">
                <a:solidFill>
                  <a:srgbClr val="FFFFFF"/>
                </a:solidFill>
                <a:latin typeface="Liter" pitchFamily="34" charset="0"/>
                <a:ea typeface="Liter" pitchFamily="34" charset="-122"/>
                <a:cs typeface="Liter" pitchFamily="34" charset="-120"/>
              </a:rPr>
              <a:t>Customer Service</a:t>
            </a:r>
            <a:endParaRPr lang="en-US" sz="1600" dirty="0"/>
          </a:p>
        </p:txBody>
      </p:sp>
      <p:sp>
        <p:nvSpPr>
          <p:cNvPr id="52" name="Text 49"/>
          <p:cNvSpPr/>
          <p:nvPr/>
        </p:nvSpPr>
        <p:spPr>
          <a:xfrm>
            <a:off x="7018826" y="4180602"/>
            <a:ext cx="4624258" cy="170637"/>
          </a:xfrm>
          <a:prstGeom prst="rect">
            <a:avLst/>
          </a:prstGeom>
          <a:noFill/>
          <a:ln/>
        </p:spPr>
        <p:txBody>
          <a:bodyPr wrap="square" lIns="0" tIns="0" rIns="0" bIns="0" rtlCol="0" anchor="ctr"/>
          <a:lstStyle/>
          <a:p>
            <a:pPr>
              <a:lnSpc>
                <a:spcPct val="120000"/>
              </a:lnSpc>
            </a:pPr>
            <a:r>
              <a:rPr lang="en-US" sz="941" dirty="0">
                <a:solidFill>
                  <a:srgbClr val="FFFFFF">
                    <a:alpha val="60000"/>
                  </a:srgbClr>
                </a:solidFill>
                <a:latin typeface="Liter" pitchFamily="34" charset="0"/>
                <a:ea typeface="Liter" pitchFamily="34" charset="-122"/>
                <a:cs typeface="Liter" pitchFamily="34" charset="-120"/>
              </a:rPr>
              <a:t>Support &amp; assistance</a:t>
            </a:r>
            <a:endParaRPr lang="en-US" sz="1600" dirty="0"/>
          </a:p>
        </p:txBody>
      </p:sp>
      <p:sp>
        <p:nvSpPr>
          <p:cNvPr id="53" name="Shape 50"/>
          <p:cNvSpPr/>
          <p:nvPr/>
        </p:nvSpPr>
        <p:spPr>
          <a:xfrm>
            <a:off x="6370406" y="4573066"/>
            <a:ext cx="5315337" cy="614293"/>
          </a:xfrm>
          <a:custGeom>
            <a:avLst/>
            <a:gdLst/>
            <a:ahLst/>
            <a:cxnLst/>
            <a:rect l="l" t="t" r="r" b="b"/>
            <a:pathLst>
              <a:path w="5315337" h="614293">
                <a:moveTo>
                  <a:pt x="0" y="0"/>
                </a:moveTo>
                <a:lnTo>
                  <a:pt x="5315337" y="0"/>
                </a:lnTo>
                <a:lnTo>
                  <a:pt x="5315337" y="614293"/>
                </a:lnTo>
                <a:lnTo>
                  <a:pt x="0" y="614293"/>
                </a:lnTo>
                <a:lnTo>
                  <a:pt x="0" y="0"/>
                </a:lnTo>
                <a:close/>
              </a:path>
            </a:pathLst>
          </a:custGeom>
          <a:solidFill>
            <a:srgbClr val="000000"/>
          </a:solidFill>
          <a:ln/>
        </p:spPr>
      </p:sp>
      <p:sp>
        <p:nvSpPr>
          <p:cNvPr id="54" name="Shape 51"/>
          <p:cNvSpPr/>
          <p:nvPr/>
        </p:nvSpPr>
        <p:spPr>
          <a:xfrm>
            <a:off x="6472788" y="4675449"/>
            <a:ext cx="409528" cy="409528"/>
          </a:xfrm>
          <a:custGeom>
            <a:avLst/>
            <a:gdLst/>
            <a:ahLst/>
            <a:cxnLst/>
            <a:rect l="l" t="t" r="r" b="b"/>
            <a:pathLst>
              <a:path w="409528" h="409528">
                <a:moveTo>
                  <a:pt x="0" y="0"/>
                </a:moveTo>
                <a:lnTo>
                  <a:pt x="409528" y="0"/>
                </a:lnTo>
                <a:lnTo>
                  <a:pt x="409528" y="409528"/>
                </a:lnTo>
                <a:lnTo>
                  <a:pt x="0" y="409528"/>
                </a:lnTo>
                <a:lnTo>
                  <a:pt x="0" y="0"/>
                </a:lnTo>
                <a:close/>
              </a:path>
            </a:pathLst>
          </a:custGeom>
          <a:solidFill>
            <a:srgbClr val="DDFF00"/>
          </a:solidFill>
          <a:ln/>
        </p:spPr>
      </p:sp>
      <p:sp>
        <p:nvSpPr>
          <p:cNvPr id="55" name="Shape 52"/>
          <p:cNvSpPr/>
          <p:nvPr/>
        </p:nvSpPr>
        <p:spPr>
          <a:xfrm>
            <a:off x="6592233" y="4794894"/>
            <a:ext cx="170637" cy="170637"/>
          </a:xfrm>
          <a:custGeom>
            <a:avLst/>
            <a:gdLst/>
            <a:ahLst/>
            <a:cxnLst/>
            <a:rect l="l" t="t" r="r" b="b"/>
            <a:pathLst>
              <a:path w="170637" h="170637">
                <a:moveTo>
                  <a:pt x="153706" y="6299"/>
                </a:moveTo>
                <a:cubicBezTo>
                  <a:pt x="157539" y="7999"/>
                  <a:pt x="159972" y="11798"/>
                  <a:pt x="159972" y="15997"/>
                </a:cubicBezTo>
                <a:lnTo>
                  <a:pt x="159972" y="154640"/>
                </a:lnTo>
                <a:cubicBezTo>
                  <a:pt x="159972" y="158839"/>
                  <a:pt x="157539" y="162638"/>
                  <a:pt x="153706" y="164338"/>
                </a:cubicBezTo>
                <a:cubicBezTo>
                  <a:pt x="149874" y="166038"/>
                  <a:pt x="145441" y="165404"/>
                  <a:pt x="142275" y="162638"/>
                </a:cubicBezTo>
                <a:lnTo>
                  <a:pt x="126744" y="149074"/>
                </a:lnTo>
                <a:cubicBezTo>
                  <a:pt x="112214" y="136376"/>
                  <a:pt x="93850" y="128977"/>
                  <a:pt x="74620" y="128078"/>
                </a:cubicBezTo>
                <a:lnTo>
                  <a:pt x="74620" y="159972"/>
                </a:lnTo>
                <a:cubicBezTo>
                  <a:pt x="74620" y="165871"/>
                  <a:pt x="69854" y="170637"/>
                  <a:pt x="63955" y="170637"/>
                </a:cubicBezTo>
                <a:lnTo>
                  <a:pt x="53291" y="170637"/>
                </a:lnTo>
                <a:cubicBezTo>
                  <a:pt x="47392" y="170637"/>
                  <a:pt x="42626" y="165871"/>
                  <a:pt x="42626" y="159972"/>
                </a:cubicBezTo>
                <a:lnTo>
                  <a:pt x="42626" y="127978"/>
                </a:lnTo>
                <a:cubicBezTo>
                  <a:pt x="19097" y="127978"/>
                  <a:pt x="0" y="108881"/>
                  <a:pt x="0" y="85318"/>
                </a:cubicBezTo>
                <a:cubicBezTo>
                  <a:pt x="0" y="61756"/>
                  <a:pt x="19097" y="42659"/>
                  <a:pt x="42659" y="42659"/>
                </a:cubicBezTo>
                <a:lnTo>
                  <a:pt x="70821" y="42659"/>
                </a:lnTo>
                <a:cubicBezTo>
                  <a:pt x="91417" y="42593"/>
                  <a:pt x="111281" y="35094"/>
                  <a:pt x="126778" y="21563"/>
                </a:cubicBezTo>
                <a:lnTo>
                  <a:pt x="142308" y="7999"/>
                </a:lnTo>
                <a:cubicBezTo>
                  <a:pt x="145441" y="5232"/>
                  <a:pt x="149940" y="4599"/>
                  <a:pt x="153740" y="6299"/>
                </a:cubicBezTo>
                <a:close/>
                <a:moveTo>
                  <a:pt x="74654" y="106648"/>
                </a:moveTo>
                <a:lnTo>
                  <a:pt x="74654" y="106715"/>
                </a:lnTo>
                <a:cubicBezTo>
                  <a:pt x="98083" y="107615"/>
                  <a:pt x="120579" y="116213"/>
                  <a:pt x="138642" y="131177"/>
                </a:cubicBezTo>
                <a:lnTo>
                  <a:pt x="138642" y="39426"/>
                </a:lnTo>
                <a:cubicBezTo>
                  <a:pt x="120579" y="54390"/>
                  <a:pt x="98083" y="62989"/>
                  <a:pt x="74654" y="63889"/>
                </a:cubicBezTo>
                <a:lnTo>
                  <a:pt x="74654" y="106648"/>
                </a:lnTo>
                <a:close/>
              </a:path>
            </a:pathLst>
          </a:custGeom>
          <a:solidFill>
            <a:srgbClr val="000000"/>
          </a:solidFill>
          <a:ln/>
        </p:spPr>
      </p:sp>
      <p:sp>
        <p:nvSpPr>
          <p:cNvPr id="56" name="Text 53"/>
          <p:cNvSpPr/>
          <p:nvPr/>
        </p:nvSpPr>
        <p:spPr>
          <a:xfrm>
            <a:off x="7018826" y="4692512"/>
            <a:ext cx="4632789" cy="204764"/>
          </a:xfrm>
          <a:prstGeom prst="rect">
            <a:avLst/>
          </a:prstGeom>
          <a:noFill/>
          <a:ln/>
        </p:spPr>
        <p:txBody>
          <a:bodyPr wrap="square" lIns="0" tIns="0" rIns="0" bIns="0" rtlCol="0" anchor="ctr"/>
          <a:lstStyle/>
          <a:p>
            <a:pPr>
              <a:lnSpc>
                <a:spcPct val="130000"/>
              </a:lnSpc>
            </a:pPr>
            <a:r>
              <a:rPr lang="en-US" sz="1075" b="1" dirty="0">
                <a:solidFill>
                  <a:srgbClr val="FFFFFF"/>
                </a:solidFill>
                <a:latin typeface="Liter" pitchFamily="34" charset="0"/>
                <a:ea typeface="Liter" pitchFamily="34" charset="-122"/>
                <a:cs typeface="Liter" pitchFamily="34" charset="-120"/>
              </a:rPr>
              <a:t>Digital Marketing</a:t>
            </a:r>
            <a:endParaRPr lang="en-US" sz="1600" dirty="0"/>
          </a:p>
        </p:txBody>
      </p:sp>
      <p:sp>
        <p:nvSpPr>
          <p:cNvPr id="57" name="Text 54"/>
          <p:cNvSpPr/>
          <p:nvPr/>
        </p:nvSpPr>
        <p:spPr>
          <a:xfrm>
            <a:off x="7018826" y="4897276"/>
            <a:ext cx="4624258" cy="170637"/>
          </a:xfrm>
          <a:prstGeom prst="rect">
            <a:avLst/>
          </a:prstGeom>
          <a:noFill/>
          <a:ln/>
        </p:spPr>
        <p:txBody>
          <a:bodyPr wrap="square" lIns="0" tIns="0" rIns="0" bIns="0" rtlCol="0" anchor="ctr"/>
          <a:lstStyle/>
          <a:p>
            <a:pPr>
              <a:lnSpc>
                <a:spcPct val="120000"/>
              </a:lnSpc>
            </a:pPr>
            <a:r>
              <a:rPr lang="en-US" sz="941" dirty="0">
                <a:solidFill>
                  <a:srgbClr val="FFFFFF">
                    <a:alpha val="60000"/>
                  </a:srgbClr>
                </a:solidFill>
                <a:latin typeface="Liter" pitchFamily="34" charset="0"/>
                <a:ea typeface="Liter" pitchFamily="34" charset="-122"/>
                <a:cs typeface="Liter" pitchFamily="34" charset="-120"/>
              </a:rPr>
              <a:t>Promotion &amp; outreach</a:t>
            </a:r>
            <a:endParaRPr lang="en-US" sz="1600" dirty="0"/>
          </a:p>
        </p:txBody>
      </p:sp>
      <p:sp>
        <p:nvSpPr>
          <p:cNvPr id="58" name="Shape 55"/>
          <p:cNvSpPr/>
          <p:nvPr/>
        </p:nvSpPr>
        <p:spPr>
          <a:xfrm>
            <a:off x="6199769" y="5494505"/>
            <a:ext cx="5656610" cy="1365094"/>
          </a:xfrm>
          <a:custGeom>
            <a:avLst/>
            <a:gdLst/>
            <a:ahLst/>
            <a:cxnLst/>
            <a:rect l="l" t="t" r="r" b="b"/>
            <a:pathLst>
              <a:path w="5656610" h="1365094">
                <a:moveTo>
                  <a:pt x="0" y="0"/>
                </a:moveTo>
                <a:lnTo>
                  <a:pt x="5656610" y="0"/>
                </a:lnTo>
                <a:lnTo>
                  <a:pt x="5656610" y="1365094"/>
                </a:lnTo>
                <a:lnTo>
                  <a:pt x="0" y="1365094"/>
                </a:lnTo>
                <a:lnTo>
                  <a:pt x="0" y="0"/>
                </a:lnTo>
                <a:close/>
              </a:path>
            </a:pathLst>
          </a:custGeom>
          <a:solidFill>
            <a:srgbClr val="DDFF00"/>
          </a:solidFill>
          <a:ln/>
        </p:spPr>
      </p:sp>
      <p:sp>
        <p:nvSpPr>
          <p:cNvPr id="59" name="Shape 56"/>
          <p:cNvSpPr/>
          <p:nvPr/>
        </p:nvSpPr>
        <p:spPr>
          <a:xfrm>
            <a:off x="6357608" y="5665142"/>
            <a:ext cx="170637" cy="170637"/>
          </a:xfrm>
          <a:custGeom>
            <a:avLst/>
            <a:gdLst/>
            <a:ahLst/>
            <a:cxnLst/>
            <a:rect l="l" t="t" r="r" b="b"/>
            <a:pathLst>
              <a:path w="170637" h="170637">
                <a:moveTo>
                  <a:pt x="21330" y="21330"/>
                </a:moveTo>
                <a:cubicBezTo>
                  <a:pt x="21330" y="15431"/>
                  <a:pt x="16564" y="10665"/>
                  <a:pt x="10665" y="10665"/>
                </a:cubicBezTo>
                <a:cubicBezTo>
                  <a:pt x="4766" y="10665"/>
                  <a:pt x="0" y="15431"/>
                  <a:pt x="0" y="21330"/>
                </a:cubicBezTo>
                <a:lnTo>
                  <a:pt x="0" y="133310"/>
                </a:lnTo>
                <a:cubicBezTo>
                  <a:pt x="0" y="148041"/>
                  <a:pt x="11931" y="159972"/>
                  <a:pt x="26662" y="159972"/>
                </a:cubicBezTo>
                <a:lnTo>
                  <a:pt x="159972" y="159972"/>
                </a:lnTo>
                <a:cubicBezTo>
                  <a:pt x="165871" y="159972"/>
                  <a:pt x="170637" y="155206"/>
                  <a:pt x="170637" y="149307"/>
                </a:cubicBezTo>
                <a:cubicBezTo>
                  <a:pt x="170637" y="143408"/>
                  <a:pt x="165871" y="138642"/>
                  <a:pt x="159972" y="138642"/>
                </a:cubicBezTo>
                <a:lnTo>
                  <a:pt x="26662" y="138642"/>
                </a:lnTo>
                <a:cubicBezTo>
                  <a:pt x="23729" y="138642"/>
                  <a:pt x="21330" y="136243"/>
                  <a:pt x="21330" y="133310"/>
                </a:cubicBezTo>
                <a:lnTo>
                  <a:pt x="21330" y="21330"/>
                </a:lnTo>
                <a:close/>
                <a:moveTo>
                  <a:pt x="156839" y="50191"/>
                </a:moveTo>
                <a:cubicBezTo>
                  <a:pt x="161005" y="46025"/>
                  <a:pt x="161005" y="39260"/>
                  <a:pt x="156839" y="35094"/>
                </a:cubicBezTo>
                <a:cubicBezTo>
                  <a:pt x="152673" y="30928"/>
                  <a:pt x="145908" y="30928"/>
                  <a:pt x="141742" y="35094"/>
                </a:cubicBezTo>
                <a:lnTo>
                  <a:pt x="106648" y="70221"/>
                </a:lnTo>
                <a:lnTo>
                  <a:pt x="87518" y="51124"/>
                </a:lnTo>
                <a:cubicBezTo>
                  <a:pt x="83352" y="46958"/>
                  <a:pt x="76587" y="46958"/>
                  <a:pt x="72421" y="51124"/>
                </a:cubicBezTo>
                <a:lnTo>
                  <a:pt x="40426" y="83119"/>
                </a:lnTo>
                <a:cubicBezTo>
                  <a:pt x="36260" y="87285"/>
                  <a:pt x="36260" y="94050"/>
                  <a:pt x="40426" y="98216"/>
                </a:cubicBezTo>
                <a:cubicBezTo>
                  <a:pt x="44592" y="102382"/>
                  <a:pt x="51358" y="102382"/>
                  <a:pt x="55524" y="98216"/>
                </a:cubicBezTo>
                <a:lnTo>
                  <a:pt x="79986" y="73754"/>
                </a:lnTo>
                <a:lnTo>
                  <a:pt x="99116" y="92884"/>
                </a:lnTo>
                <a:cubicBezTo>
                  <a:pt x="103282" y="97050"/>
                  <a:pt x="110047" y="97050"/>
                  <a:pt x="114213" y="92884"/>
                </a:cubicBezTo>
                <a:lnTo>
                  <a:pt x="156873" y="50225"/>
                </a:lnTo>
                <a:close/>
              </a:path>
            </a:pathLst>
          </a:custGeom>
          <a:solidFill>
            <a:srgbClr val="000000"/>
          </a:solidFill>
          <a:ln/>
        </p:spPr>
      </p:sp>
      <p:sp>
        <p:nvSpPr>
          <p:cNvPr id="60" name="Text 57"/>
          <p:cNvSpPr/>
          <p:nvPr/>
        </p:nvSpPr>
        <p:spPr>
          <a:xfrm>
            <a:off x="6549574" y="5631015"/>
            <a:ext cx="5255614" cy="238892"/>
          </a:xfrm>
          <a:prstGeom prst="rect">
            <a:avLst/>
          </a:prstGeom>
          <a:noFill/>
          <a:ln/>
        </p:spPr>
        <p:txBody>
          <a:bodyPr wrap="square" lIns="0" tIns="0" rIns="0" bIns="0" rtlCol="0" anchor="ctr"/>
          <a:lstStyle/>
          <a:p>
            <a:pPr>
              <a:lnSpc>
                <a:spcPct val="120000"/>
              </a:lnSpc>
            </a:pPr>
            <a:r>
              <a:rPr lang="en-US" sz="1344" b="1" dirty="0">
                <a:solidFill>
                  <a:srgbClr val="000000"/>
                </a:solidFill>
                <a:latin typeface="Liter" pitchFamily="34" charset="0"/>
                <a:ea typeface="Liter" pitchFamily="34" charset="-122"/>
                <a:cs typeface="Liter" pitchFamily="34" charset="-120"/>
              </a:rPr>
              <a:t>Importance of E-Commerce</a:t>
            </a:r>
            <a:endParaRPr lang="en-US" sz="1600" dirty="0"/>
          </a:p>
        </p:txBody>
      </p:sp>
      <p:sp>
        <p:nvSpPr>
          <p:cNvPr id="61" name="Shape 58"/>
          <p:cNvSpPr/>
          <p:nvPr/>
        </p:nvSpPr>
        <p:spPr>
          <a:xfrm>
            <a:off x="6353342" y="6006416"/>
            <a:ext cx="136509" cy="136509"/>
          </a:xfrm>
          <a:custGeom>
            <a:avLst/>
            <a:gdLst/>
            <a:ahLst/>
            <a:cxnLst/>
            <a:rect l="l" t="t" r="r" b="b"/>
            <a:pathLst>
              <a:path w="136509" h="136509">
                <a:moveTo>
                  <a:pt x="68255" y="136509"/>
                </a:moveTo>
                <a:cubicBezTo>
                  <a:pt x="105926" y="136509"/>
                  <a:pt x="136509" y="105926"/>
                  <a:pt x="136509" y="68255"/>
                </a:cubicBezTo>
                <a:cubicBezTo>
                  <a:pt x="136509" y="30584"/>
                  <a:pt x="105926" y="0"/>
                  <a:pt x="68255" y="0"/>
                </a:cubicBezTo>
                <a:cubicBezTo>
                  <a:pt x="30584" y="0"/>
                  <a:pt x="0" y="30584"/>
                  <a:pt x="0" y="68255"/>
                </a:cubicBezTo>
                <a:cubicBezTo>
                  <a:pt x="0" y="105926"/>
                  <a:pt x="30584" y="136509"/>
                  <a:pt x="68255" y="136509"/>
                </a:cubicBezTo>
                <a:close/>
                <a:moveTo>
                  <a:pt x="90757" y="56710"/>
                </a:moveTo>
                <a:lnTo>
                  <a:pt x="69428" y="90837"/>
                </a:lnTo>
                <a:cubicBezTo>
                  <a:pt x="68308" y="92624"/>
                  <a:pt x="66388" y="93744"/>
                  <a:pt x="64282" y="93850"/>
                </a:cubicBezTo>
                <a:cubicBezTo>
                  <a:pt x="62176" y="93957"/>
                  <a:pt x="60149" y="92997"/>
                  <a:pt x="58896" y="91291"/>
                </a:cubicBezTo>
                <a:lnTo>
                  <a:pt x="46099" y="74227"/>
                </a:lnTo>
                <a:cubicBezTo>
                  <a:pt x="43966" y="71401"/>
                  <a:pt x="44552" y="67402"/>
                  <a:pt x="47378" y="65269"/>
                </a:cubicBezTo>
                <a:cubicBezTo>
                  <a:pt x="50205" y="63136"/>
                  <a:pt x="54204" y="63722"/>
                  <a:pt x="56337" y="66548"/>
                </a:cubicBezTo>
                <a:lnTo>
                  <a:pt x="63536" y="76147"/>
                </a:lnTo>
                <a:lnTo>
                  <a:pt x="79906" y="49938"/>
                </a:lnTo>
                <a:cubicBezTo>
                  <a:pt x="81772" y="46952"/>
                  <a:pt x="85718" y="46019"/>
                  <a:pt x="88731" y="47912"/>
                </a:cubicBezTo>
                <a:cubicBezTo>
                  <a:pt x="91744" y="49805"/>
                  <a:pt x="92650" y="53724"/>
                  <a:pt x="90757" y="56737"/>
                </a:cubicBezTo>
                <a:close/>
              </a:path>
            </a:pathLst>
          </a:custGeom>
          <a:solidFill>
            <a:srgbClr val="000000"/>
          </a:solidFill>
          <a:ln/>
        </p:spPr>
      </p:sp>
      <p:sp>
        <p:nvSpPr>
          <p:cNvPr id="62" name="Text 59"/>
          <p:cNvSpPr/>
          <p:nvPr/>
        </p:nvSpPr>
        <p:spPr>
          <a:xfrm>
            <a:off x="6575170" y="5972288"/>
            <a:ext cx="3122654" cy="204764"/>
          </a:xfrm>
          <a:prstGeom prst="rect">
            <a:avLst/>
          </a:prstGeom>
          <a:noFill/>
          <a:ln/>
        </p:spPr>
        <p:txBody>
          <a:bodyPr wrap="square" lIns="0" tIns="0" rIns="0" bIns="0" rtlCol="0" anchor="ctr"/>
          <a:lstStyle/>
          <a:p>
            <a:pPr>
              <a:lnSpc>
                <a:spcPct val="130000"/>
              </a:lnSpc>
            </a:pPr>
            <a:r>
              <a:rPr lang="en-US" sz="1075" b="1" dirty="0">
                <a:solidFill>
                  <a:srgbClr val="000000"/>
                </a:solidFill>
                <a:latin typeface="Liter" pitchFamily="34" charset="0"/>
                <a:ea typeface="Liter" pitchFamily="34" charset="-122"/>
                <a:cs typeface="Liter" pitchFamily="34" charset="-120"/>
              </a:rPr>
              <a:t>Expands market globally without physical presence</a:t>
            </a:r>
            <a:endParaRPr lang="en-US" sz="1600" dirty="0"/>
          </a:p>
        </p:txBody>
      </p:sp>
      <p:sp>
        <p:nvSpPr>
          <p:cNvPr id="63" name="Shape 60"/>
          <p:cNvSpPr/>
          <p:nvPr/>
        </p:nvSpPr>
        <p:spPr>
          <a:xfrm>
            <a:off x="6353342" y="6279435"/>
            <a:ext cx="136509" cy="136509"/>
          </a:xfrm>
          <a:custGeom>
            <a:avLst/>
            <a:gdLst/>
            <a:ahLst/>
            <a:cxnLst/>
            <a:rect l="l" t="t" r="r" b="b"/>
            <a:pathLst>
              <a:path w="136509" h="136509">
                <a:moveTo>
                  <a:pt x="68255" y="136509"/>
                </a:moveTo>
                <a:cubicBezTo>
                  <a:pt x="105926" y="136509"/>
                  <a:pt x="136509" y="105926"/>
                  <a:pt x="136509" y="68255"/>
                </a:cubicBezTo>
                <a:cubicBezTo>
                  <a:pt x="136509" y="30584"/>
                  <a:pt x="105926" y="0"/>
                  <a:pt x="68255" y="0"/>
                </a:cubicBezTo>
                <a:cubicBezTo>
                  <a:pt x="30584" y="0"/>
                  <a:pt x="0" y="30584"/>
                  <a:pt x="0" y="68255"/>
                </a:cubicBezTo>
                <a:cubicBezTo>
                  <a:pt x="0" y="105926"/>
                  <a:pt x="30584" y="136509"/>
                  <a:pt x="68255" y="136509"/>
                </a:cubicBezTo>
                <a:close/>
                <a:moveTo>
                  <a:pt x="90757" y="56710"/>
                </a:moveTo>
                <a:lnTo>
                  <a:pt x="69428" y="90837"/>
                </a:lnTo>
                <a:cubicBezTo>
                  <a:pt x="68308" y="92624"/>
                  <a:pt x="66388" y="93744"/>
                  <a:pt x="64282" y="93850"/>
                </a:cubicBezTo>
                <a:cubicBezTo>
                  <a:pt x="62176" y="93957"/>
                  <a:pt x="60149" y="92997"/>
                  <a:pt x="58896" y="91291"/>
                </a:cubicBezTo>
                <a:lnTo>
                  <a:pt x="46099" y="74227"/>
                </a:lnTo>
                <a:cubicBezTo>
                  <a:pt x="43966" y="71401"/>
                  <a:pt x="44552" y="67402"/>
                  <a:pt x="47378" y="65269"/>
                </a:cubicBezTo>
                <a:cubicBezTo>
                  <a:pt x="50205" y="63136"/>
                  <a:pt x="54204" y="63722"/>
                  <a:pt x="56337" y="66548"/>
                </a:cubicBezTo>
                <a:lnTo>
                  <a:pt x="63536" y="76147"/>
                </a:lnTo>
                <a:lnTo>
                  <a:pt x="79906" y="49938"/>
                </a:lnTo>
                <a:cubicBezTo>
                  <a:pt x="81772" y="46952"/>
                  <a:pt x="85718" y="46019"/>
                  <a:pt x="88731" y="47912"/>
                </a:cubicBezTo>
                <a:cubicBezTo>
                  <a:pt x="91744" y="49805"/>
                  <a:pt x="92650" y="53724"/>
                  <a:pt x="90757" y="56737"/>
                </a:cubicBezTo>
                <a:close/>
              </a:path>
            </a:pathLst>
          </a:custGeom>
          <a:solidFill>
            <a:srgbClr val="000000"/>
          </a:solidFill>
          <a:ln/>
        </p:spPr>
      </p:sp>
      <p:sp>
        <p:nvSpPr>
          <p:cNvPr id="64" name="Text 61"/>
          <p:cNvSpPr/>
          <p:nvPr/>
        </p:nvSpPr>
        <p:spPr>
          <a:xfrm>
            <a:off x="6575170" y="6245307"/>
            <a:ext cx="2414511" cy="204764"/>
          </a:xfrm>
          <a:prstGeom prst="rect">
            <a:avLst/>
          </a:prstGeom>
          <a:noFill/>
          <a:ln/>
        </p:spPr>
        <p:txBody>
          <a:bodyPr wrap="square" lIns="0" tIns="0" rIns="0" bIns="0" rtlCol="0" anchor="ctr"/>
          <a:lstStyle/>
          <a:p>
            <a:pPr>
              <a:lnSpc>
                <a:spcPct val="130000"/>
              </a:lnSpc>
            </a:pPr>
            <a:r>
              <a:rPr lang="en-US" sz="1075" b="1" dirty="0">
                <a:solidFill>
                  <a:srgbClr val="000000"/>
                </a:solidFill>
                <a:latin typeface="Liter" pitchFamily="34" charset="0"/>
                <a:ea typeface="Liter" pitchFamily="34" charset="-122"/>
                <a:cs typeface="Liter" pitchFamily="34" charset="-120"/>
              </a:rPr>
              <a:t>Reduces operational costs significantly</a:t>
            </a:r>
            <a:endParaRPr lang="en-US" sz="1600" dirty="0"/>
          </a:p>
        </p:txBody>
      </p:sp>
      <p:sp>
        <p:nvSpPr>
          <p:cNvPr id="65" name="Shape 62"/>
          <p:cNvSpPr/>
          <p:nvPr/>
        </p:nvSpPr>
        <p:spPr>
          <a:xfrm>
            <a:off x="6353342" y="6552453"/>
            <a:ext cx="136509" cy="136509"/>
          </a:xfrm>
          <a:custGeom>
            <a:avLst/>
            <a:gdLst/>
            <a:ahLst/>
            <a:cxnLst/>
            <a:rect l="l" t="t" r="r" b="b"/>
            <a:pathLst>
              <a:path w="136509" h="136509">
                <a:moveTo>
                  <a:pt x="68255" y="136509"/>
                </a:moveTo>
                <a:cubicBezTo>
                  <a:pt x="105926" y="136509"/>
                  <a:pt x="136509" y="105926"/>
                  <a:pt x="136509" y="68255"/>
                </a:cubicBezTo>
                <a:cubicBezTo>
                  <a:pt x="136509" y="30584"/>
                  <a:pt x="105926" y="0"/>
                  <a:pt x="68255" y="0"/>
                </a:cubicBezTo>
                <a:cubicBezTo>
                  <a:pt x="30584" y="0"/>
                  <a:pt x="0" y="30584"/>
                  <a:pt x="0" y="68255"/>
                </a:cubicBezTo>
                <a:cubicBezTo>
                  <a:pt x="0" y="105926"/>
                  <a:pt x="30584" y="136509"/>
                  <a:pt x="68255" y="136509"/>
                </a:cubicBezTo>
                <a:close/>
                <a:moveTo>
                  <a:pt x="90757" y="56710"/>
                </a:moveTo>
                <a:lnTo>
                  <a:pt x="69428" y="90837"/>
                </a:lnTo>
                <a:cubicBezTo>
                  <a:pt x="68308" y="92624"/>
                  <a:pt x="66388" y="93744"/>
                  <a:pt x="64282" y="93850"/>
                </a:cubicBezTo>
                <a:cubicBezTo>
                  <a:pt x="62176" y="93957"/>
                  <a:pt x="60149" y="92997"/>
                  <a:pt x="58896" y="91291"/>
                </a:cubicBezTo>
                <a:lnTo>
                  <a:pt x="46099" y="74227"/>
                </a:lnTo>
                <a:cubicBezTo>
                  <a:pt x="43966" y="71401"/>
                  <a:pt x="44552" y="67402"/>
                  <a:pt x="47378" y="65269"/>
                </a:cubicBezTo>
                <a:cubicBezTo>
                  <a:pt x="50205" y="63136"/>
                  <a:pt x="54204" y="63722"/>
                  <a:pt x="56337" y="66548"/>
                </a:cubicBezTo>
                <a:lnTo>
                  <a:pt x="63536" y="76147"/>
                </a:lnTo>
                <a:lnTo>
                  <a:pt x="79906" y="49938"/>
                </a:lnTo>
                <a:cubicBezTo>
                  <a:pt x="81772" y="46952"/>
                  <a:pt x="85718" y="46019"/>
                  <a:pt x="88731" y="47912"/>
                </a:cubicBezTo>
                <a:cubicBezTo>
                  <a:pt x="91744" y="49805"/>
                  <a:pt x="92650" y="53724"/>
                  <a:pt x="90757" y="56737"/>
                </a:cubicBezTo>
                <a:close/>
              </a:path>
            </a:pathLst>
          </a:custGeom>
          <a:solidFill>
            <a:srgbClr val="000000"/>
          </a:solidFill>
          <a:ln/>
        </p:spPr>
      </p:sp>
      <p:sp>
        <p:nvSpPr>
          <p:cNvPr id="66" name="Text 63"/>
          <p:cNvSpPr/>
          <p:nvPr/>
        </p:nvSpPr>
        <p:spPr>
          <a:xfrm>
            <a:off x="6575170" y="6518326"/>
            <a:ext cx="3045867" cy="204764"/>
          </a:xfrm>
          <a:prstGeom prst="rect">
            <a:avLst/>
          </a:prstGeom>
          <a:noFill/>
          <a:ln/>
        </p:spPr>
        <p:txBody>
          <a:bodyPr wrap="square" lIns="0" tIns="0" rIns="0" bIns="0" rtlCol="0" anchor="ctr"/>
          <a:lstStyle/>
          <a:p>
            <a:pPr>
              <a:lnSpc>
                <a:spcPct val="130000"/>
              </a:lnSpc>
            </a:pPr>
            <a:r>
              <a:rPr lang="en-US" sz="1075" b="1" dirty="0">
                <a:solidFill>
                  <a:srgbClr val="000000"/>
                </a:solidFill>
                <a:latin typeface="Liter" pitchFamily="34" charset="0"/>
                <a:ea typeface="Liter" pitchFamily="34" charset="-122"/>
                <a:cs typeface="Liter" pitchFamily="34" charset="-120"/>
              </a:rPr>
              <a:t>Increases business efficiency through automation</a:t>
            </a:r>
            <a:endParaRPr lang="en-US" sz="1600" dirty="0"/>
          </a:p>
        </p:txBody>
      </p:sp>
    </p:spTree>
  </p:cSld>
  <p:clrMapOvr>
    <a:masterClrMapping/>
  </p:clrMapOvr>
  <p:transition>
    <p:fade/>
    <p:spd val="med"/>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17500" y="365125"/>
            <a:ext cx="63500" cy="381000"/>
          </a:xfrm>
          <a:custGeom>
            <a:avLst/>
            <a:gdLst/>
            <a:ahLst/>
            <a:cxnLst/>
            <a:rect l="l" t="t" r="r" b="b"/>
            <a:pathLst>
              <a:path w="63500" h="381000">
                <a:moveTo>
                  <a:pt x="0" y="0"/>
                </a:moveTo>
                <a:lnTo>
                  <a:pt x="63500" y="0"/>
                </a:lnTo>
                <a:lnTo>
                  <a:pt x="63500" y="381000"/>
                </a:lnTo>
                <a:lnTo>
                  <a:pt x="0" y="381000"/>
                </a:lnTo>
                <a:lnTo>
                  <a:pt x="0" y="0"/>
                </a:lnTo>
                <a:close/>
              </a:path>
            </a:pathLst>
          </a:custGeom>
          <a:solidFill>
            <a:srgbClr val="DDFF00"/>
          </a:solidFill>
          <a:ln/>
        </p:spPr>
      </p:sp>
      <p:sp>
        <p:nvSpPr>
          <p:cNvPr id="3" name="Text 1"/>
          <p:cNvSpPr/>
          <p:nvPr/>
        </p:nvSpPr>
        <p:spPr>
          <a:xfrm>
            <a:off x="508000" y="317500"/>
            <a:ext cx="3746500" cy="158750"/>
          </a:xfrm>
          <a:prstGeom prst="rect">
            <a:avLst/>
          </a:prstGeom>
          <a:noFill/>
          <a:ln/>
        </p:spPr>
        <p:txBody>
          <a:bodyPr wrap="square" lIns="0" tIns="0" rIns="0" bIns="0" rtlCol="0" anchor="ctr"/>
          <a:lstStyle/>
          <a:p>
            <a:pPr>
              <a:lnSpc>
                <a:spcPct val="120000"/>
              </a:lnSpc>
            </a:pPr>
            <a:r>
              <a:rPr lang="en-US" sz="875" b="1" spc="88" kern="0" dirty="0">
                <a:solidFill>
                  <a:srgbClr val="DDFF00"/>
                </a:solidFill>
                <a:latin typeface="Liter" pitchFamily="34" charset="0"/>
                <a:ea typeface="Liter" pitchFamily="34" charset="-122"/>
                <a:cs typeface="Liter" pitchFamily="34" charset="-120"/>
              </a:rPr>
              <a:t>CHAPTER 07</a:t>
            </a:r>
            <a:endParaRPr lang="en-US" sz="1600" dirty="0"/>
          </a:p>
        </p:txBody>
      </p:sp>
      <p:sp>
        <p:nvSpPr>
          <p:cNvPr id="4" name="Text 2"/>
          <p:cNvSpPr/>
          <p:nvPr/>
        </p:nvSpPr>
        <p:spPr>
          <a:xfrm>
            <a:off x="508000" y="476250"/>
            <a:ext cx="3833812" cy="317500"/>
          </a:xfrm>
          <a:prstGeom prst="rect">
            <a:avLst/>
          </a:prstGeom>
          <a:noFill/>
          <a:ln/>
        </p:spPr>
        <p:txBody>
          <a:bodyPr wrap="square" lIns="0" tIns="0" rIns="0" bIns="0" rtlCol="0" anchor="ctr"/>
          <a:lstStyle/>
          <a:p>
            <a:pPr>
              <a:lnSpc>
                <a:spcPct val="90000"/>
              </a:lnSpc>
            </a:pPr>
            <a:r>
              <a:rPr lang="en-US" sz="2250" b="1" dirty="0">
                <a:solidFill>
                  <a:srgbClr val="FFFFFF"/>
                </a:solidFill>
                <a:latin typeface="Liter" pitchFamily="34" charset="0"/>
                <a:ea typeface="Liter" pitchFamily="34" charset="-122"/>
                <a:cs typeface="Liter" pitchFamily="34" charset="-120"/>
              </a:rPr>
              <a:t>Key Features of E-Commerce</a:t>
            </a:r>
            <a:endParaRPr lang="en-US" sz="1600" dirty="0"/>
          </a:p>
        </p:txBody>
      </p:sp>
      <p:sp>
        <p:nvSpPr>
          <p:cNvPr id="5" name="Shape 3"/>
          <p:cNvSpPr/>
          <p:nvPr/>
        </p:nvSpPr>
        <p:spPr>
          <a:xfrm>
            <a:off x="317500" y="1000125"/>
            <a:ext cx="3770313" cy="2397125"/>
          </a:xfrm>
          <a:custGeom>
            <a:avLst/>
            <a:gdLst/>
            <a:ahLst/>
            <a:cxnLst/>
            <a:rect l="l" t="t" r="r" b="b"/>
            <a:pathLst>
              <a:path w="3770313" h="2397125">
                <a:moveTo>
                  <a:pt x="0" y="0"/>
                </a:moveTo>
                <a:lnTo>
                  <a:pt x="3770313" y="0"/>
                </a:lnTo>
                <a:lnTo>
                  <a:pt x="3770313" y="2397125"/>
                </a:lnTo>
                <a:lnTo>
                  <a:pt x="0" y="2397125"/>
                </a:lnTo>
                <a:lnTo>
                  <a:pt x="0" y="0"/>
                </a:lnTo>
                <a:close/>
              </a:path>
            </a:pathLst>
          </a:custGeom>
          <a:solidFill>
            <a:srgbClr val="111111"/>
          </a:solidFill>
          <a:ln/>
        </p:spPr>
      </p:sp>
      <p:sp>
        <p:nvSpPr>
          <p:cNvPr id="6" name="Shape 4"/>
          <p:cNvSpPr/>
          <p:nvPr/>
        </p:nvSpPr>
        <p:spPr>
          <a:xfrm>
            <a:off x="317500" y="1000125"/>
            <a:ext cx="3770313" cy="31750"/>
          </a:xfrm>
          <a:custGeom>
            <a:avLst/>
            <a:gdLst/>
            <a:ahLst/>
            <a:cxnLst/>
            <a:rect l="l" t="t" r="r" b="b"/>
            <a:pathLst>
              <a:path w="3770313" h="31750">
                <a:moveTo>
                  <a:pt x="0" y="0"/>
                </a:moveTo>
                <a:lnTo>
                  <a:pt x="3770313" y="0"/>
                </a:lnTo>
                <a:lnTo>
                  <a:pt x="3770313" y="31750"/>
                </a:lnTo>
                <a:lnTo>
                  <a:pt x="0" y="31750"/>
                </a:lnTo>
                <a:lnTo>
                  <a:pt x="0" y="0"/>
                </a:lnTo>
                <a:close/>
              </a:path>
            </a:pathLst>
          </a:custGeom>
          <a:solidFill>
            <a:srgbClr val="DDFF00"/>
          </a:solidFill>
          <a:ln/>
        </p:spPr>
      </p:sp>
      <p:sp>
        <p:nvSpPr>
          <p:cNvPr id="7" name="Shape 5"/>
          <p:cNvSpPr/>
          <p:nvPr/>
        </p:nvSpPr>
        <p:spPr>
          <a:xfrm>
            <a:off x="444500" y="1143000"/>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DDFF00"/>
          </a:solidFill>
          <a:ln/>
        </p:spPr>
      </p:sp>
      <p:sp>
        <p:nvSpPr>
          <p:cNvPr id="8" name="Text 6"/>
          <p:cNvSpPr/>
          <p:nvPr/>
        </p:nvSpPr>
        <p:spPr>
          <a:xfrm>
            <a:off x="529034" y="1190625"/>
            <a:ext cx="222250" cy="222250"/>
          </a:xfrm>
          <a:prstGeom prst="rect">
            <a:avLst/>
          </a:prstGeom>
          <a:noFill/>
          <a:ln/>
        </p:spPr>
        <p:txBody>
          <a:bodyPr wrap="square" lIns="0" tIns="0" rIns="0" bIns="0" rtlCol="0" anchor="ctr"/>
          <a:lstStyle/>
          <a:p>
            <a:pPr>
              <a:lnSpc>
                <a:spcPct val="130000"/>
              </a:lnSpc>
            </a:pPr>
            <a:r>
              <a:rPr lang="en-US" sz="1125" b="1" dirty="0">
                <a:solidFill>
                  <a:srgbClr val="000000"/>
                </a:solidFill>
                <a:latin typeface="Liter" pitchFamily="34" charset="0"/>
                <a:ea typeface="Liter" pitchFamily="34" charset="-122"/>
                <a:cs typeface="Liter" pitchFamily="34" charset="-120"/>
              </a:rPr>
              <a:t>01</a:t>
            </a:r>
            <a:endParaRPr lang="en-US" sz="1600" dirty="0"/>
          </a:p>
        </p:txBody>
      </p:sp>
      <p:sp>
        <p:nvSpPr>
          <p:cNvPr id="9" name="Text 7"/>
          <p:cNvSpPr/>
          <p:nvPr/>
        </p:nvSpPr>
        <p:spPr>
          <a:xfrm>
            <a:off x="857250" y="1190625"/>
            <a:ext cx="1317625"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Online Transactions</a:t>
            </a:r>
            <a:endParaRPr lang="en-US" sz="1600" dirty="0"/>
          </a:p>
        </p:txBody>
      </p:sp>
      <p:sp>
        <p:nvSpPr>
          <p:cNvPr id="10" name="Text 8"/>
          <p:cNvSpPr/>
          <p:nvPr/>
        </p:nvSpPr>
        <p:spPr>
          <a:xfrm>
            <a:off x="444500" y="1555750"/>
            <a:ext cx="3579813" cy="381000"/>
          </a:xfrm>
          <a:prstGeom prst="rect">
            <a:avLst/>
          </a:prstGeom>
          <a:noFill/>
          <a:ln/>
        </p:spPr>
        <p:txBody>
          <a:bodyPr wrap="square" lIns="0" tIns="0" rIns="0" bIns="0" rtlCol="0" anchor="ctr"/>
          <a:lstStyle/>
          <a:p>
            <a:pPr>
              <a:lnSpc>
                <a:spcPct val="130000"/>
              </a:lnSpc>
            </a:pPr>
            <a:r>
              <a:rPr lang="en-US" sz="1000" dirty="0">
                <a:solidFill>
                  <a:srgbClr val="FFFFFF">
                    <a:alpha val="80000"/>
                  </a:srgbClr>
                </a:solidFill>
                <a:latin typeface="Liter" pitchFamily="34" charset="0"/>
                <a:ea typeface="Liter" pitchFamily="34" charset="-122"/>
                <a:cs typeface="Liter" pitchFamily="34" charset="-120"/>
              </a:rPr>
              <a:t>Secure digital payments using multiple methods for convenience and safety.</a:t>
            </a:r>
            <a:endParaRPr lang="en-US" sz="1600" dirty="0"/>
          </a:p>
        </p:txBody>
      </p:sp>
      <p:sp>
        <p:nvSpPr>
          <p:cNvPr id="11" name="Shape 9"/>
          <p:cNvSpPr/>
          <p:nvPr/>
        </p:nvSpPr>
        <p:spPr>
          <a:xfrm>
            <a:off x="444500" y="2032000"/>
            <a:ext cx="3516313" cy="285750"/>
          </a:xfrm>
          <a:custGeom>
            <a:avLst/>
            <a:gdLst/>
            <a:ahLst/>
            <a:cxnLst/>
            <a:rect l="l" t="t" r="r" b="b"/>
            <a:pathLst>
              <a:path w="3516313" h="285750">
                <a:moveTo>
                  <a:pt x="0" y="0"/>
                </a:moveTo>
                <a:lnTo>
                  <a:pt x="3516313" y="0"/>
                </a:lnTo>
                <a:lnTo>
                  <a:pt x="3516313" y="285750"/>
                </a:lnTo>
                <a:lnTo>
                  <a:pt x="0" y="285750"/>
                </a:lnTo>
                <a:lnTo>
                  <a:pt x="0" y="0"/>
                </a:lnTo>
                <a:close/>
              </a:path>
            </a:pathLst>
          </a:custGeom>
          <a:solidFill>
            <a:srgbClr val="000000"/>
          </a:solidFill>
          <a:ln/>
        </p:spPr>
      </p:sp>
      <p:sp>
        <p:nvSpPr>
          <p:cNvPr id="12" name="Shape 10"/>
          <p:cNvSpPr/>
          <p:nvPr/>
        </p:nvSpPr>
        <p:spPr>
          <a:xfrm>
            <a:off x="539750" y="2111375"/>
            <a:ext cx="95250" cy="127000"/>
          </a:xfrm>
          <a:custGeom>
            <a:avLst/>
            <a:gdLst/>
            <a:ahLst/>
            <a:cxnLst/>
            <a:rect l="l" t="t" r="r" b="b"/>
            <a:pathLst>
              <a:path w="95250" h="127000">
                <a:moveTo>
                  <a:pt x="3969" y="15875"/>
                </a:moveTo>
                <a:cubicBezTo>
                  <a:pt x="3969" y="7119"/>
                  <a:pt x="11088" y="0"/>
                  <a:pt x="19844" y="0"/>
                </a:cubicBezTo>
                <a:lnTo>
                  <a:pt x="75406" y="0"/>
                </a:lnTo>
                <a:cubicBezTo>
                  <a:pt x="84162" y="0"/>
                  <a:pt x="91281" y="7119"/>
                  <a:pt x="91281" y="15875"/>
                </a:cubicBezTo>
                <a:lnTo>
                  <a:pt x="91281" y="111125"/>
                </a:lnTo>
                <a:cubicBezTo>
                  <a:pt x="91281" y="119881"/>
                  <a:pt x="84162" y="127000"/>
                  <a:pt x="75406" y="127000"/>
                </a:cubicBezTo>
                <a:lnTo>
                  <a:pt x="19844" y="127000"/>
                </a:lnTo>
                <a:cubicBezTo>
                  <a:pt x="11088" y="127000"/>
                  <a:pt x="3969" y="119881"/>
                  <a:pt x="3969" y="111125"/>
                </a:cubicBezTo>
                <a:lnTo>
                  <a:pt x="3969" y="15875"/>
                </a:lnTo>
                <a:close/>
                <a:moveTo>
                  <a:pt x="19844" y="15875"/>
                </a:moveTo>
                <a:lnTo>
                  <a:pt x="19844" y="91281"/>
                </a:lnTo>
                <a:lnTo>
                  <a:pt x="75406" y="91281"/>
                </a:lnTo>
                <a:lnTo>
                  <a:pt x="75406" y="15875"/>
                </a:lnTo>
                <a:lnTo>
                  <a:pt x="19844" y="15875"/>
                </a:lnTo>
                <a:close/>
                <a:moveTo>
                  <a:pt x="47625" y="117078"/>
                </a:moveTo>
                <a:cubicBezTo>
                  <a:pt x="52015" y="117078"/>
                  <a:pt x="55563" y="113531"/>
                  <a:pt x="55563" y="109141"/>
                </a:cubicBezTo>
                <a:cubicBezTo>
                  <a:pt x="55563" y="104750"/>
                  <a:pt x="52015" y="101203"/>
                  <a:pt x="47625" y="101203"/>
                </a:cubicBezTo>
                <a:cubicBezTo>
                  <a:pt x="43235" y="101203"/>
                  <a:pt x="39688" y="104750"/>
                  <a:pt x="39688" y="109141"/>
                </a:cubicBezTo>
                <a:cubicBezTo>
                  <a:pt x="39688" y="113531"/>
                  <a:pt x="43235" y="117078"/>
                  <a:pt x="47625" y="117078"/>
                </a:cubicBezTo>
                <a:close/>
              </a:path>
            </a:pathLst>
          </a:custGeom>
          <a:solidFill>
            <a:srgbClr val="DDFF00"/>
          </a:solidFill>
          <a:ln/>
        </p:spPr>
      </p:sp>
      <p:sp>
        <p:nvSpPr>
          <p:cNvPr id="13" name="Text 11"/>
          <p:cNvSpPr/>
          <p:nvPr/>
        </p:nvSpPr>
        <p:spPr>
          <a:xfrm>
            <a:off x="730250" y="2095500"/>
            <a:ext cx="746125" cy="158750"/>
          </a:xfrm>
          <a:prstGeom prst="rect">
            <a:avLst/>
          </a:prstGeom>
          <a:noFill/>
          <a:ln/>
        </p:spPr>
        <p:txBody>
          <a:bodyPr wrap="square" lIns="0" tIns="0" rIns="0" bIns="0" rtlCol="0" anchor="ctr"/>
          <a:lstStyle/>
          <a:p>
            <a:pPr>
              <a:lnSpc>
                <a:spcPct val="120000"/>
              </a:lnSpc>
            </a:pPr>
            <a:r>
              <a:rPr lang="en-US" sz="875" dirty="0">
                <a:solidFill>
                  <a:srgbClr val="FFFFFF"/>
                </a:solidFill>
                <a:latin typeface="Liter" pitchFamily="34" charset="0"/>
                <a:ea typeface="Liter" pitchFamily="34" charset="-122"/>
                <a:cs typeface="Liter" pitchFamily="34" charset="-120"/>
              </a:rPr>
              <a:t>UPI Payments</a:t>
            </a:r>
            <a:endParaRPr lang="en-US" sz="1600" dirty="0"/>
          </a:p>
        </p:txBody>
      </p:sp>
      <p:sp>
        <p:nvSpPr>
          <p:cNvPr id="14" name="Shape 12"/>
          <p:cNvSpPr/>
          <p:nvPr/>
        </p:nvSpPr>
        <p:spPr>
          <a:xfrm>
            <a:off x="444500" y="2349500"/>
            <a:ext cx="3516313" cy="285750"/>
          </a:xfrm>
          <a:custGeom>
            <a:avLst/>
            <a:gdLst/>
            <a:ahLst/>
            <a:cxnLst/>
            <a:rect l="l" t="t" r="r" b="b"/>
            <a:pathLst>
              <a:path w="3516313" h="285750">
                <a:moveTo>
                  <a:pt x="0" y="0"/>
                </a:moveTo>
                <a:lnTo>
                  <a:pt x="3516313" y="0"/>
                </a:lnTo>
                <a:lnTo>
                  <a:pt x="3516313" y="285750"/>
                </a:lnTo>
                <a:lnTo>
                  <a:pt x="0" y="285750"/>
                </a:lnTo>
                <a:lnTo>
                  <a:pt x="0" y="0"/>
                </a:lnTo>
                <a:close/>
              </a:path>
            </a:pathLst>
          </a:custGeom>
          <a:solidFill>
            <a:srgbClr val="000000"/>
          </a:solidFill>
          <a:ln/>
        </p:spPr>
      </p:sp>
      <p:sp>
        <p:nvSpPr>
          <p:cNvPr id="15" name="Shape 13"/>
          <p:cNvSpPr/>
          <p:nvPr/>
        </p:nvSpPr>
        <p:spPr>
          <a:xfrm>
            <a:off x="523875" y="2428875"/>
            <a:ext cx="127000" cy="127000"/>
          </a:xfrm>
          <a:custGeom>
            <a:avLst/>
            <a:gdLst/>
            <a:ahLst/>
            <a:cxnLst/>
            <a:rect l="l" t="t" r="r" b="b"/>
            <a:pathLst>
              <a:path w="127000" h="127000">
                <a:moveTo>
                  <a:pt x="0" y="31750"/>
                </a:moveTo>
                <a:lnTo>
                  <a:pt x="0" y="39688"/>
                </a:lnTo>
                <a:lnTo>
                  <a:pt x="127000" y="39688"/>
                </a:lnTo>
                <a:lnTo>
                  <a:pt x="127000" y="31750"/>
                </a:lnTo>
                <a:cubicBezTo>
                  <a:pt x="127000" y="22994"/>
                  <a:pt x="119881" y="15875"/>
                  <a:pt x="111125" y="15875"/>
                </a:cubicBezTo>
                <a:lnTo>
                  <a:pt x="15875" y="15875"/>
                </a:lnTo>
                <a:cubicBezTo>
                  <a:pt x="7119" y="15875"/>
                  <a:pt x="0" y="22994"/>
                  <a:pt x="0" y="31750"/>
                </a:cubicBezTo>
                <a:close/>
                <a:moveTo>
                  <a:pt x="0" y="51594"/>
                </a:moveTo>
                <a:lnTo>
                  <a:pt x="0" y="95250"/>
                </a:lnTo>
                <a:cubicBezTo>
                  <a:pt x="0" y="104006"/>
                  <a:pt x="7119" y="111125"/>
                  <a:pt x="15875" y="111125"/>
                </a:cubicBezTo>
                <a:lnTo>
                  <a:pt x="111125" y="111125"/>
                </a:lnTo>
                <a:cubicBezTo>
                  <a:pt x="119881" y="111125"/>
                  <a:pt x="127000" y="104006"/>
                  <a:pt x="127000" y="95250"/>
                </a:cubicBezTo>
                <a:lnTo>
                  <a:pt x="127000" y="51594"/>
                </a:lnTo>
                <a:lnTo>
                  <a:pt x="0" y="51594"/>
                </a:lnTo>
                <a:close/>
                <a:moveTo>
                  <a:pt x="15875" y="89297"/>
                </a:moveTo>
                <a:cubicBezTo>
                  <a:pt x="15875" y="85998"/>
                  <a:pt x="18529" y="83344"/>
                  <a:pt x="21828" y="83344"/>
                </a:cubicBezTo>
                <a:lnTo>
                  <a:pt x="33734" y="83344"/>
                </a:lnTo>
                <a:cubicBezTo>
                  <a:pt x="37033" y="83344"/>
                  <a:pt x="39688" y="85998"/>
                  <a:pt x="39688" y="89297"/>
                </a:cubicBezTo>
                <a:cubicBezTo>
                  <a:pt x="39688" y="92596"/>
                  <a:pt x="37033" y="95250"/>
                  <a:pt x="33734" y="95250"/>
                </a:cubicBezTo>
                <a:lnTo>
                  <a:pt x="21828" y="95250"/>
                </a:lnTo>
                <a:cubicBezTo>
                  <a:pt x="18529" y="95250"/>
                  <a:pt x="15875" y="92596"/>
                  <a:pt x="15875" y="89297"/>
                </a:cubicBezTo>
                <a:close/>
                <a:moveTo>
                  <a:pt x="51594" y="89297"/>
                </a:moveTo>
                <a:cubicBezTo>
                  <a:pt x="51594" y="85998"/>
                  <a:pt x="54248" y="83344"/>
                  <a:pt x="57547" y="83344"/>
                </a:cubicBezTo>
                <a:lnTo>
                  <a:pt x="73422" y="83344"/>
                </a:lnTo>
                <a:cubicBezTo>
                  <a:pt x="76721" y="83344"/>
                  <a:pt x="79375" y="85998"/>
                  <a:pt x="79375" y="89297"/>
                </a:cubicBezTo>
                <a:cubicBezTo>
                  <a:pt x="79375" y="92596"/>
                  <a:pt x="76721" y="95250"/>
                  <a:pt x="73422" y="95250"/>
                </a:cubicBezTo>
                <a:lnTo>
                  <a:pt x="57547" y="95250"/>
                </a:lnTo>
                <a:cubicBezTo>
                  <a:pt x="54248" y="95250"/>
                  <a:pt x="51594" y="92596"/>
                  <a:pt x="51594" y="89297"/>
                </a:cubicBezTo>
                <a:close/>
              </a:path>
            </a:pathLst>
          </a:custGeom>
          <a:solidFill>
            <a:srgbClr val="DDFF00"/>
          </a:solidFill>
          <a:ln/>
        </p:spPr>
      </p:sp>
      <p:sp>
        <p:nvSpPr>
          <p:cNvPr id="16" name="Text 14"/>
          <p:cNvSpPr/>
          <p:nvPr/>
        </p:nvSpPr>
        <p:spPr>
          <a:xfrm>
            <a:off x="730250" y="2413000"/>
            <a:ext cx="976312" cy="158750"/>
          </a:xfrm>
          <a:prstGeom prst="rect">
            <a:avLst/>
          </a:prstGeom>
          <a:noFill/>
          <a:ln/>
        </p:spPr>
        <p:txBody>
          <a:bodyPr wrap="square" lIns="0" tIns="0" rIns="0" bIns="0" rtlCol="0" anchor="ctr"/>
          <a:lstStyle/>
          <a:p>
            <a:pPr>
              <a:lnSpc>
                <a:spcPct val="120000"/>
              </a:lnSpc>
            </a:pPr>
            <a:r>
              <a:rPr lang="en-US" sz="875" dirty="0">
                <a:solidFill>
                  <a:srgbClr val="FFFFFF"/>
                </a:solidFill>
                <a:latin typeface="Liter" pitchFamily="34" charset="0"/>
                <a:ea typeface="Liter" pitchFamily="34" charset="-122"/>
                <a:cs typeface="Liter" pitchFamily="34" charset="-120"/>
              </a:rPr>
              <a:t>Credit/Debit Cards</a:t>
            </a:r>
            <a:endParaRPr lang="en-US" sz="1600" dirty="0"/>
          </a:p>
        </p:txBody>
      </p:sp>
      <p:sp>
        <p:nvSpPr>
          <p:cNvPr id="17" name="Shape 15"/>
          <p:cNvSpPr/>
          <p:nvPr/>
        </p:nvSpPr>
        <p:spPr>
          <a:xfrm>
            <a:off x="444500" y="2667000"/>
            <a:ext cx="3516313" cy="285750"/>
          </a:xfrm>
          <a:custGeom>
            <a:avLst/>
            <a:gdLst/>
            <a:ahLst/>
            <a:cxnLst/>
            <a:rect l="l" t="t" r="r" b="b"/>
            <a:pathLst>
              <a:path w="3516313" h="285750">
                <a:moveTo>
                  <a:pt x="0" y="0"/>
                </a:moveTo>
                <a:lnTo>
                  <a:pt x="3516313" y="0"/>
                </a:lnTo>
                <a:lnTo>
                  <a:pt x="3516313" y="285750"/>
                </a:lnTo>
                <a:lnTo>
                  <a:pt x="0" y="285750"/>
                </a:lnTo>
                <a:lnTo>
                  <a:pt x="0" y="0"/>
                </a:lnTo>
                <a:close/>
              </a:path>
            </a:pathLst>
          </a:custGeom>
          <a:solidFill>
            <a:srgbClr val="000000"/>
          </a:solidFill>
          <a:ln/>
        </p:spPr>
      </p:sp>
      <p:sp>
        <p:nvSpPr>
          <p:cNvPr id="18" name="Shape 16"/>
          <p:cNvSpPr/>
          <p:nvPr/>
        </p:nvSpPr>
        <p:spPr>
          <a:xfrm>
            <a:off x="523875" y="2746375"/>
            <a:ext cx="127000" cy="127000"/>
          </a:xfrm>
          <a:custGeom>
            <a:avLst/>
            <a:gdLst/>
            <a:ahLst/>
            <a:cxnLst/>
            <a:rect l="l" t="t" r="r" b="b"/>
            <a:pathLst>
              <a:path w="127000" h="127000">
                <a:moveTo>
                  <a:pt x="67444" y="5011"/>
                </a:moveTo>
                <a:cubicBezTo>
                  <a:pt x="65013" y="3621"/>
                  <a:pt x="62012" y="3621"/>
                  <a:pt x="59556" y="5011"/>
                </a:cubicBezTo>
                <a:lnTo>
                  <a:pt x="3994" y="36761"/>
                </a:lnTo>
                <a:cubicBezTo>
                  <a:pt x="868" y="38546"/>
                  <a:pt x="-670" y="42218"/>
                  <a:pt x="248" y="45690"/>
                </a:cubicBezTo>
                <a:cubicBezTo>
                  <a:pt x="1166" y="49163"/>
                  <a:pt x="4341" y="51594"/>
                  <a:pt x="7938" y="51594"/>
                </a:cubicBezTo>
                <a:lnTo>
                  <a:pt x="15875" y="51594"/>
                </a:lnTo>
                <a:lnTo>
                  <a:pt x="15875" y="103188"/>
                </a:lnTo>
                <a:lnTo>
                  <a:pt x="15875" y="103188"/>
                </a:lnTo>
                <a:lnTo>
                  <a:pt x="3175" y="112713"/>
                </a:lnTo>
                <a:cubicBezTo>
                  <a:pt x="1166" y="114201"/>
                  <a:pt x="0" y="116557"/>
                  <a:pt x="0" y="119063"/>
                </a:cubicBezTo>
                <a:cubicBezTo>
                  <a:pt x="0" y="123453"/>
                  <a:pt x="3547" y="127000"/>
                  <a:pt x="7938" y="127000"/>
                </a:cubicBezTo>
                <a:lnTo>
                  <a:pt x="119063" y="127000"/>
                </a:lnTo>
                <a:cubicBezTo>
                  <a:pt x="123453" y="127000"/>
                  <a:pt x="127000" y="123453"/>
                  <a:pt x="127000" y="119063"/>
                </a:cubicBezTo>
                <a:cubicBezTo>
                  <a:pt x="127000" y="116557"/>
                  <a:pt x="125834" y="114201"/>
                  <a:pt x="123825" y="112713"/>
                </a:cubicBezTo>
                <a:lnTo>
                  <a:pt x="111125" y="103188"/>
                </a:lnTo>
                <a:lnTo>
                  <a:pt x="111125" y="51594"/>
                </a:lnTo>
                <a:lnTo>
                  <a:pt x="119063" y="51594"/>
                </a:lnTo>
                <a:cubicBezTo>
                  <a:pt x="122659" y="51594"/>
                  <a:pt x="125809" y="49163"/>
                  <a:pt x="126727" y="45690"/>
                </a:cubicBezTo>
                <a:cubicBezTo>
                  <a:pt x="127645" y="42218"/>
                  <a:pt x="126107" y="38546"/>
                  <a:pt x="122982" y="36761"/>
                </a:cubicBezTo>
                <a:lnTo>
                  <a:pt x="67419" y="5011"/>
                </a:lnTo>
                <a:close/>
                <a:moveTo>
                  <a:pt x="99219" y="51594"/>
                </a:moveTo>
                <a:lnTo>
                  <a:pt x="99219" y="103188"/>
                </a:lnTo>
                <a:lnTo>
                  <a:pt x="83344" y="103188"/>
                </a:lnTo>
                <a:lnTo>
                  <a:pt x="83344" y="51594"/>
                </a:lnTo>
                <a:lnTo>
                  <a:pt x="99219" y="51594"/>
                </a:lnTo>
                <a:close/>
                <a:moveTo>
                  <a:pt x="71438" y="51594"/>
                </a:moveTo>
                <a:lnTo>
                  <a:pt x="71438" y="103188"/>
                </a:lnTo>
                <a:lnTo>
                  <a:pt x="55563" y="103188"/>
                </a:lnTo>
                <a:lnTo>
                  <a:pt x="55563" y="51594"/>
                </a:lnTo>
                <a:lnTo>
                  <a:pt x="71438" y="51594"/>
                </a:lnTo>
                <a:close/>
                <a:moveTo>
                  <a:pt x="43656" y="51594"/>
                </a:moveTo>
                <a:lnTo>
                  <a:pt x="43656" y="103188"/>
                </a:lnTo>
                <a:lnTo>
                  <a:pt x="27781" y="103188"/>
                </a:lnTo>
                <a:lnTo>
                  <a:pt x="27781" y="51594"/>
                </a:lnTo>
                <a:lnTo>
                  <a:pt x="43656" y="51594"/>
                </a:lnTo>
                <a:close/>
                <a:moveTo>
                  <a:pt x="63500" y="23812"/>
                </a:moveTo>
                <a:cubicBezTo>
                  <a:pt x="67881" y="23812"/>
                  <a:pt x="71438" y="27369"/>
                  <a:pt x="71438" y="31750"/>
                </a:cubicBezTo>
                <a:cubicBezTo>
                  <a:pt x="71438" y="36131"/>
                  <a:pt x="67881" y="39688"/>
                  <a:pt x="63500" y="39688"/>
                </a:cubicBezTo>
                <a:cubicBezTo>
                  <a:pt x="59119" y="39688"/>
                  <a:pt x="55563" y="36131"/>
                  <a:pt x="55563" y="31750"/>
                </a:cubicBezTo>
                <a:cubicBezTo>
                  <a:pt x="55563" y="27369"/>
                  <a:pt x="59119" y="23812"/>
                  <a:pt x="63500" y="23812"/>
                </a:cubicBezTo>
                <a:close/>
              </a:path>
            </a:pathLst>
          </a:custGeom>
          <a:solidFill>
            <a:srgbClr val="DDFF00"/>
          </a:solidFill>
          <a:ln/>
        </p:spPr>
      </p:sp>
      <p:sp>
        <p:nvSpPr>
          <p:cNvPr id="19" name="Text 17"/>
          <p:cNvSpPr/>
          <p:nvPr/>
        </p:nvSpPr>
        <p:spPr>
          <a:xfrm>
            <a:off x="730250" y="2730500"/>
            <a:ext cx="650875" cy="158750"/>
          </a:xfrm>
          <a:prstGeom prst="rect">
            <a:avLst/>
          </a:prstGeom>
          <a:noFill/>
          <a:ln/>
        </p:spPr>
        <p:txBody>
          <a:bodyPr wrap="square" lIns="0" tIns="0" rIns="0" bIns="0" rtlCol="0" anchor="ctr"/>
          <a:lstStyle/>
          <a:p>
            <a:pPr>
              <a:lnSpc>
                <a:spcPct val="120000"/>
              </a:lnSpc>
            </a:pPr>
            <a:r>
              <a:rPr lang="en-US" sz="875" dirty="0">
                <a:solidFill>
                  <a:srgbClr val="FFFFFF"/>
                </a:solidFill>
                <a:latin typeface="Liter" pitchFamily="34" charset="0"/>
                <a:ea typeface="Liter" pitchFamily="34" charset="-122"/>
                <a:cs typeface="Liter" pitchFamily="34" charset="-120"/>
              </a:rPr>
              <a:t>Net Banking</a:t>
            </a:r>
            <a:endParaRPr lang="en-US" sz="1600" dirty="0"/>
          </a:p>
        </p:txBody>
      </p:sp>
      <p:sp>
        <p:nvSpPr>
          <p:cNvPr id="20" name="Shape 18"/>
          <p:cNvSpPr/>
          <p:nvPr/>
        </p:nvSpPr>
        <p:spPr>
          <a:xfrm>
            <a:off x="444500" y="2984500"/>
            <a:ext cx="3516313" cy="285750"/>
          </a:xfrm>
          <a:custGeom>
            <a:avLst/>
            <a:gdLst/>
            <a:ahLst/>
            <a:cxnLst/>
            <a:rect l="l" t="t" r="r" b="b"/>
            <a:pathLst>
              <a:path w="3516313" h="285750">
                <a:moveTo>
                  <a:pt x="0" y="0"/>
                </a:moveTo>
                <a:lnTo>
                  <a:pt x="3516313" y="0"/>
                </a:lnTo>
                <a:lnTo>
                  <a:pt x="3516313" y="285750"/>
                </a:lnTo>
                <a:lnTo>
                  <a:pt x="0" y="285750"/>
                </a:lnTo>
                <a:lnTo>
                  <a:pt x="0" y="0"/>
                </a:lnTo>
                <a:close/>
              </a:path>
            </a:pathLst>
          </a:custGeom>
          <a:solidFill>
            <a:srgbClr val="000000"/>
          </a:solidFill>
          <a:ln/>
        </p:spPr>
      </p:sp>
      <p:sp>
        <p:nvSpPr>
          <p:cNvPr id="21" name="Shape 19"/>
          <p:cNvSpPr/>
          <p:nvPr/>
        </p:nvSpPr>
        <p:spPr>
          <a:xfrm>
            <a:off x="523875" y="3063875"/>
            <a:ext cx="127000" cy="127000"/>
          </a:xfrm>
          <a:custGeom>
            <a:avLst/>
            <a:gdLst/>
            <a:ahLst/>
            <a:cxnLst/>
            <a:rect l="l" t="t" r="r" b="b"/>
            <a:pathLst>
              <a:path w="127000" h="127000">
                <a:moveTo>
                  <a:pt x="15875" y="7938"/>
                </a:moveTo>
                <a:cubicBezTo>
                  <a:pt x="7119" y="7938"/>
                  <a:pt x="0" y="15056"/>
                  <a:pt x="0" y="23812"/>
                </a:cubicBezTo>
                <a:lnTo>
                  <a:pt x="0" y="95250"/>
                </a:lnTo>
                <a:cubicBezTo>
                  <a:pt x="0" y="104006"/>
                  <a:pt x="7119" y="111125"/>
                  <a:pt x="15875" y="111125"/>
                </a:cubicBezTo>
                <a:lnTo>
                  <a:pt x="111125" y="111125"/>
                </a:lnTo>
                <a:cubicBezTo>
                  <a:pt x="119881" y="111125"/>
                  <a:pt x="127000" y="104006"/>
                  <a:pt x="127000" y="95250"/>
                </a:cubicBezTo>
                <a:lnTo>
                  <a:pt x="127000" y="47625"/>
                </a:lnTo>
                <a:cubicBezTo>
                  <a:pt x="127000" y="38869"/>
                  <a:pt x="119881" y="31750"/>
                  <a:pt x="111125" y="31750"/>
                </a:cubicBezTo>
                <a:lnTo>
                  <a:pt x="17859" y="31750"/>
                </a:lnTo>
                <a:cubicBezTo>
                  <a:pt x="14560" y="31750"/>
                  <a:pt x="11906" y="29096"/>
                  <a:pt x="11906" y="25797"/>
                </a:cubicBezTo>
                <a:cubicBezTo>
                  <a:pt x="11906" y="22498"/>
                  <a:pt x="14560" y="19844"/>
                  <a:pt x="17859" y="19844"/>
                </a:cubicBezTo>
                <a:lnTo>
                  <a:pt x="113109" y="19844"/>
                </a:lnTo>
                <a:cubicBezTo>
                  <a:pt x="116408" y="19844"/>
                  <a:pt x="119063" y="17190"/>
                  <a:pt x="119063" y="13891"/>
                </a:cubicBezTo>
                <a:cubicBezTo>
                  <a:pt x="119063" y="10592"/>
                  <a:pt x="116408" y="7938"/>
                  <a:pt x="113109" y="7938"/>
                </a:cubicBezTo>
                <a:lnTo>
                  <a:pt x="15875" y="7938"/>
                </a:lnTo>
                <a:close/>
                <a:moveTo>
                  <a:pt x="103188" y="63500"/>
                </a:moveTo>
                <a:cubicBezTo>
                  <a:pt x="107568" y="63500"/>
                  <a:pt x="111125" y="67057"/>
                  <a:pt x="111125" y="71438"/>
                </a:cubicBezTo>
                <a:cubicBezTo>
                  <a:pt x="111125" y="75818"/>
                  <a:pt x="107568" y="79375"/>
                  <a:pt x="103188" y="79375"/>
                </a:cubicBezTo>
                <a:cubicBezTo>
                  <a:pt x="98807" y="79375"/>
                  <a:pt x="95250" y="75818"/>
                  <a:pt x="95250" y="71438"/>
                </a:cubicBezTo>
                <a:cubicBezTo>
                  <a:pt x="95250" y="67057"/>
                  <a:pt x="98807" y="63500"/>
                  <a:pt x="103188" y="63500"/>
                </a:cubicBezTo>
                <a:close/>
              </a:path>
            </a:pathLst>
          </a:custGeom>
          <a:solidFill>
            <a:srgbClr val="DDFF00"/>
          </a:solidFill>
          <a:ln/>
        </p:spPr>
      </p:sp>
      <p:sp>
        <p:nvSpPr>
          <p:cNvPr id="22" name="Text 20"/>
          <p:cNvSpPr/>
          <p:nvPr/>
        </p:nvSpPr>
        <p:spPr>
          <a:xfrm>
            <a:off x="730250" y="3048000"/>
            <a:ext cx="762000" cy="158750"/>
          </a:xfrm>
          <a:prstGeom prst="rect">
            <a:avLst/>
          </a:prstGeom>
          <a:noFill/>
          <a:ln/>
        </p:spPr>
        <p:txBody>
          <a:bodyPr wrap="square" lIns="0" tIns="0" rIns="0" bIns="0" rtlCol="0" anchor="ctr"/>
          <a:lstStyle/>
          <a:p>
            <a:pPr>
              <a:lnSpc>
                <a:spcPct val="120000"/>
              </a:lnSpc>
            </a:pPr>
            <a:r>
              <a:rPr lang="en-US" sz="875" dirty="0">
                <a:solidFill>
                  <a:srgbClr val="FFFFFF"/>
                </a:solidFill>
                <a:latin typeface="Liter" pitchFamily="34" charset="0"/>
                <a:ea typeface="Liter" pitchFamily="34" charset="-122"/>
                <a:cs typeface="Liter" pitchFamily="34" charset="-120"/>
              </a:rPr>
              <a:t>Digital Wallets</a:t>
            </a:r>
            <a:endParaRPr lang="en-US" sz="1600" dirty="0"/>
          </a:p>
        </p:txBody>
      </p:sp>
      <p:sp>
        <p:nvSpPr>
          <p:cNvPr id="23" name="Shape 21"/>
          <p:cNvSpPr/>
          <p:nvPr/>
        </p:nvSpPr>
        <p:spPr>
          <a:xfrm>
            <a:off x="4212134" y="1000125"/>
            <a:ext cx="3770313" cy="2397125"/>
          </a:xfrm>
          <a:custGeom>
            <a:avLst/>
            <a:gdLst/>
            <a:ahLst/>
            <a:cxnLst/>
            <a:rect l="l" t="t" r="r" b="b"/>
            <a:pathLst>
              <a:path w="3770313" h="2397125">
                <a:moveTo>
                  <a:pt x="0" y="0"/>
                </a:moveTo>
                <a:lnTo>
                  <a:pt x="3770313" y="0"/>
                </a:lnTo>
                <a:lnTo>
                  <a:pt x="3770313" y="2397125"/>
                </a:lnTo>
                <a:lnTo>
                  <a:pt x="0" y="2397125"/>
                </a:lnTo>
                <a:lnTo>
                  <a:pt x="0" y="0"/>
                </a:lnTo>
                <a:close/>
              </a:path>
            </a:pathLst>
          </a:custGeom>
          <a:solidFill>
            <a:srgbClr val="111111"/>
          </a:solidFill>
          <a:ln/>
        </p:spPr>
      </p:sp>
      <p:sp>
        <p:nvSpPr>
          <p:cNvPr id="24" name="Shape 22"/>
          <p:cNvSpPr/>
          <p:nvPr/>
        </p:nvSpPr>
        <p:spPr>
          <a:xfrm>
            <a:off x="4212134" y="1000125"/>
            <a:ext cx="3770313" cy="31750"/>
          </a:xfrm>
          <a:custGeom>
            <a:avLst/>
            <a:gdLst/>
            <a:ahLst/>
            <a:cxnLst/>
            <a:rect l="l" t="t" r="r" b="b"/>
            <a:pathLst>
              <a:path w="3770313" h="31750">
                <a:moveTo>
                  <a:pt x="0" y="0"/>
                </a:moveTo>
                <a:lnTo>
                  <a:pt x="3770313" y="0"/>
                </a:lnTo>
                <a:lnTo>
                  <a:pt x="3770313" y="31750"/>
                </a:lnTo>
                <a:lnTo>
                  <a:pt x="0" y="31750"/>
                </a:lnTo>
                <a:lnTo>
                  <a:pt x="0" y="0"/>
                </a:lnTo>
                <a:close/>
              </a:path>
            </a:pathLst>
          </a:custGeom>
          <a:solidFill>
            <a:srgbClr val="DDFF00"/>
          </a:solidFill>
          <a:ln/>
        </p:spPr>
      </p:sp>
      <p:sp>
        <p:nvSpPr>
          <p:cNvPr id="25" name="Shape 23"/>
          <p:cNvSpPr/>
          <p:nvPr/>
        </p:nvSpPr>
        <p:spPr>
          <a:xfrm>
            <a:off x="4339134" y="1143000"/>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DDFF00"/>
          </a:solidFill>
          <a:ln/>
        </p:spPr>
      </p:sp>
      <p:sp>
        <p:nvSpPr>
          <p:cNvPr id="26" name="Text 24"/>
          <p:cNvSpPr/>
          <p:nvPr/>
        </p:nvSpPr>
        <p:spPr>
          <a:xfrm>
            <a:off x="4410770" y="1190625"/>
            <a:ext cx="246063" cy="222250"/>
          </a:xfrm>
          <a:prstGeom prst="rect">
            <a:avLst/>
          </a:prstGeom>
          <a:noFill/>
          <a:ln/>
        </p:spPr>
        <p:txBody>
          <a:bodyPr wrap="square" lIns="0" tIns="0" rIns="0" bIns="0" rtlCol="0" anchor="ctr"/>
          <a:lstStyle/>
          <a:p>
            <a:pPr>
              <a:lnSpc>
                <a:spcPct val="130000"/>
              </a:lnSpc>
            </a:pPr>
            <a:r>
              <a:rPr lang="en-US" sz="1125" b="1" dirty="0">
                <a:solidFill>
                  <a:srgbClr val="000000"/>
                </a:solidFill>
                <a:latin typeface="Liter" pitchFamily="34" charset="0"/>
                <a:ea typeface="Liter" pitchFamily="34" charset="-122"/>
                <a:cs typeface="Liter" pitchFamily="34" charset="-120"/>
              </a:rPr>
              <a:t>02</a:t>
            </a:r>
            <a:endParaRPr lang="en-US" sz="1600" dirty="0"/>
          </a:p>
        </p:txBody>
      </p:sp>
      <p:sp>
        <p:nvSpPr>
          <p:cNvPr id="27" name="Text 25"/>
          <p:cNvSpPr/>
          <p:nvPr/>
        </p:nvSpPr>
        <p:spPr>
          <a:xfrm>
            <a:off x="4751884" y="1190625"/>
            <a:ext cx="896938"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Global Reach</a:t>
            </a:r>
            <a:endParaRPr lang="en-US" sz="1600" dirty="0"/>
          </a:p>
        </p:txBody>
      </p:sp>
      <p:sp>
        <p:nvSpPr>
          <p:cNvPr id="28" name="Text 26"/>
          <p:cNvSpPr/>
          <p:nvPr/>
        </p:nvSpPr>
        <p:spPr>
          <a:xfrm>
            <a:off x="4339134" y="1555750"/>
            <a:ext cx="3579813" cy="1222375"/>
          </a:xfrm>
          <a:prstGeom prst="rect">
            <a:avLst/>
          </a:prstGeom>
          <a:noFill/>
          <a:ln/>
        </p:spPr>
        <p:txBody>
          <a:bodyPr wrap="square" lIns="0" tIns="0" rIns="0" bIns="0" rtlCol="0" anchor="ctr"/>
          <a:lstStyle/>
          <a:p>
            <a:pPr>
              <a:lnSpc>
                <a:spcPct val="130000"/>
              </a:lnSpc>
            </a:pPr>
            <a:r>
              <a:rPr lang="en-US" sz="1000" dirty="0">
                <a:solidFill>
                  <a:srgbClr val="FFFFFF">
                    <a:alpha val="80000"/>
                  </a:srgbClr>
                </a:solidFill>
                <a:latin typeface="Liter" pitchFamily="34" charset="0"/>
                <a:ea typeface="Liter" pitchFamily="34" charset="-122"/>
                <a:cs typeface="Liter" pitchFamily="34" charset="-120"/>
              </a:rPr>
              <a:t>Businesses can sell products internationally without physical stores or geographical limitations.</a:t>
            </a:r>
            <a:endParaRPr lang="en-US" sz="1600" dirty="0"/>
          </a:p>
        </p:txBody>
      </p:sp>
      <p:sp>
        <p:nvSpPr>
          <p:cNvPr id="29" name="Shape 27"/>
          <p:cNvSpPr/>
          <p:nvPr/>
        </p:nvSpPr>
        <p:spPr>
          <a:xfrm>
            <a:off x="4342309" y="2879724"/>
            <a:ext cx="3506787" cy="387350"/>
          </a:xfrm>
          <a:custGeom>
            <a:avLst/>
            <a:gdLst/>
            <a:ahLst/>
            <a:cxnLst/>
            <a:rect l="l" t="t" r="r" b="b"/>
            <a:pathLst>
              <a:path w="3506787" h="387350">
                <a:moveTo>
                  <a:pt x="0" y="0"/>
                </a:moveTo>
                <a:lnTo>
                  <a:pt x="3506787" y="0"/>
                </a:lnTo>
                <a:lnTo>
                  <a:pt x="3506787" y="387350"/>
                </a:lnTo>
                <a:lnTo>
                  <a:pt x="0" y="387350"/>
                </a:lnTo>
                <a:lnTo>
                  <a:pt x="0" y="0"/>
                </a:lnTo>
                <a:close/>
              </a:path>
            </a:pathLst>
          </a:custGeom>
          <a:solidFill>
            <a:srgbClr val="DDFF00">
              <a:alpha val="10196"/>
            </a:srgbClr>
          </a:solidFill>
          <a:ln w="10160">
            <a:solidFill>
              <a:srgbClr val="DDFF00"/>
            </a:solidFill>
            <a:prstDash val="solid"/>
          </a:ln>
        </p:spPr>
      </p:sp>
      <p:sp>
        <p:nvSpPr>
          <p:cNvPr id="30" name="Shape 28"/>
          <p:cNvSpPr/>
          <p:nvPr/>
        </p:nvSpPr>
        <p:spPr>
          <a:xfrm>
            <a:off x="5311974" y="2978152"/>
            <a:ext cx="190500" cy="190500"/>
          </a:xfrm>
          <a:custGeom>
            <a:avLst/>
            <a:gdLst/>
            <a:ahLst/>
            <a:cxnLst/>
            <a:rect l="l" t="t" r="r" b="b"/>
            <a:pathLst>
              <a:path w="190500" h="190500">
                <a:moveTo>
                  <a:pt x="130932" y="104180"/>
                </a:moveTo>
                <a:lnTo>
                  <a:pt x="59903" y="104180"/>
                </a:lnTo>
                <a:cubicBezTo>
                  <a:pt x="60982" y="128178"/>
                  <a:pt x="66303" y="150279"/>
                  <a:pt x="73856" y="166464"/>
                </a:cubicBezTo>
                <a:cubicBezTo>
                  <a:pt x="78098" y="175580"/>
                  <a:pt x="82674" y="182017"/>
                  <a:pt x="86916" y="185961"/>
                </a:cubicBezTo>
                <a:cubicBezTo>
                  <a:pt x="91083" y="189867"/>
                  <a:pt x="93948" y="190500"/>
                  <a:pt x="95436" y="190500"/>
                </a:cubicBezTo>
                <a:cubicBezTo>
                  <a:pt x="96924" y="190500"/>
                  <a:pt x="99789" y="189867"/>
                  <a:pt x="103956" y="185961"/>
                </a:cubicBezTo>
                <a:cubicBezTo>
                  <a:pt x="108198" y="182017"/>
                  <a:pt x="112775" y="175543"/>
                  <a:pt x="117016" y="166464"/>
                </a:cubicBezTo>
                <a:cubicBezTo>
                  <a:pt x="124569" y="150279"/>
                  <a:pt x="129890" y="128178"/>
                  <a:pt x="130969" y="104180"/>
                </a:cubicBezTo>
                <a:close/>
                <a:moveTo>
                  <a:pt x="59866" y="86320"/>
                </a:moveTo>
                <a:lnTo>
                  <a:pt x="130894" y="86320"/>
                </a:lnTo>
                <a:cubicBezTo>
                  <a:pt x="129853" y="62322"/>
                  <a:pt x="124532" y="40221"/>
                  <a:pt x="116979" y="24036"/>
                </a:cubicBezTo>
                <a:cubicBezTo>
                  <a:pt x="112737" y="14957"/>
                  <a:pt x="108161" y="8483"/>
                  <a:pt x="103919" y="4539"/>
                </a:cubicBezTo>
                <a:cubicBezTo>
                  <a:pt x="99752" y="633"/>
                  <a:pt x="96887" y="0"/>
                  <a:pt x="95399" y="0"/>
                </a:cubicBezTo>
                <a:cubicBezTo>
                  <a:pt x="93911" y="0"/>
                  <a:pt x="91046" y="633"/>
                  <a:pt x="86878" y="4539"/>
                </a:cubicBezTo>
                <a:cubicBezTo>
                  <a:pt x="82637" y="8483"/>
                  <a:pt x="78060" y="14957"/>
                  <a:pt x="73819" y="24036"/>
                </a:cubicBezTo>
                <a:cubicBezTo>
                  <a:pt x="66266" y="40221"/>
                  <a:pt x="60945" y="62322"/>
                  <a:pt x="59866" y="86320"/>
                </a:cubicBezTo>
                <a:close/>
                <a:moveTo>
                  <a:pt x="42007" y="86320"/>
                </a:moveTo>
                <a:cubicBezTo>
                  <a:pt x="43309" y="54471"/>
                  <a:pt x="51532" y="24892"/>
                  <a:pt x="63550" y="5469"/>
                </a:cubicBezTo>
                <a:cubicBezTo>
                  <a:pt x="29282" y="17599"/>
                  <a:pt x="4056" y="48816"/>
                  <a:pt x="558" y="86320"/>
                </a:cubicBezTo>
                <a:lnTo>
                  <a:pt x="42007" y="86320"/>
                </a:lnTo>
                <a:close/>
                <a:moveTo>
                  <a:pt x="558" y="104180"/>
                </a:moveTo>
                <a:cubicBezTo>
                  <a:pt x="4056" y="141684"/>
                  <a:pt x="29282" y="172901"/>
                  <a:pt x="63550" y="185031"/>
                </a:cubicBezTo>
                <a:cubicBezTo>
                  <a:pt x="51532" y="165608"/>
                  <a:pt x="43309" y="136029"/>
                  <a:pt x="42007" y="104180"/>
                </a:cubicBezTo>
                <a:lnTo>
                  <a:pt x="558" y="104180"/>
                </a:lnTo>
                <a:close/>
                <a:moveTo>
                  <a:pt x="148791" y="104180"/>
                </a:moveTo>
                <a:cubicBezTo>
                  <a:pt x="147489" y="136029"/>
                  <a:pt x="139266" y="165608"/>
                  <a:pt x="127248" y="185031"/>
                </a:cubicBezTo>
                <a:cubicBezTo>
                  <a:pt x="161516" y="172864"/>
                  <a:pt x="186742" y="141684"/>
                  <a:pt x="190240" y="104180"/>
                </a:cubicBezTo>
                <a:lnTo>
                  <a:pt x="148791" y="104180"/>
                </a:lnTo>
                <a:close/>
                <a:moveTo>
                  <a:pt x="190240" y="86320"/>
                </a:moveTo>
                <a:cubicBezTo>
                  <a:pt x="186742" y="48816"/>
                  <a:pt x="161516" y="17599"/>
                  <a:pt x="127248" y="5469"/>
                </a:cubicBezTo>
                <a:cubicBezTo>
                  <a:pt x="139266" y="24892"/>
                  <a:pt x="147489" y="54471"/>
                  <a:pt x="148791" y="86320"/>
                </a:cubicBezTo>
                <a:lnTo>
                  <a:pt x="190240" y="86320"/>
                </a:lnTo>
                <a:close/>
              </a:path>
            </a:pathLst>
          </a:custGeom>
          <a:solidFill>
            <a:srgbClr val="DDFF00"/>
          </a:solidFill>
          <a:ln/>
        </p:spPr>
      </p:sp>
      <p:sp>
        <p:nvSpPr>
          <p:cNvPr id="31" name="Text 29"/>
          <p:cNvSpPr/>
          <p:nvPr/>
        </p:nvSpPr>
        <p:spPr>
          <a:xfrm>
            <a:off x="5589786" y="2994027"/>
            <a:ext cx="1373188" cy="158750"/>
          </a:xfrm>
          <a:prstGeom prst="rect">
            <a:avLst/>
          </a:prstGeom>
          <a:noFill/>
          <a:ln/>
        </p:spPr>
        <p:txBody>
          <a:bodyPr wrap="square" lIns="0" tIns="0" rIns="0" bIns="0" rtlCol="0" anchor="ctr"/>
          <a:lstStyle/>
          <a:p>
            <a:pPr>
              <a:lnSpc>
                <a:spcPct val="120000"/>
              </a:lnSpc>
            </a:pPr>
            <a:r>
              <a:rPr lang="en-US" sz="875" dirty="0">
                <a:solidFill>
                  <a:srgbClr val="FFFFFF"/>
                </a:solidFill>
                <a:latin typeface="Liter" pitchFamily="34" charset="0"/>
                <a:ea typeface="Liter" pitchFamily="34" charset="-122"/>
                <a:cs typeface="Liter" pitchFamily="34" charset="-120"/>
              </a:rPr>
              <a:t>24/7 Global Market Access</a:t>
            </a:r>
            <a:endParaRPr lang="en-US" sz="1600" dirty="0"/>
          </a:p>
        </p:txBody>
      </p:sp>
      <p:sp>
        <p:nvSpPr>
          <p:cNvPr id="32" name="Shape 30"/>
          <p:cNvSpPr/>
          <p:nvPr/>
        </p:nvSpPr>
        <p:spPr>
          <a:xfrm>
            <a:off x="8106767" y="1000125"/>
            <a:ext cx="3770313" cy="2397125"/>
          </a:xfrm>
          <a:custGeom>
            <a:avLst/>
            <a:gdLst/>
            <a:ahLst/>
            <a:cxnLst/>
            <a:rect l="l" t="t" r="r" b="b"/>
            <a:pathLst>
              <a:path w="3770313" h="2397125">
                <a:moveTo>
                  <a:pt x="0" y="0"/>
                </a:moveTo>
                <a:lnTo>
                  <a:pt x="3770313" y="0"/>
                </a:lnTo>
                <a:lnTo>
                  <a:pt x="3770313" y="2397125"/>
                </a:lnTo>
                <a:lnTo>
                  <a:pt x="0" y="2397125"/>
                </a:lnTo>
                <a:lnTo>
                  <a:pt x="0" y="0"/>
                </a:lnTo>
                <a:close/>
              </a:path>
            </a:pathLst>
          </a:custGeom>
          <a:solidFill>
            <a:srgbClr val="111111"/>
          </a:solidFill>
          <a:ln/>
        </p:spPr>
      </p:sp>
      <p:sp>
        <p:nvSpPr>
          <p:cNvPr id="33" name="Shape 31"/>
          <p:cNvSpPr/>
          <p:nvPr/>
        </p:nvSpPr>
        <p:spPr>
          <a:xfrm>
            <a:off x="8106767" y="1000125"/>
            <a:ext cx="3770313" cy="31750"/>
          </a:xfrm>
          <a:custGeom>
            <a:avLst/>
            <a:gdLst/>
            <a:ahLst/>
            <a:cxnLst/>
            <a:rect l="l" t="t" r="r" b="b"/>
            <a:pathLst>
              <a:path w="3770313" h="31750">
                <a:moveTo>
                  <a:pt x="0" y="0"/>
                </a:moveTo>
                <a:lnTo>
                  <a:pt x="3770313" y="0"/>
                </a:lnTo>
                <a:lnTo>
                  <a:pt x="3770313" y="31750"/>
                </a:lnTo>
                <a:lnTo>
                  <a:pt x="0" y="31750"/>
                </a:lnTo>
                <a:lnTo>
                  <a:pt x="0" y="0"/>
                </a:lnTo>
                <a:close/>
              </a:path>
            </a:pathLst>
          </a:custGeom>
          <a:solidFill>
            <a:srgbClr val="DDFF00"/>
          </a:solidFill>
          <a:ln/>
        </p:spPr>
      </p:sp>
      <p:sp>
        <p:nvSpPr>
          <p:cNvPr id="34" name="Shape 32"/>
          <p:cNvSpPr/>
          <p:nvPr/>
        </p:nvSpPr>
        <p:spPr>
          <a:xfrm>
            <a:off x="8233768" y="1143000"/>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DDFF00"/>
          </a:solidFill>
          <a:ln/>
        </p:spPr>
      </p:sp>
      <p:sp>
        <p:nvSpPr>
          <p:cNvPr id="35" name="Text 33"/>
          <p:cNvSpPr/>
          <p:nvPr/>
        </p:nvSpPr>
        <p:spPr>
          <a:xfrm>
            <a:off x="8304709" y="1190625"/>
            <a:ext cx="246063" cy="222250"/>
          </a:xfrm>
          <a:prstGeom prst="rect">
            <a:avLst/>
          </a:prstGeom>
          <a:noFill/>
          <a:ln/>
        </p:spPr>
        <p:txBody>
          <a:bodyPr wrap="square" lIns="0" tIns="0" rIns="0" bIns="0" rtlCol="0" anchor="ctr"/>
          <a:lstStyle/>
          <a:p>
            <a:pPr>
              <a:lnSpc>
                <a:spcPct val="130000"/>
              </a:lnSpc>
            </a:pPr>
            <a:r>
              <a:rPr lang="en-US" sz="1125" b="1" dirty="0">
                <a:solidFill>
                  <a:srgbClr val="000000"/>
                </a:solidFill>
                <a:latin typeface="Liter" pitchFamily="34" charset="0"/>
                <a:ea typeface="Liter" pitchFamily="34" charset="-122"/>
                <a:cs typeface="Liter" pitchFamily="34" charset="-120"/>
              </a:rPr>
              <a:t>03</a:t>
            </a:r>
            <a:endParaRPr lang="en-US" sz="1600" dirty="0"/>
          </a:p>
        </p:txBody>
      </p:sp>
      <p:sp>
        <p:nvSpPr>
          <p:cNvPr id="36" name="Text 34"/>
          <p:cNvSpPr/>
          <p:nvPr/>
        </p:nvSpPr>
        <p:spPr>
          <a:xfrm>
            <a:off x="8646518" y="1190625"/>
            <a:ext cx="896938"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Convenience</a:t>
            </a:r>
            <a:endParaRPr lang="en-US" sz="1600" dirty="0"/>
          </a:p>
        </p:txBody>
      </p:sp>
      <p:sp>
        <p:nvSpPr>
          <p:cNvPr id="37" name="Text 35"/>
          <p:cNvSpPr/>
          <p:nvPr/>
        </p:nvSpPr>
        <p:spPr>
          <a:xfrm>
            <a:off x="8233768" y="1555750"/>
            <a:ext cx="3579813" cy="1174750"/>
          </a:xfrm>
          <a:prstGeom prst="rect">
            <a:avLst/>
          </a:prstGeom>
          <a:noFill/>
          <a:ln/>
        </p:spPr>
        <p:txBody>
          <a:bodyPr wrap="square" lIns="0" tIns="0" rIns="0" bIns="0" rtlCol="0" anchor="ctr"/>
          <a:lstStyle/>
          <a:p>
            <a:pPr>
              <a:lnSpc>
                <a:spcPct val="130000"/>
              </a:lnSpc>
            </a:pPr>
            <a:r>
              <a:rPr lang="en-US" sz="1000" dirty="0">
                <a:solidFill>
                  <a:srgbClr val="DDFF00"/>
                </a:solidFill>
                <a:latin typeface="Liter" pitchFamily="34" charset="0"/>
                <a:ea typeface="Liter" pitchFamily="34" charset="-122"/>
                <a:cs typeface="Liter" pitchFamily="34" charset="-120"/>
              </a:rPr>
              <a:t>24/7 availability</a:t>
            </a:r>
            <a:pPr>
              <a:lnSpc>
                <a:spcPct val="130000"/>
              </a:lnSpc>
            </a:pPr>
            <a:r>
              <a:rPr lang="en-US" sz="1000" dirty="0">
                <a:solidFill>
                  <a:srgbClr val="FFFFFF">
                    <a:alpha val="80000"/>
                  </a:srgbClr>
                </a:solidFill>
                <a:latin typeface="Liter" pitchFamily="34" charset="0"/>
                <a:ea typeface="Liter" pitchFamily="34" charset="-122"/>
                <a:cs typeface="Liter" pitchFamily="34" charset="-120"/>
              </a:rPr>
              <a:t> allows customers to shop anytime, anywhere without time constraints.</a:t>
            </a:r>
            <a:endParaRPr lang="en-US" sz="1600" dirty="0"/>
          </a:p>
        </p:txBody>
      </p:sp>
      <p:sp>
        <p:nvSpPr>
          <p:cNvPr id="38" name="Shape 36"/>
          <p:cNvSpPr/>
          <p:nvPr/>
        </p:nvSpPr>
        <p:spPr>
          <a:xfrm>
            <a:off x="8233768" y="2825851"/>
            <a:ext cx="1722438" cy="444500"/>
          </a:xfrm>
          <a:custGeom>
            <a:avLst/>
            <a:gdLst/>
            <a:ahLst/>
            <a:cxnLst/>
            <a:rect l="l" t="t" r="r" b="b"/>
            <a:pathLst>
              <a:path w="1722438" h="444500">
                <a:moveTo>
                  <a:pt x="0" y="0"/>
                </a:moveTo>
                <a:lnTo>
                  <a:pt x="1722438" y="0"/>
                </a:lnTo>
                <a:lnTo>
                  <a:pt x="1722438" y="444500"/>
                </a:lnTo>
                <a:lnTo>
                  <a:pt x="0" y="444500"/>
                </a:lnTo>
                <a:lnTo>
                  <a:pt x="0" y="0"/>
                </a:lnTo>
                <a:close/>
              </a:path>
            </a:pathLst>
          </a:custGeom>
          <a:solidFill>
            <a:srgbClr val="000000"/>
          </a:solidFill>
          <a:ln/>
        </p:spPr>
      </p:sp>
      <p:sp>
        <p:nvSpPr>
          <p:cNvPr id="39" name="Shape 37"/>
          <p:cNvSpPr/>
          <p:nvPr/>
        </p:nvSpPr>
        <p:spPr>
          <a:xfrm>
            <a:off x="9016901" y="2889351"/>
            <a:ext cx="158750" cy="158750"/>
          </a:xfrm>
          <a:custGeom>
            <a:avLst/>
            <a:gdLst/>
            <a:ahLst/>
            <a:cxnLst/>
            <a:rect l="l" t="t" r="r" b="b"/>
            <a:pathLst>
              <a:path w="158750" h="158750">
                <a:moveTo>
                  <a:pt x="79375" y="0"/>
                </a:moveTo>
                <a:cubicBezTo>
                  <a:pt x="123183" y="0"/>
                  <a:pt x="158750" y="35567"/>
                  <a:pt x="158750" y="79375"/>
                </a:cubicBezTo>
                <a:cubicBezTo>
                  <a:pt x="158750" y="123183"/>
                  <a:pt x="123183" y="158750"/>
                  <a:pt x="79375" y="158750"/>
                </a:cubicBezTo>
                <a:cubicBezTo>
                  <a:pt x="35567" y="158750"/>
                  <a:pt x="0" y="123183"/>
                  <a:pt x="0" y="79375"/>
                </a:cubicBezTo>
                <a:cubicBezTo>
                  <a:pt x="0" y="35567"/>
                  <a:pt x="35567" y="0"/>
                  <a:pt x="79375" y="0"/>
                </a:cubicBezTo>
                <a:close/>
                <a:moveTo>
                  <a:pt x="71934" y="37207"/>
                </a:moveTo>
                <a:lnTo>
                  <a:pt x="71934" y="79375"/>
                </a:lnTo>
                <a:cubicBezTo>
                  <a:pt x="71934" y="81855"/>
                  <a:pt x="73174" y="84181"/>
                  <a:pt x="75251" y="85576"/>
                </a:cubicBezTo>
                <a:lnTo>
                  <a:pt x="105017" y="105420"/>
                </a:lnTo>
                <a:cubicBezTo>
                  <a:pt x="108427" y="107714"/>
                  <a:pt x="113047" y="106784"/>
                  <a:pt x="115342" y="103343"/>
                </a:cubicBezTo>
                <a:cubicBezTo>
                  <a:pt x="117636" y="99901"/>
                  <a:pt x="116706" y="95312"/>
                  <a:pt x="113264" y="93018"/>
                </a:cubicBezTo>
                <a:lnTo>
                  <a:pt x="86816" y="75406"/>
                </a:lnTo>
                <a:lnTo>
                  <a:pt x="86816" y="37207"/>
                </a:lnTo>
                <a:cubicBezTo>
                  <a:pt x="86816" y="33083"/>
                  <a:pt x="83499" y="29766"/>
                  <a:pt x="79375" y="29766"/>
                </a:cubicBezTo>
                <a:cubicBezTo>
                  <a:pt x="75251" y="29766"/>
                  <a:pt x="71934" y="33083"/>
                  <a:pt x="71934" y="37207"/>
                </a:cubicBezTo>
                <a:close/>
              </a:path>
            </a:pathLst>
          </a:custGeom>
          <a:solidFill>
            <a:srgbClr val="DDFF00"/>
          </a:solidFill>
          <a:ln/>
        </p:spPr>
      </p:sp>
      <p:sp>
        <p:nvSpPr>
          <p:cNvPr id="40" name="Text 38"/>
          <p:cNvSpPr/>
          <p:nvPr/>
        </p:nvSpPr>
        <p:spPr>
          <a:xfrm>
            <a:off x="8273455" y="3079851"/>
            <a:ext cx="1643063" cy="127000"/>
          </a:xfrm>
          <a:prstGeom prst="rect">
            <a:avLst/>
          </a:prstGeom>
          <a:noFill/>
          <a:ln/>
        </p:spPr>
        <p:txBody>
          <a:bodyPr wrap="square" lIns="0" tIns="0" rIns="0" bIns="0" rtlCol="0" anchor="ctr"/>
          <a:lstStyle/>
          <a:p>
            <a:pPr algn="ctr">
              <a:lnSpc>
                <a:spcPct val="110000"/>
              </a:lnSpc>
            </a:pPr>
            <a:r>
              <a:rPr lang="en-US" sz="750" dirty="0">
                <a:solidFill>
                  <a:srgbClr val="FFFFFF"/>
                </a:solidFill>
                <a:latin typeface="Liter" pitchFamily="34" charset="0"/>
                <a:ea typeface="Liter" pitchFamily="34" charset="-122"/>
                <a:cs typeface="Liter" pitchFamily="34" charset="-120"/>
              </a:rPr>
              <a:t>Always Open</a:t>
            </a:r>
            <a:endParaRPr lang="en-US" sz="1600" dirty="0"/>
          </a:p>
        </p:txBody>
      </p:sp>
      <p:sp>
        <p:nvSpPr>
          <p:cNvPr id="41" name="Shape 39"/>
          <p:cNvSpPr/>
          <p:nvPr/>
        </p:nvSpPr>
        <p:spPr>
          <a:xfrm>
            <a:off x="10022285" y="2825851"/>
            <a:ext cx="1722438" cy="444500"/>
          </a:xfrm>
          <a:custGeom>
            <a:avLst/>
            <a:gdLst/>
            <a:ahLst/>
            <a:cxnLst/>
            <a:rect l="l" t="t" r="r" b="b"/>
            <a:pathLst>
              <a:path w="1722438" h="444500">
                <a:moveTo>
                  <a:pt x="0" y="0"/>
                </a:moveTo>
                <a:lnTo>
                  <a:pt x="1722438" y="0"/>
                </a:lnTo>
                <a:lnTo>
                  <a:pt x="1722438" y="444500"/>
                </a:lnTo>
                <a:lnTo>
                  <a:pt x="0" y="444500"/>
                </a:lnTo>
                <a:lnTo>
                  <a:pt x="0" y="0"/>
                </a:lnTo>
                <a:close/>
              </a:path>
            </a:pathLst>
          </a:custGeom>
          <a:solidFill>
            <a:srgbClr val="000000"/>
          </a:solidFill>
          <a:ln/>
        </p:spPr>
      </p:sp>
      <p:sp>
        <p:nvSpPr>
          <p:cNvPr id="42" name="Shape 40"/>
          <p:cNvSpPr/>
          <p:nvPr/>
        </p:nvSpPr>
        <p:spPr>
          <a:xfrm>
            <a:off x="10805418" y="2889351"/>
            <a:ext cx="158750" cy="158750"/>
          </a:xfrm>
          <a:custGeom>
            <a:avLst/>
            <a:gdLst/>
            <a:ahLst/>
            <a:cxnLst/>
            <a:rect l="l" t="t" r="r" b="b"/>
            <a:pathLst>
              <a:path w="158750" h="158750">
                <a:moveTo>
                  <a:pt x="86134" y="2667"/>
                </a:moveTo>
                <a:cubicBezTo>
                  <a:pt x="82321" y="-868"/>
                  <a:pt x="76429" y="-868"/>
                  <a:pt x="72647" y="2667"/>
                </a:cubicBezTo>
                <a:lnTo>
                  <a:pt x="3194" y="67159"/>
                </a:lnTo>
                <a:cubicBezTo>
                  <a:pt x="217" y="69949"/>
                  <a:pt x="-775" y="74259"/>
                  <a:pt x="713" y="78042"/>
                </a:cubicBezTo>
                <a:cubicBezTo>
                  <a:pt x="2201" y="81824"/>
                  <a:pt x="5829" y="84336"/>
                  <a:pt x="9922" y="84336"/>
                </a:cubicBezTo>
                <a:lnTo>
                  <a:pt x="14883" y="84336"/>
                </a:lnTo>
                <a:lnTo>
                  <a:pt x="14883" y="138906"/>
                </a:lnTo>
                <a:cubicBezTo>
                  <a:pt x="14883" y="149851"/>
                  <a:pt x="23781" y="158750"/>
                  <a:pt x="34727" y="158750"/>
                </a:cubicBezTo>
                <a:lnTo>
                  <a:pt x="124023" y="158750"/>
                </a:lnTo>
                <a:cubicBezTo>
                  <a:pt x="134969" y="158750"/>
                  <a:pt x="143867" y="149851"/>
                  <a:pt x="143867" y="138906"/>
                </a:cubicBezTo>
                <a:lnTo>
                  <a:pt x="143867" y="84336"/>
                </a:lnTo>
                <a:lnTo>
                  <a:pt x="148828" y="84336"/>
                </a:lnTo>
                <a:cubicBezTo>
                  <a:pt x="152921" y="84336"/>
                  <a:pt x="156580" y="81824"/>
                  <a:pt x="158068" y="78042"/>
                </a:cubicBezTo>
                <a:cubicBezTo>
                  <a:pt x="159556" y="74259"/>
                  <a:pt x="158564" y="69918"/>
                  <a:pt x="155587" y="67159"/>
                </a:cubicBezTo>
                <a:lnTo>
                  <a:pt x="86134" y="2667"/>
                </a:lnTo>
                <a:close/>
                <a:moveTo>
                  <a:pt x="74414" y="99219"/>
                </a:moveTo>
                <a:lnTo>
                  <a:pt x="84336" y="99219"/>
                </a:lnTo>
                <a:cubicBezTo>
                  <a:pt x="92552" y="99219"/>
                  <a:pt x="99219" y="105885"/>
                  <a:pt x="99219" y="114102"/>
                </a:cubicBezTo>
                <a:lnTo>
                  <a:pt x="99219" y="143867"/>
                </a:lnTo>
                <a:lnTo>
                  <a:pt x="59531" y="143867"/>
                </a:lnTo>
                <a:lnTo>
                  <a:pt x="59531" y="114102"/>
                </a:lnTo>
                <a:cubicBezTo>
                  <a:pt x="59531" y="105885"/>
                  <a:pt x="66198" y="99219"/>
                  <a:pt x="74414" y="99219"/>
                </a:cubicBezTo>
                <a:close/>
              </a:path>
            </a:pathLst>
          </a:custGeom>
          <a:solidFill>
            <a:srgbClr val="DDFF00"/>
          </a:solidFill>
          <a:ln/>
        </p:spPr>
      </p:sp>
      <p:sp>
        <p:nvSpPr>
          <p:cNvPr id="43" name="Text 41"/>
          <p:cNvSpPr/>
          <p:nvPr/>
        </p:nvSpPr>
        <p:spPr>
          <a:xfrm>
            <a:off x="10061972" y="3079851"/>
            <a:ext cx="1643063" cy="127000"/>
          </a:xfrm>
          <a:prstGeom prst="rect">
            <a:avLst/>
          </a:prstGeom>
          <a:noFill/>
          <a:ln/>
        </p:spPr>
        <p:txBody>
          <a:bodyPr wrap="square" lIns="0" tIns="0" rIns="0" bIns="0" rtlCol="0" anchor="ctr"/>
          <a:lstStyle/>
          <a:p>
            <a:pPr algn="ctr">
              <a:lnSpc>
                <a:spcPct val="110000"/>
              </a:lnSpc>
            </a:pPr>
            <a:r>
              <a:rPr lang="en-US" sz="750" dirty="0">
                <a:solidFill>
                  <a:srgbClr val="FFFFFF"/>
                </a:solidFill>
                <a:latin typeface="Liter" pitchFamily="34" charset="0"/>
                <a:ea typeface="Liter" pitchFamily="34" charset="-122"/>
                <a:cs typeface="Liter" pitchFamily="34" charset="-120"/>
              </a:rPr>
              <a:t>Shop from Home</a:t>
            </a:r>
            <a:endParaRPr lang="en-US" sz="1600" dirty="0"/>
          </a:p>
        </p:txBody>
      </p:sp>
      <p:sp>
        <p:nvSpPr>
          <p:cNvPr id="44" name="Shape 42"/>
          <p:cNvSpPr/>
          <p:nvPr/>
        </p:nvSpPr>
        <p:spPr>
          <a:xfrm>
            <a:off x="317500" y="3540125"/>
            <a:ext cx="3770313" cy="1730375"/>
          </a:xfrm>
          <a:custGeom>
            <a:avLst/>
            <a:gdLst/>
            <a:ahLst/>
            <a:cxnLst/>
            <a:rect l="l" t="t" r="r" b="b"/>
            <a:pathLst>
              <a:path w="3770313" h="1730375">
                <a:moveTo>
                  <a:pt x="0" y="0"/>
                </a:moveTo>
                <a:lnTo>
                  <a:pt x="3770313" y="0"/>
                </a:lnTo>
                <a:lnTo>
                  <a:pt x="3770313" y="1730375"/>
                </a:lnTo>
                <a:lnTo>
                  <a:pt x="0" y="1730375"/>
                </a:lnTo>
                <a:lnTo>
                  <a:pt x="0" y="0"/>
                </a:lnTo>
                <a:close/>
              </a:path>
            </a:pathLst>
          </a:custGeom>
          <a:solidFill>
            <a:srgbClr val="111111"/>
          </a:solidFill>
          <a:ln/>
        </p:spPr>
      </p:sp>
      <p:sp>
        <p:nvSpPr>
          <p:cNvPr id="45" name="Shape 43"/>
          <p:cNvSpPr/>
          <p:nvPr/>
        </p:nvSpPr>
        <p:spPr>
          <a:xfrm>
            <a:off x="317500" y="3540125"/>
            <a:ext cx="3770313" cy="31750"/>
          </a:xfrm>
          <a:custGeom>
            <a:avLst/>
            <a:gdLst/>
            <a:ahLst/>
            <a:cxnLst/>
            <a:rect l="l" t="t" r="r" b="b"/>
            <a:pathLst>
              <a:path w="3770313" h="31750">
                <a:moveTo>
                  <a:pt x="0" y="0"/>
                </a:moveTo>
                <a:lnTo>
                  <a:pt x="3770313" y="0"/>
                </a:lnTo>
                <a:lnTo>
                  <a:pt x="3770313" y="31750"/>
                </a:lnTo>
                <a:lnTo>
                  <a:pt x="0" y="31750"/>
                </a:lnTo>
                <a:lnTo>
                  <a:pt x="0" y="0"/>
                </a:lnTo>
                <a:close/>
              </a:path>
            </a:pathLst>
          </a:custGeom>
          <a:solidFill>
            <a:srgbClr val="DDFF00"/>
          </a:solidFill>
          <a:ln/>
        </p:spPr>
      </p:sp>
      <p:sp>
        <p:nvSpPr>
          <p:cNvPr id="46" name="Shape 44"/>
          <p:cNvSpPr/>
          <p:nvPr/>
        </p:nvSpPr>
        <p:spPr>
          <a:xfrm>
            <a:off x="444500" y="3683000"/>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DDFF00"/>
          </a:solidFill>
          <a:ln/>
        </p:spPr>
      </p:sp>
      <p:sp>
        <p:nvSpPr>
          <p:cNvPr id="47" name="Text 45"/>
          <p:cNvSpPr/>
          <p:nvPr/>
        </p:nvSpPr>
        <p:spPr>
          <a:xfrm>
            <a:off x="515541" y="3730625"/>
            <a:ext cx="246063" cy="222250"/>
          </a:xfrm>
          <a:prstGeom prst="rect">
            <a:avLst/>
          </a:prstGeom>
          <a:noFill/>
          <a:ln/>
        </p:spPr>
        <p:txBody>
          <a:bodyPr wrap="square" lIns="0" tIns="0" rIns="0" bIns="0" rtlCol="0" anchor="ctr"/>
          <a:lstStyle/>
          <a:p>
            <a:pPr>
              <a:lnSpc>
                <a:spcPct val="130000"/>
              </a:lnSpc>
            </a:pPr>
            <a:r>
              <a:rPr lang="en-US" sz="1125" b="1" dirty="0">
                <a:solidFill>
                  <a:srgbClr val="000000"/>
                </a:solidFill>
                <a:latin typeface="Liter" pitchFamily="34" charset="0"/>
                <a:ea typeface="Liter" pitchFamily="34" charset="-122"/>
                <a:cs typeface="Liter" pitchFamily="34" charset="-120"/>
              </a:rPr>
              <a:t>04</a:t>
            </a:r>
            <a:endParaRPr lang="en-US" sz="1600" dirty="0"/>
          </a:p>
        </p:txBody>
      </p:sp>
      <p:sp>
        <p:nvSpPr>
          <p:cNvPr id="48" name="Text 46"/>
          <p:cNvSpPr/>
          <p:nvPr/>
        </p:nvSpPr>
        <p:spPr>
          <a:xfrm>
            <a:off x="857250" y="3730625"/>
            <a:ext cx="1039812"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Cost Reduction</a:t>
            </a:r>
            <a:endParaRPr lang="en-US" sz="1600" dirty="0"/>
          </a:p>
        </p:txBody>
      </p:sp>
      <p:sp>
        <p:nvSpPr>
          <p:cNvPr id="49" name="Text 47"/>
          <p:cNvSpPr/>
          <p:nvPr/>
        </p:nvSpPr>
        <p:spPr>
          <a:xfrm>
            <a:off x="444500" y="4095750"/>
            <a:ext cx="3579813" cy="412750"/>
          </a:xfrm>
          <a:prstGeom prst="rect">
            <a:avLst/>
          </a:prstGeom>
          <a:noFill/>
          <a:ln/>
        </p:spPr>
        <p:txBody>
          <a:bodyPr wrap="square" lIns="0" tIns="0" rIns="0" bIns="0" rtlCol="0" anchor="ctr"/>
          <a:lstStyle/>
          <a:p>
            <a:pPr>
              <a:lnSpc>
                <a:spcPct val="130000"/>
              </a:lnSpc>
            </a:pPr>
            <a:r>
              <a:rPr lang="en-US" sz="1000" dirty="0">
                <a:solidFill>
                  <a:srgbClr val="FFFFFF">
                    <a:alpha val="80000"/>
                  </a:srgbClr>
                </a:solidFill>
                <a:latin typeface="Liter" pitchFamily="34" charset="0"/>
                <a:ea typeface="Liter" pitchFamily="34" charset="-122"/>
                <a:cs typeface="Liter" pitchFamily="34" charset="-120"/>
              </a:rPr>
              <a:t>Significant savings through elimination of physical infrastructure and automation.</a:t>
            </a:r>
            <a:endParaRPr lang="en-US" sz="1600" dirty="0"/>
          </a:p>
        </p:txBody>
      </p:sp>
      <p:sp>
        <p:nvSpPr>
          <p:cNvPr id="50" name="Shape 48"/>
          <p:cNvSpPr/>
          <p:nvPr/>
        </p:nvSpPr>
        <p:spPr>
          <a:xfrm>
            <a:off x="467320" y="4627563"/>
            <a:ext cx="97234" cy="111125"/>
          </a:xfrm>
          <a:custGeom>
            <a:avLst/>
            <a:gdLst/>
            <a:ahLst/>
            <a:cxnLst/>
            <a:rect l="l" t="t" r="r" b="b"/>
            <a:pathLst>
              <a:path w="97234" h="111125">
                <a:moveTo>
                  <a:pt x="94369" y="15215"/>
                </a:moveTo>
                <a:cubicBezTo>
                  <a:pt x="97473" y="17472"/>
                  <a:pt x="98168" y="21813"/>
                  <a:pt x="95910" y="24916"/>
                </a:cubicBezTo>
                <a:lnTo>
                  <a:pt x="40348" y="101315"/>
                </a:lnTo>
                <a:cubicBezTo>
                  <a:pt x="39154" y="102964"/>
                  <a:pt x="37309" y="103984"/>
                  <a:pt x="35269" y="104158"/>
                </a:cubicBezTo>
                <a:cubicBezTo>
                  <a:pt x="33229" y="104332"/>
                  <a:pt x="31254" y="103572"/>
                  <a:pt x="29821" y="102140"/>
                </a:cubicBezTo>
                <a:lnTo>
                  <a:pt x="2040" y="74358"/>
                </a:lnTo>
                <a:cubicBezTo>
                  <a:pt x="-673" y="71645"/>
                  <a:pt x="-673" y="67239"/>
                  <a:pt x="2040" y="64526"/>
                </a:cubicBezTo>
                <a:cubicBezTo>
                  <a:pt x="4753" y="61813"/>
                  <a:pt x="9159" y="61813"/>
                  <a:pt x="11872" y="64526"/>
                </a:cubicBezTo>
                <a:lnTo>
                  <a:pt x="33902" y="86556"/>
                </a:lnTo>
                <a:lnTo>
                  <a:pt x="84689" y="16734"/>
                </a:lnTo>
                <a:cubicBezTo>
                  <a:pt x="86947" y="13630"/>
                  <a:pt x="91287" y="12936"/>
                  <a:pt x="94391" y="15193"/>
                </a:cubicBezTo>
                <a:close/>
              </a:path>
            </a:pathLst>
          </a:custGeom>
          <a:solidFill>
            <a:srgbClr val="DDFF00"/>
          </a:solidFill>
          <a:ln/>
        </p:spPr>
      </p:sp>
      <p:sp>
        <p:nvSpPr>
          <p:cNvPr id="51" name="Text 49"/>
          <p:cNvSpPr/>
          <p:nvPr/>
        </p:nvSpPr>
        <p:spPr>
          <a:xfrm>
            <a:off x="646906" y="4603750"/>
            <a:ext cx="1111250" cy="158750"/>
          </a:xfrm>
          <a:prstGeom prst="rect">
            <a:avLst/>
          </a:prstGeom>
          <a:noFill/>
          <a:ln/>
        </p:spPr>
        <p:txBody>
          <a:bodyPr wrap="square" lIns="0" tIns="0" rIns="0" bIns="0" rtlCol="0" anchor="ctr"/>
          <a:lstStyle/>
          <a:p>
            <a:pPr>
              <a:lnSpc>
                <a:spcPct val="120000"/>
              </a:lnSpc>
            </a:pPr>
            <a:r>
              <a:rPr lang="en-US" sz="875" dirty="0">
                <a:solidFill>
                  <a:srgbClr val="FFFFFF">
                    <a:alpha val="70000"/>
                  </a:srgbClr>
                </a:solidFill>
                <a:latin typeface="Liter" pitchFamily="34" charset="0"/>
                <a:ea typeface="Liter" pitchFamily="34" charset="-122"/>
                <a:cs typeface="Liter" pitchFamily="34" charset="-120"/>
              </a:rPr>
              <a:t>No physical shop rent</a:t>
            </a:r>
            <a:endParaRPr lang="en-US" sz="1600" dirty="0"/>
          </a:p>
        </p:txBody>
      </p:sp>
      <p:sp>
        <p:nvSpPr>
          <p:cNvPr id="52" name="Shape 50"/>
          <p:cNvSpPr/>
          <p:nvPr/>
        </p:nvSpPr>
        <p:spPr>
          <a:xfrm>
            <a:off x="467320" y="4818063"/>
            <a:ext cx="97234" cy="111125"/>
          </a:xfrm>
          <a:custGeom>
            <a:avLst/>
            <a:gdLst/>
            <a:ahLst/>
            <a:cxnLst/>
            <a:rect l="l" t="t" r="r" b="b"/>
            <a:pathLst>
              <a:path w="97234" h="111125">
                <a:moveTo>
                  <a:pt x="94369" y="15215"/>
                </a:moveTo>
                <a:cubicBezTo>
                  <a:pt x="97473" y="17472"/>
                  <a:pt x="98168" y="21813"/>
                  <a:pt x="95910" y="24916"/>
                </a:cubicBezTo>
                <a:lnTo>
                  <a:pt x="40348" y="101315"/>
                </a:lnTo>
                <a:cubicBezTo>
                  <a:pt x="39154" y="102964"/>
                  <a:pt x="37309" y="103984"/>
                  <a:pt x="35269" y="104158"/>
                </a:cubicBezTo>
                <a:cubicBezTo>
                  <a:pt x="33229" y="104332"/>
                  <a:pt x="31254" y="103572"/>
                  <a:pt x="29821" y="102140"/>
                </a:cubicBezTo>
                <a:lnTo>
                  <a:pt x="2040" y="74358"/>
                </a:lnTo>
                <a:cubicBezTo>
                  <a:pt x="-673" y="71645"/>
                  <a:pt x="-673" y="67239"/>
                  <a:pt x="2040" y="64526"/>
                </a:cubicBezTo>
                <a:cubicBezTo>
                  <a:pt x="4753" y="61813"/>
                  <a:pt x="9159" y="61813"/>
                  <a:pt x="11872" y="64526"/>
                </a:cubicBezTo>
                <a:lnTo>
                  <a:pt x="33902" y="86556"/>
                </a:lnTo>
                <a:lnTo>
                  <a:pt x="84689" y="16734"/>
                </a:lnTo>
                <a:cubicBezTo>
                  <a:pt x="86947" y="13630"/>
                  <a:pt x="91287" y="12936"/>
                  <a:pt x="94391" y="15193"/>
                </a:cubicBezTo>
                <a:close/>
              </a:path>
            </a:pathLst>
          </a:custGeom>
          <a:solidFill>
            <a:srgbClr val="DDFF00"/>
          </a:solidFill>
          <a:ln/>
        </p:spPr>
      </p:sp>
      <p:sp>
        <p:nvSpPr>
          <p:cNvPr id="53" name="Text 51"/>
          <p:cNvSpPr/>
          <p:nvPr/>
        </p:nvSpPr>
        <p:spPr>
          <a:xfrm>
            <a:off x="646906" y="4794250"/>
            <a:ext cx="1309688" cy="158750"/>
          </a:xfrm>
          <a:prstGeom prst="rect">
            <a:avLst/>
          </a:prstGeom>
          <a:noFill/>
          <a:ln/>
        </p:spPr>
        <p:txBody>
          <a:bodyPr wrap="square" lIns="0" tIns="0" rIns="0" bIns="0" rtlCol="0" anchor="ctr"/>
          <a:lstStyle/>
          <a:p>
            <a:pPr>
              <a:lnSpc>
                <a:spcPct val="120000"/>
              </a:lnSpc>
            </a:pPr>
            <a:r>
              <a:rPr lang="en-US" sz="875" dirty="0">
                <a:solidFill>
                  <a:srgbClr val="FFFFFF">
                    <a:alpha val="70000"/>
                  </a:srgbClr>
                </a:solidFill>
                <a:latin typeface="Liter" pitchFamily="34" charset="0"/>
                <a:ea typeface="Liter" pitchFamily="34" charset="-122"/>
                <a:cs typeface="Liter" pitchFamily="34" charset="-120"/>
              </a:rPr>
              <a:t>Fewer employees needed</a:t>
            </a:r>
            <a:endParaRPr lang="en-US" sz="1600" dirty="0"/>
          </a:p>
        </p:txBody>
      </p:sp>
      <p:sp>
        <p:nvSpPr>
          <p:cNvPr id="54" name="Shape 52"/>
          <p:cNvSpPr/>
          <p:nvPr/>
        </p:nvSpPr>
        <p:spPr>
          <a:xfrm>
            <a:off x="467320" y="5008563"/>
            <a:ext cx="97234" cy="111125"/>
          </a:xfrm>
          <a:custGeom>
            <a:avLst/>
            <a:gdLst/>
            <a:ahLst/>
            <a:cxnLst/>
            <a:rect l="l" t="t" r="r" b="b"/>
            <a:pathLst>
              <a:path w="97234" h="111125">
                <a:moveTo>
                  <a:pt x="94369" y="15215"/>
                </a:moveTo>
                <a:cubicBezTo>
                  <a:pt x="97473" y="17472"/>
                  <a:pt x="98168" y="21813"/>
                  <a:pt x="95910" y="24916"/>
                </a:cubicBezTo>
                <a:lnTo>
                  <a:pt x="40348" y="101315"/>
                </a:lnTo>
                <a:cubicBezTo>
                  <a:pt x="39154" y="102964"/>
                  <a:pt x="37309" y="103984"/>
                  <a:pt x="35269" y="104158"/>
                </a:cubicBezTo>
                <a:cubicBezTo>
                  <a:pt x="33229" y="104332"/>
                  <a:pt x="31254" y="103572"/>
                  <a:pt x="29821" y="102140"/>
                </a:cubicBezTo>
                <a:lnTo>
                  <a:pt x="2040" y="74358"/>
                </a:lnTo>
                <a:cubicBezTo>
                  <a:pt x="-673" y="71645"/>
                  <a:pt x="-673" y="67239"/>
                  <a:pt x="2040" y="64526"/>
                </a:cubicBezTo>
                <a:cubicBezTo>
                  <a:pt x="4753" y="61813"/>
                  <a:pt x="9159" y="61813"/>
                  <a:pt x="11872" y="64526"/>
                </a:cubicBezTo>
                <a:lnTo>
                  <a:pt x="33902" y="86556"/>
                </a:lnTo>
                <a:lnTo>
                  <a:pt x="84689" y="16734"/>
                </a:lnTo>
                <a:cubicBezTo>
                  <a:pt x="86947" y="13630"/>
                  <a:pt x="91287" y="12936"/>
                  <a:pt x="94391" y="15193"/>
                </a:cubicBezTo>
                <a:close/>
              </a:path>
            </a:pathLst>
          </a:custGeom>
          <a:solidFill>
            <a:srgbClr val="DDFF00"/>
          </a:solidFill>
          <a:ln/>
        </p:spPr>
      </p:sp>
      <p:sp>
        <p:nvSpPr>
          <p:cNvPr id="55" name="Text 53"/>
          <p:cNvSpPr/>
          <p:nvPr/>
        </p:nvSpPr>
        <p:spPr>
          <a:xfrm>
            <a:off x="646906" y="4984750"/>
            <a:ext cx="1039812" cy="158750"/>
          </a:xfrm>
          <a:prstGeom prst="rect">
            <a:avLst/>
          </a:prstGeom>
          <a:noFill/>
          <a:ln/>
        </p:spPr>
        <p:txBody>
          <a:bodyPr wrap="square" lIns="0" tIns="0" rIns="0" bIns="0" rtlCol="0" anchor="ctr"/>
          <a:lstStyle/>
          <a:p>
            <a:pPr>
              <a:lnSpc>
                <a:spcPct val="120000"/>
              </a:lnSpc>
            </a:pPr>
            <a:r>
              <a:rPr lang="en-US" sz="875" dirty="0">
                <a:solidFill>
                  <a:srgbClr val="FFFFFF">
                    <a:alpha val="70000"/>
                  </a:srgbClr>
                </a:solidFill>
                <a:latin typeface="Liter" pitchFamily="34" charset="0"/>
                <a:ea typeface="Liter" pitchFamily="34" charset="-122"/>
                <a:cs typeface="Liter" pitchFamily="34" charset="-120"/>
              </a:rPr>
              <a:t>Automated systems</a:t>
            </a:r>
            <a:endParaRPr lang="en-US" sz="1600" dirty="0"/>
          </a:p>
        </p:txBody>
      </p:sp>
      <p:sp>
        <p:nvSpPr>
          <p:cNvPr id="56" name="Shape 54"/>
          <p:cNvSpPr/>
          <p:nvPr/>
        </p:nvSpPr>
        <p:spPr>
          <a:xfrm>
            <a:off x="4212134" y="3540125"/>
            <a:ext cx="3770313" cy="1730375"/>
          </a:xfrm>
          <a:custGeom>
            <a:avLst/>
            <a:gdLst/>
            <a:ahLst/>
            <a:cxnLst/>
            <a:rect l="l" t="t" r="r" b="b"/>
            <a:pathLst>
              <a:path w="3770313" h="1730375">
                <a:moveTo>
                  <a:pt x="0" y="0"/>
                </a:moveTo>
                <a:lnTo>
                  <a:pt x="3770313" y="0"/>
                </a:lnTo>
                <a:lnTo>
                  <a:pt x="3770313" y="1730375"/>
                </a:lnTo>
                <a:lnTo>
                  <a:pt x="0" y="1730375"/>
                </a:lnTo>
                <a:lnTo>
                  <a:pt x="0" y="0"/>
                </a:lnTo>
                <a:close/>
              </a:path>
            </a:pathLst>
          </a:custGeom>
          <a:solidFill>
            <a:srgbClr val="111111"/>
          </a:solidFill>
          <a:ln/>
        </p:spPr>
      </p:sp>
      <p:sp>
        <p:nvSpPr>
          <p:cNvPr id="57" name="Shape 55"/>
          <p:cNvSpPr/>
          <p:nvPr/>
        </p:nvSpPr>
        <p:spPr>
          <a:xfrm>
            <a:off x="4212134" y="3540125"/>
            <a:ext cx="3770313" cy="31750"/>
          </a:xfrm>
          <a:custGeom>
            <a:avLst/>
            <a:gdLst/>
            <a:ahLst/>
            <a:cxnLst/>
            <a:rect l="l" t="t" r="r" b="b"/>
            <a:pathLst>
              <a:path w="3770313" h="31750">
                <a:moveTo>
                  <a:pt x="0" y="0"/>
                </a:moveTo>
                <a:lnTo>
                  <a:pt x="3770313" y="0"/>
                </a:lnTo>
                <a:lnTo>
                  <a:pt x="3770313" y="31750"/>
                </a:lnTo>
                <a:lnTo>
                  <a:pt x="0" y="31750"/>
                </a:lnTo>
                <a:lnTo>
                  <a:pt x="0" y="0"/>
                </a:lnTo>
                <a:close/>
              </a:path>
            </a:pathLst>
          </a:custGeom>
          <a:solidFill>
            <a:srgbClr val="DDFF00"/>
          </a:solidFill>
          <a:ln/>
        </p:spPr>
      </p:sp>
      <p:sp>
        <p:nvSpPr>
          <p:cNvPr id="58" name="Shape 56"/>
          <p:cNvSpPr/>
          <p:nvPr/>
        </p:nvSpPr>
        <p:spPr>
          <a:xfrm>
            <a:off x="4339134" y="3683000"/>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DDFF00"/>
          </a:solidFill>
          <a:ln/>
        </p:spPr>
      </p:sp>
      <p:sp>
        <p:nvSpPr>
          <p:cNvPr id="59" name="Text 57"/>
          <p:cNvSpPr/>
          <p:nvPr/>
        </p:nvSpPr>
        <p:spPr>
          <a:xfrm>
            <a:off x="4411067" y="3730625"/>
            <a:ext cx="246063" cy="222250"/>
          </a:xfrm>
          <a:prstGeom prst="rect">
            <a:avLst/>
          </a:prstGeom>
          <a:noFill/>
          <a:ln/>
        </p:spPr>
        <p:txBody>
          <a:bodyPr wrap="square" lIns="0" tIns="0" rIns="0" bIns="0" rtlCol="0" anchor="ctr"/>
          <a:lstStyle/>
          <a:p>
            <a:pPr>
              <a:lnSpc>
                <a:spcPct val="130000"/>
              </a:lnSpc>
            </a:pPr>
            <a:r>
              <a:rPr lang="en-US" sz="1125" b="1" dirty="0">
                <a:solidFill>
                  <a:srgbClr val="000000"/>
                </a:solidFill>
                <a:latin typeface="Liter" pitchFamily="34" charset="0"/>
                <a:ea typeface="Liter" pitchFamily="34" charset="-122"/>
                <a:cs typeface="Liter" pitchFamily="34" charset="-120"/>
              </a:rPr>
              <a:t>05</a:t>
            </a:r>
            <a:endParaRPr lang="en-US" sz="1600" dirty="0"/>
          </a:p>
        </p:txBody>
      </p:sp>
      <p:sp>
        <p:nvSpPr>
          <p:cNvPr id="60" name="Text 58"/>
          <p:cNvSpPr/>
          <p:nvPr/>
        </p:nvSpPr>
        <p:spPr>
          <a:xfrm>
            <a:off x="4751884" y="3730625"/>
            <a:ext cx="1039812"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Fast &amp; Efficient</a:t>
            </a:r>
            <a:endParaRPr lang="en-US" sz="1600" dirty="0"/>
          </a:p>
        </p:txBody>
      </p:sp>
      <p:sp>
        <p:nvSpPr>
          <p:cNvPr id="61" name="Text 59"/>
          <p:cNvSpPr/>
          <p:nvPr/>
        </p:nvSpPr>
        <p:spPr>
          <a:xfrm>
            <a:off x="4339134" y="4095750"/>
            <a:ext cx="3579813" cy="381000"/>
          </a:xfrm>
          <a:prstGeom prst="rect">
            <a:avLst/>
          </a:prstGeom>
          <a:noFill/>
          <a:ln/>
        </p:spPr>
        <p:txBody>
          <a:bodyPr wrap="square" lIns="0" tIns="0" rIns="0" bIns="0" rtlCol="0" anchor="ctr"/>
          <a:lstStyle/>
          <a:p>
            <a:pPr>
              <a:lnSpc>
                <a:spcPct val="130000"/>
              </a:lnSpc>
            </a:pPr>
            <a:r>
              <a:rPr lang="en-US" sz="1000" dirty="0">
                <a:solidFill>
                  <a:srgbClr val="FFFFFF">
                    <a:alpha val="80000"/>
                  </a:srgbClr>
                </a:solidFill>
                <a:latin typeface="Liter" pitchFamily="34" charset="0"/>
                <a:ea typeface="Liter" pitchFamily="34" charset="-122"/>
                <a:cs typeface="Liter" pitchFamily="34" charset="-120"/>
              </a:rPr>
              <a:t>Instant order confirmation and quick processing streamline the entire purchase journey.</a:t>
            </a:r>
            <a:endParaRPr lang="en-US" sz="1600" dirty="0"/>
          </a:p>
        </p:txBody>
      </p:sp>
      <p:sp>
        <p:nvSpPr>
          <p:cNvPr id="62" name="Shape 60"/>
          <p:cNvSpPr/>
          <p:nvPr/>
        </p:nvSpPr>
        <p:spPr>
          <a:xfrm>
            <a:off x="4339134" y="4572000"/>
            <a:ext cx="3516313" cy="571500"/>
          </a:xfrm>
          <a:custGeom>
            <a:avLst/>
            <a:gdLst/>
            <a:ahLst/>
            <a:cxnLst/>
            <a:rect l="l" t="t" r="r" b="b"/>
            <a:pathLst>
              <a:path w="3516313" h="571500">
                <a:moveTo>
                  <a:pt x="0" y="0"/>
                </a:moveTo>
                <a:lnTo>
                  <a:pt x="3516313" y="0"/>
                </a:lnTo>
                <a:lnTo>
                  <a:pt x="3516313" y="571500"/>
                </a:lnTo>
                <a:lnTo>
                  <a:pt x="0" y="571500"/>
                </a:lnTo>
                <a:lnTo>
                  <a:pt x="0" y="0"/>
                </a:lnTo>
                <a:close/>
              </a:path>
            </a:pathLst>
          </a:custGeom>
          <a:solidFill>
            <a:srgbClr val="000000"/>
          </a:solidFill>
          <a:ln/>
        </p:spPr>
      </p:sp>
      <p:sp>
        <p:nvSpPr>
          <p:cNvPr id="63" name="Shape 61"/>
          <p:cNvSpPr/>
          <p:nvPr/>
        </p:nvSpPr>
        <p:spPr>
          <a:xfrm>
            <a:off x="6012557" y="4667250"/>
            <a:ext cx="166688" cy="190500"/>
          </a:xfrm>
          <a:custGeom>
            <a:avLst/>
            <a:gdLst/>
            <a:ahLst/>
            <a:cxnLst/>
            <a:rect l="l" t="t" r="r" b="b"/>
            <a:pathLst>
              <a:path w="166688" h="190500">
                <a:moveTo>
                  <a:pt x="126057" y="-3683"/>
                </a:moveTo>
                <a:cubicBezTo>
                  <a:pt x="130485" y="-484"/>
                  <a:pt x="132122" y="5321"/>
                  <a:pt x="130113" y="10381"/>
                </a:cubicBezTo>
                <a:lnTo>
                  <a:pt x="100943" y="83344"/>
                </a:lnTo>
                <a:lnTo>
                  <a:pt x="154781" y="83344"/>
                </a:lnTo>
                <a:cubicBezTo>
                  <a:pt x="159804" y="83344"/>
                  <a:pt x="164269" y="86469"/>
                  <a:pt x="165981" y="91194"/>
                </a:cubicBezTo>
                <a:cubicBezTo>
                  <a:pt x="167692" y="95920"/>
                  <a:pt x="166241" y="101203"/>
                  <a:pt x="162409" y="104403"/>
                </a:cubicBezTo>
                <a:lnTo>
                  <a:pt x="55252" y="193700"/>
                </a:lnTo>
                <a:cubicBezTo>
                  <a:pt x="51048" y="197197"/>
                  <a:pt x="45058" y="197383"/>
                  <a:pt x="40630" y="194183"/>
                </a:cubicBezTo>
                <a:cubicBezTo>
                  <a:pt x="36202" y="190984"/>
                  <a:pt x="34565" y="185179"/>
                  <a:pt x="36575" y="180119"/>
                </a:cubicBezTo>
                <a:lnTo>
                  <a:pt x="65745" y="107156"/>
                </a:lnTo>
                <a:lnTo>
                  <a:pt x="11906" y="107156"/>
                </a:lnTo>
                <a:cubicBezTo>
                  <a:pt x="6883" y="107156"/>
                  <a:pt x="2418" y="104031"/>
                  <a:pt x="707" y="99306"/>
                </a:cubicBezTo>
                <a:cubicBezTo>
                  <a:pt x="-1005" y="94580"/>
                  <a:pt x="446" y="89297"/>
                  <a:pt x="4279" y="86097"/>
                </a:cubicBezTo>
                <a:lnTo>
                  <a:pt x="111435" y="-3200"/>
                </a:lnTo>
                <a:cubicBezTo>
                  <a:pt x="115639" y="-6697"/>
                  <a:pt x="121630" y="-6883"/>
                  <a:pt x="126057" y="-3683"/>
                </a:cubicBezTo>
                <a:close/>
              </a:path>
            </a:pathLst>
          </a:custGeom>
          <a:solidFill>
            <a:srgbClr val="DDFF00"/>
          </a:solidFill>
          <a:ln/>
        </p:spPr>
      </p:sp>
      <p:sp>
        <p:nvSpPr>
          <p:cNvPr id="64" name="Text 62"/>
          <p:cNvSpPr/>
          <p:nvPr/>
        </p:nvSpPr>
        <p:spPr>
          <a:xfrm>
            <a:off x="4406603" y="4889500"/>
            <a:ext cx="3381375" cy="158750"/>
          </a:xfrm>
          <a:prstGeom prst="rect">
            <a:avLst/>
          </a:prstGeom>
          <a:noFill/>
          <a:ln/>
        </p:spPr>
        <p:txBody>
          <a:bodyPr wrap="square" lIns="0" tIns="0" rIns="0" bIns="0" rtlCol="0" anchor="ctr"/>
          <a:lstStyle/>
          <a:p>
            <a:pPr algn="ctr">
              <a:lnSpc>
                <a:spcPct val="120000"/>
              </a:lnSpc>
            </a:pPr>
            <a:r>
              <a:rPr lang="en-US" sz="875" dirty="0">
                <a:solidFill>
                  <a:srgbClr val="FFFFFF"/>
                </a:solidFill>
                <a:latin typeface="Liter" pitchFamily="34" charset="0"/>
                <a:ea typeface="Liter" pitchFamily="34" charset="-122"/>
                <a:cs typeface="Liter" pitchFamily="34" charset="-120"/>
              </a:rPr>
              <a:t>Instant Processing</a:t>
            </a:r>
            <a:endParaRPr lang="en-US" sz="1600" dirty="0"/>
          </a:p>
        </p:txBody>
      </p:sp>
      <p:sp>
        <p:nvSpPr>
          <p:cNvPr id="65" name="Shape 63"/>
          <p:cNvSpPr/>
          <p:nvPr/>
        </p:nvSpPr>
        <p:spPr>
          <a:xfrm>
            <a:off x="8106767" y="3540125"/>
            <a:ext cx="3770313" cy="1730375"/>
          </a:xfrm>
          <a:custGeom>
            <a:avLst/>
            <a:gdLst/>
            <a:ahLst/>
            <a:cxnLst/>
            <a:rect l="l" t="t" r="r" b="b"/>
            <a:pathLst>
              <a:path w="3770313" h="1730375">
                <a:moveTo>
                  <a:pt x="0" y="0"/>
                </a:moveTo>
                <a:lnTo>
                  <a:pt x="3770313" y="0"/>
                </a:lnTo>
                <a:lnTo>
                  <a:pt x="3770313" y="1730375"/>
                </a:lnTo>
                <a:lnTo>
                  <a:pt x="0" y="1730375"/>
                </a:lnTo>
                <a:lnTo>
                  <a:pt x="0" y="0"/>
                </a:lnTo>
                <a:close/>
              </a:path>
            </a:pathLst>
          </a:custGeom>
          <a:solidFill>
            <a:srgbClr val="111111"/>
          </a:solidFill>
          <a:ln/>
        </p:spPr>
      </p:sp>
      <p:sp>
        <p:nvSpPr>
          <p:cNvPr id="66" name="Shape 64"/>
          <p:cNvSpPr/>
          <p:nvPr/>
        </p:nvSpPr>
        <p:spPr>
          <a:xfrm>
            <a:off x="8106767" y="3540125"/>
            <a:ext cx="3770313" cy="31750"/>
          </a:xfrm>
          <a:custGeom>
            <a:avLst/>
            <a:gdLst/>
            <a:ahLst/>
            <a:cxnLst/>
            <a:rect l="l" t="t" r="r" b="b"/>
            <a:pathLst>
              <a:path w="3770313" h="31750">
                <a:moveTo>
                  <a:pt x="0" y="0"/>
                </a:moveTo>
                <a:lnTo>
                  <a:pt x="3770313" y="0"/>
                </a:lnTo>
                <a:lnTo>
                  <a:pt x="3770313" y="31750"/>
                </a:lnTo>
                <a:lnTo>
                  <a:pt x="0" y="31750"/>
                </a:lnTo>
                <a:lnTo>
                  <a:pt x="0" y="0"/>
                </a:lnTo>
                <a:close/>
              </a:path>
            </a:pathLst>
          </a:custGeom>
          <a:solidFill>
            <a:srgbClr val="DDFF00"/>
          </a:solidFill>
          <a:ln/>
        </p:spPr>
      </p:sp>
      <p:sp>
        <p:nvSpPr>
          <p:cNvPr id="67" name="Shape 65"/>
          <p:cNvSpPr/>
          <p:nvPr/>
        </p:nvSpPr>
        <p:spPr>
          <a:xfrm>
            <a:off x="8233768" y="3683000"/>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DDFF00"/>
          </a:solidFill>
          <a:ln/>
        </p:spPr>
      </p:sp>
      <p:sp>
        <p:nvSpPr>
          <p:cNvPr id="68" name="Text 66"/>
          <p:cNvSpPr/>
          <p:nvPr/>
        </p:nvSpPr>
        <p:spPr>
          <a:xfrm>
            <a:off x="8304213" y="3730625"/>
            <a:ext cx="246063" cy="222250"/>
          </a:xfrm>
          <a:prstGeom prst="rect">
            <a:avLst/>
          </a:prstGeom>
          <a:noFill/>
          <a:ln/>
        </p:spPr>
        <p:txBody>
          <a:bodyPr wrap="square" lIns="0" tIns="0" rIns="0" bIns="0" rtlCol="0" anchor="ctr"/>
          <a:lstStyle/>
          <a:p>
            <a:pPr>
              <a:lnSpc>
                <a:spcPct val="130000"/>
              </a:lnSpc>
            </a:pPr>
            <a:r>
              <a:rPr lang="en-US" sz="1125" b="1" dirty="0">
                <a:solidFill>
                  <a:srgbClr val="000000"/>
                </a:solidFill>
                <a:latin typeface="Liter" pitchFamily="34" charset="0"/>
                <a:ea typeface="Liter" pitchFamily="34" charset="-122"/>
                <a:cs typeface="Liter" pitchFamily="34" charset="-120"/>
              </a:rPr>
              <a:t>06</a:t>
            </a:r>
            <a:endParaRPr lang="en-US" sz="1600" dirty="0"/>
          </a:p>
        </p:txBody>
      </p:sp>
      <p:sp>
        <p:nvSpPr>
          <p:cNvPr id="69" name="Text 67"/>
          <p:cNvSpPr/>
          <p:nvPr/>
        </p:nvSpPr>
        <p:spPr>
          <a:xfrm>
            <a:off x="8646518" y="3730625"/>
            <a:ext cx="1373188"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Personalized Service</a:t>
            </a:r>
            <a:endParaRPr lang="en-US" sz="1600" dirty="0"/>
          </a:p>
        </p:txBody>
      </p:sp>
      <p:sp>
        <p:nvSpPr>
          <p:cNvPr id="70" name="Text 68"/>
          <p:cNvSpPr/>
          <p:nvPr/>
        </p:nvSpPr>
        <p:spPr>
          <a:xfrm>
            <a:off x="8233768" y="4095750"/>
            <a:ext cx="3579813" cy="587375"/>
          </a:xfrm>
          <a:prstGeom prst="rect">
            <a:avLst/>
          </a:prstGeom>
          <a:noFill/>
          <a:ln/>
        </p:spPr>
        <p:txBody>
          <a:bodyPr wrap="square" lIns="0" tIns="0" rIns="0" bIns="0" rtlCol="0" anchor="ctr"/>
          <a:lstStyle/>
          <a:p>
            <a:pPr>
              <a:lnSpc>
                <a:spcPct val="130000"/>
              </a:lnSpc>
            </a:pPr>
            <a:r>
              <a:rPr lang="en-US" sz="1000" dirty="0">
                <a:solidFill>
                  <a:srgbClr val="DDFF00"/>
                </a:solidFill>
                <a:latin typeface="Liter" pitchFamily="34" charset="0"/>
                <a:ea typeface="Liter" pitchFamily="34" charset="-122"/>
                <a:cs typeface="Liter" pitchFamily="34" charset="-120"/>
              </a:rPr>
              <a:t>AI-based recommendations</a:t>
            </a:r>
            <a:pPr>
              <a:lnSpc>
                <a:spcPct val="130000"/>
              </a:lnSpc>
            </a:pPr>
            <a:r>
              <a:rPr lang="en-US" sz="1000" dirty="0">
                <a:solidFill>
                  <a:srgbClr val="FFFFFF">
                    <a:alpha val="80000"/>
                  </a:srgbClr>
                </a:solidFill>
                <a:latin typeface="Liter" pitchFamily="34" charset="0"/>
                <a:ea typeface="Liter" pitchFamily="34" charset="-122"/>
                <a:cs typeface="Liter" pitchFamily="34" charset="-120"/>
              </a:rPr>
              <a:t> based on user behavior and purchase history.</a:t>
            </a:r>
            <a:endParaRPr lang="en-US" sz="1600" dirty="0"/>
          </a:p>
        </p:txBody>
      </p:sp>
      <p:sp>
        <p:nvSpPr>
          <p:cNvPr id="71" name="Shape 69"/>
          <p:cNvSpPr/>
          <p:nvPr/>
        </p:nvSpPr>
        <p:spPr>
          <a:xfrm>
            <a:off x="8236943" y="4784724"/>
            <a:ext cx="3506787" cy="355600"/>
          </a:xfrm>
          <a:custGeom>
            <a:avLst/>
            <a:gdLst/>
            <a:ahLst/>
            <a:cxnLst/>
            <a:rect l="l" t="t" r="r" b="b"/>
            <a:pathLst>
              <a:path w="3506787" h="355600">
                <a:moveTo>
                  <a:pt x="0" y="0"/>
                </a:moveTo>
                <a:lnTo>
                  <a:pt x="3506787" y="0"/>
                </a:lnTo>
                <a:lnTo>
                  <a:pt x="3506787" y="355600"/>
                </a:lnTo>
                <a:lnTo>
                  <a:pt x="0" y="355600"/>
                </a:lnTo>
                <a:lnTo>
                  <a:pt x="0" y="0"/>
                </a:lnTo>
                <a:close/>
              </a:path>
            </a:pathLst>
          </a:custGeom>
          <a:solidFill>
            <a:srgbClr val="DDFF00">
              <a:alpha val="10196"/>
            </a:srgbClr>
          </a:solidFill>
          <a:ln w="10160">
            <a:solidFill>
              <a:srgbClr val="DDFF00"/>
            </a:solidFill>
            <a:prstDash val="solid"/>
          </a:ln>
        </p:spPr>
      </p:sp>
      <p:sp>
        <p:nvSpPr>
          <p:cNvPr id="72" name="Shape 70"/>
          <p:cNvSpPr/>
          <p:nvPr/>
        </p:nvSpPr>
        <p:spPr>
          <a:xfrm>
            <a:off x="9276557" y="4908549"/>
            <a:ext cx="138906" cy="111125"/>
          </a:xfrm>
          <a:custGeom>
            <a:avLst/>
            <a:gdLst/>
            <a:ahLst/>
            <a:cxnLst/>
            <a:rect l="l" t="t" r="r" b="b"/>
            <a:pathLst>
              <a:path w="138906" h="111125">
                <a:moveTo>
                  <a:pt x="76398" y="0"/>
                </a:moveTo>
                <a:cubicBezTo>
                  <a:pt x="76398" y="-3842"/>
                  <a:pt x="73295" y="-6945"/>
                  <a:pt x="69453" y="-6945"/>
                </a:cubicBezTo>
                <a:cubicBezTo>
                  <a:pt x="65611" y="-6945"/>
                  <a:pt x="62508" y="-3842"/>
                  <a:pt x="62508" y="0"/>
                </a:cubicBezTo>
                <a:lnTo>
                  <a:pt x="62508" y="13891"/>
                </a:lnTo>
                <a:lnTo>
                  <a:pt x="41672" y="13891"/>
                </a:lnTo>
                <a:cubicBezTo>
                  <a:pt x="30169" y="13891"/>
                  <a:pt x="20836" y="23223"/>
                  <a:pt x="20836" y="34727"/>
                </a:cubicBezTo>
                <a:lnTo>
                  <a:pt x="20836" y="83344"/>
                </a:lnTo>
                <a:cubicBezTo>
                  <a:pt x="20836" y="94847"/>
                  <a:pt x="30169" y="104180"/>
                  <a:pt x="41672" y="104180"/>
                </a:cubicBezTo>
                <a:lnTo>
                  <a:pt x="97234" y="104180"/>
                </a:lnTo>
                <a:cubicBezTo>
                  <a:pt x="108738" y="104180"/>
                  <a:pt x="118070" y="94847"/>
                  <a:pt x="118070" y="83344"/>
                </a:cubicBezTo>
                <a:lnTo>
                  <a:pt x="118070" y="34727"/>
                </a:lnTo>
                <a:cubicBezTo>
                  <a:pt x="118070" y="23223"/>
                  <a:pt x="108738" y="13891"/>
                  <a:pt x="97234" y="13891"/>
                </a:cubicBezTo>
                <a:lnTo>
                  <a:pt x="76398" y="13891"/>
                </a:lnTo>
                <a:lnTo>
                  <a:pt x="76398" y="0"/>
                </a:lnTo>
                <a:close/>
                <a:moveTo>
                  <a:pt x="34727" y="79871"/>
                </a:moveTo>
                <a:cubicBezTo>
                  <a:pt x="34727" y="76984"/>
                  <a:pt x="37049" y="74662"/>
                  <a:pt x="39936" y="74662"/>
                </a:cubicBezTo>
                <a:lnTo>
                  <a:pt x="46881" y="74662"/>
                </a:lnTo>
                <a:cubicBezTo>
                  <a:pt x="49768" y="74662"/>
                  <a:pt x="52090" y="76984"/>
                  <a:pt x="52090" y="79871"/>
                </a:cubicBezTo>
                <a:cubicBezTo>
                  <a:pt x="52090" y="82758"/>
                  <a:pt x="49768" y="85080"/>
                  <a:pt x="46881" y="85080"/>
                </a:cubicBezTo>
                <a:lnTo>
                  <a:pt x="39936" y="85080"/>
                </a:lnTo>
                <a:cubicBezTo>
                  <a:pt x="37049" y="85080"/>
                  <a:pt x="34727" y="82758"/>
                  <a:pt x="34727" y="79871"/>
                </a:cubicBezTo>
                <a:close/>
                <a:moveTo>
                  <a:pt x="60771" y="79871"/>
                </a:moveTo>
                <a:cubicBezTo>
                  <a:pt x="60771" y="76984"/>
                  <a:pt x="63094" y="74662"/>
                  <a:pt x="65980" y="74662"/>
                </a:cubicBezTo>
                <a:lnTo>
                  <a:pt x="72926" y="74662"/>
                </a:lnTo>
                <a:cubicBezTo>
                  <a:pt x="75812" y="74662"/>
                  <a:pt x="78135" y="76984"/>
                  <a:pt x="78135" y="79871"/>
                </a:cubicBezTo>
                <a:cubicBezTo>
                  <a:pt x="78135" y="82758"/>
                  <a:pt x="75812" y="85080"/>
                  <a:pt x="72926" y="85080"/>
                </a:cubicBezTo>
                <a:lnTo>
                  <a:pt x="65980" y="85080"/>
                </a:lnTo>
                <a:cubicBezTo>
                  <a:pt x="63094" y="85080"/>
                  <a:pt x="60771" y="82758"/>
                  <a:pt x="60771" y="79871"/>
                </a:cubicBezTo>
                <a:close/>
                <a:moveTo>
                  <a:pt x="86816" y="79871"/>
                </a:moveTo>
                <a:cubicBezTo>
                  <a:pt x="86816" y="76984"/>
                  <a:pt x="89139" y="74662"/>
                  <a:pt x="92025" y="74662"/>
                </a:cubicBezTo>
                <a:lnTo>
                  <a:pt x="98971" y="74662"/>
                </a:lnTo>
                <a:cubicBezTo>
                  <a:pt x="101857" y="74662"/>
                  <a:pt x="104180" y="76984"/>
                  <a:pt x="104180" y="79871"/>
                </a:cubicBezTo>
                <a:cubicBezTo>
                  <a:pt x="104180" y="82758"/>
                  <a:pt x="101857" y="85080"/>
                  <a:pt x="98971" y="85080"/>
                </a:cubicBezTo>
                <a:lnTo>
                  <a:pt x="92025" y="85080"/>
                </a:lnTo>
                <a:cubicBezTo>
                  <a:pt x="89139" y="85080"/>
                  <a:pt x="86816" y="82758"/>
                  <a:pt x="86816" y="79871"/>
                </a:cubicBezTo>
                <a:close/>
                <a:moveTo>
                  <a:pt x="48617" y="38199"/>
                </a:moveTo>
                <a:cubicBezTo>
                  <a:pt x="54367" y="38199"/>
                  <a:pt x="59035" y="42867"/>
                  <a:pt x="59035" y="48617"/>
                </a:cubicBezTo>
                <a:cubicBezTo>
                  <a:pt x="59035" y="54367"/>
                  <a:pt x="54367" y="59035"/>
                  <a:pt x="48617" y="59035"/>
                </a:cubicBezTo>
                <a:cubicBezTo>
                  <a:pt x="42867" y="59035"/>
                  <a:pt x="38199" y="54367"/>
                  <a:pt x="38199" y="48617"/>
                </a:cubicBezTo>
                <a:cubicBezTo>
                  <a:pt x="38199" y="42867"/>
                  <a:pt x="42867" y="38199"/>
                  <a:pt x="48617" y="38199"/>
                </a:cubicBezTo>
                <a:close/>
                <a:moveTo>
                  <a:pt x="79871" y="48617"/>
                </a:moveTo>
                <a:cubicBezTo>
                  <a:pt x="79871" y="42867"/>
                  <a:pt x="84539" y="38199"/>
                  <a:pt x="90289" y="38199"/>
                </a:cubicBezTo>
                <a:cubicBezTo>
                  <a:pt x="96039" y="38199"/>
                  <a:pt x="100707" y="42867"/>
                  <a:pt x="100707" y="48617"/>
                </a:cubicBezTo>
                <a:cubicBezTo>
                  <a:pt x="100707" y="54367"/>
                  <a:pt x="96039" y="59035"/>
                  <a:pt x="90289" y="59035"/>
                </a:cubicBezTo>
                <a:cubicBezTo>
                  <a:pt x="84539" y="59035"/>
                  <a:pt x="79871" y="54367"/>
                  <a:pt x="79871" y="48617"/>
                </a:cubicBezTo>
                <a:close/>
                <a:moveTo>
                  <a:pt x="13891" y="48617"/>
                </a:moveTo>
                <a:cubicBezTo>
                  <a:pt x="13891" y="44776"/>
                  <a:pt x="10787" y="41672"/>
                  <a:pt x="6945" y="41672"/>
                </a:cubicBezTo>
                <a:cubicBezTo>
                  <a:pt x="3104" y="41672"/>
                  <a:pt x="0" y="44776"/>
                  <a:pt x="0" y="48617"/>
                </a:cubicBezTo>
                <a:lnTo>
                  <a:pt x="0" y="69453"/>
                </a:lnTo>
                <a:cubicBezTo>
                  <a:pt x="0" y="73295"/>
                  <a:pt x="3104" y="76398"/>
                  <a:pt x="6945" y="76398"/>
                </a:cubicBezTo>
                <a:cubicBezTo>
                  <a:pt x="10787" y="76398"/>
                  <a:pt x="13891" y="73295"/>
                  <a:pt x="13891" y="69453"/>
                </a:cubicBezTo>
                <a:lnTo>
                  <a:pt x="13891" y="48617"/>
                </a:lnTo>
                <a:close/>
                <a:moveTo>
                  <a:pt x="131961" y="41672"/>
                </a:moveTo>
                <a:cubicBezTo>
                  <a:pt x="128119" y="41672"/>
                  <a:pt x="125016" y="44776"/>
                  <a:pt x="125016" y="48617"/>
                </a:cubicBezTo>
                <a:lnTo>
                  <a:pt x="125016" y="69453"/>
                </a:lnTo>
                <a:cubicBezTo>
                  <a:pt x="125016" y="73295"/>
                  <a:pt x="128119" y="76398"/>
                  <a:pt x="131961" y="76398"/>
                </a:cubicBezTo>
                <a:cubicBezTo>
                  <a:pt x="135803" y="76398"/>
                  <a:pt x="138906" y="73295"/>
                  <a:pt x="138906" y="69453"/>
                </a:cubicBezTo>
                <a:lnTo>
                  <a:pt x="138906" y="48617"/>
                </a:lnTo>
                <a:cubicBezTo>
                  <a:pt x="138906" y="44776"/>
                  <a:pt x="135803" y="41672"/>
                  <a:pt x="131961" y="41672"/>
                </a:cubicBezTo>
                <a:close/>
              </a:path>
            </a:pathLst>
          </a:custGeom>
          <a:solidFill>
            <a:srgbClr val="DDFF00"/>
          </a:solidFill>
          <a:ln/>
        </p:spPr>
      </p:sp>
      <p:sp>
        <p:nvSpPr>
          <p:cNvPr id="73" name="Text 71"/>
          <p:cNvSpPr/>
          <p:nvPr/>
        </p:nvSpPr>
        <p:spPr>
          <a:xfrm>
            <a:off x="8490148" y="4883152"/>
            <a:ext cx="3182938" cy="158750"/>
          </a:xfrm>
          <a:prstGeom prst="rect">
            <a:avLst/>
          </a:prstGeom>
          <a:noFill/>
          <a:ln/>
        </p:spPr>
        <p:txBody>
          <a:bodyPr wrap="square" lIns="0" tIns="0" rIns="0" bIns="0" rtlCol="0" anchor="ctr"/>
          <a:lstStyle/>
          <a:p>
            <a:pPr algn="ctr">
              <a:lnSpc>
                <a:spcPct val="120000"/>
              </a:lnSpc>
            </a:pPr>
            <a:r>
              <a:rPr lang="en-US" sz="875" dirty="0">
                <a:solidFill>
                  <a:srgbClr val="FFFFFF"/>
                </a:solidFill>
                <a:latin typeface="Liter" pitchFamily="34" charset="0"/>
                <a:ea typeface="Liter" pitchFamily="34" charset="-122"/>
                <a:cs typeface="Liter" pitchFamily="34" charset="-120"/>
              </a:rPr>
              <a:t>Smart recommendations</a:t>
            </a:r>
            <a:endParaRPr lang="en-US" sz="1600" dirty="0"/>
          </a:p>
        </p:txBody>
      </p:sp>
      <p:sp>
        <p:nvSpPr>
          <p:cNvPr id="74" name="Shape 72"/>
          <p:cNvSpPr/>
          <p:nvPr/>
        </p:nvSpPr>
        <p:spPr>
          <a:xfrm>
            <a:off x="317500" y="5413375"/>
            <a:ext cx="3770313" cy="2016125"/>
          </a:xfrm>
          <a:custGeom>
            <a:avLst/>
            <a:gdLst/>
            <a:ahLst/>
            <a:cxnLst/>
            <a:rect l="l" t="t" r="r" b="b"/>
            <a:pathLst>
              <a:path w="3770313" h="2016125">
                <a:moveTo>
                  <a:pt x="0" y="0"/>
                </a:moveTo>
                <a:lnTo>
                  <a:pt x="3770313" y="0"/>
                </a:lnTo>
                <a:lnTo>
                  <a:pt x="3770313" y="2016125"/>
                </a:lnTo>
                <a:lnTo>
                  <a:pt x="0" y="2016125"/>
                </a:lnTo>
                <a:lnTo>
                  <a:pt x="0" y="0"/>
                </a:lnTo>
                <a:close/>
              </a:path>
            </a:pathLst>
          </a:custGeom>
          <a:solidFill>
            <a:srgbClr val="111111"/>
          </a:solidFill>
          <a:ln/>
        </p:spPr>
      </p:sp>
      <p:sp>
        <p:nvSpPr>
          <p:cNvPr id="75" name="Shape 73"/>
          <p:cNvSpPr/>
          <p:nvPr/>
        </p:nvSpPr>
        <p:spPr>
          <a:xfrm>
            <a:off x="317500" y="5413375"/>
            <a:ext cx="3770313" cy="31750"/>
          </a:xfrm>
          <a:custGeom>
            <a:avLst/>
            <a:gdLst/>
            <a:ahLst/>
            <a:cxnLst/>
            <a:rect l="l" t="t" r="r" b="b"/>
            <a:pathLst>
              <a:path w="3770313" h="31750">
                <a:moveTo>
                  <a:pt x="0" y="0"/>
                </a:moveTo>
                <a:lnTo>
                  <a:pt x="3770313" y="0"/>
                </a:lnTo>
                <a:lnTo>
                  <a:pt x="3770313" y="31750"/>
                </a:lnTo>
                <a:lnTo>
                  <a:pt x="0" y="31750"/>
                </a:lnTo>
                <a:lnTo>
                  <a:pt x="0" y="0"/>
                </a:lnTo>
                <a:close/>
              </a:path>
            </a:pathLst>
          </a:custGeom>
          <a:solidFill>
            <a:srgbClr val="DDFF00"/>
          </a:solidFill>
          <a:ln/>
        </p:spPr>
      </p:sp>
      <p:sp>
        <p:nvSpPr>
          <p:cNvPr id="76" name="Shape 74"/>
          <p:cNvSpPr/>
          <p:nvPr/>
        </p:nvSpPr>
        <p:spPr>
          <a:xfrm>
            <a:off x="444500" y="5556250"/>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DDFF00"/>
          </a:solidFill>
          <a:ln/>
        </p:spPr>
      </p:sp>
      <p:sp>
        <p:nvSpPr>
          <p:cNvPr id="77" name="Text 75"/>
          <p:cNvSpPr/>
          <p:nvPr/>
        </p:nvSpPr>
        <p:spPr>
          <a:xfrm>
            <a:off x="521097" y="5603875"/>
            <a:ext cx="238125" cy="222250"/>
          </a:xfrm>
          <a:prstGeom prst="rect">
            <a:avLst/>
          </a:prstGeom>
          <a:noFill/>
          <a:ln/>
        </p:spPr>
        <p:txBody>
          <a:bodyPr wrap="square" lIns="0" tIns="0" rIns="0" bIns="0" rtlCol="0" anchor="ctr"/>
          <a:lstStyle/>
          <a:p>
            <a:pPr>
              <a:lnSpc>
                <a:spcPct val="130000"/>
              </a:lnSpc>
            </a:pPr>
            <a:r>
              <a:rPr lang="en-US" sz="1125" b="1" dirty="0">
                <a:solidFill>
                  <a:srgbClr val="000000"/>
                </a:solidFill>
                <a:latin typeface="Liter" pitchFamily="34" charset="0"/>
                <a:ea typeface="Liter" pitchFamily="34" charset="-122"/>
                <a:cs typeface="Liter" pitchFamily="34" charset="-120"/>
              </a:rPr>
              <a:t>07</a:t>
            </a:r>
            <a:endParaRPr lang="en-US" sz="1600" dirty="0"/>
          </a:p>
        </p:txBody>
      </p:sp>
      <p:sp>
        <p:nvSpPr>
          <p:cNvPr id="78" name="Text 76"/>
          <p:cNvSpPr/>
          <p:nvPr/>
        </p:nvSpPr>
        <p:spPr>
          <a:xfrm>
            <a:off x="857250" y="5603875"/>
            <a:ext cx="1230313"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Data Management</a:t>
            </a:r>
            <a:endParaRPr lang="en-US" sz="1600" dirty="0"/>
          </a:p>
        </p:txBody>
      </p:sp>
      <p:sp>
        <p:nvSpPr>
          <p:cNvPr id="79" name="Text 77"/>
          <p:cNvSpPr/>
          <p:nvPr/>
        </p:nvSpPr>
        <p:spPr>
          <a:xfrm>
            <a:off x="444500" y="5969000"/>
            <a:ext cx="3579813" cy="857250"/>
          </a:xfrm>
          <a:prstGeom prst="rect">
            <a:avLst/>
          </a:prstGeom>
          <a:noFill/>
          <a:ln/>
        </p:spPr>
        <p:txBody>
          <a:bodyPr wrap="square" lIns="0" tIns="0" rIns="0" bIns="0" rtlCol="0" anchor="ctr"/>
          <a:lstStyle/>
          <a:p>
            <a:pPr>
              <a:lnSpc>
                <a:spcPct val="130000"/>
              </a:lnSpc>
            </a:pPr>
            <a:r>
              <a:rPr lang="en-US" sz="1000" dirty="0">
                <a:solidFill>
                  <a:srgbClr val="FFFFFF">
                    <a:alpha val="80000"/>
                  </a:srgbClr>
                </a:solidFill>
                <a:latin typeface="Liter" pitchFamily="34" charset="0"/>
                <a:ea typeface="Liter" pitchFamily="34" charset="-122"/>
                <a:cs typeface="Liter" pitchFamily="34" charset="-120"/>
              </a:rPr>
              <a:t>Automated storage and management of orders, inventory, and customer data.</a:t>
            </a:r>
            <a:endParaRPr lang="en-US" sz="1600" dirty="0"/>
          </a:p>
        </p:txBody>
      </p:sp>
      <p:sp>
        <p:nvSpPr>
          <p:cNvPr id="80" name="Shape 78"/>
          <p:cNvSpPr/>
          <p:nvPr/>
        </p:nvSpPr>
        <p:spPr>
          <a:xfrm>
            <a:off x="444500" y="6921202"/>
            <a:ext cx="1150938" cy="381000"/>
          </a:xfrm>
          <a:custGeom>
            <a:avLst/>
            <a:gdLst/>
            <a:ahLst/>
            <a:cxnLst/>
            <a:rect l="l" t="t" r="r" b="b"/>
            <a:pathLst>
              <a:path w="1150938" h="381000">
                <a:moveTo>
                  <a:pt x="0" y="0"/>
                </a:moveTo>
                <a:lnTo>
                  <a:pt x="1150938" y="0"/>
                </a:lnTo>
                <a:lnTo>
                  <a:pt x="1150938" y="381000"/>
                </a:lnTo>
                <a:lnTo>
                  <a:pt x="0" y="381000"/>
                </a:lnTo>
                <a:lnTo>
                  <a:pt x="0" y="0"/>
                </a:lnTo>
                <a:close/>
              </a:path>
            </a:pathLst>
          </a:custGeom>
          <a:solidFill>
            <a:srgbClr val="000000"/>
          </a:solidFill>
          <a:ln/>
        </p:spPr>
      </p:sp>
      <p:sp>
        <p:nvSpPr>
          <p:cNvPr id="81" name="Shape 79"/>
          <p:cNvSpPr/>
          <p:nvPr/>
        </p:nvSpPr>
        <p:spPr>
          <a:xfrm>
            <a:off x="972840" y="6997402"/>
            <a:ext cx="97234" cy="111125"/>
          </a:xfrm>
          <a:custGeom>
            <a:avLst/>
            <a:gdLst/>
            <a:ahLst/>
            <a:cxnLst/>
            <a:rect l="l" t="t" r="r" b="b"/>
            <a:pathLst>
              <a:path w="97234" h="111125">
                <a:moveTo>
                  <a:pt x="80175" y="27781"/>
                </a:moveTo>
                <a:lnTo>
                  <a:pt x="72730" y="17363"/>
                </a:lnTo>
                <a:lnTo>
                  <a:pt x="24526" y="17363"/>
                </a:lnTo>
                <a:lnTo>
                  <a:pt x="17081" y="27781"/>
                </a:lnTo>
                <a:lnTo>
                  <a:pt x="80175" y="27781"/>
                </a:lnTo>
                <a:close/>
                <a:moveTo>
                  <a:pt x="0" y="32231"/>
                </a:moveTo>
                <a:cubicBezTo>
                  <a:pt x="0" y="29344"/>
                  <a:pt x="912" y="26522"/>
                  <a:pt x="2583" y="24157"/>
                </a:cubicBezTo>
                <a:lnTo>
                  <a:pt x="13218" y="9289"/>
                </a:lnTo>
                <a:cubicBezTo>
                  <a:pt x="15822" y="5643"/>
                  <a:pt x="20033" y="3473"/>
                  <a:pt x="24504" y="3473"/>
                </a:cubicBezTo>
                <a:lnTo>
                  <a:pt x="72709" y="3473"/>
                </a:lnTo>
                <a:cubicBezTo>
                  <a:pt x="77201" y="3473"/>
                  <a:pt x="81412" y="5643"/>
                  <a:pt x="84017" y="9289"/>
                </a:cubicBezTo>
                <a:lnTo>
                  <a:pt x="94630" y="24157"/>
                </a:lnTo>
                <a:cubicBezTo>
                  <a:pt x="96323" y="26522"/>
                  <a:pt x="97213" y="29344"/>
                  <a:pt x="97213" y="32231"/>
                </a:cubicBezTo>
                <a:lnTo>
                  <a:pt x="97234" y="90289"/>
                </a:lnTo>
                <a:cubicBezTo>
                  <a:pt x="97234" y="97951"/>
                  <a:pt x="91005" y="104180"/>
                  <a:pt x="83344" y="104180"/>
                </a:cubicBezTo>
                <a:lnTo>
                  <a:pt x="13891" y="104180"/>
                </a:lnTo>
                <a:cubicBezTo>
                  <a:pt x="6229" y="104180"/>
                  <a:pt x="0" y="97951"/>
                  <a:pt x="0" y="90289"/>
                </a:cubicBezTo>
                <a:lnTo>
                  <a:pt x="0" y="32231"/>
                </a:lnTo>
                <a:close/>
              </a:path>
            </a:pathLst>
          </a:custGeom>
          <a:solidFill>
            <a:srgbClr val="DDFF00"/>
          </a:solidFill>
          <a:ln/>
        </p:spPr>
      </p:sp>
      <p:sp>
        <p:nvSpPr>
          <p:cNvPr id="82" name="Text 80"/>
          <p:cNvSpPr/>
          <p:nvPr/>
        </p:nvSpPr>
        <p:spPr>
          <a:xfrm>
            <a:off x="452438" y="7143452"/>
            <a:ext cx="1135063" cy="127000"/>
          </a:xfrm>
          <a:prstGeom prst="rect">
            <a:avLst/>
          </a:prstGeom>
          <a:noFill/>
          <a:ln/>
        </p:spPr>
        <p:txBody>
          <a:bodyPr wrap="square" lIns="0" tIns="0" rIns="0" bIns="0" rtlCol="0" anchor="ctr"/>
          <a:lstStyle/>
          <a:p>
            <a:pPr algn="ctr">
              <a:lnSpc>
                <a:spcPct val="110000"/>
              </a:lnSpc>
            </a:pPr>
            <a:r>
              <a:rPr lang="en-US" sz="750" dirty="0">
                <a:solidFill>
                  <a:srgbClr val="FFFFFF"/>
                </a:solidFill>
                <a:latin typeface="Liter" pitchFamily="34" charset="0"/>
                <a:ea typeface="Liter" pitchFamily="34" charset="-122"/>
                <a:cs typeface="Liter" pitchFamily="34" charset="-120"/>
              </a:rPr>
              <a:t>Orders</a:t>
            </a:r>
            <a:endParaRPr lang="en-US" sz="1600" dirty="0"/>
          </a:p>
        </p:txBody>
      </p:sp>
      <p:sp>
        <p:nvSpPr>
          <p:cNvPr id="83" name="Shape 81"/>
          <p:cNvSpPr/>
          <p:nvPr/>
        </p:nvSpPr>
        <p:spPr>
          <a:xfrm>
            <a:off x="1626295" y="6921202"/>
            <a:ext cx="1150938" cy="381000"/>
          </a:xfrm>
          <a:custGeom>
            <a:avLst/>
            <a:gdLst/>
            <a:ahLst/>
            <a:cxnLst/>
            <a:rect l="l" t="t" r="r" b="b"/>
            <a:pathLst>
              <a:path w="1150938" h="381000">
                <a:moveTo>
                  <a:pt x="0" y="0"/>
                </a:moveTo>
                <a:lnTo>
                  <a:pt x="1150938" y="0"/>
                </a:lnTo>
                <a:lnTo>
                  <a:pt x="1150938" y="381000"/>
                </a:lnTo>
                <a:lnTo>
                  <a:pt x="0" y="381000"/>
                </a:lnTo>
                <a:lnTo>
                  <a:pt x="0" y="0"/>
                </a:lnTo>
                <a:close/>
              </a:path>
            </a:pathLst>
          </a:custGeom>
          <a:solidFill>
            <a:srgbClr val="000000"/>
          </a:solidFill>
          <a:ln/>
        </p:spPr>
      </p:sp>
      <p:sp>
        <p:nvSpPr>
          <p:cNvPr id="84" name="Shape 82"/>
          <p:cNvSpPr/>
          <p:nvPr/>
        </p:nvSpPr>
        <p:spPr>
          <a:xfrm>
            <a:off x="2140744" y="6997402"/>
            <a:ext cx="125016" cy="111125"/>
          </a:xfrm>
          <a:custGeom>
            <a:avLst/>
            <a:gdLst/>
            <a:ahLst/>
            <a:cxnLst/>
            <a:rect l="l" t="t" r="r" b="b"/>
            <a:pathLst>
              <a:path w="125016" h="111125">
                <a:moveTo>
                  <a:pt x="0" y="30842"/>
                </a:moveTo>
                <a:lnTo>
                  <a:pt x="0" y="104180"/>
                </a:lnTo>
                <a:cubicBezTo>
                  <a:pt x="0" y="108021"/>
                  <a:pt x="3104" y="111125"/>
                  <a:pt x="6945" y="111125"/>
                </a:cubicBezTo>
                <a:cubicBezTo>
                  <a:pt x="10787" y="111125"/>
                  <a:pt x="13891" y="108021"/>
                  <a:pt x="13891" y="104180"/>
                </a:cubicBezTo>
                <a:lnTo>
                  <a:pt x="13891" y="52090"/>
                </a:lnTo>
                <a:cubicBezTo>
                  <a:pt x="13891" y="48248"/>
                  <a:pt x="16994" y="45145"/>
                  <a:pt x="20836" y="45145"/>
                </a:cubicBezTo>
                <a:lnTo>
                  <a:pt x="104180" y="45145"/>
                </a:lnTo>
                <a:cubicBezTo>
                  <a:pt x="108021" y="45145"/>
                  <a:pt x="111125" y="48248"/>
                  <a:pt x="111125" y="52090"/>
                </a:cubicBezTo>
                <a:lnTo>
                  <a:pt x="111125" y="104180"/>
                </a:lnTo>
                <a:cubicBezTo>
                  <a:pt x="111125" y="108021"/>
                  <a:pt x="114229" y="111125"/>
                  <a:pt x="118070" y="111125"/>
                </a:cubicBezTo>
                <a:cubicBezTo>
                  <a:pt x="121912" y="111125"/>
                  <a:pt x="125016" y="108021"/>
                  <a:pt x="125016" y="104180"/>
                </a:cubicBezTo>
                <a:lnTo>
                  <a:pt x="125016" y="30842"/>
                </a:lnTo>
                <a:cubicBezTo>
                  <a:pt x="125016" y="24873"/>
                  <a:pt x="121196" y="19555"/>
                  <a:pt x="115509" y="17667"/>
                </a:cubicBezTo>
                <a:lnTo>
                  <a:pt x="65807" y="1107"/>
                </a:lnTo>
                <a:cubicBezTo>
                  <a:pt x="63658" y="391"/>
                  <a:pt x="61357" y="391"/>
                  <a:pt x="59209" y="1107"/>
                </a:cubicBezTo>
                <a:lnTo>
                  <a:pt x="9506" y="17667"/>
                </a:lnTo>
                <a:cubicBezTo>
                  <a:pt x="3820" y="19555"/>
                  <a:pt x="0" y="24873"/>
                  <a:pt x="0" y="30842"/>
                </a:cubicBezTo>
                <a:close/>
                <a:moveTo>
                  <a:pt x="100707" y="55563"/>
                </a:moveTo>
                <a:lnTo>
                  <a:pt x="24309" y="55563"/>
                </a:lnTo>
                <a:lnTo>
                  <a:pt x="24309" y="69453"/>
                </a:lnTo>
                <a:lnTo>
                  <a:pt x="100707" y="69453"/>
                </a:lnTo>
                <a:lnTo>
                  <a:pt x="100707" y="55563"/>
                </a:lnTo>
                <a:close/>
                <a:moveTo>
                  <a:pt x="24309" y="90289"/>
                </a:moveTo>
                <a:lnTo>
                  <a:pt x="100707" y="90289"/>
                </a:lnTo>
                <a:lnTo>
                  <a:pt x="100707" y="76398"/>
                </a:lnTo>
                <a:lnTo>
                  <a:pt x="24309" y="76398"/>
                </a:lnTo>
                <a:lnTo>
                  <a:pt x="24309" y="90289"/>
                </a:lnTo>
                <a:close/>
                <a:moveTo>
                  <a:pt x="100707" y="97234"/>
                </a:moveTo>
                <a:lnTo>
                  <a:pt x="24309" y="97234"/>
                </a:lnTo>
                <a:lnTo>
                  <a:pt x="24309" y="111125"/>
                </a:lnTo>
                <a:lnTo>
                  <a:pt x="100707" y="111125"/>
                </a:lnTo>
                <a:lnTo>
                  <a:pt x="100707" y="97234"/>
                </a:lnTo>
                <a:close/>
              </a:path>
            </a:pathLst>
          </a:custGeom>
          <a:solidFill>
            <a:srgbClr val="DDFF00"/>
          </a:solidFill>
          <a:ln/>
        </p:spPr>
      </p:sp>
      <p:sp>
        <p:nvSpPr>
          <p:cNvPr id="85" name="Text 83"/>
          <p:cNvSpPr/>
          <p:nvPr/>
        </p:nvSpPr>
        <p:spPr>
          <a:xfrm>
            <a:off x="1634232" y="7143452"/>
            <a:ext cx="1135063" cy="127000"/>
          </a:xfrm>
          <a:prstGeom prst="rect">
            <a:avLst/>
          </a:prstGeom>
          <a:noFill/>
          <a:ln/>
        </p:spPr>
        <p:txBody>
          <a:bodyPr wrap="square" lIns="0" tIns="0" rIns="0" bIns="0" rtlCol="0" anchor="ctr"/>
          <a:lstStyle/>
          <a:p>
            <a:pPr algn="ctr">
              <a:lnSpc>
                <a:spcPct val="110000"/>
              </a:lnSpc>
            </a:pPr>
            <a:r>
              <a:rPr lang="en-US" sz="750" dirty="0">
                <a:solidFill>
                  <a:srgbClr val="FFFFFF"/>
                </a:solidFill>
                <a:latin typeface="Liter" pitchFamily="34" charset="0"/>
                <a:ea typeface="Liter" pitchFamily="34" charset="-122"/>
                <a:cs typeface="Liter" pitchFamily="34" charset="-120"/>
              </a:rPr>
              <a:t>Inventory</a:t>
            </a:r>
            <a:endParaRPr lang="en-US" sz="1600" dirty="0"/>
          </a:p>
        </p:txBody>
      </p:sp>
      <p:sp>
        <p:nvSpPr>
          <p:cNvPr id="86" name="Shape 84"/>
          <p:cNvSpPr/>
          <p:nvPr/>
        </p:nvSpPr>
        <p:spPr>
          <a:xfrm>
            <a:off x="2808089" y="6921202"/>
            <a:ext cx="1150938" cy="381000"/>
          </a:xfrm>
          <a:custGeom>
            <a:avLst/>
            <a:gdLst/>
            <a:ahLst/>
            <a:cxnLst/>
            <a:rect l="l" t="t" r="r" b="b"/>
            <a:pathLst>
              <a:path w="1150938" h="381000">
                <a:moveTo>
                  <a:pt x="0" y="0"/>
                </a:moveTo>
                <a:lnTo>
                  <a:pt x="1150938" y="0"/>
                </a:lnTo>
                <a:lnTo>
                  <a:pt x="1150938" y="381000"/>
                </a:lnTo>
                <a:lnTo>
                  <a:pt x="0" y="381000"/>
                </a:lnTo>
                <a:lnTo>
                  <a:pt x="0" y="0"/>
                </a:lnTo>
                <a:close/>
              </a:path>
            </a:pathLst>
          </a:custGeom>
          <a:solidFill>
            <a:srgbClr val="000000"/>
          </a:solidFill>
          <a:ln/>
        </p:spPr>
      </p:sp>
      <p:sp>
        <p:nvSpPr>
          <p:cNvPr id="87" name="Shape 85"/>
          <p:cNvSpPr/>
          <p:nvPr/>
        </p:nvSpPr>
        <p:spPr>
          <a:xfrm>
            <a:off x="3315593" y="6997402"/>
            <a:ext cx="138906" cy="111125"/>
          </a:xfrm>
          <a:custGeom>
            <a:avLst/>
            <a:gdLst/>
            <a:ahLst/>
            <a:cxnLst/>
            <a:rect l="l" t="t" r="r" b="b"/>
            <a:pathLst>
              <a:path w="138906" h="111125">
                <a:moveTo>
                  <a:pt x="69453" y="3473"/>
                </a:moveTo>
                <a:cubicBezTo>
                  <a:pt x="81911" y="3473"/>
                  <a:pt x="92025" y="13587"/>
                  <a:pt x="92025" y="26045"/>
                </a:cubicBezTo>
                <a:cubicBezTo>
                  <a:pt x="92025" y="38503"/>
                  <a:pt x="81911" y="48617"/>
                  <a:pt x="69453" y="48617"/>
                </a:cubicBezTo>
                <a:cubicBezTo>
                  <a:pt x="56995" y="48617"/>
                  <a:pt x="46881" y="38503"/>
                  <a:pt x="46881" y="26045"/>
                </a:cubicBezTo>
                <a:cubicBezTo>
                  <a:pt x="46881" y="13587"/>
                  <a:pt x="56995" y="3473"/>
                  <a:pt x="69453" y="3473"/>
                </a:cubicBezTo>
                <a:close/>
                <a:moveTo>
                  <a:pt x="20836" y="19100"/>
                </a:moveTo>
                <a:cubicBezTo>
                  <a:pt x="29461" y="19100"/>
                  <a:pt x="36463" y="26102"/>
                  <a:pt x="36463" y="34727"/>
                </a:cubicBezTo>
                <a:cubicBezTo>
                  <a:pt x="36463" y="43351"/>
                  <a:pt x="29461" y="50354"/>
                  <a:pt x="20836" y="50354"/>
                </a:cubicBezTo>
                <a:cubicBezTo>
                  <a:pt x="12211" y="50354"/>
                  <a:pt x="5209" y="43351"/>
                  <a:pt x="5209" y="34727"/>
                </a:cubicBezTo>
                <a:cubicBezTo>
                  <a:pt x="5209" y="26102"/>
                  <a:pt x="12211" y="19100"/>
                  <a:pt x="20836" y="19100"/>
                </a:cubicBezTo>
                <a:close/>
                <a:moveTo>
                  <a:pt x="0" y="90289"/>
                </a:moveTo>
                <a:cubicBezTo>
                  <a:pt x="0" y="74944"/>
                  <a:pt x="12436" y="62508"/>
                  <a:pt x="27781" y="62508"/>
                </a:cubicBezTo>
                <a:cubicBezTo>
                  <a:pt x="30559" y="62508"/>
                  <a:pt x="33251" y="62920"/>
                  <a:pt x="35790" y="63680"/>
                </a:cubicBezTo>
                <a:cubicBezTo>
                  <a:pt x="28649" y="71667"/>
                  <a:pt x="24309" y="82215"/>
                  <a:pt x="24309" y="93762"/>
                </a:cubicBezTo>
                <a:lnTo>
                  <a:pt x="24309" y="97234"/>
                </a:lnTo>
                <a:cubicBezTo>
                  <a:pt x="24309" y="99709"/>
                  <a:pt x="24829" y="102053"/>
                  <a:pt x="25763" y="104180"/>
                </a:cubicBezTo>
                <a:lnTo>
                  <a:pt x="6945" y="104180"/>
                </a:lnTo>
                <a:cubicBezTo>
                  <a:pt x="3104" y="104180"/>
                  <a:pt x="0" y="101076"/>
                  <a:pt x="0" y="97234"/>
                </a:cubicBezTo>
                <a:lnTo>
                  <a:pt x="0" y="90289"/>
                </a:lnTo>
                <a:close/>
                <a:moveTo>
                  <a:pt x="113143" y="104180"/>
                </a:moveTo>
                <a:cubicBezTo>
                  <a:pt x="114077" y="102053"/>
                  <a:pt x="114598" y="99709"/>
                  <a:pt x="114598" y="97234"/>
                </a:cubicBezTo>
                <a:lnTo>
                  <a:pt x="114598" y="93762"/>
                </a:lnTo>
                <a:cubicBezTo>
                  <a:pt x="114598" y="82215"/>
                  <a:pt x="110257" y="71667"/>
                  <a:pt x="103116" y="63680"/>
                </a:cubicBezTo>
                <a:cubicBezTo>
                  <a:pt x="105656" y="62920"/>
                  <a:pt x="108347" y="62508"/>
                  <a:pt x="111125" y="62508"/>
                </a:cubicBezTo>
                <a:cubicBezTo>
                  <a:pt x="126470" y="62508"/>
                  <a:pt x="138906" y="74944"/>
                  <a:pt x="138906" y="90289"/>
                </a:cubicBezTo>
                <a:lnTo>
                  <a:pt x="138906" y="97234"/>
                </a:lnTo>
                <a:cubicBezTo>
                  <a:pt x="138906" y="101076"/>
                  <a:pt x="135803" y="104180"/>
                  <a:pt x="131961" y="104180"/>
                </a:cubicBezTo>
                <a:lnTo>
                  <a:pt x="113143" y="104180"/>
                </a:lnTo>
                <a:close/>
                <a:moveTo>
                  <a:pt x="102443" y="34727"/>
                </a:moveTo>
                <a:cubicBezTo>
                  <a:pt x="102443" y="26102"/>
                  <a:pt x="109446" y="19100"/>
                  <a:pt x="118070" y="19100"/>
                </a:cubicBezTo>
                <a:cubicBezTo>
                  <a:pt x="126695" y="19100"/>
                  <a:pt x="133697" y="26102"/>
                  <a:pt x="133697" y="34727"/>
                </a:cubicBezTo>
                <a:cubicBezTo>
                  <a:pt x="133697" y="43351"/>
                  <a:pt x="126695" y="50354"/>
                  <a:pt x="118070" y="50354"/>
                </a:cubicBezTo>
                <a:cubicBezTo>
                  <a:pt x="109446" y="50354"/>
                  <a:pt x="102443" y="43351"/>
                  <a:pt x="102443" y="34727"/>
                </a:cubicBezTo>
                <a:close/>
                <a:moveTo>
                  <a:pt x="34727" y="93762"/>
                </a:moveTo>
                <a:cubicBezTo>
                  <a:pt x="34727" y="74575"/>
                  <a:pt x="50267" y="59035"/>
                  <a:pt x="69453" y="59035"/>
                </a:cubicBezTo>
                <a:cubicBezTo>
                  <a:pt x="88640" y="59035"/>
                  <a:pt x="104180" y="74575"/>
                  <a:pt x="104180" y="93762"/>
                </a:cubicBezTo>
                <a:lnTo>
                  <a:pt x="104180" y="97234"/>
                </a:lnTo>
                <a:cubicBezTo>
                  <a:pt x="104180" y="101076"/>
                  <a:pt x="101076" y="104180"/>
                  <a:pt x="97234" y="104180"/>
                </a:cubicBezTo>
                <a:lnTo>
                  <a:pt x="41672" y="104180"/>
                </a:lnTo>
                <a:cubicBezTo>
                  <a:pt x="37830" y="104180"/>
                  <a:pt x="34727" y="101076"/>
                  <a:pt x="34727" y="97234"/>
                </a:cubicBezTo>
                <a:lnTo>
                  <a:pt x="34727" y="93762"/>
                </a:lnTo>
                <a:close/>
              </a:path>
            </a:pathLst>
          </a:custGeom>
          <a:solidFill>
            <a:srgbClr val="DDFF00"/>
          </a:solidFill>
          <a:ln/>
        </p:spPr>
      </p:sp>
      <p:sp>
        <p:nvSpPr>
          <p:cNvPr id="88" name="Text 86"/>
          <p:cNvSpPr/>
          <p:nvPr/>
        </p:nvSpPr>
        <p:spPr>
          <a:xfrm>
            <a:off x="2816027" y="7143452"/>
            <a:ext cx="1135063" cy="127000"/>
          </a:xfrm>
          <a:prstGeom prst="rect">
            <a:avLst/>
          </a:prstGeom>
          <a:noFill/>
          <a:ln/>
        </p:spPr>
        <p:txBody>
          <a:bodyPr wrap="square" lIns="0" tIns="0" rIns="0" bIns="0" rtlCol="0" anchor="ctr"/>
          <a:lstStyle/>
          <a:p>
            <a:pPr algn="ctr">
              <a:lnSpc>
                <a:spcPct val="110000"/>
              </a:lnSpc>
            </a:pPr>
            <a:r>
              <a:rPr lang="en-US" sz="750" dirty="0">
                <a:solidFill>
                  <a:srgbClr val="FFFFFF"/>
                </a:solidFill>
                <a:latin typeface="Liter" pitchFamily="34" charset="0"/>
                <a:ea typeface="Liter" pitchFamily="34" charset="-122"/>
                <a:cs typeface="Liter" pitchFamily="34" charset="-120"/>
              </a:rPr>
              <a:t>Customers</a:t>
            </a:r>
            <a:endParaRPr lang="en-US" sz="1600" dirty="0"/>
          </a:p>
        </p:txBody>
      </p:sp>
      <p:sp>
        <p:nvSpPr>
          <p:cNvPr id="89" name="Shape 87"/>
          <p:cNvSpPr/>
          <p:nvPr/>
        </p:nvSpPr>
        <p:spPr>
          <a:xfrm>
            <a:off x="4212134" y="5413375"/>
            <a:ext cx="3770313" cy="2016125"/>
          </a:xfrm>
          <a:custGeom>
            <a:avLst/>
            <a:gdLst/>
            <a:ahLst/>
            <a:cxnLst/>
            <a:rect l="l" t="t" r="r" b="b"/>
            <a:pathLst>
              <a:path w="3770313" h="2016125">
                <a:moveTo>
                  <a:pt x="0" y="0"/>
                </a:moveTo>
                <a:lnTo>
                  <a:pt x="3770313" y="0"/>
                </a:lnTo>
                <a:lnTo>
                  <a:pt x="3770313" y="2016125"/>
                </a:lnTo>
                <a:lnTo>
                  <a:pt x="0" y="2016125"/>
                </a:lnTo>
                <a:lnTo>
                  <a:pt x="0" y="0"/>
                </a:lnTo>
                <a:close/>
              </a:path>
            </a:pathLst>
          </a:custGeom>
          <a:solidFill>
            <a:srgbClr val="111111"/>
          </a:solidFill>
          <a:ln/>
        </p:spPr>
      </p:sp>
      <p:sp>
        <p:nvSpPr>
          <p:cNvPr id="90" name="Shape 88"/>
          <p:cNvSpPr/>
          <p:nvPr/>
        </p:nvSpPr>
        <p:spPr>
          <a:xfrm>
            <a:off x="4212134" y="5413375"/>
            <a:ext cx="3770313" cy="31750"/>
          </a:xfrm>
          <a:custGeom>
            <a:avLst/>
            <a:gdLst/>
            <a:ahLst/>
            <a:cxnLst/>
            <a:rect l="l" t="t" r="r" b="b"/>
            <a:pathLst>
              <a:path w="3770313" h="31750">
                <a:moveTo>
                  <a:pt x="0" y="0"/>
                </a:moveTo>
                <a:lnTo>
                  <a:pt x="3770313" y="0"/>
                </a:lnTo>
                <a:lnTo>
                  <a:pt x="3770313" y="31750"/>
                </a:lnTo>
                <a:lnTo>
                  <a:pt x="0" y="31750"/>
                </a:lnTo>
                <a:lnTo>
                  <a:pt x="0" y="0"/>
                </a:lnTo>
                <a:close/>
              </a:path>
            </a:pathLst>
          </a:custGeom>
          <a:solidFill>
            <a:srgbClr val="DDFF00"/>
          </a:solidFill>
          <a:ln/>
        </p:spPr>
      </p:sp>
      <p:sp>
        <p:nvSpPr>
          <p:cNvPr id="91" name="Shape 89"/>
          <p:cNvSpPr/>
          <p:nvPr/>
        </p:nvSpPr>
        <p:spPr>
          <a:xfrm>
            <a:off x="4339134" y="5556250"/>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DDFF00"/>
          </a:solidFill>
          <a:ln/>
        </p:spPr>
      </p:sp>
      <p:sp>
        <p:nvSpPr>
          <p:cNvPr id="92" name="Text 90"/>
          <p:cNvSpPr/>
          <p:nvPr/>
        </p:nvSpPr>
        <p:spPr>
          <a:xfrm>
            <a:off x="4408388" y="5603875"/>
            <a:ext cx="254000" cy="222250"/>
          </a:xfrm>
          <a:prstGeom prst="rect">
            <a:avLst/>
          </a:prstGeom>
          <a:noFill/>
          <a:ln/>
        </p:spPr>
        <p:txBody>
          <a:bodyPr wrap="square" lIns="0" tIns="0" rIns="0" bIns="0" rtlCol="0" anchor="ctr"/>
          <a:lstStyle/>
          <a:p>
            <a:pPr>
              <a:lnSpc>
                <a:spcPct val="130000"/>
              </a:lnSpc>
            </a:pPr>
            <a:r>
              <a:rPr lang="en-US" sz="1125" b="1" dirty="0">
                <a:solidFill>
                  <a:srgbClr val="000000"/>
                </a:solidFill>
                <a:latin typeface="Liter" pitchFamily="34" charset="0"/>
                <a:ea typeface="Liter" pitchFamily="34" charset="-122"/>
                <a:cs typeface="Liter" pitchFamily="34" charset="-120"/>
              </a:rPr>
              <a:t>08</a:t>
            </a:r>
            <a:endParaRPr lang="en-US" sz="1600" dirty="0"/>
          </a:p>
        </p:txBody>
      </p:sp>
      <p:sp>
        <p:nvSpPr>
          <p:cNvPr id="93" name="Text 91"/>
          <p:cNvSpPr/>
          <p:nvPr/>
        </p:nvSpPr>
        <p:spPr>
          <a:xfrm>
            <a:off x="4751884" y="5603875"/>
            <a:ext cx="1246188"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Security Measures</a:t>
            </a:r>
            <a:endParaRPr lang="en-US" sz="1600" dirty="0"/>
          </a:p>
        </p:txBody>
      </p:sp>
      <p:sp>
        <p:nvSpPr>
          <p:cNvPr id="94" name="Text 92"/>
          <p:cNvSpPr/>
          <p:nvPr/>
        </p:nvSpPr>
        <p:spPr>
          <a:xfrm>
            <a:off x="4339134" y="5969000"/>
            <a:ext cx="3579813" cy="381000"/>
          </a:xfrm>
          <a:prstGeom prst="rect">
            <a:avLst/>
          </a:prstGeom>
          <a:noFill/>
          <a:ln/>
        </p:spPr>
        <p:txBody>
          <a:bodyPr wrap="square" lIns="0" tIns="0" rIns="0" bIns="0" rtlCol="0" anchor="ctr"/>
          <a:lstStyle/>
          <a:p>
            <a:pPr>
              <a:lnSpc>
                <a:spcPct val="130000"/>
              </a:lnSpc>
            </a:pPr>
            <a:r>
              <a:rPr lang="en-US" sz="1000" dirty="0">
                <a:solidFill>
                  <a:srgbClr val="FFFFFF">
                    <a:alpha val="80000"/>
                  </a:srgbClr>
                </a:solidFill>
                <a:latin typeface="Liter" pitchFamily="34" charset="0"/>
                <a:ea typeface="Liter" pitchFamily="34" charset="-122"/>
                <a:cs typeface="Liter" pitchFamily="34" charset="-120"/>
              </a:rPr>
              <a:t>Multiple layers of security to protect transactions and customer data.</a:t>
            </a:r>
            <a:endParaRPr lang="en-US" sz="1600" dirty="0"/>
          </a:p>
        </p:txBody>
      </p:sp>
      <p:sp>
        <p:nvSpPr>
          <p:cNvPr id="95" name="Shape 93"/>
          <p:cNvSpPr/>
          <p:nvPr/>
        </p:nvSpPr>
        <p:spPr>
          <a:xfrm>
            <a:off x="4339134" y="6445250"/>
            <a:ext cx="3516313" cy="190500"/>
          </a:xfrm>
          <a:custGeom>
            <a:avLst/>
            <a:gdLst/>
            <a:ahLst/>
            <a:cxnLst/>
            <a:rect l="l" t="t" r="r" b="b"/>
            <a:pathLst>
              <a:path w="3516313" h="190500">
                <a:moveTo>
                  <a:pt x="0" y="0"/>
                </a:moveTo>
                <a:lnTo>
                  <a:pt x="3516313" y="0"/>
                </a:lnTo>
                <a:lnTo>
                  <a:pt x="3516313" y="190500"/>
                </a:lnTo>
                <a:lnTo>
                  <a:pt x="0" y="190500"/>
                </a:lnTo>
                <a:lnTo>
                  <a:pt x="0" y="0"/>
                </a:lnTo>
                <a:close/>
              </a:path>
            </a:pathLst>
          </a:custGeom>
          <a:solidFill>
            <a:srgbClr val="000000"/>
          </a:solidFill>
          <a:ln/>
        </p:spPr>
      </p:sp>
      <p:sp>
        <p:nvSpPr>
          <p:cNvPr id="96" name="Shape 94"/>
          <p:cNvSpPr/>
          <p:nvPr/>
        </p:nvSpPr>
        <p:spPr>
          <a:xfrm>
            <a:off x="4394696" y="6492778"/>
            <a:ext cx="71438" cy="95250"/>
          </a:xfrm>
          <a:custGeom>
            <a:avLst/>
            <a:gdLst/>
            <a:ahLst/>
            <a:cxnLst/>
            <a:rect l="l" t="t" r="r" b="b"/>
            <a:pathLst>
              <a:path w="71438" h="95250">
                <a:moveTo>
                  <a:pt x="23812" y="17859"/>
                </a:moveTo>
                <a:lnTo>
                  <a:pt x="23812" y="29766"/>
                </a:lnTo>
                <a:lnTo>
                  <a:pt x="47625" y="29766"/>
                </a:lnTo>
                <a:lnTo>
                  <a:pt x="47625" y="17859"/>
                </a:lnTo>
                <a:cubicBezTo>
                  <a:pt x="47625" y="11292"/>
                  <a:pt x="42286" y="5953"/>
                  <a:pt x="35719" y="5953"/>
                </a:cubicBezTo>
                <a:cubicBezTo>
                  <a:pt x="29152" y="5953"/>
                  <a:pt x="23812" y="11292"/>
                  <a:pt x="23812" y="17859"/>
                </a:cubicBezTo>
                <a:close/>
                <a:moveTo>
                  <a:pt x="11906" y="29766"/>
                </a:moveTo>
                <a:lnTo>
                  <a:pt x="11906" y="17859"/>
                </a:lnTo>
                <a:cubicBezTo>
                  <a:pt x="11906" y="4707"/>
                  <a:pt x="22566" y="-5953"/>
                  <a:pt x="35719" y="-5953"/>
                </a:cubicBezTo>
                <a:cubicBezTo>
                  <a:pt x="48871" y="-5953"/>
                  <a:pt x="59531" y="4707"/>
                  <a:pt x="59531" y="17859"/>
                </a:cubicBezTo>
                <a:lnTo>
                  <a:pt x="59531" y="29766"/>
                </a:lnTo>
                <a:cubicBezTo>
                  <a:pt x="66098" y="29766"/>
                  <a:pt x="71438" y="35105"/>
                  <a:pt x="71438" y="41672"/>
                </a:cubicBezTo>
                <a:lnTo>
                  <a:pt x="71438" y="83344"/>
                </a:lnTo>
                <a:cubicBezTo>
                  <a:pt x="71438" y="89911"/>
                  <a:pt x="66098" y="95250"/>
                  <a:pt x="59531" y="95250"/>
                </a:cubicBezTo>
                <a:lnTo>
                  <a:pt x="11906" y="95250"/>
                </a:lnTo>
                <a:cubicBezTo>
                  <a:pt x="5339" y="95250"/>
                  <a:pt x="0" y="89911"/>
                  <a:pt x="0" y="83344"/>
                </a:cubicBezTo>
                <a:lnTo>
                  <a:pt x="0" y="41672"/>
                </a:lnTo>
                <a:cubicBezTo>
                  <a:pt x="0" y="35105"/>
                  <a:pt x="5339" y="29766"/>
                  <a:pt x="11906" y="29766"/>
                </a:cubicBezTo>
                <a:close/>
              </a:path>
            </a:pathLst>
          </a:custGeom>
          <a:solidFill>
            <a:srgbClr val="DDFF00"/>
          </a:solidFill>
          <a:ln/>
        </p:spPr>
      </p:sp>
      <p:sp>
        <p:nvSpPr>
          <p:cNvPr id="97" name="Text 95"/>
          <p:cNvSpPr/>
          <p:nvPr/>
        </p:nvSpPr>
        <p:spPr>
          <a:xfrm>
            <a:off x="4553446" y="6477000"/>
            <a:ext cx="508000" cy="127000"/>
          </a:xfrm>
          <a:prstGeom prst="rect">
            <a:avLst/>
          </a:prstGeom>
          <a:noFill/>
          <a:ln/>
        </p:spPr>
        <p:txBody>
          <a:bodyPr wrap="square" lIns="0" tIns="0" rIns="0" bIns="0" rtlCol="0" anchor="ctr"/>
          <a:lstStyle/>
          <a:p>
            <a:pPr>
              <a:lnSpc>
                <a:spcPct val="110000"/>
              </a:lnSpc>
            </a:pPr>
            <a:r>
              <a:rPr lang="en-US" sz="750" dirty="0">
                <a:solidFill>
                  <a:srgbClr val="FFFFFF"/>
                </a:solidFill>
                <a:latin typeface="Liter" pitchFamily="34" charset="0"/>
                <a:ea typeface="Liter" pitchFamily="34" charset="-122"/>
                <a:cs typeface="Liter" pitchFamily="34" charset="-120"/>
              </a:rPr>
              <a:t>Encryption</a:t>
            </a:r>
            <a:endParaRPr lang="en-US" sz="1600" dirty="0"/>
          </a:p>
        </p:txBody>
      </p:sp>
      <p:sp>
        <p:nvSpPr>
          <p:cNvPr id="98" name="Shape 96"/>
          <p:cNvSpPr/>
          <p:nvPr/>
        </p:nvSpPr>
        <p:spPr>
          <a:xfrm>
            <a:off x="4339134" y="6667403"/>
            <a:ext cx="3516313" cy="190500"/>
          </a:xfrm>
          <a:custGeom>
            <a:avLst/>
            <a:gdLst/>
            <a:ahLst/>
            <a:cxnLst/>
            <a:rect l="l" t="t" r="r" b="b"/>
            <a:pathLst>
              <a:path w="3516313" h="190500">
                <a:moveTo>
                  <a:pt x="0" y="0"/>
                </a:moveTo>
                <a:lnTo>
                  <a:pt x="3516313" y="0"/>
                </a:lnTo>
                <a:lnTo>
                  <a:pt x="3516313" y="190500"/>
                </a:lnTo>
                <a:lnTo>
                  <a:pt x="0" y="190500"/>
                </a:lnTo>
                <a:lnTo>
                  <a:pt x="0" y="0"/>
                </a:lnTo>
                <a:close/>
              </a:path>
            </a:pathLst>
          </a:custGeom>
          <a:solidFill>
            <a:srgbClr val="000000"/>
          </a:solidFill>
          <a:ln/>
        </p:spPr>
      </p:sp>
      <p:sp>
        <p:nvSpPr>
          <p:cNvPr id="99" name="Shape 97"/>
          <p:cNvSpPr/>
          <p:nvPr/>
        </p:nvSpPr>
        <p:spPr>
          <a:xfrm>
            <a:off x="4376837" y="6714927"/>
            <a:ext cx="107156" cy="95250"/>
          </a:xfrm>
          <a:custGeom>
            <a:avLst/>
            <a:gdLst/>
            <a:ahLst/>
            <a:cxnLst/>
            <a:rect l="l" t="t" r="r" b="b"/>
            <a:pathLst>
              <a:path w="107156" h="95250">
                <a:moveTo>
                  <a:pt x="44500" y="-1488"/>
                </a:moveTo>
                <a:cubicBezTo>
                  <a:pt x="43365" y="-2642"/>
                  <a:pt x="41709" y="-3107"/>
                  <a:pt x="40146" y="-2679"/>
                </a:cubicBezTo>
                <a:cubicBezTo>
                  <a:pt x="38584" y="-2251"/>
                  <a:pt x="37374" y="-1042"/>
                  <a:pt x="36984" y="521"/>
                </a:cubicBezTo>
                <a:lnTo>
                  <a:pt x="34137" y="11720"/>
                </a:lnTo>
                <a:cubicBezTo>
                  <a:pt x="33933" y="12539"/>
                  <a:pt x="33096" y="13022"/>
                  <a:pt x="32296" y="12781"/>
                </a:cubicBezTo>
                <a:lnTo>
                  <a:pt x="21171" y="9655"/>
                </a:lnTo>
                <a:cubicBezTo>
                  <a:pt x="19608" y="9209"/>
                  <a:pt x="17934" y="9655"/>
                  <a:pt x="16799" y="10790"/>
                </a:cubicBezTo>
                <a:cubicBezTo>
                  <a:pt x="15664" y="11925"/>
                  <a:pt x="15218" y="13599"/>
                  <a:pt x="15664" y="15162"/>
                </a:cubicBezTo>
                <a:lnTo>
                  <a:pt x="18808" y="26287"/>
                </a:lnTo>
                <a:cubicBezTo>
                  <a:pt x="19031" y="27087"/>
                  <a:pt x="18548" y="27924"/>
                  <a:pt x="17748" y="28129"/>
                </a:cubicBezTo>
                <a:lnTo>
                  <a:pt x="6530" y="30975"/>
                </a:lnTo>
                <a:cubicBezTo>
                  <a:pt x="4967" y="31366"/>
                  <a:pt x="3739" y="32593"/>
                  <a:pt x="3311" y="34156"/>
                </a:cubicBezTo>
                <a:cubicBezTo>
                  <a:pt x="2884" y="35719"/>
                  <a:pt x="3349" y="37374"/>
                  <a:pt x="4502" y="38509"/>
                </a:cubicBezTo>
                <a:lnTo>
                  <a:pt x="12781" y="46565"/>
                </a:lnTo>
                <a:cubicBezTo>
                  <a:pt x="13376" y="47141"/>
                  <a:pt x="13376" y="48109"/>
                  <a:pt x="12781" y="48704"/>
                </a:cubicBezTo>
                <a:lnTo>
                  <a:pt x="4521" y="56759"/>
                </a:lnTo>
                <a:cubicBezTo>
                  <a:pt x="3367" y="57894"/>
                  <a:pt x="2902" y="59550"/>
                  <a:pt x="3330" y="61113"/>
                </a:cubicBezTo>
                <a:cubicBezTo>
                  <a:pt x="3758" y="62675"/>
                  <a:pt x="4986" y="63884"/>
                  <a:pt x="6548" y="64294"/>
                </a:cubicBezTo>
                <a:lnTo>
                  <a:pt x="17748" y="67140"/>
                </a:lnTo>
                <a:cubicBezTo>
                  <a:pt x="18566" y="67345"/>
                  <a:pt x="19050" y="68182"/>
                  <a:pt x="18808" y="68982"/>
                </a:cubicBezTo>
                <a:lnTo>
                  <a:pt x="15664" y="80088"/>
                </a:lnTo>
                <a:cubicBezTo>
                  <a:pt x="15218" y="81651"/>
                  <a:pt x="15664" y="83325"/>
                  <a:pt x="16799" y="84460"/>
                </a:cubicBezTo>
                <a:cubicBezTo>
                  <a:pt x="17934" y="85595"/>
                  <a:pt x="19608" y="86041"/>
                  <a:pt x="21171" y="85595"/>
                </a:cubicBezTo>
                <a:lnTo>
                  <a:pt x="32296" y="82451"/>
                </a:lnTo>
                <a:cubicBezTo>
                  <a:pt x="33096" y="82228"/>
                  <a:pt x="33933" y="82711"/>
                  <a:pt x="34137" y="83511"/>
                </a:cubicBezTo>
                <a:lnTo>
                  <a:pt x="36984" y="94710"/>
                </a:lnTo>
                <a:cubicBezTo>
                  <a:pt x="37374" y="96273"/>
                  <a:pt x="38602" y="97501"/>
                  <a:pt x="40165" y="97929"/>
                </a:cubicBezTo>
                <a:cubicBezTo>
                  <a:pt x="41728" y="98357"/>
                  <a:pt x="43383" y="97892"/>
                  <a:pt x="44518" y="96738"/>
                </a:cubicBezTo>
                <a:lnTo>
                  <a:pt x="52574" y="88460"/>
                </a:lnTo>
                <a:cubicBezTo>
                  <a:pt x="53150" y="87864"/>
                  <a:pt x="54118" y="87864"/>
                  <a:pt x="54713" y="88460"/>
                </a:cubicBezTo>
                <a:lnTo>
                  <a:pt x="62750" y="96738"/>
                </a:lnTo>
                <a:cubicBezTo>
                  <a:pt x="63884" y="97892"/>
                  <a:pt x="65540" y="98357"/>
                  <a:pt x="67103" y="97929"/>
                </a:cubicBezTo>
                <a:cubicBezTo>
                  <a:pt x="68666" y="97501"/>
                  <a:pt x="69875" y="96273"/>
                  <a:pt x="70284" y="94710"/>
                </a:cubicBezTo>
                <a:lnTo>
                  <a:pt x="73130" y="83530"/>
                </a:lnTo>
                <a:cubicBezTo>
                  <a:pt x="73335" y="82711"/>
                  <a:pt x="74172" y="82228"/>
                  <a:pt x="74972" y="82469"/>
                </a:cubicBezTo>
                <a:lnTo>
                  <a:pt x="86097" y="85613"/>
                </a:lnTo>
                <a:cubicBezTo>
                  <a:pt x="87660" y="86060"/>
                  <a:pt x="89334" y="85613"/>
                  <a:pt x="90469" y="84479"/>
                </a:cubicBezTo>
                <a:cubicBezTo>
                  <a:pt x="91604" y="83344"/>
                  <a:pt x="92050" y="81669"/>
                  <a:pt x="91604" y="80107"/>
                </a:cubicBezTo>
                <a:lnTo>
                  <a:pt x="88460" y="68982"/>
                </a:lnTo>
                <a:cubicBezTo>
                  <a:pt x="88236" y="68182"/>
                  <a:pt x="88720" y="67345"/>
                  <a:pt x="89520" y="67140"/>
                </a:cubicBezTo>
                <a:lnTo>
                  <a:pt x="100719" y="64294"/>
                </a:lnTo>
                <a:cubicBezTo>
                  <a:pt x="102282" y="63903"/>
                  <a:pt x="103510" y="62675"/>
                  <a:pt x="103938" y="61113"/>
                </a:cubicBezTo>
                <a:cubicBezTo>
                  <a:pt x="104366" y="59550"/>
                  <a:pt x="103901" y="57876"/>
                  <a:pt x="102747" y="56759"/>
                </a:cubicBezTo>
                <a:lnTo>
                  <a:pt x="94469" y="48704"/>
                </a:lnTo>
                <a:cubicBezTo>
                  <a:pt x="93873" y="48127"/>
                  <a:pt x="93873" y="47160"/>
                  <a:pt x="94469" y="46565"/>
                </a:cubicBezTo>
                <a:lnTo>
                  <a:pt x="102747" y="38509"/>
                </a:lnTo>
                <a:cubicBezTo>
                  <a:pt x="103901" y="37374"/>
                  <a:pt x="104366" y="35719"/>
                  <a:pt x="103938" y="34156"/>
                </a:cubicBezTo>
                <a:cubicBezTo>
                  <a:pt x="103510" y="32593"/>
                  <a:pt x="102282" y="31384"/>
                  <a:pt x="100719" y="30975"/>
                </a:cubicBezTo>
                <a:lnTo>
                  <a:pt x="89520" y="28129"/>
                </a:lnTo>
                <a:cubicBezTo>
                  <a:pt x="88702" y="27924"/>
                  <a:pt x="88218" y="27087"/>
                  <a:pt x="88460" y="26287"/>
                </a:cubicBezTo>
                <a:lnTo>
                  <a:pt x="91604" y="15162"/>
                </a:lnTo>
                <a:cubicBezTo>
                  <a:pt x="92050" y="13599"/>
                  <a:pt x="91604" y="11925"/>
                  <a:pt x="90469" y="10790"/>
                </a:cubicBezTo>
                <a:cubicBezTo>
                  <a:pt x="89334" y="9655"/>
                  <a:pt x="87660" y="9209"/>
                  <a:pt x="86097" y="9655"/>
                </a:cubicBezTo>
                <a:lnTo>
                  <a:pt x="74972" y="12799"/>
                </a:lnTo>
                <a:cubicBezTo>
                  <a:pt x="74172" y="13022"/>
                  <a:pt x="73335" y="12539"/>
                  <a:pt x="73130" y="11739"/>
                </a:cubicBezTo>
                <a:lnTo>
                  <a:pt x="70284" y="521"/>
                </a:lnTo>
                <a:cubicBezTo>
                  <a:pt x="69893" y="-1042"/>
                  <a:pt x="68666" y="-2270"/>
                  <a:pt x="67103" y="-2698"/>
                </a:cubicBezTo>
                <a:cubicBezTo>
                  <a:pt x="65540" y="-3125"/>
                  <a:pt x="63884" y="-2660"/>
                  <a:pt x="62750" y="-1507"/>
                </a:cubicBezTo>
                <a:lnTo>
                  <a:pt x="54694" y="6790"/>
                </a:lnTo>
                <a:cubicBezTo>
                  <a:pt x="54118" y="7386"/>
                  <a:pt x="53150" y="7386"/>
                  <a:pt x="52555" y="6790"/>
                </a:cubicBezTo>
                <a:lnTo>
                  <a:pt x="44500" y="-1488"/>
                </a:lnTo>
                <a:close/>
              </a:path>
            </a:pathLst>
          </a:custGeom>
          <a:solidFill>
            <a:srgbClr val="DDFF00"/>
          </a:solidFill>
          <a:ln/>
        </p:spPr>
      </p:sp>
      <p:sp>
        <p:nvSpPr>
          <p:cNvPr id="100" name="Text 98"/>
          <p:cNvSpPr/>
          <p:nvPr/>
        </p:nvSpPr>
        <p:spPr>
          <a:xfrm>
            <a:off x="4553446" y="6699153"/>
            <a:ext cx="730250" cy="127000"/>
          </a:xfrm>
          <a:prstGeom prst="rect">
            <a:avLst/>
          </a:prstGeom>
          <a:noFill/>
          <a:ln/>
        </p:spPr>
        <p:txBody>
          <a:bodyPr wrap="square" lIns="0" tIns="0" rIns="0" bIns="0" rtlCol="0" anchor="ctr"/>
          <a:lstStyle/>
          <a:p>
            <a:pPr>
              <a:lnSpc>
                <a:spcPct val="110000"/>
              </a:lnSpc>
            </a:pPr>
            <a:r>
              <a:rPr lang="en-US" sz="750" dirty="0">
                <a:solidFill>
                  <a:srgbClr val="FFFFFF"/>
                </a:solidFill>
                <a:latin typeface="Liter" pitchFamily="34" charset="0"/>
                <a:ea typeface="Liter" pitchFamily="34" charset="-122"/>
                <a:cs typeface="Liter" pitchFamily="34" charset="-120"/>
              </a:rPr>
              <a:t>SSL Certificates</a:t>
            </a:r>
            <a:endParaRPr lang="en-US" sz="1600" dirty="0"/>
          </a:p>
        </p:txBody>
      </p:sp>
      <p:sp>
        <p:nvSpPr>
          <p:cNvPr id="101" name="Shape 99"/>
          <p:cNvSpPr/>
          <p:nvPr/>
        </p:nvSpPr>
        <p:spPr>
          <a:xfrm>
            <a:off x="4339134" y="6889552"/>
            <a:ext cx="3516313" cy="190500"/>
          </a:xfrm>
          <a:custGeom>
            <a:avLst/>
            <a:gdLst/>
            <a:ahLst/>
            <a:cxnLst/>
            <a:rect l="l" t="t" r="r" b="b"/>
            <a:pathLst>
              <a:path w="3516313" h="190500">
                <a:moveTo>
                  <a:pt x="0" y="0"/>
                </a:moveTo>
                <a:lnTo>
                  <a:pt x="3516313" y="0"/>
                </a:lnTo>
                <a:lnTo>
                  <a:pt x="3516313" y="190500"/>
                </a:lnTo>
                <a:lnTo>
                  <a:pt x="0" y="190500"/>
                </a:lnTo>
                <a:lnTo>
                  <a:pt x="0" y="0"/>
                </a:lnTo>
                <a:close/>
              </a:path>
            </a:pathLst>
          </a:custGeom>
          <a:solidFill>
            <a:srgbClr val="000000"/>
          </a:solidFill>
          <a:ln/>
        </p:spPr>
      </p:sp>
      <p:sp>
        <p:nvSpPr>
          <p:cNvPr id="102" name="Shape 100"/>
          <p:cNvSpPr/>
          <p:nvPr/>
        </p:nvSpPr>
        <p:spPr>
          <a:xfrm>
            <a:off x="4394696" y="6937077"/>
            <a:ext cx="71438" cy="95250"/>
          </a:xfrm>
          <a:custGeom>
            <a:avLst/>
            <a:gdLst/>
            <a:ahLst/>
            <a:cxnLst/>
            <a:rect l="l" t="t" r="r" b="b"/>
            <a:pathLst>
              <a:path w="71438" h="95250">
                <a:moveTo>
                  <a:pt x="2977" y="11906"/>
                </a:moveTo>
                <a:cubicBezTo>
                  <a:pt x="2977" y="5339"/>
                  <a:pt x="8316" y="0"/>
                  <a:pt x="14883" y="0"/>
                </a:cubicBezTo>
                <a:lnTo>
                  <a:pt x="56555" y="0"/>
                </a:lnTo>
                <a:cubicBezTo>
                  <a:pt x="63122" y="0"/>
                  <a:pt x="68461" y="5339"/>
                  <a:pt x="68461" y="11906"/>
                </a:cubicBezTo>
                <a:lnTo>
                  <a:pt x="68461" y="83344"/>
                </a:lnTo>
                <a:cubicBezTo>
                  <a:pt x="68461" y="89911"/>
                  <a:pt x="63122" y="95250"/>
                  <a:pt x="56555" y="95250"/>
                </a:cubicBezTo>
                <a:lnTo>
                  <a:pt x="14883" y="95250"/>
                </a:lnTo>
                <a:cubicBezTo>
                  <a:pt x="8316" y="95250"/>
                  <a:pt x="2977" y="89911"/>
                  <a:pt x="2977" y="83344"/>
                </a:cubicBezTo>
                <a:lnTo>
                  <a:pt x="2977" y="11906"/>
                </a:lnTo>
                <a:close/>
                <a:moveTo>
                  <a:pt x="14883" y="11906"/>
                </a:moveTo>
                <a:lnTo>
                  <a:pt x="14883" y="68461"/>
                </a:lnTo>
                <a:lnTo>
                  <a:pt x="56555" y="68461"/>
                </a:lnTo>
                <a:lnTo>
                  <a:pt x="56555" y="11906"/>
                </a:lnTo>
                <a:lnTo>
                  <a:pt x="14883" y="11906"/>
                </a:lnTo>
                <a:close/>
                <a:moveTo>
                  <a:pt x="35719" y="87809"/>
                </a:moveTo>
                <a:cubicBezTo>
                  <a:pt x="39012" y="87809"/>
                  <a:pt x="41672" y="85148"/>
                  <a:pt x="41672" y="81855"/>
                </a:cubicBezTo>
                <a:cubicBezTo>
                  <a:pt x="41672" y="78563"/>
                  <a:pt x="39012" y="75902"/>
                  <a:pt x="35719" y="75902"/>
                </a:cubicBezTo>
                <a:cubicBezTo>
                  <a:pt x="32426" y="75902"/>
                  <a:pt x="29766" y="78563"/>
                  <a:pt x="29766" y="81855"/>
                </a:cubicBezTo>
                <a:cubicBezTo>
                  <a:pt x="29766" y="85148"/>
                  <a:pt x="32426" y="87809"/>
                  <a:pt x="35719" y="87809"/>
                </a:cubicBezTo>
                <a:close/>
              </a:path>
            </a:pathLst>
          </a:custGeom>
          <a:solidFill>
            <a:srgbClr val="DDFF00"/>
          </a:solidFill>
          <a:ln/>
        </p:spPr>
      </p:sp>
      <p:sp>
        <p:nvSpPr>
          <p:cNvPr id="103" name="Text 101"/>
          <p:cNvSpPr/>
          <p:nvPr/>
        </p:nvSpPr>
        <p:spPr>
          <a:xfrm>
            <a:off x="4553446" y="6921302"/>
            <a:ext cx="873125" cy="127000"/>
          </a:xfrm>
          <a:prstGeom prst="rect">
            <a:avLst/>
          </a:prstGeom>
          <a:noFill/>
          <a:ln/>
        </p:spPr>
        <p:txBody>
          <a:bodyPr wrap="square" lIns="0" tIns="0" rIns="0" bIns="0" rtlCol="0" anchor="ctr"/>
          <a:lstStyle/>
          <a:p>
            <a:pPr>
              <a:lnSpc>
                <a:spcPct val="110000"/>
              </a:lnSpc>
            </a:pPr>
            <a:r>
              <a:rPr lang="en-US" sz="750" dirty="0">
                <a:solidFill>
                  <a:srgbClr val="FFFFFF"/>
                </a:solidFill>
                <a:latin typeface="Liter" pitchFamily="34" charset="0"/>
                <a:ea typeface="Liter" pitchFamily="34" charset="-122"/>
                <a:cs typeface="Liter" pitchFamily="34" charset="-120"/>
              </a:rPr>
              <a:t>OTP Authentication</a:t>
            </a:r>
            <a:endParaRPr lang="en-US" sz="1600" dirty="0"/>
          </a:p>
        </p:txBody>
      </p:sp>
      <p:sp>
        <p:nvSpPr>
          <p:cNvPr id="104" name="Shape 102"/>
          <p:cNvSpPr/>
          <p:nvPr/>
        </p:nvSpPr>
        <p:spPr>
          <a:xfrm>
            <a:off x="4339134" y="7111702"/>
            <a:ext cx="3516313" cy="190500"/>
          </a:xfrm>
          <a:custGeom>
            <a:avLst/>
            <a:gdLst/>
            <a:ahLst/>
            <a:cxnLst/>
            <a:rect l="l" t="t" r="r" b="b"/>
            <a:pathLst>
              <a:path w="3516313" h="190500">
                <a:moveTo>
                  <a:pt x="0" y="0"/>
                </a:moveTo>
                <a:lnTo>
                  <a:pt x="3516313" y="0"/>
                </a:lnTo>
                <a:lnTo>
                  <a:pt x="3516313" y="190500"/>
                </a:lnTo>
                <a:lnTo>
                  <a:pt x="0" y="190500"/>
                </a:lnTo>
                <a:lnTo>
                  <a:pt x="0" y="0"/>
                </a:lnTo>
                <a:close/>
              </a:path>
            </a:pathLst>
          </a:custGeom>
          <a:solidFill>
            <a:srgbClr val="000000"/>
          </a:solidFill>
          <a:ln/>
        </p:spPr>
      </p:sp>
      <p:sp>
        <p:nvSpPr>
          <p:cNvPr id="105" name="Shape 103"/>
          <p:cNvSpPr/>
          <p:nvPr/>
        </p:nvSpPr>
        <p:spPr>
          <a:xfrm>
            <a:off x="4382790" y="7159230"/>
            <a:ext cx="95250" cy="95250"/>
          </a:xfrm>
          <a:custGeom>
            <a:avLst/>
            <a:gdLst/>
            <a:ahLst/>
            <a:cxnLst/>
            <a:rect l="l" t="t" r="r" b="b"/>
            <a:pathLst>
              <a:path w="95250" h="95250">
                <a:moveTo>
                  <a:pt x="47625" y="0"/>
                </a:moveTo>
                <a:cubicBezTo>
                  <a:pt x="48481" y="0"/>
                  <a:pt x="49337" y="186"/>
                  <a:pt x="50118" y="540"/>
                </a:cubicBezTo>
                <a:lnTo>
                  <a:pt x="85167" y="15404"/>
                </a:lnTo>
                <a:cubicBezTo>
                  <a:pt x="89260" y="17134"/>
                  <a:pt x="92311" y="21171"/>
                  <a:pt x="92292" y="26045"/>
                </a:cubicBezTo>
                <a:cubicBezTo>
                  <a:pt x="92199" y="44500"/>
                  <a:pt x="84609" y="78265"/>
                  <a:pt x="52555" y="93613"/>
                </a:cubicBezTo>
                <a:cubicBezTo>
                  <a:pt x="49448" y="95101"/>
                  <a:pt x="45839" y="95101"/>
                  <a:pt x="42732" y="93613"/>
                </a:cubicBezTo>
                <a:cubicBezTo>
                  <a:pt x="10660" y="78265"/>
                  <a:pt x="3088" y="44500"/>
                  <a:pt x="2995" y="26045"/>
                </a:cubicBezTo>
                <a:cubicBezTo>
                  <a:pt x="2977" y="21171"/>
                  <a:pt x="6028" y="17134"/>
                  <a:pt x="10120" y="15404"/>
                </a:cubicBezTo>
                <a:lnTo>
                  <a:pt x="45151" y="540"/>
                </a:lnTo>
                <a:cubicBezTo>
                  <a:pt x="45932" y="186"/>
                  <a:pt x="46769" y="0"/>
                  <a:pt x="47625" y="0"/>
                </a:cubicBezTo>
                <a:close/>
                <a:moveTo>
                  <a:pt x="47625" y="12427"/>
                </a:moveTo>
                <a:lnTo>
                  <a:pt x="47625" y="82767"/>
                </a:lnTo>
                <a:cubicBezTo>
                  <a:pt x="73298" y="70340"/>
                  <a:pt x="80200" y="42807"/>
                  <a:pt x="80367" y="26324"/>
                </a:cubicBezTo>
                <a:lnTo>
                  <a:pt x="47625" y="12446"/>
                </a:lnTo>
                <a:lnTo>
                  <a:pt x="47625" y="12446"/>
                </a:lnTo>
                <a:close/>
              </a:path>
            </a:pathLst>
          </a:custGeom>
          <a:solidFill>
            <a:srgbClr val="DDFF00"/>
          </a:solidFill>
          <a:ln/>
        </p:spPr>
      </p:sp>
      <p:sp>
        <p:nvSpPr>
          <p:cNvPr id="106" name="Text 104"/>
          <p:cNvSpPr/>
          <p:nvPr/>
        </p:nvSpPr>
        <p:spPr>
          <a:xfrm>
            <a:off x="4553446" y="7143452"/>
            <a:ext cx="762000" cy="127000"/>
          </a:xfrm>
          <a:prstGeom prst="rect">
            <a:avLst/>
          </a:prstGeom>
          <a:noFill/>
          <a:ln/>
        </p:spPr>
        <p:txBody>
          <a:bodyPr wrap="square" lIns="0" tIns="0" rIns="0" bIns="0" rtlCol="0" anchor="ctr"/>
          <a:lstStyle/>
          <a:p>
            <a:pPr>
              <a:lnSpc>
                <a:spcPct val="110000"/>
              </a:lnSpc>
            </a:pPr>
            <a:r>
              <a:rPr lang="en-US" sz="750" dirty="0">
                <a:solidFill>
                  <a:srgbClr val="FFFFFF"/>
                </a:solidFill>
                <a:latin typeface="Liter" pitchFamily="34" charset="0"/>
                <a:ea typeface="Liter" pitchFamily="34" charset="-122"/>
                <a:cs typeface="Liter" pitchFamily="34" charset="-120"/>
              </a:rPr>
              <a:t>Two-Factor Auth</a:t>
            </a:r>
            <a:endParaRPr lang="en-US" sz="1600" dirty="0"/>
          </a:p>
        </p:txBody>
      </p:sp>
      <p:sp>
        <p:nvSpPr>
          <p:cNvPr id="107" name="Shape 105"/>
          <p:cNvSpPr/>
          <p:nvPr/>
        </p:nvSpPr>
        <p:spPr>
          <a:xfrm>
            <a:off x="8106767" y="5413375"/>
            <a:ext cx="3770313" cy="2016125"/>
          </a:xfrm>
          <a:custGeom>
            <a:avLst/>
            <a:gdLst/>
            <a:ahLst/>
            <a:cxnLst/>
            <a:rect l="l" t="t" r="r" b="b"/>
            <a:pathLst>
              <a:path w="3770313" h="2016125">
                <a:moveTo>
                  <a:pt x="0" y="0"/>
                </a:moveTo>
                <a:lnTo>
                  <a:pt x="3770313" y="0"/>
                </a:lnTo>
                <a:lnTo>
                  <a:pt x="3770313" y="2016125"/>
                </a:lnTo>
                <a:lnTo>
                  <a:pt x="0" y="2016125"/>
                </a:lnTo>
                <a:lnTo>
                  <a:pt x="0" y="0"/>
                </a:lnTo>
                <a:close/>
              </a:path>
            </a:pathLst>
          </a:custGeom>
          <a:solidFill>
            <a:srgbClr val="111111"/>
          </a:solidFill>
          <a:ln/>
        </p:spPr>
      </p:sp>
      <p:sp>
        <p:nvSpPr>
          <p:cNvPr id="108" name="Shape 106"/>
          <p:cNvSpPr/>
          <p:nvPr/>
        </p:nvSpPr>
        <p:spPr>
          <a:xfrm>
            <a:off x="8106767" y="5413375"/>
            <a:ext cx="3770313" cy="31750"/>
          </a:xfrm>
          <a:custGeom>
            <a:avLst/>
            <a:gdLst/>
            <a:ahLst/>
            <a:cxnLst/>
            <a:rect l="l" t="t" r="r" b="b"/>
            <a:pathLst>
              <a:path w="3770313" h="31750">
                <a:moveTo>
                  <a:pt x="0" y="0"/>
                </a:moveTo>
                <a:lnTo>
                  <a:pt x="3770313" y="0"/>
                </a:lnTo>
                <a:lnTo>
                  <a:pt x="3770313" y="31750"/>
                </a:lnTo>
                <a:lnTo>
                  <a:pt x="0" y="31750"/>
                </a:lnTo>
                <a:lnTo>
                  <a:pt x="0" y="0"/>
                </a:lnTo>
                <a:close/>
              </a:path>
            </a:pathLst>
          </a:custGeom>
          <a:solidFill>
            <a:srgbClr val="DDFF00"/>
          </a:solidFill>
          <a:ln/>
        </p:spPr>
      </p:sp>
      <p:sp>
        <p:nvSpPr>
          <p:cNvPr id="109" name="Shape 107"/>
          <p:cNvSpPr/>
          <p:nvPr/>
        </p:nvSpPr>
        <p:spPr>
          <a:xfrm>
            <a:off x="8233768" y="5556250"/>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DDFF00"/>
          </a:solidFill>
          <a:ln/>
        </p:spPr>
      </p:sp>
      <p:sp>
        <p:nvSpPr>
          <p:cNvPr id="110" name="Text 108"/>
          <p:cNvSpPr/>
          <p:nvPr/>
        </p:nvSpPr>
        <p:spPr>
          <a:xfrm>
            <a:off x="8304213" y="5603875"/>
            <a:ext cx="246063" cy="222250"/>
          </a:xfrm>
          <a:prstGeom prst="rect">
            <a:avLst/>
          </a:prstGeom>
          <a:noFill/>
          <a:ln/>
        </p:spPr>
        <p:txBody>
          <a:bodyPr wrap="square" lIns="0" tIns="0" rIns="0" bIns="0" rtlCol="0" anchor="ctr"/>
          <a:lstStyle/>
          <a:p>
            <a:pPr>
              <a:lnSpc>
                <a:spcPct val="130000"/>
              </a:lnSpc>
            </a:pPr>
            <a:r>
              <a:rPr lang="en-US" sz="1125" b="1" dirty="0">
                <a:solidFill>
                  <a:srgbClr val="000000"/>
                </a:solidFill>
                <a:latin typeface="Liter" pitchFamily="34" charset="0"/>
                <a:ea typeface="Liter" pitchFamily="34" charset="-122"/>
                <a:cs typeface="Liter" pitchFamily="34" charset="-120"/>
              </a:rPr>
              <a:t>09</a:t>
            </a:r>
            <a:endParaRPr lang="en-US" sz="1600" dirty="0"/>
          </a:p>
        </p:txBody>
      </p:sp>
      <p:sp>
        <p:nvSpPr>
          <p:cNvPr id="111" name="Text 109"/>
          <p:cNvSpPr/>
          <p:nvPr/>
        </p:nvSpPr>
        <p:spPr>
          <a:xfrm>
            <a:off x="8646518" y="5603875"/>
            <a:ext cx="1254125"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Service Integration</a:t>
            </a:r>
            <a:endParaRPr lang="en-US" sz="1600" dirty="0"/>
          </a:p>
        </p:txBody>
      </p:sp>
      <p:sp>
        <p:nvSpPr>
          <p:cNvPr id="112" name="Text 110"/>
          <p:cNvSpPr/>
          <p:nvPr/>
        </p:nvSpPr>
        <p:spPr>
          <a:xfrm>
            <a:off x="8233768" y="5969000"/>
            <a:ext cx="3579813" cy="698500"/>
          </a:xfrm>
          <a:prstGeom prst="rect">
            <a:avLst/>
          </a:prstGeom>
          <a:noFill/>
          <a:ln/>
        </p:spPr>
        <p:txBody>
          <a:bodyPr wrap="square" lIns="0" tIns="0" rIns="0" bIns="0" rtlCol="0" anchor="ctr"/>
          <a:lstStyle/>
          <a:p>
            <a:pPr>
              <a:lnSpc>
                <a:spcPct val="130000"/>
              </a:lnSpc>
            </a:pPr>
            <a:r>
              <a:rPr lang="en-US" sz="1000" dirty="0">
                <a:solidFill>
                  <a:srgbClr val="FFFFFF">
                    <a:alpha val="80000"/>
                  </a:srgbClr>
                </a:solidFill>
                <a:latin typeface="Liter" pitchFamily="34" charset="0"/>
                <a:ea typeface="Liter" pitchFamily="34" charset="-122"/>
                <a:cs typeface="Liter" pitchFamily="34" charset="-120"/>
              </a:rPr>
              <a:t>Seamless integration with external services for complete business operations.</a:t>
            </a:r>
            <a:endParaRPr lang="en-US" sz="1600" dirty="0"/>
          </a:p>
        </p:txBody>
      </p:sp>
      <p:sp>
        <p:nvSpPr>
          <p:cNvPr id="113" name="Shape 111"/>
          <p:cNvSpPr/>
          <p:nvPr/>
        </p:nvSpPr>
        <p:spPr>
          <a:xfrm>
            <a:off x="8249643" y="6786167"/>
            <a:ext cx="111125" cy="111125"/>
          </a:xfrm>
          <a:custGeom>
            <a:avLst/>
            <a:gdLst/>
            <a:ahLst/>
            <a:cxnLst/>
            <a:rect l="l" t="t" r="r" b="b"/>
            <a:pathLst>
              <a:path w="111125" h="111125">
                <a:moveTo>
                  <a:pt x="59013" y="4384"/>
                </a:moveTo>
                <a:cubicBezTo>
                  <a:pt x="56886" y="3169"/>
                  <a:pt x="54260" y="3169"/>
                  <a:pt x="52112" y="4384"/>
                </a:cubicBezTo>
                <a:lnTo>
                  <a:pt x="3494" y="32165"/>
                </a:lnTo>
                <a:cubicBezTo>
                  <a:pt x="760" y="33728"/>
                  <a:pt x="-586" y="36940"/>
                  <a:pt x="217" y="39979"/>
                </a:cubicBezTo>
                <a:cubicBezTo>
                  <a:pt x="1020" y="43018"/>
                  <a:pt x="3798" y="45145"/>
                  <a:pt x="6945" y="45145"/>
                </a:cubicBezTo>
                <a:lnTo>
                  <a:pt x="13891" y="45145"/>
                </a:lnTo>
                <a:lnTo>
                  <a:pt x="13891" y="90289"/>
                </a:lnTo>
                <a:lnTo>
                  <a:pt x="13891" y="90289"/>
                </a:lnTo>
                <a:lnTo>
                  <a:pt x="2778" y="98623"/>
                </a:lnTo>
                <a:cubicBezTo>
                  <a:pt x="1020" y="99926"/>
                  <a:pt x="0" y="101988"/>
                  <a:pt x="0" y="104180"/>
                </a:cubicBezTo>
                <a:cubicBezTo>
                  <a:pt x="0" y="108021"/>
                  <a:pt x="3104" y="111125"/>
                  <a:pt x="6945" y="111125"/>
                </a:cubicBezTo>
                <a:lnTo>
                  <a:pt x="104180" y="111125"/>
                </a:lnTo>
                <a:cubicBezTo>
                  <a:pt x="108021" y="111125"/>
                  <a:pt x="111125" y="108021"/>
                  <a:pt x="111125" y="104180"/>
                </a:cubicBezTo>
                <a:cubicBezTo>
                  <a:pt x="111125" y="101988"/>
                  <a:pt x="110105" y="99926"/>
                  <a:pt x="108347" y="98623"/>
                </a:cubicBezTo>
                <a:lnTo>
                  <a:pt x="97234" y="90289"/>
                </a:lnTo>
                <a:lnTo>
                  <a:pt x="97234" y="45145"/>
                </a:lnTo>
                <a:lnTo>
                  <a:pt x="104180" y="45145"/>
                </a:lnTo>
                <a:cubicBezTo>
                  <a:pt x="107327" y="45145"/>
                  <a:pt x="110083" y="43018"/>
                  <a:pt x="110886" y="39979"/>
                </a:cubicBezTo>
                <a:cubicBezTo>
                  <a:pt x="111689" y="36940"/>
                  <a:pt x="110344" y="33728"/>
                  <a:pt x="107609" y="32165"/>
                </a:cubicBezTo>
                <a:lnTo>
                  <a:pt x="58992" y="4384"/>
                </a:lnTo>
                <a:close/>
                <a:moveTo>
                  <a:pt x="86816" y="45145"/>
                </a:moveTo>
                <a:lnTo>
                  <a:pt x="86816" y="90289"/>
                </a:lnTo>
                <a:lnTo>
                  <a:pt x="72926" y="90289"/>
                </a:lnTo>
                <a:lnTo>
                  <a:pt x="72926" y="45145"/>
                </a:lnTo>
                <a:lnTo>
                  <a:pt x="86816" y="45145"/>
                </a:lnTo>
                <a:close/>
                <a:moveTo>
                  <a:pt x="62508" y="45145"/>
                </a:moveTo>
                <a:lnTo>
                  <a:pt x="62508" y="90289"/>
                </a:lnTo>
                <a:lnTo>
                  <a:pt x="48617" y="90289"/>
                </a:lnTo>
                <a:lnTo>
                  <a:pt x="48617" y="45145"/>
                </a:lnTo>
                <a:lnTo>
                  <a:pt x="62508" y="45145"/>
                </a:lnTo>
                <a:close/>
                <a:moveTo>
                  <a:pt x="38199" y="45145"/>
                </a:moveTo>
                <a:lnTo>
                  <a:pt x="38199" y="90289"/>
                </a:lnTo>
                <a:lnTo>
                  <a:pt x="24309" y="90289"/>
                </a:lnTo>
                <a:lnTo>
                  <a:pt x="24309" y="45145"/>
                </a:lnTo>
                <a:lnTo>
                  <a:pt x="38199" y="45145"/>
                </a:lnTo>
                <a:close/>
                <a:moveTo>
                  <a:pt x="55563" y="20836"/>
                </a:moveTo>
                <a:cubicBezTo>
                  <a:pt x="59396" y="20836"/>
                  <a:pt x="62508" y="23948"/>
                  <a:pt x="62508" y="27781"/>
                </a:cubicBezTo>
                <a:cubicBezTo>
                  <a:pt x="62508" y="31614"/>
                  <a:pt x="59396" y="34727"/>
                  <a:pt x="55563" y="34727"/>
                </a:cubicBezTo>
                <a:cubicBezTo>
                  <a:pt x="51729" y="34727"/>
                  <a:pt x="48617" y="31614"/>
                  <a:pt x="48617" y="27781"/>
                </a:cubicBezTo>
                <a:cubicBezTo>
                  <a:pt x="48617" y="23948"/>
                  <a:pt x="51729" y="20836"/>
                  <a:pt x="55563" y="20836"/>
                </a:cubicBezTo>
                <a:close/>
              </a:path>
            </a:pathLst>
          </a:custGeom>
          <a:solidFill>
            <a:srgbClr val="DDFF00"/>
          </a:solidFill>
          <a:ln/>
        </p:spPr>
      </p:sp>
      <p:sp>
        <p:nvSpPr>
          <p:cNvPr id="114" name="Text 112"/>
          <p:cNvSpPr/>
          <p:nvPr/>
        </p:nvSpPr>
        <p:spPr>
          <a:xfrm>
            <a:off x="8436174" y="6762355"/>
            <a:ext cx="357188" cy="158750"/>
          </a:xfrm>
          <a:prstGeom prst="rect">
            <a:avLst/>
          </a:prstGeom>
          <a:noFill/>
          <a:ln/>
        </p:spPr>
        <p:txBody>
          <a:bodyPr wrap="square" lIns="0" tIns="0" rIns="0" bIns="0" rtlCol="0" anchor="ctr"/>
          <a:lstStyle/>
          <a:p>
            <a:pPr>
              <a:lnSpc>
                <a:spcPct val="120000"/>
              </a:lnSpc>
            </a:pPr>
            <a:r>
              <a:rPr lang="en-US" sz="875" dirty="0">
                <a:solidFill>
                  <a:srgbClr val="FFFFFF">
                    <a:alpha val="70000"/>
                  </a:srgbClr>
                </a:solidFill>
                <a:latin typeface="Liter" pitchFamily="34" charset="0"/>
                <a:ea typeface="Liter" pitchFamily="34" charset="-122"/>
                <a:cs typeface="Liter" pitchFamily="34" charset="-120"/>
              </a:rPr>
              <a:t>Banks</a:t>
            </a:r>
            <a:endParaRPr lang="en-US" sz="1600" dirty="0"/>
          </a:p>
        </p:txBody>
      </p:sp>
      <p:sp>
        <p:nvSpPr>
          <p:cNvPr id="115" name="Shape 113"/>
          <p:cNvSpPr/>
          <p:nvPr/>
        </p:nvSpPr>
        <p:spPr>
          <a:xfrm>
            <a:off x="8235752" y="6976667"/>
            <a:ext cx="138906" cy="111125"/>
          </a:xfrm>
          <a:custGeom>
            <a:avLst/>
            <a:gdLst/>
            <a:ahLst/>
            <a:cxnLst/>
            <a:rect l="l" t="t" r="r" b="b"/>
            <a:pathLst>
              <a:path w="138906" h="111125">
                <a:moveTo>
                  <a:pt x="13891" y="20836"/>
                </a:moveTo>
                <a:cubicBezTo>
                  <a:pt x="13891" y="13174"/>
                  <a:pt x="20120" y="6945"/>
                  <a:pt x="27781" y="6945"/>
                </a:cubicBezTo>
                <a:lnTo>
                  <a:pt x="90289" y="6945"/>
                </a:lnTo>
                <a:cubicBezTo>
                  <a:pt x="97951" y="6945"/>
                  <a:pt x="104180" y="13174"/>
                  <a:pt x="104180" y="20836"/>
                </a:cubicBezTo>
                <a:lnTo>
                  <a:pt x="104180" y="27781"/>
                </a:lnTo>
                <a:lnTo>
                  <a:pt x="115184" y="27781"/>
                </a:lnTo>
                <a:cubicBezTo>
                  <a:pt x="118873" y="27781"/>
                  <a:pt x="122411" y="29235"/>
                  <a:pt x="125016" y="31840"/>
                </a:cubicBezTo>
                <a:lnTo>
                  <a:pt x="134848" y="41672"/>
                </a:lnTo>
                <a:cubicBezTo>
                  <a:pt x="137452" y="44276"/>
                  <a:pt x="138906" y="47814"/>
                  <a:pt x="138906" y="51504"/>
                </a:cubicBezTo>
                <a:lnTo>
                  <a:pt x="138906" y="83344"/>
                </a:lnTo>
                <a:cubicBezTo>
                  <a:pt x="138906" y="91005"/>
                  <a:pt x="132677" y="97234"/>
                  <a:pt x="125016" y="97234"/>
                </a:cubicBezTo>
                <a:lnTo>
                  <a:pt x="124299" y="97234"/>
                </a:lnTo>
                <a:cubicBezTo>
                  <a:pt x="122042" y="105243"/>
                  <a:pt x="114663" y="111125"/>
                  <a:pt x="105916" y="111125"/>
                </a:cubicBezTo>
                <a:cubicBezTo>
                  <a:pt x="97169" y="111125"/>
                  <a:pt x="89812" y="105243"/>
                  <a:pt x="87533" y="97234"/>
                </a:cubicBezTo>
                <a:lnTo>
                  <a:pt x="65264" y="97234"/>
                </a:lnTo>
                <a:cubicBezTo>
                  <a:pt x="63007" y="105243"/>
                  <a:pt x="55628" y="111125"/>
                  <a:pt x="46881" y="111125"/>
                </a:cubicBezTo>
                <a:cubicBezTo>
                  <a:pt x="38134" y="111125"/>
                  <a:pt x="30776" y="105243"/>
                  <a:pt x="28497" y="97234"/>
                </a:cubicBezTo>
                <a:lnTo>
                  <a:pt x="27781" y="97234"/>
                </a:lnTo>
                <a:cubicBezTo>
                  <a:pt x="20120" y="97234"/>
                  <a:pt x="13891" y="91005"/>
                  <a:pt x="13891" y="83344"/>
                </a:cubicBezTo>
                <a:lnTo>
                  <a:pt x="13891" y="72926"/>
                </a:lnTo>
                <a:lnTo>
                  <a:pt x="5209" y="72926"/>
                </a:lnTo>
                <a:cubicBezTo>
                  <a:pt x="2322" y="72926"/>
                  <a:pt x="0" y="70603"/>
                  <a:pt x="0" y="67717"/>
                </a:cubicBezTo>
                <a:cubicBezTo>
                  <a:pt x="0" y="64830"/>
                  <a:pt x="2322" y="62508"/>
                  <a:pt x="5209" y="62508"/>
                </a:cubicBezTo>
                <a:lnTo>
                  <a:pt x="29518" y="62508"/>
                </a:lnTo>
                <a:cubicBezTo>
                  <a:pt x="32404" y="62508"/>
                  <a:pt x="34727" y="60185"/>
                  <a:pt x="34727" y="57299"/>
                </a:cubicBezTo>
                <a:cubicBezTo>
                  <a:pt x="34727" y="54412"/>
                  <a:pt x="32404" y="52090"/>
                  <a:pt x="29518" y="52090"/>
                </a:cubicBezTo>
                <a:lnTo>
                  <a:pt x="5209" y="52090"/>
                </a:lnTo>
                <a:cubicBezTo>
                  <a:pt x="2322" y="52090"/>
                  <a:pt x="0" y="49768"/>
                  <a:pt x="0" y="46881"/>
                </a:cubicBezTo>
                <a:cubicBezTo>
                  <a:pt x="0" y="43994"/>
                  <a:pt x="2322" y="41672"/>
                  <a:pt x="5209" y="41672"/>
                </a:cubicBezTo>
                <a:lnTo>
                  <a:pt x="43408" y="41672"/>
                </a:lnTo>
                <a:cubicBezTo>
                  <a:pt x="46295" y="41672"/>
                  <a:pt x="48617" y="39350"/>
                  <a:pt x="48617" y="36463"/>
                </a:cubicBezTo>
                <a:cubicBezTo>
                  <a:pt x="48617" y="33576"/>
                  <a:pt x="46295" y="31254"/>
                  <a:pt x="43408" y="31254"/>
                </a:cubicBezTo>
                <a:lnTo>
                  <a:pt x="5209" y="31254"/>
                </a:lnTo>
                <a:cubicBezTo>
                  <a:pt x="2322" y="31254"/>
                  <a:pt x="0" y="28932"/>
                  <a:pt x="0" y="26045"/>
                </a:cubicBezTo>
                <a:cubicBezTo>
                  <a:pt x="0" y="23158"/>
                  <a:pt x="2322" y="20836"/>
                  <a:pt x="5209" y="20836"/>
                </a:cubicBezTo>
                <a:lnTo>
                  <a:pt x="13891" y="20836"/>
                </a:lnTo>
                <a:close/>
                <a:moveTo>
                  <a:pt x="125016" y="62508"/>
                </a:moveTo>
                <a:lnTo>
                  <a:pt x="125016" y="51504"/>
                </a:lnTo>
                <a:lnTo>
                  <a:pt x="115184" y="41672"/>
                </a:lnTo>
                <a:lnTo>
                  <a:pt x="104180" y="41672"/>
                </a:lnTo>
                <a:lnTo>
                  <a:pt x="104180" y="62508"/>
                </a:lnTo>
                <a:lnTo>
                  <a:pt x="125016" y="62508"/>
                </a:lnTo>
                <a:close/>
                <a:moveTo>
                  <a:pt x="55563" y="92025"/>
                </a:moveTo>
                <a:cubicBezTo>
                  <a:pt x="55563" y="87234"/>
                  <a:pt x="51672" y="83344"/>
                  <a:pt x="46881" y="83344"/>
                </a:cubicBezTo>
                <a:cubicBezTo>
                  <a:pt x="42089" y="83344"/>
                  <a:pt x="38199" y="87234"/>
                  <a:pt x="38199" y="92025"/>
                </a:cubicBezTo>
                <a:cubicBezTo>
                  <a:pt x="38199" y="96817"/>
                  <a:pt x="42089" y="100707"/>
                  <a:pt x="46881" y="100707"/>
                </a:cubicBezTo>
                <a:cubicBezTo>
                  <a:pt x="51672" y="100707"/>
                  <a:pt x="55563" y="96817"/>
                  <a:pt x="55563" y="92025"/>
                </a:cubicBezTo>
                <a:close/>
                <a:moveTo>
                  <a:pt x="105916" y="100707"/>
                </a:moveTo>
                <a:cubicBezTo>
                  <a:pt x="110708" y="100707"/>
                  <a:pt x="114598" y="96817"/>
                  <a:pt x="114598" y="92025"/>
                </a:cubicBezTo>
                <a:cubicBezTo>
                  <a:pt x="114598" y="87234"/>
                  <a:pt x="110708" y="83344"/>
                  <a:pt x="105916" y="83344"/>
                </a:cubicBezTo>
                <a:cubicBezTo>
                  <a:pt x="101124" y="83344"/>
                  <a:pt x="97234" y="87234"/>
                  <a:pt x="97234" y="92025"/>
                </a:cubicBezTo>
                <a:cubicBezTo>
                  <a:pt x="97234" y="96817"/>
                  <a:pt x="101124" y="100707"/>
                  <a:pt x="105916" y="100707"/>
                </a:cubicBezTo>
                <a:close/>
              </a:path>
            </a:pathLst>
          </a:custGeom>
          <a:solidFill>
            <a:srgbClr val="DDFF00"/>
          </a:solidFill>
          <a:ln/>
        </p:spPr>
      </p:sp>
      <p:sp>
        <p:nvSpPr>
          <p:cNvPr id="116" name="Text 114"/>
          <p:cNvSpPr/>
          <p:nvPr/>
        </p:nvSpPr>
        <p:spPr>
          <a:xfrm>
            <a:off x="8436174" y="6952855"/>
            <a:ext cx="992188" cy="158750"/>
          </a:xfrm>
          <a:prstGeom prst="rect">
            <a:avLst/>
          </a:prstGeom>
          <a:noFill/>
          <a:ln/>
        </p:spPr>
        <p:txBody>
          <a:bodyPr wrap="square" lIns="0" tIns="0" rIns="0" bIns="0" rtlCol="0" anchor="ctr"/>
          <a:lstStyle/>
          <a:p>
            <a:pPr>
              <a:lnSpc>
                <a:spcPct val="120000"/>
              </a:lnSpc>
            </a:pPr>
            <a:r>
              <a:rPr lang="en-US" sz="875" dirty="0">
                <a:solidFill>
                  <a:srgbClr val="FFFFFF">
                    <a:alpha val="70000"/>
                  </a:srgbClr>
                </a:solidFill>
                <a:latin typeface="Liter" pitchFamily="34" charset="0"/>
                <a:ea typeface="Liter" pitchFamily="34" charset="-122"/>
                <a:cs typeface="Liter" pitchFamily="34" charset="-120"/>
              </a:rPr>
              <a:t>Courier Companies</a:t>
            </a:r>
            <a:endParaRPr lang="en-US" sz="1600" dirty="0"/>
          </a:p>
        </p:txBody>
      </p:sp>
      <p:sp>
        <p:nvSpPr>
          <p:cNvPr id="117" name="Shape 115"/>
          <p:cNvSpPr/>
          <p:nvPr/>
        </p:nvSpPr>
        <p:spPr>
          <a:xfrm>
            <a:off x="8249643" y="7167167"/>
            <a:ext cx="111125" cy="111125"/>
          </a:xfrm>
          <a:custGeom>
            <a:avLst/>
            <a:gdLst/>
            <a:ahLst/>
            <a:cxnLst/>
            <a:rect l="l" t="t" r="r" b="b"/>
            <a:pathLst>
              <a:path w="111125" h="111125">
                <a:moveTo>
                  <a:pt x="6945" y="6945"/>
                </a:moveTo>
                <a:cubicBezTo>
                  <a:pt x="10787" y="6945"/>
                  <a:pt x="13891" y="10049"/>
                  <a:pt x="13891" y="13891"/>
                </a:cubicBezTo>
                <a:lnTo>
                  <a:pt x="13891" y="86816"/>
                </a:lnTo>
                <a:cubicBezTo>
                  <a:pt x="13891" y="88726"/>
                  <a:pt x="15453" y="90289"/>
                  <a:pt x="17363" y="90289"/>
                </a:cubicBezTo>
                <a:lnTo>
                  <a:pt x="104180" y="90289"/>
                </a:lnTo>
                <a:cubicBezTo>
                  <a:pt x="108021" y="90289"/>
                  <a:pt x="111125" y="93393"/>
                  <a:pt x="111125" y="97234"/>
                </a:cubicBezTo>
                <a:cubicBezTo>
                  <a:pt x="111125" y="101076"/>
                  <a:pt x="108021" y="104180"/>
                  <a:pt x="104180" y="104180"/>
                </a:cubicBezTo>
                <a:lnTo>
                  <a:pt x="17363" y="104180"/>
                </a:lnTo>
                <a:cubicBezTo>
                  <a:pt x="7770" y="104180"/>
                  <a:pt x="0" y="96410"/>
                  <a:pt x="0" y="86816"/>
                </a:cubicBezTo>
                <a:lnTo>
                  <a:pt x="0" y="13891"/>
                </a:lnTo>
                <a:cubicBezTo>
                  <a:pt x="0" y="10049"/>
                  <a:pt x="3104" y="6945"/>
                  <a:pt x="6945" y="6945"/>
                </a:cubicBezTo>
                <a:close/>
                <a:moveTo>
                  <a:pt x="27781" y="20836"/>
                </a:moveTo>
                <a:cubicBezTo>
                  <a:pt x="27781" y="16994"/>
                  <a:pt x="30885" y="13891"/>
                  <a:pt x="34727" y="13891"/>
                </a:cubicBezTo>
                <a:lnTo>
                  <a:pt x="76398" y="13891"/>
                </a:lnTo>
                <a:cubicBezTo>
                  <a:pt x="80240" y="13891"/>
                  <a:pt x="83344" y="16994"/>
                  <a:pt x="83344" y="20836"/>
                </a:cubicBezTo>
                <a:cubicBezTo>
                  <a:pt x="83344" y="24678"/>
                  <a:pt x="80240" y="27781"/>
                  <a:pt x="76398" y="27781"/>
                </a:cubicBezTo>
                <a:lnTo>
                  <a:pt x="34727" y="27781"/>
                </a:lnTo>
                <a:cubicBezTo>
                  <a:pt x="30885" y="27781"/>
                  <a:pt x="27781" y="24678"/>
                  <a:pt x="27781" y="20836"/>
                </a:cubicBezTo>
                <a:close/>
                <a:moveTo>
                  <a:pt x="34727" y="38199"/>
                </a:moveTo>
                <a:lnTo>
                  <a:pt x="62508" y="38199"/>
                </a:lnTo>
                <a:cubicBezTo>
                  <a:pt x="66349" y="38199"/>
                  <a:pt x="69453" y="41303"/>
                  <a:pt x="69453" y="45145"/>
                </a:cubicBezTo>
                <a:cubicBezTo>
                  <a:pt x="69453" y="48986"/>
                  <a:pt x="66349" y="52090"/>
                  <a:pt x="62508" y="52090"/>
                </a:cubicBezTo>
                <a:lnTo>
                  <a:pt x="34727" y="52090"/>
                </a:lnTo>
                <a:cubicBezTo>
                  <a:pt x="30885" y="52090"/>
                  <a:pt x="27781" y="48986"/>
                  <a:pt x="27781" y="45145"/>
                </a:cubicBezTo>
                <a:cubicBezTo>
                  <a:pt x="27781" y="41303"/>
                  <a:pt x="30885" y="38199"/>
                  <a:pt x="34727" y="38199"/>
                </a:cubicBezTo>
                <a:close/>
                <a:moveTo>
                  <a:pt x="34727" y="62508"/>
                </a:moveTo>
                <a:lnTo>
                  <a:pt x="90289" y="62508"/>
                </a:lnTo>
                <a:cubicBezTo>
                  <a:pt x="94131" y="62508"/>
                  <a:pt x="97234" y="65611"/>
                  <a:pt x="97234" y="69453"/>
                </a:cubicBezTo>
                <a:cubicBezTo>
                  <a:pt x="97234" y="73295"/>
                  <a:pt x="94131" y="76398"/>
                  <a:pt x="90289" y="76398"/>
                </a:cubicBezTo>
                <a:lnTo>
                  <a:pt x="34727" y="76398"/>
                </a:lnTo>
                <a:cubicBezTo>
                  <a:pt x="30885" y="76398"/>
                  <a:pt x="27781" y="73295"/>
                  <a:pt x="27781" y="69453"/>
                </a:cubicBezTo>
                <a:cubicBezTo>
                  <a:pt x="27781" y="65611"/>
                  <a:pt x="30885" y="62508"/>
                  <a:pt x="34727" y="62508"/>
                </a:cubicBezTo>
                <a:close/>
              </a:path>
            </a:pathLst>
          </a:custGeom>
          <a:solidFill>
            <a:srgbClr val="DDFF00"/>
          </a:solidFill>
          <a:ln/>
        </p:spPr>
      </p:sp>
      <p:sp>
        <p:nvSpPr>
          <p:cNvPr id="118" name="Text 116"/>
          <p:cNvSpPr/>
          <p:nvPr/>
        </p:nvSpPr>
        <p:spPr>
          <a:xfrm>
            <a:off x="8436174" y="7143355"/>
            <a:ext cx="746125" cy="158750"/>
          </a:xfrm>
          <a:prstGeom prst="rect">
            <a:avLst/>
          </a:prstGeom>
          <a:noFill/>
          <a:ln/>
        </p:spPr>
        <p:txBody>
          <a:bodyPr wrap="square" lIns="0" tIns="0" rIns="0" bIns="0" rtlCol="0" anchor="ctr"/>
          <a:lstStyle/>
          <a:p>
            <a:pPr>
              <a:lnSpc>
                <a:spcPct val="120000"/>
              </a:lnSpc>
            </a:pPr>
            <a:r>
              <a:rPr lang="en-US" sz="875" dirty="0">
                <a:solidFill>
                  <a:srgbClr val="FFFFFF">
                    <a:alpha val="70000"/>
                  </a:srgbClr>
                </a:solidFill>
                <a:latin typeface="Liter" pitchFamily="34" charset="0"/>
                <a:ea typeface="Liter" pitchFamily="34" charset="-122"/>
                <a:cs typeface="Liter" pitchFamily="34" charset="-120"/>
              </a:rPr>
              <a:t>CRM Systems</a:t>
            </a:r>
            <a:endParaRPr lang="en-US" sz="1600" dirty="0"/>
          </a:p>
        </p:txBody>
      </p:sp>
    </p:spTree>
  </p:cSld>
  <p:clrMapOvr>
    <a:masterClrMapping/>
  </p:clrMapOvr>
  <p:transition>
    <p:fade/>
    <p:spd val="med"/>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41513" y="426891"/>
            <a:ext cx="68303" cy="409815"/>
          </a:xfrm>
          <a:custGeom>
            <a:avLst/>
            <a:gdLst/>
            <a:ahLst/>
            <a:cxnLst/>
            <a:rect l="l" t="t" r="r" b="b"/>
            <a:pathLst>
              <a:path w="68303" h="409815">
                <a:moveTo>
                  <a:pt x="0" y="0"/>
                </a:moveTo>
                <a:lnTo>
                  <a:pt x="68303" y="0"/>
                </a:lnTo>
                <a:lnTo>
                  <a:pt x="68303" y="409815"/>
                </a:lnTo>
                <a:lnTo>
                  <a:pt x="0" y="409815"/>
                </a:lnTo>
                <a:lnTo>
                  <a:pt x="0" y="0"/>
                </a:lnTo>
                <a:close/>
              </a:path>
            </a:pathLst>
          </a:custGeom>
          <a:solidFill>
            <a:srgbClr val="DDFF00"/>
          </a:solidFill>
          <a:ln/>
        </p:spPr>
      </p:sp>
      <p:sp>
        <p:nvSpPr>
          <p:cNvPr id="3" name="Text 1"/>
          <p:cNvSpPr/>
          <p:nvPr/>
        </p:nvSpPr>
        <p:spPr>
          <a:xfrm>
            <a:off x="546420" y="341513"/>
            <a:ext cx="4123765" cy="170756"/>
          </a:xfrm>
          <a:prstGeom prst="rect">
            <a:avLst/>
          </a:prstGeom>
          <a:noFill/>
          <a:ln/>
        </p:spPr>
        <p:txBody>
          <a:bodyPr wrap="square" lIns="0" tIns="0" rIns="0" bIns="0" rtlCol="0" anchor="ctr"/>
          <a:lstStyle/>
          <a:p>
            <a:pPr>
              <a:lnSpc>
                <a:spcPct val="120000"/>
              </a:lnSpc>
            </a:pPr>
            <a:r>
              <a:rPr lang="en-US" sz="941" b="1" spc="94" kern="0" dirty="0">
                <a:solidFill>
                  <a:srgbClr val="DDFF00"/>
                </a:solidFill>
                <a:latin typeface="Liter" pitchFamily="34" charset="0"/>
                <a:ea typeface="Liter" pitchFamily="34" charset="-122"/>
                <a:cs typeface="Liter" pitchFamily="34" charset="-120"/>
              </a:rPr>
              <a:t>CHAPTER 08</a:t>
            </a:r>
            <a:endParaRPr lang="en-US" sz="1600" dirty="0"/>
          </a:p>
        </p:txBody>
      </p:sp>
      <p:sp>
        <p:nvSpPr>
          <p:cNvPr id="4" name="Text 2"/>
          <p:cNvSpPr/>
          <p:nvPr/>
        </p:nvSpPr>
        <p:spPr>
          <a:xfrm>
            <a:off x="546420" y="512269"/>
            <a:ext cx="4268908" cy="409815"/>
          </a:xfrm>
          <a:prstGeom prst="rect">
            <a:avLst/>
          </a:prstGeom>
          <a:noFill/>
          <a:ln/>
        </p:spPr>
        <p:txBody>
          <a:bodyPr wrap="square" lIns="0" tIns="0" rIns="0" bIns="0" rtlCol="0" anchor="ctr"/>
          <a:lstStyle/>
          <a:p>
            <a:pPr>
              <a:lnSpc>
                <a:spcPct val="80000"/>
              </a:lnSpc>
            </a:pPr>
            <a:r>
              <a:rPr lang="en-US" sz="3227" b="1" dirty="0">
                <a:solidFill>
                  <a:srgbClr val="FFFFFF"/>
                </a:solidFill>
                <a:latin typeface="Liter" pitchFamily="34" charset="0"/>
                <a:ea typeface="Liter" pitchFamily="34" charset="-122"/>
                <a:cs typeface="Liter" pitchFamily="34" charset="-120"/>
              </a:rPr>
              <a:t>Types of E-Commerce</a:t>
            </a:r>
            <a:endParaRPr lang="en-US" sz="1600" dirty="0"/>
          </a:p>
        </p:txBody>
      </p:sp>
      <p:sp>
        <p:nvSpPr>
          <p:cNvPr id="5" name="Shape 3"/>
          <p:cNvSpPr/>
          <p:nvPr/>
        </p:nvSpPr>
        <p:spPr>
          <a:xfrm>
            <a:off x="358588" y="1161143"/>
            <a:ext cx="3705412" cy="2441815"/>
          </a:xfrm>
          <a:custGeom>
            <a:avLst/>
            <a:gdLst/>
            <a:ahLst/>
            <a:cxnLst/>
            <a:rect l="l" t="t" r="r" b="b"/>
            <a:pathLst>
              <a:path w="3705412" h="2441815">
                <a:moveTo>
                  <a:pt x="0" y="0"/>
                </a:moveTo>
                <a:lnTo>
                  <a:pt x="3705412" y="0"/>
                </a:lnTo>
                <a:lnTo>
                  <a:pt x="3705412" y="2441815"/>
                </a:lnTo>
                <a:lnTo>
                  <a:pt x="0" y="2441815"/>
                </a:lnTo>
                <a:lnTo>
                  <a:pt x="0" y="0"/>
                </a:lnTo>
                <a:close/>
              </a:path>
            </a:pathLst>
          </a:custGeom>
          <a:solidFill>
            <a:srgbClr val="111111"/>
          </a:solidFill>
          <a:ln/>
        </p:spPr>
      </p:sp>
      <p:sp>
        <p:nvSpPr>
          <p:cNvPr id="6" name="Shape 4"/>
          <p:cNvSpPr/>
          <p:nvPr/>
        </p:nvSpPr>
        <p:spPr>
          <a:xfrm>
            <a:off x="358588" y="1161143"/>
            <a:ext cx="34151" cy="2441815"/>
          </a:xfrm>
          <a:custGeom>
            <a:avLst/>
            <a:gdLst/>
            <a:ahLst/>
            <a:cxnLst/>
            <a:rect l="l" t="t" r="r" b="b"/>
            <a:pathLst>
              <a:path w="34151" h="2441815">
                <a:moveTo>
                  <a:pt x="0" y="0"/>
                </a:moveTo>
                <a:lnTo>
                  <a:pt x="34151" y="0"/>
                </a:lnTo>
                <a:lnTo>
                  <a:pt x="34151" y="2441815"/>
                </a:lnTo>
                <a:lnTo>
                  <a:pt x="0" y="2441815"/>
                </a:lnTo>
                <a:lnTo>
                  <a:pt x="0" y="0"/>
                </a:lnTo>
                <a:close/>
              </a:path>
            </a:pathLst>
          </a:custGeom>
          <a:solidFill>
            <a:srgbClr val="DDFF00"/>
          </a:solidFill>
          <a:ln/>
        </p:spPr>
      </p:sp>
      <p:sp>
        <p:nvSpPr>
          <p:cNvPr id="7" name="Shape 5"/>
          <p:cNvSpPr/>
          <p:nvPr/>
        </p:nvSpPr>
        <p:spPr>
          <a:xfrm>
            <a:off x="546420" y="1331899"/>
            <a:ext cx="478118" cy="478118"/>
          </a:xfrm>
          <a:custGeom>
            <a:avLst/>
            <a:gdLst/>
            <a:ahLst/>
            <a:cxnLst/>
            <a:rect l="l" t="t" r="r" b="b"/>
            <a:pathLst>
              <a:path w="478118" h="478118">
                <a:moveTo>
                  <a:pt x="0" y="0"/>
                </a:moveTo>
                <a:lnTo>
                  <a:pt x="478118" y="0"/>
                </a:lnTo>
                <a:lnTo>
                  <a:pt x="478118" y="478118"/>
                </a:lnTo>
                <a:lnTo>
                  <a:pt x="0" y="478118"/>
                </a:lnTo>
                <a:lnTo>
                  <a:pt x="0" y="0"/>
                </a:lnTo>
                <a:close/>
              </a:path>
            </a:pathLst>
          </a:custGeom>
          <a:solidFill>
            <a:srgbClr val="DDFF00"/>
          </a:solidFill>
          <a:ln/>
        </p:spPr>
      </p:sp>
      <p:sp>
        <p:nvSpPr>
          <p:cNvPr id="8" name="Shape 6"/>
          <p:cNvSpPr/>
          <p:nvPr/>
        </p:nvSpPr>
        <p:spPr>
          <a:xfrm>
            <a:off x="683025" y="1468504"/>
            <a:ext cx="204908" cy="204908"/>
          </a:xfrm>
          <a:custGeom>
            <a:avLst/>
            <a:gdLst/>
            <a:ahLst/>
            <a:cxnLst/>
            <a:rect l="l" t="t" r="r" b="b"/>
            <a:pathLst>
              <a:path w="204908" h="204908">
                <a:moveTo>
                  <a:pt x="12286" y="28935"/>
                </a:moveTo>
                <a:cubicBezTo>
                  <a:pt x="15048" y="19370"/>
                  <a:pt x="23812" y="12807"/>
                  <a:pt x="33778" y="12807"/>
                </a:cubicBezTo>
                <a:lnTo>
                  <a:pt x="171450" y="12807"/>
                </a:lnTo>
                <a:cubicBezTo>
                  <a:pt x="181415" y="12807"/>
                  <a:pt x="190180" y="19370"/>
                  <a:pt x="192981" y="28935"/>
                </a:cubicBezTo>
                <a:lnTo>
                  <a:pt x="202346" y="61032"/>
                </a:lnTo>
                <a:cubicBezTo>
                  <a:pt x="207469" y="78521"/>
                  <a:pt x="194302" y="96050"/>
                  <a:pt x="176092" y="96050"/>
                </a:cubicBezTo>
                <a:cubicBezTo>
                  <a:pt x="165567" y="96050"/>
                  <a:pt x="156322" y="90087"/>
                  <a:pt x="151760" y="81203"/>
                </a:cubicBezTo>
                <a:cubicBezTo>
                  <a:pt x="147117" y="89967"/>
                  <a:pt x="137912" y="96050"/>
                  <a:pt x="127187" y="96050"/>
                </a:cubicBezTo>
                <a:cubicBezTo>
                  <a:pt x="116541" y="96050"/>
                  <a:pt x="107296" y="90047"/>
                  <a:pt x="102654" y="81243"/>
                </a:cubicBezTo>
                <a:cubicBezTo>
                  <a:pt x="98011" y="90047"/>
                  <a:pt x="88767" y="96050"/>
                  <a:pt x="78121" y="96050"/>
                </a:cubicBezTo>
                <a:cubicBezTo>
                  <a:pt x="67395" y="96050"/>
                  <a:pt x="58191" y="90007"/>
                  <a:pt x="53548" y="81203"/>
                </a:cubicBezTo>
                <a:cubicBezTo>
                  <a:pt x="48986" y="90047"/>
                  <a:pt x="39741" y="96050"/>
                  <a:pt x="29215" y="96050"/>
                </a:cubicBezTo>
                <a:cubicBezTo>
                  <a:pt x="10966" y="96050"/>
                  <a:pt x="-2161" y="78561"/>
                  <a:pt x="2962" y="61032"/>
                </a:cubicBezTo>
                <a:lnTo>
                  <a:pt x="12286" y="28935"/>
                </a:lnTo>
                <a:close/>
                <a:moveTo>
                  <a:pt x="38580" y="140874"/>
                </a:moveTo>
                <a:lnTo>
                  <a:pt x="166647" y="140874"/>
                </a:lnTo>
                <a:lnTo>
                  <a:pt x="166647" y="114300"/>
                </a:lnTo>
                <a:cubicBezTo>
                  <a:pt x="169689" y="114940"/>
                  <a:pt x="172851" y="115261"/>
                  <a:pt x="176052" y="115261"/>
                </a:cubicBezTo>
                <a:cubicBezTo>
                  <a:pt x="181775" y="115261"/>
                  <a:pt x="187258" y="114220"/>
                  <a:pt x="192261" y="112379"/>
                </a:cubicBezTo>
                <a:lnTo>
                  <a:pt x="192261" y="172891"/>
                </a:lnTo>
                <a:cubicBezTo>
                  <a:pt x="192261" y="183496"/>
                  <a:pt x="183656" y="192101"/>
                  <a:pt x="173051" y="192101"/>
                </a:cubicBezTo>
                <a:lnTo>
                  <a:pt x="32177" y="192101"/>
                </a:lnTo>
                <a:cubicBezTo>
                  <a:pt x="21571" y="192101"/>
                  <a:pt x="12967" y="183496"/>
                  <a:pt x="12967" y="172891"/>
                </a:cubicBezTo>
                <a:lnTo>
                  <a:pt x="12967" y="112379"/>
                </a:lnTo>
                <a:cubicBezTo>
                  <a:pt x="17969" y="114220"/>
                  <a:pt x="23412" y="115261"/>
                  <a:pt x="29175" y="115261"/>
                </a:cubicBezTo>
                <a:cubicBezTo>
                  <a:pt x="32417" y="115261"/>
                  <a:pt x="35539" y="114940"/>
                  <a:pt x="38580" y="114300"/>
                </a:cubicBezTo>
                <a:lnTo>
                  <a:pt x="38580" y="140874"/>
                </a:lnTo>
                <a:close/>
              </a:path>
            </a:pathLst>
          </a:custGeom>
          <a:solidFill>
            <a:srgbClr val="000000"/>
          </a:solidFill>
          <a:ln/>
        </p:spPr>
      </p:sp>
      <p:sp>
        <p:nvSpPr>
          <p:cNvPr id="9" name="Text 7"/>
          <p:cNvSpPr/>
          <p:nvPr/>
        </p:nvSpPr>
        <p:spPr>
          <a:xfrm>
            <a:off x="1126992" y="1348975"/>
            <a:ext cx="1272134" cy="273210"/>
          </a:xfrm>
          <a:prstGeom prst="rect">
            <a:avLst/>
          </a:prstGeom>
          <a:noFill/>
          <a:ln/>
        </p:spPr>
        <p:txBody>
          <a:bodyPr wrap="square" lIns="0" tIns="0" rIns="0" bIns="0" rtlCol="0" anchor="ctr"/>
          <a:lstStyle/>
          <a:p>
            <a:pPr>
              <a:lnSpc>
                <a:spcPct val="110000"/>
              </a:lnSpc>
            </a:pPr>
            <a:r>
              <a:rPr lang="en-US" sz="1613" b="1" dirty="0">
                <a:solidFill>
                  <a:srgbClr val="DDFF00"/>
                </a:solidFill>
                <a:latin typeface="Liter" pitchFamily="34" charset="0"/>
                <a:ea typeface="Liter" pitchFamily="34" charset="-122"/>
                <a:cs typeface="Liter" pitchFamily="34" charset="-120"/>
              </a:rPr>
              <a:t>B2C</a:t>
            </a:r>
            <a:endParaRPr lang="en-US" sz="1600" dirty="0"/>
          </a:p>
        </p:txBody>
      </p:sp>
      <p:sp>
        <p:nvSpPr>
          <p:cNvPr id="10" name="Text 8"/>
          <p:cNvSpPr/>
          <p:nvPr/>
        </p:nvSpPr>
        <p:spPr>
          <a:xfrm>
            <a:off x="1126992" y="1622081"/>
            <a:ext cx="1229445" cy="170756"/>
          </a:xfrm>
          <a:prstGeom prst="rect">
            <a:avLst/>
          </a:prstGeom>
          <a:noFill/>
          <a:ln/>
        </p:spPr>
        <p:txBody>
          <a:bodyPr wrap="square" lIns="0" tIns="0" rIns="0" bIns="0" rtlCol="0" anchor="ctr"/>
          <a:lstStyle/>
          <a:p>
            <a:pPr>
              <a:lnSpc>
                <a:spcPct val="120000"/>
              </a:lnSpc>
            </a:pPr>
            <a:r>
              <a:rPr lang="en-US" sz="941" dirty="0">
                <a:solidFill>
                  <a:srgbClr val="FFFFFF">
                    <a:alpha val="60000"/>
                  </a:srgbClr>
                </a:solidFill>
                <a:latin typeface="Liter" pitchFamily="34" charset="0"/>
                <a:ea typeface="Liter" pitchFamily="34" charset="-122"/>
                <a:cs typeface="Liter" pitchFamily="34" charset="-120"/>
              </a:rPr>
              <a:t>Business to Consumer</a:t>
            </a:r>
            <a:endParaRPr lang="en-US" sz="1600" dirty="0"/>
          </a:p>
        </p:txBody>
      </p:sp>
      <p:sp>
        <p:nvSpPr>
          <p:cNvPr id="11" name="Text 9"/>
          <p:cNvSpPr/>
          <p:nvPr/>
        </p:nvSpPr>
        <p:spPr>
          <a:xfrm>
            <a:off x="546420" y="1946622"/>
            <a:ext cx="3415126" cy="614723"/>
          </a:xfrm>
          <a:prstGeom prst="rect">
            <a:avLst/>
          </a:prstGeom>
          <a:noFill/>
          <a:ln/>
        </p:spPr>
        <p:txBody>
          <a:bodyPr wrap="square" lIns="0" tIns="0" rIns="0" bIns="0" rtlCol="0" anchor="ctr"/>
          <a:lstStyle/>
          <a:p>
            <a:pPr>
              <a:lnSpc>
                <a:spcPct val="130000"/>
              </a:lnSpc>
            </a:pPr>
            <a:r>
              <a:rPr lang="en-US" sz="1076" dirty="0">
                <a:solidFill>
                  <a:srgbClr val="FFFFFF">
                    <a:alpha val="90000"/>
                  </a:srgbClr>
                </a:solidFill>
                <a:latin typeface="Liter" pitchFamily="34" charset="0"/>
                <a:ea typeface="Liter" pitchFamily="34" charset="-122"/>
                <a:cs typeface="Liter" pitchFamily="34" charset="-120"/>
              </a:rPr>
              <a:t>Business sells directly to end customers through online platforms.</a:t>
            </a:r>
            <a:endParaRPr lang="en-US" sz="1600" dirty="0"/>
          </a:p>
        </p:txBody>
      </p:sp>
      <p:sp>
        <p:nvSpPr>
          <p:cNvPr id="12" name="Shape 10"/>
          <p:cNvSpPr/>
          <p:nvPr/>
        </p:nvSpPr>
        <p:spPr>
          <a:xfrm>
            <a:off x="549835" y="2701365"/>
            <a:ext cx="3336578" cy="724007"/>
          </a:xfrm>
          <a:custGeom>
            <a:avLst/>
            <a:gdLst/>
            <a:ahLst/>
            <a:cxnLst/>
            <a:rect l="l" t="t" r="r" b="b"/>
            <a:pathLst>
              <a:path w="3336578" h="724007">
                <a:moveTo>
                  <a:pt x="0" y="0"/>
                </a:moveTo>
                <a:lnTo>
                  <a:pt x="3336578" y="0"/>
                </a:lnTo>
                <a:lnTo>
                  <a:pt x="3336578" y="724007"/>
                </a:lnTo>
                <a:lnTo>
                  <a:pt x="0" y="724007"/>
                </a:lnTo>
                <a:lnTo>
                  <a:pt x="0" y="0"/>
                </a:lnTo>
                <a:close/>
              </a:path>
            </a:pathLst>
          </a:custGeom>
          <a:solidFill>
            <a:srgbClr val="000000"/>
          </a:solidFill>
          <a:ln w="10160">
            <a:solidFill>
              <a:srgbClr val="DDFF00">
                <a:alpha val="30196"/>
              </a:srgbClr>
            </a:solidFill>
            <a:prstDash val="solid"/>
          </a:ln>
        </p:spPr>
      </p:sp>
      <p:sp>
        <p:nvSpPr>
          <p:cNvPr id="13" name="Shape 11"/>
          <p:cNvSpPr/>
          <p:nvPr/>
        </p:nvSpPr>
        <p:spPr>
          <a:xfrm>
            <a:off x="706931" y="2868706"/>
            <a:ext cx="119529" cy="119529"/>
          </a:xfrm>
          <a:custGeom>
            <a:avLst/>
            <a:gdLst/>
            <a:ahLst/>
            <a:cxnLst/>
            <a:rect l="l" t="t" r="r" b="b"/>
            <a:pathLst>
              <a:path w="119529" h="119529">
                <a:moveTo>
                  <a:pt x="15385" y="53345"/>
                </a:moveTo>
                <a:cubicBezTo>
                  <a:pt x="18490" y="31633"/>
                  <a:pt x="37190" y="14941"/>
                  <a:pt x="59765" y="14941"/>
                </a:cubicBezTo>
                <a:cubicBezTo>
                  <a:pt x="72138" y="14941"/>
                  <a:pt x="83344" y="19960"/>
                  <a:pt x="91468" y="28061"/>
                </a:cubicBezTo>
                <a:cubicBezTo>
                  <a:pt x="91515" y="28108"/>
                  <a:pt x="91561" y="28155"/>
                  <a:pt x="91608" y="28201"/>
                </a:cubicBezTo>
                <a:lnTo>
                  <a:pt x="93382" y="29882"/>
                </a:lnTo>
                <a:lnTo>
                  <a:pt x="82200" y="29882"/>
                </a:lnTo>
                <a:cubicBezTo>
                  <a:pt x="78068" y="29882"/>
                  <a:pt x="74729" y="33221"/>
                  <a:pt x="74729" y="37353"/>
                </a:cubicBezTo>
                <a:cubicBezTo>
                  <a:pt x="74729" y="41485"/>
                  <a:pt x="78068" y="44824"/>
                  <a:pt x="82200" y="44824"/>
                </a:cubicBezTo>
                <a:lnTo>
                  <a:pt x="112082" y="44824"/>
                </a:lnTo>
                <a:cubicBezTo>
                  <a:pt x="116214" y="44824"/>
                  <a:pt x="119553" y="41485"/>
                  <a:pt x="119553" y="37353"/>
                </a:cubicBezTo>
                <a:lnTo>
                  <a:pt x="119553" y="7471"/>
                </a:lnTo>
                <a:cubicBezTo>
                  <a:pt x="119553" y="3338"/>
                  <a:pt x="116214" y="0"/>
                  <a:pt x="112082" y="0"/>
                </a:cubicBezTo>
                <a:cubicBezTo>
                  <a:pt x="107950" y="0"/>
                  <a:pt x="104612" y="3338"/>
                  <a:pt x="104612" y="7471"/>
                </a:cubicBezTo>
                <a:lnTo>
                  <a:pt x="104612" y="19937"/>
                </a:lnTo>
                <a:lnTo>
                  <a:pt x="101974" y="17439"/>
                </a:lnTo>
                <a:cubicBezTo>
                  <a:pt x="91165" y="6677"/>
                  <a:pt x="76223" y="0"/>
                  <a:pt x="59765" y="0"/>
                </a:cubicBezTo>
                <a:cubicBezTo>
                  <a:pt x="29649" y="0"/>
                  <a:pt x="4739" y="22272"/>
                  <a:pt x="607" y="51244"/>
                </a:cubicBezTo>
                <a:cubicBezTo>
                  <a:pt x="23" y="55329"/>
                  <a:pt x="2848" y="59111"/>
                  <a:pt x="6934" y="59695"/>
                </a:cubicBezTo>
                <a:cubicBezTo>
                  <a:pt x="11019" y="60278"/>
                  <a:pt x="14801" y="57430"/>
                  <a:pt x="15385" y="53368"/>
                </a:cubicBezTo>
                <a:close/>
                <a:moveTo>
                  <a:pt x="118922" y="68286"/>
                </a:moveTo>
                <a:cubicBezTo>
                  <a:pt x="119506" y="64200"/>
                  <a:pt x="116658" y="60418"/>
                  <a:pt x="112596" y="59835"/>
                </a:cubicBezTo>
                <a:cubicBezTo>
                  <a:pt x="108534" y="59251"/>
                  <a:pt x="104728" y="62099"/>
                  <a:pt x="104145" y="66161"/>
                </a:cubicBezTo>
                <a:cubicBezTo>
                  <a:pt x="101040" y="87873"/>
                  <a:pt x="82340" y="104565"/>
                  <a:pt x="59765" y="104565"/>
                </a:cubicBezTo>
                <a:cubicBezTo>
                  <a:pt x="47392" y="104565"/>
                  <a:pt x="36186" y="99546"/>
                  <a:pt x="28061" y="91445"/>
                </a:cubicBezTo>
                <a:cubicBezTo>
                  <a:pt x="28015" y="91398"/>
                  <a:pt x="27968" y="91351"/>
                  <a:pt x="27921" y="91305"/>
                </a:cubicBezTo>
                <a:lnTo>
                  <a:pt x="26147" y="89624"/>
                </a:lnTo>
                <a:lnTo>
                  <a:pt x="37330" y="89624"/>
                </a:lnTo>
                <a:cubicBezTo>
                  <a:pt x="41462" y="89624"/>
                  <a:pt x="44800" y="86285"/>
                  <a:pt x="44800" y="82153"/>
                </a:cubicBezTo>
                <a:cubicBezTo>
                  <a:pt x="44800" y="78021"/>
                  <a:pt x="41462" y="74683"/>
                  <a:pt x="37330" y="74683"/>
                </a:cubicBezTo>
                <a:lnTo>
                  <a:pt x="7471" y="74706"/>
                </a:lnTo>
                <a:cubicBezTo>
                  <a:pt x="5486" y="74706"/>
                  <a:pt x="3572" y="75500"/>
                  <a:pt x="2171" y="76924"/>
                </a:cubicBezTo>
                <a:cubicBezTo>
                  <a:pt x="770" y="78348"/>
                  <a:pt x="-23" y="80239"/>
                  <a:pt x="0" y="82247"/>
                </a:cubicBezTo>
                <a:lnTo>
                  <a:pt x="233" y="111895"/>
                </a:lnTo>
                <a:cubicBezTo>
                  <a:pt x="257" y="116028"/>
                  <a:pt x="3642" y="119343"/>
                  <a:pt x="7774" y="119296"/>
                </a:cubicBezTo>
                <a:cubicBezTo>
                  <a:pt x="11906" y="119249"/>
                  <a:pt x="15221" y="115888"/>
                  <a:pt x="15175" y="111755"/>
                </a:cubicBezTo>
                <a:lnTo>
                  <a:pt x="15081" y="99732"/>
                </a:lnTo>
                <a:lnTo>
                  <a:pt x="17579" y="102090"/>
                </a:lnTo>
                <a:cubicBezTo>
                  <a:pt x="28388" y="112853"/>
                  <a:pt x="43306" y="119529"/>
                  <a:pt x="59765" y="119529"/>
                </a:cubicBezTo>
                <a:cubicBezTo>
                  <a:pt x="89881" y="119529"/>
                  <a:pt x="114790" y="97258"/>
                  <a:pt x="118922" y="68286"/>
                </a:cubicBezTo>
                <a:close/>
              </a:path>
            </a:pathLst>
          </a:custGeom>
          <a:solidFill>
            <a:srgbClr val="DDFF00"/>
          </a:solidFill>
          <a:ln/>
        </p:spPr>
      </p:sp>
      <p:sp>
        <p:nvSpPr>
          <p:cNvPr id="14" name="Text 12"/>
          <p:cNvSpPr/>
          <p:nvPr/>
        </p:nvSpPr>
        <p:spPr>
          <a:xfrm>
            <a:off x="889454" y="2841387"/>
            <a:ext cx="2916704" cy="170756"/>
          </a:xfrm>
          <a:prstGeom prst="rect">
            <a:avLst/>
          </a:prstGeom>
          <a:noFill/>
          <a:ln/>
        </p:spPr>
        <p:txBody>
          <a:bodyPr wrap="square" lIns="0" tIns="0" rIns="0" bIns="0" rtlCol="0" anchor="ctr"/>
          <a:lstStyle/>
          <a:p>
            <a:pPr>
              <a:lnSpc>
                <a:spcPct val="120000"/>
              </a:lnSpc>
            </a:pPr>
            <a:r>
              <a:rPr lang="en-US" sz="941" b="1" dirty="0">
                <a:solidFill>
                  <a:srgbClr val="DDFF00"/>
                </a:solidFill>
                <a:latin typeface="Liter" pitchFamily="34" charset="0"/>
                <a:ea typeface="Liter" pitchFamily="34" charset="-122"/>
                <a:cs typeface="Liter" pitchFamily="34" charset="-120"/>
              </a:rPr>
              <a:t>Example:</a:t>
            </a:r>
            <a:endParaRPr lang="en-US" sz="1600" dirty="0"/>
          </a:p>
        </p:txBody>
      </p:sp>
      <p:sp>
        <p:nvSpPr>
          <p:cNvPr id="15" name="Text 13"/>
          <p:cNvSpPr/>
          <p:nvPr/>
        </p:nvSpPr>
        <p:spPr>
          <a:xfrm>
            <a:off x="689855" y="3080446"/>
            <a:ext cx="3124840" cy="204908"/>
          </a:xfrm>
          <a:prstGeom prst="rect">
            <a:avLst/>
          </a:prstGeom>
          <a:noFill/>
          <a:ln/>
        </p:spPr>
        <p:txBody>
          <a:bodyPr wrap="square" lIns="0" tIns="0" rIns="0" bIns="0" rtlCol="0" anchor="ctr"/>
          <a:lstStyle/>
          <a:p>
            <a:pPr>
              <a:lnSpc>
                <a:spcPct val="130000"/>
              </a:lnSpc>
            </a:pPr>
            <a:r>
              <a:rPr lang="en-US" sz="1076" dirty="0">
                <a:solidFill>
                  <a:srgbClr val="FFFFFF"/>
                </a:solidFill>
                <a:latin typeface="Liter" pitchFamily="34" charset="0"/>
                <a:ea typeface="Liter" pitchFamily="34" charset="-122"/>
                <a:cs typeface="Liter" pitchFamily="34" charset="-120"/>
              </a:rPr>
              <a:t>Amazon selling products to individual customers</a:t>
            </a:r>
            <a:endParaRPr lang="en-US" sz="1600" dirty="0"/>
          </a:p>
        </p:txBody>
      </p:sp>
      <p:sp>
        <p:nvSpPr>
          <p:cNvPr id="16" name="Shape 14"/>
          <p:cNvSpPr/>
          <p:nvPr/>
        </p:nvSpPr>
        <p:spPr>
          <a:xfrm>
            <a:off x="4250551" y="1161143"/>
            <a:ext cx="3705412" cy="2441815"/>
          </a:xfrm>
          <a:custGeom>
            <a:avLst/>
            <a:gdLst/>
            <a:ahLst/>
            <a:cxnLst/>
            <a:rect l="l" t="t" r="r" b="b"/>
            <a:pathLst>
              <a:path w="3705412" h="2441815">
                <a:moveTo>
                  <a:pt x="0" y="0"/>
                </a:moveTo>
                <a:lnTo>
                  <a:pt x="3705412" y="0"/>
                </a:lnTo>
                <a:lnTo>
                  <a:pt x="3705412" y="2441815"/>
                </a:lnTo>
                <a:lnTo>
                  <a:pt x="0" y="2441815"/>
                </a:lnTo>
                <a:lnTo>
                  <a:pt x="0" y="0"/>
                </a:lnTo>
                <a:close/>
              </a:path>
            </a:pathLst>
          </a:custGeom>
          <a:solidFill>
            <a:srgbClr val="111111"/>
          </a:solidFill>
          <a:ln/>
        </p:spPr>
      </p:sp>
      <p:sp>
        <p:nvSpPr>
          <p:cNvPr id="17" name="Shape 15"/>
          <p:cNvSpPr/>
          <p:nvPr/>
        </p:nvSpPr>
        <p:spPr>
          <a:xfrm>
            <a:off x="4250551" y="1161143"/>
            <a:ext cx="34151" cy="2441815"/>
          </a:xfrm>
          <a:custGeom>
            <a:avLst/>
            <a:gdLst/>
            <a:ahLst/>
            <a:cxnLst/>
            <a:rect l="l" t="t" r="r" b="b"/>
            <a:pathLst>
              <a:path w="34151" h="2441815">
                <a:moveTo>
                  <a:pt x="0" y="0"/>
                </a:moveTo>
                <a:lnTo>
                  <a:pt x="34151" y="0"/>
                </a:lnTo>
                <a:lnTo>
                  <a:pt x="34151" y="2441815"/>
                </a:lnTo>
                <a:lnTo>
                  <a:pt x="0" y="2441815"/>
                </a:lnTo>
                <a:lnTo>
                  <a:pt x="0" y="0"/>
                </a:lnTo>
                <a:close/>
              </a:path>
            </a:pathLst>
          </a:custGeom>
          <a:solidFill>
            <a:srgbClr val="DDFF00"/>
          </a:solidFill>
          <a:ln/>
        </p:spPr>
      </p:sp>
      <p:sp>
        <p:nvSpPr>
          <p:cNvPr id="18" name="Shape 16"/>
          <p:cNvSpPr/>
          <p:nvPr/>
        </p:nvSpPr>
        <p:spPr>
          <a:xfrm>
            <a:off x="4438384" y="1331899"/>
            <a:ext cx="478118" cy="478118"/>
          </a:xfrm>
          <a:custGeom>
            <a:avLst/>
            <a:gdLst/>
            <a:ahLst/>
            <a:cxnLst/>
            <a:rect l="l" t="t" r="r" b="b"/>
            <a:pathLst>
              <a:path w="478118" h="478118">
                <a:moveTo>
                  <a:pt x="0" y="0"/>
                </a:moveTo>
                <a:lnTo>
                  <a:pt x="478118" y="0"/>
                </a:lnTo>
                <a:lnTo>
                  <a:pt x="478118" y="478118"/>
                </a:lnTo>
                <a:lnTo>
                  <a:pt x="0" y="478118"/>
                </a:lnTo>
                <a:lnTo>
                  <a:pt x="0" y="0"/>
                </a:lnTo>
                <a:close/>
              </a:path>
            </a:pathLst>
          </a:custGeom>
          <a:solidFill>
            <a:srgbClr val="DDFF00"/>
          </a:solidFill>
          <a:ln/>
        </p:spPr>
      </p:sp>
      <p:sp>
        <p:nvSpPr>
          <p:cNvPr id="19" name="Shape 17"/>
          <p:cNvSpPr/>
          <p:nvPr/>
        </p:nvSpPr>
        <p:spPr>
          <a:xfrm>
            <a:off x="4600602" y="1468504"/>
            <a:ext cx="153681" cy="204908"/>
          </a:xfrm>
          <a:custGeom>
            <a:avLst/>
            <a:gdLst/>
            <a:ahLst/>
            <a:cxnLst/>
            <a:rect l="l" t="t" r="r" b="b"/>
            <a:pathLst>
              <a:path w="153681" h="204908">
                <a:moveTo>
                  <a:pt x="25613" y="0"/>
                </a:moveTo>
                <a:cubicBezTo>
                  <a:pt x="11486" y="0"/>
                  <a:pt x="0" y="11486"/>
                  <a:pt x="0" y="25613"/>
                </a:cubicBezTo>
                <a:lnTo>
                  <a:pt x="0" y="179294"/>
                </a:lnTo>
                <a:cubicBezTo>
                  <a:pt x="0" y="193422"/>
                  <a:pt x="11486" y="204908"/>
                  <a:pt x="25613" y="204908"/>
                </a:cubicBezTo>
                <a:lnTo>
                  <a:pt x="128067" y="204908"/>
                </a:lnTo>
                <a:cubicBezTo>
                  <a:pt x="142195" y="204908"/>
                  <a:pt x="153681" y="193422"/>
                  <a:pt x="153681" y="179294"/>
                </a:cubicBezTo>
                <a:lnTo>
                  <a:pt x="153681" y="25613"/>
                </a:lnTo>
                <a:cubicBezTo>
                  <a:pt x="153681" y="11486"/>
                  <a:pt x="142195" y="0"/>
                  <a:pt x="128067" y="0"/>
                </a:cubicBezTo>
                <a:lnTo>
                  <a:pt x="25613" y="0"/>
                </a:lnTo>
                <a:close/>
                <a:moveTo>
                  <a:pt x="70437" y="140874"/>
                </a:moveTo>
                <a:lnTo>
                  <a:pt x="83244" y="140874"/>
                </a:lnTo>
                <a:cubicBezTo>
                  <a:pt x="90327" y="140874"/>
                  <a:pt x="96050" y="146597"/>
                  <a:pt x="96050" y="153681"/>
                </a:cubicBezTo>
                <a:lnTo>
                  <a:pt x="96050" y="185697"/>
                </a:lnTo>
                <a:lnTo>
                  <a:pt x="57630" y="185697"/>
                </a:lnTo>
                <a:lnTo>
                  <a:pt x="57630" y="153681"/>
                </a:lnTo>
                <a:cubicBezTo>
                  <a:pt x="57630" y="146597"/>
                  <a:pt x="63353" y="140874"/>
                  <a:pt x="70437" y="140874"/>
                </a:cubicBezTo>
                <a:close/>
                <a:moveTo>
                  <a:pt x="38420" y="44824"/>
                </a:moveTo>
                <a:cubicBezTo>
                  <a:pt x="38420" y="41302"/>
                  <a:pt x="41302" y="38420"/>
                  <a:pt x="44824" y="38420"/>
                </a:cubicBezTo>
                <a:lnTo>
                  <a:pt x="57630" y="38420"/>
                </a:lnTo>
                <a:cubicBezTo>
                  <a:pt x="61152" y="38420"/>
                  <a:pt x="64034" y="41302"/>
                  <a:pt x="64034" y="44824"/>
                </a:cubicBezTo>
                <a:lnTo>
                  <a:pt x="64034" y="57630"/>
                </a:lnTo>
                <a:cubicBezTo>
                  <a:pt x="64034" y="61152"/>
                  <a:pt x="61152" y="64034"/>
                  <a:pt x="57630" y="64034"/>
                </a:cubicBezTo>
                <a:lnTo>
                  <a:pt x="44824" y="64034"/>
                </a:lnTo>
                <a:cubicBezTo>
                  <a:pt x="41302" y="64034"/>
                  <a:pt x="38420" y="61152"/>
                  <a:pt x="38420" y="57630"/>
                </a:cubicBezTo>
                <a:lnTo>
                  <a:pt x="38420" y="44824"/>
                </a:lnTo>
                <a:close/>
                <a:moveTo>
                  <a:pt x="96050" y="38420"/>
                </a:moveTo>
                <a:lnTo>
                  <a:pt x="108857" y="38420"/>
                </a:lnTo>
                <a:cubicBezTo>
                  <a:pt x="112379" y="38420"/>
                  <a:pt x="115261" y="41302"/>
                  <a:pt x="115261" y="44824"/>
                </a:cubicBezTo>
                <a:lnTo>
                  <a:pt x="115261" y="57630"/>
                </a:lnTo>
                <a:cubicBezTo>
                  <a:pt x="115261" y="61152"/>
                  <a:pt x="112379" y="64034"/>
                  <a:pt x="108857" y="64034"/>
                </a:cubicBezTo>
                <a:lnTo>
                  <a:pt x="96050" y="64034"/>
                </a:lnTo>
                <a:cubicBezTo>
                  <a:pt x="92529" y="64034"/>
                  <a:pt x="89647" y="61152"/>
                  <a:pt x="89647" y="57630"/>
                </a:cubicBezTo>
                <a:lnTo>
                  <a:pt x="89647" y="44824"/>
                </a:lnTo>
                <a:cubicBezTo>
                  <a:pt x="89647" y="41302"/>
                  <a:pt x="92529" y="38420"/>
                  <a:pt x="96050" y="38420"/>
                </a:cubicBezTo>
                <a:close/>
                <a:moveTo>
                  <a:pt x="38420" y="96050"/>
                </a:moveTo>
                <a:cubicBezTo>
                  <a:pt x="38420" y="92529"/>
                  <a:pt x="41302" y="89647"/>
                  <a:pt x="44824" y="89647"/>
                </a:cubicBezTo>
                <a:lnTo>
                  <a:pt x="57630" y="89647"/>
                </a:lnTo>
                <a:cubicBezTo>
                  <a:pt x="61152" y="89647"/>
                  <a:pt x="64034" y="92529"/>
                  <a:pt x="64034" y="96050"/>
                </a:cubicBezTo>
                <a:lnTo>
                  <a:pt x="64034" y="108857"/>
                </a:lnTo>
                <a:cubicBezTo>
                  <a:pt x="64034" y="112379"/>
                  <a:pt x="61152" y="115261"/>
                  <a:pt x="57630" y="115261"/>
                </a:cubicBezTo>
                <a:lnTo>
                  <a:pt x="44824" y="115261"/>
                </a:lnTo>
                <a:cubicBezTo>
                  <a:pt x="41302" y="115261"/>
                  <a:pt x="38420" y="112379"/>
                  <a:pt x="38420" y="108857"/>
                </a:cubicBezTo>
                <a:lnTo>
                  <a:pt x="38420" y="96050"/>
                </a:lnTo>
                <a:close/>
                <a:moveTo>
                  <a:pt x="96050" y="89647"/>
                </a:moveTo>
                <a:lnTo>
                  <a:pt x="108857" y="89647"/>
                </a:lnTo>
                <a:cubicBezTo>
                  <a:pt x="112379" y="89647"/>
                  <a:pt x="115261" y="92529"/>
                  <a:pt x="115261" y="96050"/>
                </a:cubicBezTo>
                <a:lnTo>
                  <a:pt x="115261" y="108857"/>
                </a:lnTo>
                <a:cubicBezTo>
                  <a:pt x="115261" y="112379"/>
                  <a:pt x="112379" y="115261"/>
                  <a:pt x="108857" y="115261"/>
                </a:cubicBezTo>
                <a:lnTo>
                  <a:pt x="96050" y="115261"/>
                </a:lnTo>
                <a:cubicBezTo>
                  <a:pt x="92529" y="115261"/>
                  <a:pt x="89647" y="112379"/>
                  <a:pt x="89647" y="108857"/>
                </a:cubicBezTo>
                <a:lnTo>
                  <a:pt x="89647" y="96050"/>
                </a:lnTo>
                <a:cubicBezTo>
                  <a:pt x="89647" y="92529"/>
                  <a:pt x="92529" y="89647"/>
                  <a:pt x="96050" y="89647"/>
                </a:cubicBezTo>
                <a:close/>
              </a:path>
            </a:pathLst>
          </a:custGeom>
          <a:solidFill>
            <a:srgbClr val="000000"/>
          </a:solidFill>
          <a:ln/>
        </p:spPr>
      </p:sp>
      <p:sp>
        <p:nvSpPr>
          <p:cNvPr id="20" name="Text 18"/>
          <p:cNvSpPr/>
          <p:nvPr/>
        </p:nvSpPr>
        <p:spPr>
          <a:xfrm>
            <a:off x="5018955" y="1348975"/>
            <a:ext cx="1203832" cy="273210"/>
          </a:xfrm>
          <a:prstGeom prst="rect">
            <a:avLst/>
          </a:prstGeom>
          <a:noFill/>
          <a:ln/>
        </p:spPr>
        <p:txBody>
          <a:bodyPr wrap="square" lIns="0" tIns="0" rIns="0" bIns="0" rtlCol="0" anchor="ctr"/>
          <a:lstStyle/>
          <a:p>
            <a:pPr>
              <a:lnSpc>
                <a:spcPct val="110000"/>
              </a:lnSpc>
            </a:pPr>
            <a:r>
              <a:rPr lang="en-US" sz="1613" b="1" dirty="0">
                <a:solidFill>
                  <a:srgbClr val="DDFF00"/>
                </a:solidFill>
                <a:latin typeface="Liter" pitchFamily="34" charset="0"/>
                <a:ea typeface="Liter" pitchFamily="34" charset="-122"/>
                <a:cs typeface="Liter" pitchFamily="34" charset="-120"/>
              </a:rPr>
              <a:t>B2B</a:t>
            </a:r>
            <a:endParaRPr lang="en-US" sz="1600" dirty="0"/>
          </a:p>
        </p:txBody>
      </p:sp>
      <p:sp>
        <p:nvSpPr>
          <p:cNvPr id="21" name="Text 19"/>
          <p:cNvSpPr/>
          <p:nvPr/>
        </p:nvSpPr>
        <p:spPr>
          <a:xfrm>
            <a:off x="5018955" y="1622081"/>
            <a:ext cx="1161143" cy="170756"/>
          </a:xfrm>
          <a:prstGeom prst="rect">
            <a:avLst/>
          </a:prstGeom>
          <a:noFill/>
          <a:ln/>
        </p:spPr>
        <p:txBody>
          <a:bodyPr wrap="square" lIns="0" tIns="0" rIns="0" bIns="0" rtlCol="0" anchor="ctr"/>
          <a:lstStyle/>
          <a:p>
            <a:pPr>
              <a:lnSpc>
                <a:spcPct val="120000"/>
              </a:lnSpc>
            </a:pPr>
            <a:r>
              <a:rPr lang="en-US" sz="941" dirty="0">
                <a:solidFill>
                  <a:srgbClr val="FFFFFF">
                    <a:alpha val="60000"/>
                  </a:srgbClr>
                </a:solidFill>
                <a:latin typeface="Liter" pitchFamily="34" charset="0"/>
                <a:ea typeface="Liter" pitchFamily="34" charset="-122"/>
                <a:cs typeface="Liter" pitchFamily="34" charset="-120"/>
              </a:rPr>
              <a:t>Business to Business</a:t>
            </a:r>
            <a:endParaRPr lang="en-US" sz="1600" dirty="0"/>
          </a:p>
        </p:txBody>
      </p:sp>
      <p:sp>
        <p:nvSpPr>
          <p:cNvPr id="22" name="Text 20"/>
          <p:cNvSpPr/>
          <p:nvPr/>
        </p:nvSpPr>
        <p:spPr>
          <a:xfrm>
            <a:off x="4438384" y="1946622"/>
            <a:ext cx="3415126" cy="409815"/>
          </a:xfrm>
          <a:prstGeom prst="rect">
            <a:avLst/>
          </a:prstGeom>
          <a:noFill/>
          <a:ln/>
        </p:spPr>
        <p:txBody>
          <a:bodyPr wrap="square" lIns="0" tIns="0" rIns="0" bIns="0" rtlCol="0" anchor="ctr"/>
          <a:lstStyle/>
          <a:p>
            <a:pPr>
              <a:lnSpc>
                <a:spcPct val="130000"/>
              </a:lnSpc>
            </a:pPr>
            <a:r>
              <a:rPr lang="en-US" sz="1076" dirty="0">
                <a:solidFill>
                  <a:srgbClr val="FFFFFF">
                    <a:alpha val="90000"/>
                  </a:srgbClr>
                </a:solidFill>
                <a:latin typeface="Liter" pitchFamily="34" charset="0"/>
                <a:ea typeface="Liter" pitchFamily="34" charset="-122"/>
                <a:cs typeface="Liter" pitchFamily="34" charset="-120"/>
              </a:rPr>
              <a:t>Transactions between two companies for products, services, or information.</a:t>
            </a:r>
            <a:endParaRPr lang="en-US" sz="1600" dirty="0"/>
          </a:p>
        </p:txBody>
      </p:sp>
      <p:sp>
        <p:nvSpPr>
          <p:cNvPr id="23" name="Shape 21"/>
          <p:cNvSpPr/>
          <p:nvPr/>
        </p:nvSpPr>
        <p:spPr>
          <a:xfrm>
            <a:off x="4441799" y="2496457"/>
            <a:ext cx="3336578" cy="928914"/>
          </a:xfrm>
          <a:custGeom>
            <a:avLst/>
            <a:gdLst/>
            <a:ahLst/>
            <a:cxnLst/>
            <a:rect l="l" t="t" r="r" b="b"/>
            <a:pathLst>
              <a:path w="3336578" h="928914">
                <a:moveTo>
                  <a:pt x="0" y="0"/>
                </a:moveTo>
                <a:lnTo>
                  <a:pt x="3336578" y="0"/>
                </a:lnTo>
                <a:lnTo>
                  <a:pt x="3336578" y="928914"/>
                </a:lnTo>
                <a:lnTo>
                  <a:pt x="0" y="928914"/>
                </a:lnTo>
                <a:lnTo>
                  <a:pt x="0" y="0"/>
                </a:lnTo>
                <a:close/>
              </a:path>
            </a:pathLst>
          </a:custGeom>
          <a:solidFill>
            <a:srgbClr val="000000"/>
          </a:solidFill>
          <a:ln w="10160">
            <a:solidFill>
              <a:srgbClr val="DDFF00">
                <a:alpha val="30196"/>
              </a:srgbClr>
            </a:solidFill>
            <a:prstDash val="solid"/>
          </a:ln>
        </p:spPr>
      </p:sp>
      <p:sp>
        <p:nvSpPr>
          <p:cNvPr id="24" name="Shape 22"/>
          <p:cNvSpPr/>
          <p:nvPr/>
        </p:nvSpPr>
        <p:spPr>
          <a:xfrm>
            <a:off x="4598894" y="2663798"/>
            <a:ext cx="119529" cy="119529"/>
          </a:xfrm>
          <a:custGeom>
            <a:avLst/>
            <a:gdLst/>
            <a:ahLst/>
            <a:cxnLst/>
            <a:rect l="l" t="t" r="r" b="b"/>
            <a:pathLst>
              <a:path w="119529" h="119529">
                <a:moveTo>
                  <a:pt x="15385" y="53345"/>
                </a:moveTo>
                <a:cubicBezTo>
                  <a:pt x="18490" y="31633"/>
                  <a:pt x="37190" y="14941"/>
                  <a:pt x="59765" y="14941"/>
                </a:cubicBezTo>
                <a:cubicBezTo>
                  <a:pt x="72138" y="14941"/>
                  <a:pt x="83344" y="19960"/>
                  <a:pt x="91468" y="28061"/>
                </a:cubicBezTo>
                <a:cubicBezTo>
                  <a:pt x="91515" y="28108"/>
                  <a:pt x="91561" y="28155"/>
                  <a:pt x="91608" y="28201"/>
                </a:cubicBezTo>
                <a:lnTo>
                  <a:pt x="93382" y="29882"/>
                </a:lnTo>
                <a:lnTo>
                  <a:pt x="82200" y="29882"/>
                </a:lnTo>
                <a:cubicBezTo>
                  <a:pt x="78068" y="29882"/>
                  <a:pt x="74729" y="33221"/>
                  <a:pt x="74729" y="37353"/>
                </a:cubicBezTo>
                <a:cubicBezTo>
                  <a:pt x="74729" y="41485"/>
                  <a:pt x="78068" y="44824"/>
                  <a:pt x="82200" y="44824"/>
                </a:cubicBezTo>
                <a:lnTo>
                  <a:pt x="112082" y="44824"/>
                </a:lnTo>
                <a:cubicBezTo>
                  <a:pt x="116214" y="44824"/>
                  <a:pt x="119553" y="41485"/>
                  <a:pt x="119553" y="37353"/>
                </a:cubicBezTo>
                <a:lnTo>
                  <a:pt x="119553" y="7471"/>
                </a:lnTo>
                <a:cubicBezTo>
                  <a:pt x="119553" y="3338"/>
                  <a:pt x="116214" y="0"/>
                  <a:pt x="112082" y="0"/>
                </a:cubicBezTo>
                <a:cubicBezTo>
                  <a:pt x="107950" y="0"/>
                  <a:pt x="104612" y="3338"/>
                  <a:pt x="104612" y="7471"/>
                </a:cubicBezTo>
                <a:lnTo>
                  <a:pt x="104612" y="19937"/>
                </a:lnTo>
                <a:lnTo>
                  <a:pt x="101974" y="17439"/>
                </a:lnTo>
                <a:cubicBezTo>
                  <a:pt x="91165" y="6677"/>
                  <a:pt x="76223" y="0"/>
                  <a:pt x="59765" y="0"/>
                </a:cubicBezTo>
                <a:cubicBezTo>
                  <a:pt x="29649" y="0"/>
                  <a:pt x="4739" y="22272"/>
                  <a:pt x="607" y="51244"/>
                </a:cubicBezTo>
                <a:cubicBezTo>
                  <a:pt x="23" y="55329"/>
                  <a:pt x="2848" y="59111"/>
                  <a:pt x="6934" y="59695"/>
                </a:cubicBezTo>
                <a:cubicBezTo>
                  <a:pt x="11019" y="60278"/>
                  <a:pt x="14801" y="57430"/>
                  <a:pt x="15385" y="53368"/>
                </a:cubicBezTo>
                <a:close/>
                <a:moveTo>
                  <a:pt x="118922" y="68286"/>
                </a:moveTo>
                <a:cubicBezTo>
                  <a:pt x="119506" y="64200"/>
                  <a:pt x="116658" y="60418"/>
                  <a:pt x="112596" y="59835"/>
                </a:cubicBezTo>
                <a:cubicBezTo>
                  <a:pt x="108534" y="59251"/>
                  <a:pt x="104728" y="62099"/>
                  <a:pt x="104145" y="66161"/>
                </a:cubicBezTo>
                <a:cubicBezTo>
                  <a:pt x="101040" y="87873"/>
                  <a:pt x="82340" y="104565"/>
                  <a:pt x="59765" y="104565"/>
                </a:cubicBezTo>
                <a:cubicBezTo>
                  <a:pt x="47392" y="104565"/>
                  <a:pt x="36186" y="99546"/>
                  <a:pt x="28061" y="91445"/>
                </a:cubicBezTo>
                <a:cubicBezTo>
                  <a:pt x="28015" y="91398"/>
                  <a:pt x="27968" y="91351"/>
                  <a:pt x="27921" y="91305"/>
                </a:cubicBezTo>
                <a:lnTo>
                  <a:pt x="26147" y="89624"/>
                </a:lnTo>
                <a:lnTo>
                  <a:pt x="37330" y="89624"/>
                </a:lnTo>
                <a:cubicBezTo>
                  <a:pt x="41462" y="89624"/>
                  <a:pt x="44800" y="86285"/>
                  <a:pt x="44800" y="82153"/>
                </a:cubicBezTo>
                <a:cubicBezTo>
                  <a:pt x="44800" y="78021"/>
                  <a:pt x="41462" y="74683"/>
                  <a:pt x="37330" y="74683"/>
                </a:cubicBezTo>
                <a:lnTo>
                  <a:pt x="7471" y="74706"/>
                </a:lnTo>
                <a:cubicBezTo>
                  <a:pt x="5486" y="74706"/>
                  <a:pt x="3572" y="75500"/>
                  <a:pt x="2171" y="76924"/>
                </a:cubicBezTo>
                <a:cubicBezTo>
                  <a:pt x="770" y="78348"/>
                  <a:pt x="-23" y="80239"/>
                  <a:pt x="0" y="82247"/>
                </a:cubicBezTo>
                <a:lnTo>
                  <a:pt x="233" y="111895"/>
                </a:lnTo>
                <a:cubicBezTo>
                  <a:pt x="257" y="116028"/>
                  <a:pt x="3642" y="119343"/>
                  <a:pt x="7774" y="119296"/>
                </a:cubicBezTo>
                <a:cubicBezTo>
                  <a:pt x="11906" y="119249"/>
                  <a:pt x="15221" y="115888"/>
                  <a:pt x="15175" y="111755"/>
                </a:cubicBezTo>
                <a:lnTo>
                  <a:pt x="15081" y="99732"/>
                </a:lnTo>
                <a:lnTo>
                  <a:pt x="17579" y="102090"/>
                </a:lnTo>
                <a:cubicBezTo>
                  <a:pt x="28388" y="112853"/>
                  <a:pt x="43306" y="119529"/>
                  <a:pt x="59765" y="119529"/>
                </a:cubicBezTo>
                <a:cubicBezTo>
                  <a:pt x="89881" y="119529"/>
                  <a:pt x="114790" y="97258"/>
                  <a:pt x="118922" y="68286"/>
                </a:cubicBezTo>
                <a:close/>
              </a:path>
            </a:pathLst>
          </a:custGeom>
          <a:solidFill>
            <a:srgbClr val="DDFF00"/>
          </a:solidFill>
          <a:ln/>
        </p:spPr>
      </p:sp>
      <p:sp>
        <p:nvSpPr>
          <p:cNvPr id="25" name="Text 23"/>
          <p:cNvSpPr/>
          <p:nvPr/>
        </p:nvSpPr>
        <p:spPr>
          <a:xfrm>
            <a:off x="4781417" y="2636480"/>
            <a:ext cx="2916704" cy="170756"/>
          </a:xfrm>
          <a:prstGeom prst="rect">
            <a:avLst/>
          </a:prstGeom>
          <a:noFill/>
          <a:ln/>
        </p:spPr>
        <p:txBody>
          <a:bodyPr wrap="square" lIns="0" tIns="0" rIns="0" bIns="0" rtlCol="0" anchor="ctr"/>
          <a:lstStyle/>
          <a:p>
            <a:pPr>
              <a:lnSpc>
                <a:spcPct val="120000"/>
              </a:lnSpc>
            </a:pPr>
            <a:r>
              <a:rPr lang="en-US" sz="941" b="1" dirty="0">
                <a:solidFill>
                  <a:srgbClr val="DDFF00"/>
                </a:solidFill>
                <a:latin typeface="Liter" pitchFamily="34" charset="0"/>
                <a:ea typeface="Liter" pitchFamily="34" charset="-122"/>
                <a:cs typeface="Liter" pitchFamily="34" charset="-120"/>
              </a:rPr>
              <a:t>Example:</a:t>
            </a:r>
            <a:endParaRPr lang="en-US" sz="1600" dirty="0"/>
          </a:p>
        </p:txBody>
      </p:sp>
      <p:sp>
        <p:nvSpPr>
          <p:cNvPr id="26" name="Text 24"/>
          <p:cNvSpPr/>
          <p:nvPr/>
        </p:nvSpPr>
        <p:spPr>
          <a:xfrm>
            <a:off x="4581819" y="2875539"/>
            <a:ext cx="3124840" cy="409815"/>
          </a:xfrm>
          <a:prstGeom prst="rect">
            <a:avLst/>
          </a:prstGeom>
          <a:noFill/>
          <a:ln/>
        </p:spPr>
        <p:txBody>
          <a:bodyPr wrap="square" lIns="0" tIns="0" rIns="0" bIns="0" rtlCol="0" anchor="ctr"/>
          <a:lstStyle/>
          <a:p>
            <a:pPr>
              <a:lnSpc>
                <a:spcPct val="130000"/>
              </a:lnSpc>
            </a:pPr>
            <a:r>
              <a:rPr lang="en-US" sz="1076" dirty="0">
                <a:solidFill>
                  <a:srgbClr val="FFFFFF"/>
                </a:solidFill>
                <a:latin typeface="Liter" pitchFamily="34" charset="0"/>
                <a:ea typeface="Liter" pitchFamily="34" charset="-122"/>
                <a:cs typeface="Liter" pitchFamily="34" charset="-120"/>
              </a:rPr>
              <a:t>Manufacturer supplying to retailers via online portals</a:t>
            </a:r>
            <a:endParaRPr lang="en-US" sz="1600" dirty="0"/>
          </a:p>
        </p:txBody>
      </p:sp>
      <p:sp>
        <p:nvSpPr>
          <p:cNvPr id="27" name="Shape 25"/>
          <p:cNvSpPr/>
          <p:nvPr/>
        </p:nvSpPr>
        <p:spPr>
          <a:xfrm>
            <a:off x="8142514" y="1161143"/>
            <a:ext cx="3705412" cy="2441815"/>
          </a:xfrm>
          <a:custGeom>
            <a:avLst/>
            <a:gdLst/>
            <a:ahLst/>
            <a:cxnLst/>
            <a:rect l="l" t="t" r="r" b="b"/>
            <a:pathLst>
              <a:path w="3705412" h="2441815">
                <a:moveTo>
                  <a:pt x="0" y="0"/>
                </a:moveTo>
                <a:lnTo>
                  <a:pt x="3705412" y="0"/>
                </a:lnTo>
                <a:lnTo>
                  <a:pt x="3705412" y="2441815"/>
                </a:lnTo>
                <a:lnTo>
                  <a:pt x="0" y="2441815"/>
                </a:lnTo>
                <a:lnTo>
                  <a:pt x="0" y="0"/>
                </a:lnTo>
                <a:close/>
              </a:path>
            </a:pathLst>
          </a:custGeom>
          <a:solidFill>
            <a:srgbClr val="111111"/>
          </a:solidFill>
          <a:ln/>
        </p:spPr>
      </p:sp>
      <p:sp>
        <p:nvSpPr>
          <p:cNvPr id="28" name="Shape 26"/>
          <p:cNvSpPr/>
          <p:nvPr/>
        </p:nvSpPr>
        <p:spPr>
          <a:xfrm>
            <a:off x="8142514" y="1161143"/>
            <a:ext cx="34151" cy="2441815"/>
          </a:xfrm>
          <a:custGeom>
            <a:avLst/>
            <a:gdLst/>
            <a:ahLst/>
            <a:cxnLst/>
            <a:rect l="l" t="t" r="r" b="b"/>
            <a:pathLst>
              <a:path w="34151" h="2441815">
                <a:moveTo>
                  <a:pt x="0" y="0"/>
                </a:moveTo>
                <a:lnTo>
                  <a:pt x="34151" y="0"/>
                </a:lnTo>
                <a:lnTo>
                  <a:pt x="34151" y="2441815"/>
                </a:lnTo>
                <a:lnTo>
                  <a:pt x="0" y="2441815"/>
                </a:lnTo>
                <a:lnTo>
                  <a:pt x="0" y="0"/>
                </a:lnTo>
                <a:close/>
              </a:path>
            </a:pathLst>
          </a:custGeom>
          <a:solidFill>
            <a:srgbClr val="DDFF00"/>
          </a:solidFill>
          <a:ln/>
        </p:spPr>
      </p:sp>
      <p:sp>
        <p:nvSpPr>
          <p:cNvPr id="29" name="Shape 27"/>
          <p:cNvSpPr/>
          <p:nvPr/>
        </p:nvSpPr>
        <p:spPr>
          <a:xfrm>
            <a:off x="8330346" y="1331899"/>
            <a:ext cx="478118" cy="478118"/>
          </a:xfrm>
          <a:custGeom>
            <a:avLst/>
            <a:gdLst/>
            <a:ahLst/>
            <a:cxnLst/>
            <a:rect l="l" t="t" r="r" b="b"/>
            <a:pathLst>
              <a:path w="478118" h="478118">
                <a:moveTo>
                  <a:pt x="0" y="0"/>
                </a:moveTo>
                <a:lnTo>
                  <a:pt x="478118" y="0"/>
                </a:lnTo>
                <a:lnTo>
                  <a:pt x="478118" y="478118"/>
                </a:lnTo>
                <a:lnTo>
                  <a:pt x="0" y="478118"/>
                </a:lnTo>
                <a:lnTo>
                  <a:pt x="0" y="0"/>
                </a:lnTo>
                <a:close/>
              </a:path>
            </a:pathLst>
          </a:custGeom>
          <a:solidFill>
            <a:srgbClr val="DDFF00"/>
          </a:solidFill>
          <a:ln/>
        </p:spPr>
      </p:sp>
      <p:sp>
        <p:nvSpPr>
          <p:cNvPr id="30" name="Shape 28"/>
          <p:cNvSpPr/>
          <p:nvPr/>
        </p:nvSpPr>
        <p:spPr>
          <a:xfrm>
            <a:off x="8441338" y="1468504"/>
            <a:ext cx="256134" cy="204908"/>
          </a:xfrm>
          <a:custGeom>
            <a:avLst/>
            <a:gdLst/>
            <a:ahLst/>
            <a:cxnLst/>
            <a:rect l="l" t="t" r="r" b="b"/>
            <a:pathLst>
              <a:path w="256134" h="204908">
                <a:moveTo>
                  <a:pt x="128067" y="6403"/>
                </a:moveTo>
                <a:cubicBezTo>
                  <a:pt x="151039" y="6403"/>
                  <a:pt x="169689" y="25053"/>
                  <a:pt x="169689" y="48025"/>
                </a:cubicBezTo>
                <a:cubicBezTo>
                  <a:pt x="169689" y="70997"/>
                  <a:pt x="151039" y="89647"/>
                  <a:pt x="128067" y="89647"/>
                </a:cubicBezTo>
                <a:cubicBezTo>
                  <a:pt x="105096" y="89647"/>
                  <a:pt x="86445" y="70997"/>
                  <a:pt x="86445" y="48025"/>
                </a:cubicBezTo>
                <a:cubicBezTo>
                  <a:pt x="86445" y="25053"/>
                  <a:pt x="105096" y="6403"/>
                  <a:pt x="128067" y="6403"/>
                </a:cubicBezTo>
                <a:close/>
                <a:moveTo>
                  <a:pt x="38420" y="35218"/>
                </a:moveTo>
                <a:cubicBezTo>
                  <a:pt x="54324" y="35218"/>
                  <a:pt x="67235" y="48130"/>
                  <a:pt x="67235" y="64034"/>
                </a:cubicBezTo>
                <a:cubicBezTo>
                  <a:pt x="67235" y="79937"/>
                  <a:pt x="54324" y="92849"/>
                  <a:pt x="38420" y="92849"/>
                </a:cubicBezTo>
                <a:cubicBezTo>
                  <a:pt x="22517" y="92849"/>
                  <a:pt x="9605" y="79937"/>
                  <a:pt x="9605" y="64034"/>
                </a:cubicBezTo>
                <a:cubicBezTo>
                  <a:pt x="9605" y="48130"/>
                  <a:pt x="22517" y="35218"/>
                  <a:pt x="38420" y="35218"/>
                </a:cubicBezTo>
                <a:close/>
                <a:moveTo>
                  <a:pt x="0" y="166487"/>
                </a:moveTo>
                <a:cubicBezTo>
                  <a:pt x="0" y="138193"/>
                  <a:pt x="22932" y="115261"/>
                  <a:pt x="51227" y="115261"/>
                </a:cubicBezTo>
                <a:cubicBezTo>
                  <a:pt x="56350" y="115261"/>
                  <a:pt x="61312" y="116021"/>
                  <a:pt x="65995" y="117422"/>
                </a:cubicBezTo>
                <a:cubicBezTo>
                  <a:pt x="52828" y="132149"/>
                  <a:pt x="44824" y="151600"/>
                  <a:pt x="44824" y="172891"/>
                </a:cubicBezTo>
                <a:lnTo>
                  <a:pt x="44824" y="179294"/>
                </a:lnTo>
                <a:cubicBezTo>
                  <a:pt x="44824" y="183857"/>
                  <a:pt x="45784" y="188179"/>
                  <a:pt x="47505" y="192101"/>
                </a:cubicBezTo>
                <a:lnTo>
                  <a:pt x="12807" y="192101"/>
                </a:lnTo>
                <a:cubicBezTo>
                  <a:pt x="5723" y="192101"/>
                  <a:pt x="0" y="186378"/>
                  <a:pt x="0" y="179294"/>
                </a:cubicBezTo>
                <a:lnTo>
                  <a:pt x="0" y="166487"/>
                </a:lnTo>
                <a:close/>
                <a:moveTo>
                  <a:pt x="208630" y="192101"/>
                </a:moveTo>
                <a:cubicBezTo>
                  <a:pt x="210350" y="188179"/>
                  <a:pt x="211311" y="183857"/>
                  <a:pt x="211311" y="179294"/>
                </a:cubicBezTo>
                <a:lnTo>
                  <a:pt x="211311" y="172891"/>
                </a:lnTo>
                <a:cubicBezTo>
                  <a:pt x="211311" y="151600"/>
                  <a:pt x="203307" y="132149"/>
                  <a:pt x="190140" y="117422"/>
                </a:cubicBezTo>
                <a:cubicBezTo>
                  <a:pt x="194822" y="116021"/>
                  <a:pt x="199785" y="115261"/>
                  <a:pt x="204908" y="115261"/>
                </a:cubicBezTo>
                <a:cubicBezTo>
                  <a:pt x="233202" y="115261"/>
                  <a:pt x="256134" y="138193"/>
                  <a:pt x="256134" y="166487"/>
                </a:cubicBezTo>
                <a:lnTo>
                  <a:pt x="256134" y="179294"/>
                </a:lnTo>
                <a:cubicBezTo>
                  <a:pt x="256134" y="186378"/>
                  <a:pt x="250411" y="192101"/>
                  <a:pt x="243328" y="192101"/>
                </a:cubicBezTo>
                <a:lnTo>
                  <a:pt x="208630" y="192101"/>
                </a:lnTo>
                <a:close/>
                <a:moveTo>
                  <a:pt x="188899" y="64034"/>
                </a:moveTo>
                <a:cubicBezTo>
                  <a:pt x="188899" y="48130"/>
                  <a:pt x="201811" y="35218"/>
                  <a:pt x="217714" y="35218"/>
                </a:cubicBezTo>
                <a:cubicBezTo>
                  <a:pt x="233618" y="35218"/>
                  <a:pt x="246529" y="48130"/>
                  <a:pt x="246529" y="64034"/>
                </a:cubicBezTo>
                <a:cubicBezTo>
                  <a:pt x="246529" y="79937"/>
                  <a:pt x="233618" y="92849"/>
                  <a:pt x="217714" y="92849"/>
                </a:cubicBezTo>
                <a:cubicBezTo>
                  <a:pt x="201811" y="92849"/>
                  <a:pt x="188899" y="79937"/>
                  <a:pt x="188899" y="64034"/>
                </a:cubicBezTo>
                <a:close/>
                <a:moveTo>
                  <a:pt x="64034" y="172891"/>
                </a:moveTo>
                <a:cubicBezTo>
                  <a:pt x="64034" y="137512"/>
                  <a:pt x="92689" y="108857"/>
                  <a:pt x="128067" y="108857"/>
                </a:cubicBezTo>
                <a:cubicBezTo>
                  <a:pt x="163446" y="108857"/>
                  <a:pt x="192101" y="137512"/>
                  <a:pt x="192101" y="172891"/>
                </a:cubicBezTo>
                <a:lnTo>
                  <a:pt x="192101" y="179294"/>
                </a:lnTo>
                <a:cubicBezTo>
                  <a:pt x="192101" y="186378"/>
                  <a:pt x="186378" y="192101"/>
                  <a:pt x="179294" y="192101"/>
                </a:cubicBezTo>
                <a:lnTo>
                  <a:pt x="76840" y="192101"/>
                </a:lnTo>
                <a:cubicBezTo>
                  <a:pt x="69757" y="192101"/>
                  <a:pt x="64034" y="186378"/>
                  <a:pt x="64034" y="179294"/>
                </a:cubicBezTo>
                <a:lnTo>
                  <a:pt x="64034" y="172891"/>
                </a:lnTo>
                <a:close/>
              </a:path>
            </a:pathLst>
          </a:custGeom>
          <a:solidFill>
            <a:srgbClr val="000000"/>
          </a:solidFill>
          <a:ln/>
        </p:spPr>
      </p:sp>
      <p:sp>
        <p:nvSpPr>
          <p:cNvPr id="31" name="Text 29"/>
          <p:cNvSpPr/>
          <p:nvPr/>
        </p:nvSpPr>
        <p:spPr>
          <a:xfrm>
            <a:off x="8910918" y="1348975"/>
            <a:ext cx="1348975" cy="273210"/>
          </a:xfrm>
          <a:prstGeom prst="rect">
            <a:avLst/>
          </a:prstGeom>
          <a:noFill/>
          <a:ln/>
        </p:spPr>
        <p:txBody>
          <a:bodyPr wrap="square" lIns="0" tIns="0" rIns="0" bIns="0" rtlCol="0" anchor="ctr"/>
          <a:lstStyle/>
          <a:p>
            <a:pPr>
              <a:lnSpc>
                <a:spcPct val="110000"/>
              </a:lnSpc>
            </a:pPr>
            <a:r>
              <a:rPr lang="en-US" sz="1613" b="1" dirty="0">
                <a:solidFill>
                  <a:srgbClr val="DDFF00"/>
                </a:solidFill>
                <a:latin typeface="Liter" pitchFamily="34" charset="0"/>
                <a:ea typeface="Liter" pitchFamily="34" charset="-122"/>
                <a:cs typeface="Liter" pitchFamily="34" charset="-120"/>
              </a:rPr>
              <a:t>C2C</a:t>
            </a:r>
            <a:endParaRPr lang="en-US" sz="1600" dirty="0"/>
          </a:p>
        </p:txBody>
      </p:sp>
      <p:sp>
        <p:nvSpPr>
          <p:cNvPr id="32" name="Text 30"/>
          <p:cNvSpPr/>
          <p:nvPr/>
        </p:nvSpPr>
        <p:spPr>
          <a:xfrm>
            <a:off x="8910918" y="1622081"/>
            <a:ext cx="1306286" cy="170756"/>
          </a:xfrm>
          <a:prstGeom prst="rect">
            <a:avLst/>
          </a:prstGeom>
          <a:noFill/>
          <a:ln/>
        </p:spPr>
        <p:txBody>
          <a:bodyPr wrap="square" lIns="0" tIns="0" rIns="0" bIns="0" rtlCol="0" anchor="ctr"/>
          <a:lstStyle/>
          <a:p>
            <a:pPr>
              <a:lnSpc>
                <a:spcPct val="120000"/>
              </a:lnSpc>
            </a:pPr>
            <a:r>
              <a:rPr lang="en-US" sz="941" dirty="0">
                <a:solidFill>
                  <a:srgbClr val="FFFFFF">
                    <a:alpha val="60000"/>
                  </a:srgbClr>
                </a:solidFill>
                <a:latin typeface="Liter" pitchFamily="34" charset="0"/>
                <a:ea typeface="Liter" pitchFamily="34" charset="-122"/>
                <a:cs typeface="Liter" pitchFamily="34" charset="-120"/>
              </a:rPr>
              <a:t>Consumer to Consumer</a:t>
            </a:r>
            <a:endParaRPr lang="en-US" sz="1600" dirty="0"/>
          </a:p>
        </p:txBody>
      </p:sp>
      <p:sp>
        <p:nvSpPr>
          <p:cNvPr id="33" name="Text 31"/>
          <p:cNvSpPr/>
          <p:nvPr/>
        </p:nvSpPr>
        <p:spPr>
          <a:xfrm>
            <a:off x="8330346" y="1946622"/>
            <a:ext cx="3415126" cy="614723"/>
          </a:xfrm>
          <a:prstGeom prst="rect">
            <a:avLst/>
          </a:prstGeom>
          <a:noFill/>
          <a:ln/>
        </p:spPr>
        <p:txBody>
          <a:bodyPr wrap="square" lIns="0" tIns="0" rIns="0" bIns="0" rtlCol="0" anchor="ctr"/>
          <a:lstStyle/>
          <a:p>
            <a:pPr>
              <a:lnSpc>
                <a:spcPct val="130000"/>
              </a:lnSpc>
            </a:pPr>
            <a:r>
              <a:rPr lang="en-US" sz="1076" dirty="0">
                <a:solidFill>
                  <a:srgbClr val="FFFFFF">
                    <a:alpha val="90000"/>
                  </a:srgbClr>
                </a:solidFill>
                <a:latin typeface="Liter" pitchFamily="34" charset="0"/>
                <a:ea typeface="Liter" pitchFamily="34" charset="-122"/>
                <a:cs typeface="Liter" pitchFamily="34" charset="-120"/>
              </a:rPr>
              <a:t>Individuals selling products or services to other individuals through platforms.</a:t>
            </a:r>
            <a:endParaRPr lang="en-US" sz="1600" dirty="0"/>
          </a:p>
        </p:txBody>
      </p:sp>
      <p:sp>
        <p:nvSpPr>
          <p:cNvPr id="34" name="Shape 32"/>
          <p:cNvSpPr/>
          <p:nvPr/>
        </p:nvSpPr>
        <p:spPr>
          <a:xfrm>
            <a:off x="8333761" y="2701365"/>
            <a:ext cx="3336578" cy="724007"/>
          </a:xfrm>
          <a:custGeom>
            <a:avLst/>
            <a:gdLst/>
            <a:ahLst/>
            <a:cxnLst/>
            <a:rect l="l" t="t" r="r" b="b"/>
            <a:pathLst>
              <a:path w="3336578" h="724007">
                <a:moveTo>
                  <a:pt x="0" y="0"/>
                </a:moveTo>
                <a:lnTo>
                  <a:pt x="3336578" y="0"/>
                </a:lnTo>
                <a:lnTo>
                  <a:pt x="3336578" y="724007"/>
                </a:lnTo>
                <a:lnTo>
                  <a:pt x="0" y="724007"/>
                </a:lnTo>
                <a:lnTo>
                  <a:pt x="0" y="0"/>
                </a:lnTo>
                <a:close/>
              </a:path>
            </a:pathLst>
          </a:custGeom>
          <a:solidFill>
            <a:srgbClr val="000000"/>
          </a:solidFill>
          <a:ln w="10160">
            <a:solidFill>
              <a:srgbClr val="DDFF00">
                <a:alpha val="30196"/>
              </a:srgbClr>
            </a:solidFill>
            <a:prstDash val="solid"/>
          </a:ln>
        </p:spPr>
      </p:sp>
      <p:sp>
        <p:nvSpPr>
          <p:cNvPr id="35" name="Shape 33"/>
          <p:cNvSpPr/>
          <p:nvPr/>
        </p:nvSpPr>
        <p:spPr>
          <a:xfrm>
            <a:off x="8490857" y="2868706"/>
            <a:ext cx="119529" cy="119529"/>
          </a:xfrm>
          <a:custGeom>
            <a:avLst/>
            <a:gdLst/>
            <a:ahLst/>
            <a:cxnLst/>
            <a:rect l="l" t="t" r="r" b="b"/>
            <a:pathLst>
              <a:path w="119529" h="119529">
                <a:moveTo>
                  <a:pt x="15385" y="53345"/>
                </a:moveTo>
                <a:cubicBezTo>
                  <a:pt x="18490" y="31633"/>
                  <a:pt x="37190" y="14941"/>
                  <a:pt x="59765" y="14941"/>
                </a:cubicBezTo>
                <a:cubicBezTo>
                  <a:pt x="72138" y="14941"/>
                  <a:pt x="83344" y="19960"/>
                  <a:pt x="91468" y="28061"/>
                </a:cubicBezTo>
                <a:cubicBezTo>
                  <a:pt x="91515" y="28108"/>
                  <a:pt x="91561" y="28155"/>
                  <a:pt x="91608" y="28201"/>
                </a:cubicBezTo>
                <a:lnTo>
                  <a:pt x="93382" y="29882"/>
                </a:lnTo>
                <a:lnTo>
                  <a:pt x="82200" y="29882"/>
                </a:lnTo>
                <a:cubicBezTo>
                  <a:pt x="78068" y="29882"/>
                  <a:pt x="74729" y="33221"/>
                  <a:pt x="74729" y="37353"/>
                </a:cubicBezTo>
                <a:cubicBezTo>
                  <a:pt x="74729" y="41485"/>
                  <a:pt x="78068" y="44824"/>
                  <a:pt x="82200" y="44824"/>
                </a:cubicBezTo>
                <a:lnTo>
                  <a:pt x="112082" y="44824"/>
                </a:lnTo>
                <a:cubicBezTo>
                  <a:pt x="116214" y="44824"/>
                  <a:pt x="119553" y="41485"/>
                  <a:pt x="119553" y="37353"/>
                </a:cubicBezTo>
                <a:lnTo>
                  <a:pt x="119553" y="7471"/>
                </a:lnTo>
                <a:cubicBezTo>
                  <a:pt x="119553" y="3338"/>
                  <a:pt x="116214" y="0"/>
                  <a:pt x="112082" y="0"/>
                </a:cubicBezTo>
                <a:cubicBezTo>
                  <a:pt x="107950" y="0"/>
                  <a:pt x="104612" y="3338"/>
                  <a:pt x="104612" y="7471"/>
                </a:cubicBezTo>
                <a:lnTo>
                  <a:pt x="104612" y="19937"/>
                </a:lnTo>
                <a:lnTo>
                  <a:pt x="101974" y="17439"/>
                </a:lnTo>
                <a:cubicBezTo>
                  <a:pt x="91165" y="6677"/>
                  <a:pt x="76223" y="0"/>
                  <a:pt x="59765" y="0"/>
                </a:cubicBezTo>
                <a:cubicBezTo>
                  <a:pt x="29649" y="0"/>
                  <a:pt x="4739" y="22272"/>
                  <a:pt x="607" y="51244"/>
                </a:cubicBezTo>
                <a:cubicBezTo>
                  <a:pt x="23" y="55329"/>
                  <a:pt x="2848" y="59111"/>
                  <a:pt x="6934" y="59695"/>
                </a:cubicBezTo>
                <a:cubicBezTo>
                  <a:pt x="11019" y="60278"/>
                  <a:pt x="14801" y="57430"/>
                  <a:pt x="15385" y="53368"/>
                </a:cubicBezTo>
                <a:close/>
                <a:moveTo>
                  <a:pt x="118922" y="68286"/>
                </a:moveTo>
                <a:cubicBezTo>
                  <a:pt x="119506" y="64200"/>
                  <a:pt x="116658" y="60418"/>
                  <a:pt x="112596" y="59835"/>
                </a:cubicBezTo>
                <a:cubicBezTo>
                  <a:pt x="108534" y="59251"/>
                  <a:pt x="104728" y="62099"/>
                  <a:pt x="104145" y="66161"/>
                </a:cubicBezTo>
                <a:cubicBezTo>
                  <a:pt x="101040" y="87873"/>
                  <a:pt x="82340" y="104565"/>
                  <a:pt x="59765" y="104565"/>
                </a:cubicBezTo>
                <a:cubicBezTo>
                  <a:pt x="47392" y="104565"/>
                  <a:pt x="36186" y="99546"/>
                  <a:pt x="28061" y="91445"/>
                </a:cubicBezTo>
                <a:cubicBezTo>
                  <a:pt x="28015" y="91398"/>
                  <a:pt x="27968" y="91351"/>
                  <a:pt x="27921" y="91305"/>
                </a:cubicBezTo>
                <a:lnTo>
                  <a:pt x="26147" y="89624"/>
                </a:lnTo>
                <a:lnTo>
                  <a:pt x="37330" y="89624"/>
                </a:lnTo>
                <a:cubicBezTo>
                  <a:pt x="41462" y="89624"/>
                  <a:pt x="44800" y="86285"/>
                  <a:pt x="44800" y="82153"/>
                </a:cubicBezTo>
                <a:cubicBezTo>
                  <a:pt x="44800" y="78021"/>
                  <a:pt x="41462" y="74683"/>
                  <a:pt x="37330" y="74683"/>
                </a:cubicBezTo>
                <a:lnTo>
                  <a:pt x="7471" y="74706"/>
                </a:lnTo>
                <a:cubicBezTo>
                  <a:pt x="5486" y="74706"/>
                  <a:pt x="3572" y="75500"/>
                  <a:pt x="2171" y="76924"/>
                </a:cubicBezTo>
                <a:cubicBezTo>
                  <a:pt x="770" y="78348"/>
                  <a:pt x="-23" y="80239"/>
                  <a:pt x="0" y="82247"/>
                </a:cubicBezTo>
                <a:lnTo>
                  <a:pt x="233" y="111895"/>
                </a:lnTo>
                <a:cubicBezTo>
                  <a:pt x="257" y="116028"/>
                  <a:pt x="3642" y="119343"/>
                  <a:pt x="7774" y="119296"/>
                </a:cubicBezTo>
                <a:cubicBezTo>
                  <a:pt x="11906" y="119249"/>
                  <a:pt x="15221" y="115888"/>
                  <a:pt x="15175" y="111755"/>
                </a:cubicBezTo>
                <a:lnTo>
                  <a:pt x="15081" y="99732"/>
                </a:lnTo>
                <a:lnTo>
                  <a:pt x="17579" y="102090"/>
                </a:lnTo>
                <a:cubicBezTo>
                  <a:pt x="28388" y="112853"/>
                  <a:pt x="43306" y="119529"/>
                  <a:pt x="59765" y="119529"/>
                </a:cubicBezTo>
                <a:cubicBezTo>
                  <a:pt x="89881" y="119529"/>
                  <a:pt x="114790" y="97258"/>
                  <a:pt x="118922" y="68286"/>
                </a:cubicBezTo>
                <a:close/>
              </a:path>
            </a:pathLst>
          </a:custGeom>
          <a:solidFill>
            <a:srgbClr val="DDFF00"/>
          </a:solidFill>
          <a:ln/>
        </p:spPr>
      </p:sp>
      <p:sp>
        <p:nvSpPr>
          <p:cNvPr id="36" name="Text 34"/>
          <p:cNvSpPr/>
          <p:nvPr/>
        </p:nvSpPr>
        <p:spPr>
          <a:xfrm>
            <a:off x="8673380" y="2841387"/>
            <a:ext cx="2916704" cy="170756"/>
          </a:xfrm>
          <a:prstGeom prst="rect">
            <a:avLst/>
          </a:prstGeom>
          <a:noFill/>
          <a:ln/>
        </p:spPr>
        <p:txBody>
          <a:bodyPr wrap="square" lIns="0" tIns="0" rIns="0" bIns="0" rtlCol="0" anchor="ctr"/>
          <a:lstStyle/>
          <a:p>
            <a:pPr>
              <a:lnSpc>
                <a:spcPct val="120000"/>
              </a:lnSpc>
            </a:pPr>
            <a:r>
              <a:rPr lang="en-US" sz="941" b="1" dirty="0">
                <a:solidFill>
                  <a:srgbClr val="DDFF00"/>
                </a:solidFill>
                <a:latin typeface="Liter" pitchFamily="34" charset="0"/>
                <a:ea typeface="Liter" pitchFamily="34" charset="-122"/>
                <a:cs typeface="Liter" pitchFamily="34" charset="-120"/>
              </a:rPr>
              <a:t>Example:</a:t>
            </a:r>
            <a:endParaRPr lang="en-US" sz="1600" dirty="0"/>
          </a:p>
        </p:txBody>
      </p:sp>
      <p:sp>
        <p:nvSpPr>
          <p:cNvPr id="37" name="Text 35"/>
          <p:cNvSpPr/>
          <p:nvPr/>
        </p:nvSpPr>
        <p:spPr>
          <a:xfrm>
            <a:off x="8473782" y="3080446"/>
            <a:ext cx="3124840" cy="204908"/>
          </a:xfrm>
          <a:prstGeom prst="rect">
            <a:avLst/>
          </a:prstGeom>
          <a:noFill/>
          <a:ln/>
        </p:spPr>
        <p:txBody>
          <a:bodyPr wrap="square" lIns="0" tIns="0" rIns="0" bIns="0" rtlCol="0" anchor="ctr"/>
          <a:lstStyle/>
          <a:p>
            <a:pPr>
              <a:lnSpc>
                <a:spcPct val="130000"/>
              </a:lnSpc>
            </a:pPr>
            <a:r>
              <a:rPr lang="en-US" sz="1076" dirty="0">
                <a:solidFill>
                  <a:srgbClr val="FFFFFF"/>
                </a:solidFill>
                <a:latin typeface="Liter" pitchFamily="34" charset="0"/>
                <a:ea typeface="Liter" pitchFamily="34" charset="-122"/>
                <a:cs typeface="Liter" pitchFamily="34" charset="-120"/>
              </a:rPr>
              <a:t>OLX, eBay - individuals selling used items</a:t>
            </a:r>
            <a:endParaRPr lang="en-US" sz="1600" dirty="0"/>
          </a:p>
        </p:txBody>
      </p:sp>
      <p:sp>
        <p:nvSpPr>
          <p:cNvPr id="38" name="Shape 36"/>
          <p:cNvSpPr/>
          <p:nvPr/>
        </p:nvSpPr>
        <p:spPr>
          <a:xfrm>
            <a:off x="358588" y="3770300"/>
            <a:ext cx="3705412" cy="2441815"/>
          </a:xfrm>
          <a:custGeom>
            <a:avLst/>
            <a:gdLst/>
            <a:ahLst/>
            <a:cxnLst/>
            <a:rect l="l" t="t" r="r" b="b"/>
            <a:pathLst>
              <a:path w="3705412" h="2441815">
                <a:moveTo>
                  <a:pt x="0" y="0"/>
                </a:moveTo>
                <a:lnTo>
                  <a:pt x="3705412" y="0"/>
                </a:lnTo>
                <a:lnTo>
                  <a:pt x="3705412" y="2441815"/>
                </a:lnTo>
                <a:lnTo>
                  <a:pt x="0" y="2441815"/>
                </a:lnTo>
                <a:lnTo>
                  <a:pt x="0" y="0"/>
                </a:lnTo>
                <a:close/>
              </a:path>
            </a:pathLst>
          </a:custGeom>
          <a:solidFill>
            <a:srgbClr val="111111"/>
          </a:solidFill>
          <a:ln/>
        </p:spPr>
      </p:sp>
      <p:sp>
        <p:nvSpPr>
          <p:cNvPr id="39" name="Shape 37"/>
          <p:cNvSpPr/>
          <p:nvPr/>
        </p:nvSpPr>
        <p:spPr>
          <a:xfrm>
            <a:off x="358588" y="3770300"/>
            <a:ext cx="34151" cy="2441815"/>
          </a:xfrm>
          <a:custGeom>
            <a:avLst/>
            <a:gdLst/>
            <a:ahLst/>
            <a:cxnLst/>
            <a:rect l="l" t="t" r="r" b="b"/>
            <a:pathLst>
              <a:path w="34151" h="2441815">
                <a:moveTo>
                  <a:pt x="0" y="0"/>
                </a:moveTo>
                <a:lnTo>
                  <a:pt x="34151" y="0"/>
                </a:lnTo>
                <a:lnTo>
                  <a:pt x="34151" y="2441815"/>
                </a:lnTo>
                <a:lnTo>
                  <a:pt x="0" y="2441815"/>
                </a:lnTo>
                <a:lnTo>
                  <a:pt x="0" y="0"/>
                </a:lnTo>
                <a:close/>
              </a:path>
            </a:pathLst>
          </a:custGeom>
          <a:solidFill>
            <a:srgbClr val="DDFF00"/>
          </a:solidFill>
          <a:ln/>
        </p:spPr>
      </p:sp>
      <p:sp>
        <p:nvSpPr>
          <p:cNvPr id="40" name="Shape 38"/>
          <p:cNvSpPr/>
          <p:nvPr/>
        </p:nvSpPr>
        <p:spPr>
          <a:xfrm>
            <a:off x="546420" y="3941056"/>
            <a:ext cx="478118" cy="478118"/>
          </a:xfrm>
          <a:custGeom>
            <a:avLst/>
            <a:gdLst/>
            <a:ahLst/>
            <a:cxnLst/>
            <a:rect l="l" t="t" r="r" b="b"/>
            <a:pathLst>
              <a:path w="478118" h="478118">
                <a:moveTo>
                  <a:pt x="0" y="0"/>
                </a:moveTo>
                <a:lnTo>
                  <a:pt x="478118" y="0"/>
                </a:lnTo>
                <a:lnTo>
                  <a:pt x="478118" y="478118"/>
                </a:lnTo>
                <a:lnTo>
                  <a:pt x="0" y="478118"/>
                </a:lnTo>
                <a:lnTo>
                  <a:pt x="0" y="0"/>
                </a:lnTo>
                <a:close/>
              </a:path>
            </a:pathLst>
          </a:custGeom>
          <a:solidFill>
            <a:srgbClr val="DDFF00"/>
          </a:solidFill>
          <a:ln/>
        </p:spPr>
      </p:sp>
      <p:sp>
        <p:nvSpPr>
          <p:cNvPr id="41" name="Shape 39"/>
          <p:cNvSpPr/>
          <p:nvPr/>
        </p:nvSpPr>
        <p:spPr>
          <a:xfrm>
            <a:off x="695832" y="4077661"/>
            <a:ext cx="179294" cy="204908"/>
          </a:xfrm>
          <a:custGeom>
            <a:avLst/>
            <a:gdLst/>
            <a:ahLst/>
            <a:cxnLst/>
            <a:rect l="l" t="t" r="r" b="b"/>
            <a:pathLst>
              <a:path w="179294" h="204908">
                <a:moveTo>
                  <a:pt x="89647" y="99252"/>
                </a:moveTo>
                <a:cubicBezTo>
                  <a:pt x="63141" y="99252"/>
                  <a:pt x="41622" y="77733"/>
                  <a:pt x="41622" y="51227"/>
                </a:cubicBezTo>
                <a:cubicBezTo>
                  <a:pt x="41622" y="24721"/>
                  <a:pt x="63141" y="3202"/>
                  <a:pt x="89647" y="3202"/>
                </a:cubicBezTo>
                <a:cubicBezTo>
                  <a:pt x="116153" y="3202"/>
                  <a:pt x="137672" y="24721"/>
                  <a:pt x="137672" y="51227"/>
                </a:cubicBezTo>
                <a:cubicBezTo>
                  <a:pt x="137672" y="77733"/>
                  <a:pt x="116153" y="99252"/>
                  <a:pt x="89647" y="99252"/>
                </a:cubicBezTo>
                <a:close/>
                <a:moveTo>
                  <a:pt x="77441" y="121664"/>
                </a:moveTo>
                <a:lnTo>
                  <a:pt x="101853" y="121664"/>
                </a:lnTo>
                <a:cubicBezTo>
                  <a:pt x="105736" y="121664"/>
                  <a:pt x="108857" y="124786"/>
                  <a:pt x="108857" y="128668"/>
                </a:cubicBezTo>
                <a:cubicBezTo>
                  <a:pt x="108857" y="130348"/>
                  <a:pt x="108257" y="131949"/>
                  <a:pt x="107176" y="133230"/>
                </a:cubicBezTo>
                <a:lnTo>
                  <a:pt x="96211" y="146037"/>
                </a:lnTo>
                <a:lnTo>
                  <a:pt x="108617" y="192101"/>
                </a:lnTo>
                <a:lnTo>
                  <a:pt x="108857" y="192101"/>
                </a:lnTo>
                <a:lnTo>
                  <a:pt x="122704" y="136672"/>
                </a:lnTo>
                <a:cubicBezTo>
                  <a:pt x="123585" y="133190"/>
                  <a:pt x="127147" y="131069"/>
                  <a:pt x="130509" y="132349"/>
                </a:cubicBezTo>
                <a:cubicBezTo>
                  <a:pt x="155282" y="141794"/>
                  <a:pt x="172891" y="165807"/>
                  <a:pt x="172891" y="193902"/>
                </a:cubicBezTo>
                <a:cubicBezTo>
                  <a:pt x="172891" y="199945"/>
                  <a:pt x="167968" y="204868"/>
                  <a:pt x="161925" y="204868"/>
                </a:cubicBezTo>
                <a:lnTo>
                  <a:pt x="17369" y="204908"/>
                </a:lnTo>
                <a:cubicBezTo>
                  <a:pt x="11326" y="204908"/>
                  <a:pt x="6403" y="199985"/>
                  <a:pt x="6403" y="193942"/>
                </a:cubicBezTo>
                <a:cubicBezTo>
                  <a:pt x="6403" y="165847"/>
                  <a:pt x="24013" y="141834"/>
                  <a:pt x="48786" y="132389"/>
                </a:cubicBezTo>
                <a:cubicBezTo>
                  <a:pt x="52147" y="131109"/>
                  <a:pt x="55709" y="133230"/>
                  <a:pt x="56590" y="136712"/>
                </a:cubicBezTo>
                <a:lnTo>
                  <a:pt x="70437" y="192141"/>
                </a:lnTo>
                <a:lnTo>
                  <a:pt x="70677" y="192141"/>
                </a:lnTo>
                <a:lnTo>
                  <a:pt x="83084" y="146077"/>
                </a:lnTo>
                <a:lnTo>
                  <a:pt x="72118" y="133270"/>
                </a:lnTo>
                <a:cubicBezTo>
                  <a:pt x="71037" y="131989"/>
                  <a:pt x="70437" y="130388"/>
                  <a:pt x="70437" y="128708"/>
                </a:cubicBezTo>
                <a:cubicBezTo>
                  <a:pt x="70437" y="124826"/>
                  <a:pt x="73559" y="121704"/>
                  <a:pt x="77441" y="121704"/>
                </a:cubicBezTo>
                <a:close/>
              </a:path>
            </a:pathLst>
          </a:custGeom>
          <a:solidFill>
            <a:srgbClr val="000000"/>
          </a:solidFill>
          <a:ln/>
        </p:spPr>
      </p:sp>
      <p:sp>
        <p:nvSpPr>
          <p:cNvPr id="42" name="Text 40"/>
          <p:cNvSpPr/>
          <p:nvPr/>
        </p:nvSpPr>
        <p:spPr>
          <a:xfrm>
            <a:off x="1126992" y="3958132"/>
            <a:ext cx="1272134" cy="273210"/>
          </a:xfrm>
          <a:prstGeom prst="rect">
            <a:avLst/>
          </a:prstGeom>
          <a:noFill/>
          <a:ln/>
        </p:spPr>
        <p:txBody>
          <a:bodyPr wrap="square" lIns="0" tIns="0" rIns="0" bIns="0" rtlCol="0" anchor="ctr"/>
          <a:lstStyle/>
          <a:p>
            <a:pPr>
              <a:lnSpc>
                <a:spcPct val="110000"/>
              </a:lnSpc>
            </a:pPr>
            <a:r>
              <a:rPr lang="en-US" sz="1613" b="1" dirty="0">
                <a:solidFill>
                  <a:srgbClr val="DDFF00"/>
                </a:solidFill>
                <a:latin typeface="Liter" pitchFamily="34" charset="0"/>
                <a:ea typeface="Liter" pitchFamily="34" charset="-122"/>
                <a:cs typeface="Liter" pitchFamily="34" charset="-120"/>
              </a:rPr>
              <a:t>C2B</a:t>
            </a:r>
            <a:endParaRPr lang="en-US" sz="1600" dirty="0"/>
          </a:p>
        </p:txBody>
      </p:sp>
      <p:sp>
        <p:nvSpPr>
          <p:cNvPr id="43" name="Text 41"/>
          <p:cNvSpPr/>
          <p:nvPr/>
        </p:nvSpPr>
        <p:spPr>
          <a:xfrm>
            <a:off x="1126992" y="4231234"/>
            <a:ext cx="1229445" cy="170756"/>
          </a:xfrm>
          <a:prstGeom prst="rect">
            <a:avLst/>
          </a:prstGeom>
          <a:noFill/>
          <a:ln/>
        </p:spPr>
        <p:txBody>
          <a:bodyPr wrap="square" lIns="0" tIns="0" rIns="0" bIns="0" rtlCol="0" anchor="ctr"/>
          <a:lstStyle/>
          <a:p>
            <a:pPr>
              <a:lnSpc>
                <a:spcPct val="120000"/>
              </a:lnSpc>
            </a:pPr>
            <a:r>
              <a:rPr lang="en-US" sz="941" dirty="0">
                <a:solidFill>
                  <a:srgbClr val="FFFFFF">
                    <a:alpha val="60000"/>
                  </a:srgbClr>
                </a:solidFill>
                <a:latin typeface="Liter" pitchFamily="34" charset="0"/>
                <a:ea typeface="Liter" pitchFamily="34" charset="-122"/>
                <a:cs typeface="Liter" pitchFamily="34" charset="-120"/>
              </a:rPr>
              <a:t>Consumer to Business</a:t>
            </a:r>
            <a:endParaRPr lang="en-US" sz="1600" dirty="0"/>
          </a:p>
        </p:txBody>
      </p:sp>
      <p:sp>
        <p:nvSpPr>
          <p:cNvPr id="44" name="Text 42"/>
          <p:cNvSpPr/>
          <p:nvPr/>
        </p:nvSpPr>
        <p:spPr>
          <a:xfrm>
            <a:off x="546420" y="4555779"/>
            <a:ext cx="3415126" cy="614723"/>
          </a:xfrm>
          <a:prstGeom prst="rect">
            <a:avLst/>
          </a:prstGeom>
          <a:noFill/>
          <a:ln/>
        </p:spPr>
        <p:txBody>
          <a:bodyPr wrap="square" lIns="0" tIns="0" rIns="0" bIns="0" rtlCol="0" anchor="ctr"/>
          <a:lstStyle/>
          <a:p>
            <a:pPr>
              <a:lnSpc>
                <a:spcPct val="130000"/>
              </a:lnSpc>
            </a:pPr>
            <a:r>
              <a:rPr lang="en-US" sz="1076" dirty="0">
                <a:solidFill>
                  <a:srgbClr val="FFFFFF">
                    <a:alpha val="90000"/>
                  </a:srgbClr>
                </a:solidFill>
                <a:latin typeface="Liter" pitchFamily="34" charset="0"/>
                <a:ea typeface="Liter" pitchFamily="34" charset="-122"/>
                <a:cs typeface="Liter" pitchFamily="34" charset="-120"/>
              </a:rPr>
              <a:t>Individuals offering products or services to companies.</a:t>
            </a:r>
            <a:endParaRPr lang="en-US" sz="1600" dirty="0"/>
          </a:p>
        </p:txBody>
      </p:sp>
      <p:sp>
        <p:nvSpPr>
          <p:cNvPr id="45" name="Shape 43"/>
          <p:cNvSpPr/>
          <p:nvPr/>
        </p:nvSpPr>
        <p:spPr>
          <a:xfrm>
            <a:off x="549835" y="5310522"/>
            <a:ext cx="3336578" cy="724007"/>
          </a:xfrm>
          <a:custGeom>
            <a:avLst/>
            <a:gdLst/>
            <a:ahLst/>
            <a:cxnLst/>
            <a:rect l="l" t="t" r="r" b="b"/>
            <a:pathLst>
              <a:path w="3336578" h="724007">
                <a:moveTo>
                  <a:pt x="0" y="0"/>
                </a:moveTo>
                <a:lnTo>
                  <a:pt x="3336578" y="0"/>
                </a:lnTo>
                <a:lnTo>
                  <a:pt x="3336578" y="724007"/>
                </a:lnTo>
                <a:lnTo>
                  <a:pt x="0" y="724007"/>
                </a:lnTo>
                <a:lnTo>
                  <a:pt x="0" y="0"/>
                </a:lnTo>
                <a:close/>
              </a:path>
            </a:pathLst>
          </a:custGeom>
          <a:solidFill>
            <a:srgbClr val="000000"/>
          </a:solidFill>
          <a:ln w="10160">
            <a:solidFill>
              <a:srgbClr val="DDFF00">
                <a:alpha val="30196"/>
              </a:srgbClr>
            </a:solidFill>
            <a:prstDash val="solid"/>
          </a:ln>
        </p:spPr>
      </p:sp>
      <p:sp>
        <p:nvSpPr>
          <p:cNvPr id="46" name="Shape 44"/>
          <p:cNvSpPr/>
          <p:nvPr/>
        </p:nvSpPr>
        <p:spPr>
          <a:xfrm>
            <a:off x="706931" y="5477863"/>
            <a:ext cx="119529" cy="119529"/>
          </a:xfrm>
          <a:custGeom>
            <a:avLst/>
            <a:gdLst/>
            <a:ahLst/>
            <a:cxnLst/>
            <a:rect l="l" t="t" r="r" b="b"/>
            <a:pathLst>
              <a:path w="119529" h="119529">
                <a:moveTo>
                  <a:pt x="15385" y="53345"/>
                </a:moveTo>
                <a:cubicBezTo>
                  <a:pt x="18490" y="31633"/>
                  <a:pt x="37190" y="14941"/>
                  <a:pt x="59765" y="14941"/>
                </a:cubicBezTo>
                <a:cubicBezTo>
                  <a:pt x="72138" y="14941"/>
                  <a:pt x="83344" y="19960"/>
                  <a:pt x="91468" y="28061"/>
                </a:cubicBezTo>
                <a:cubicBezTo>
                  <a:pt x="91515" y="28108"/>
                  <a:pt x="91561" y="28155"/>
                  <a:pt x="91608" y="28201"/>
                </a:cubicBezTo>
                <a:lnTo>
                  <a:pt x="93382" y="29882"/>
                </a:lnTo>
                <a:lnTo>
                  <a:pt x="82200" y="29882"/>
                </a:lnTo>
                <a:cubicBezTo>
                  <a:pt x="78068" y="29882"/>
                  <a:pt x="74729" y="33221"/>
                  <a:pt x="74729" y="37353"/>
                </a:cubicBezTo>
                <a:cubicBezTo>
                  <a:pt x="74729" y="41485"/>
                  <a:pt x="78068" y="44824"/>
                  <a:pt x="82200" y="44824"/>
                </a:cubicBezTo>
                <a:lnTo>
                  <a:pt x="112082" y="44824"/>
                </a:lnTo>
                <a:cubicBezTo>
                  <a:pt x="116214" y="44824"/>
                  <a:pt x="119553" y="41485"/>
                  <a:pt x="119553" y="37353"/>
                </a:cubicBezTo>
                <a:lnTo>
                  <a:pt x="119553" y="7471"/>
                </a:lnTo>
                <a:cubicBezTo>
                  <a:pt x="119553" y="3338"/>
                  <a:pt x="116214" y="0"/>
                  <a:pt x="112082" y="0"/>
                </a:cubicBezTo>
                <a:cubicBezTo>
                  <a:pt x="107950" y="0"/>
                  <a:pt x="104612" y="3338"/>
                  <a:pt x="104612" y="7471"/>
                </a:cubicBezTo>
                <a:lnTo>
                  <a:pt x="104612" y="19937"/>
                </a:lnTo>
                <a:lnTo>
                  <a:pt x="101974" y="17439"/>
                </a:lnTo>
                <a:cubicBezTo>
                  <a:pt x="91165" y="6677"/>
                  <a:pt x="76223" y="0"/>
                  <a:pt x="59765" y="0"/>
                </a:cubicBezTo>
                <a:cubicBezTo>
                  <a:pt x="29649" y="0"/>
                  <a:pt x="4739" y="22272"/>
                  <a:pt x="607" y="51244"/>
                </a:cubicBezTo>
                <a:cubicBezTo>
                  <a:pt x="23" y="55329"/>
                  <a:pt x="2848" y="59111"/>
                  <a:pt x="6934" y="59695"/>
                </a:cubicBezTo>
                <a:cubicBezTo>
                  <a:pt x="11019" y="60278"/>
                  <a:pt x="14801" y="57430"/>
                  <a:pt x="15385" y="53368"/>
                </a:cubicBezTo>
                <a:close/>
                <a:moveTo>
                  <a:pt x="118922" y="68286"/>
                </a:moveTo>
                <a:cubicBezTo>
                  <a:pt x="119506" y="64200"/>
                  <a:pt x="116658" y="60418"/>
                  <a:pt x="112596" y="59835"/>
                </a:cubicBezTo>
                <a:cubicBezTo>
                  <a:pt x="108534" y="59251"/>
                  <a:pt x="104728" y="62099"/>
                  <a:pt x="104145" y="66161"/>
                </a:cubicBezTo>
                <a:cubicBezTo>
                  <a:pt x="101040" y="87873"/>
                  <a:pt x="82340" y="104565"/>
                  <a:pt x="59765" y="104565"/>
                </a:cubicBezTo>
                <a:cubicBezTo>
                  <a:pt x="47392" y="104565"/>
                  <a:pt x="36186" y="99546"/>
                  <a:pt x="28061" y="91445"/>
                </a:cubicBezTo>
                <a:cubicBezTo>
                  <a:pt x="28015" y="91398"/>
                  <a:pt x="27968" y="91351"/>
                  <a:pt x="27921" y="91305"/>
                </a:cubicBezTo>
                <a:lnTo>
                  <a:pt x="26147" y="89624"/>
                </a:lnTo>
                <a:lnTo>
                  <a:pt x="37330" y="89624"/>
                </a:lnTo>
                <a:cubicBezTo>
                  <a:pt x="41462" y="89624"/>
                  <a:pt x="44800" y="86285"/>
                  <a:pt x="44800" y="82153"/>
                </a:cubicBezTo>
                <a:cubicBezTo>
                  <a:pt x="44800" y="78021"/>
                  <a:pt x="41462" y="74683"/>
                  <a:pt x="37330" y="74683"/>
                </a:cubicBezTo>
                <a:lnTo>
                  <a:pt x="7471" y="74706"/>
                </a:lnTo>
                <a:cubicBezTo>
                  <a:pt x="5486" y="74706"/>
                  <a:pt x="3572" y="75500"/>
                  <a:pt x="2171" y="76924"/>
                </a:cubicBezTo>
                <a:cubicBezTo>
                  <a:pt x="770" y="78348"/>
                  <a:pt x="-23" y="80239"/>
                  <a:pt x="0" y="82247"/>
                </a:cubicBezTo>
                <a:lnTo>
                  <a:pt x="233" y="111895"/>
                </a:lnTo>
                <a:cubicBezTo>
                  <a:pt x="257" y="116028"/>
                  <a:pt x="3642" y="119343"/>
                  <a:pt x="7774" y="119296"/>
                </a:cubicBezTo>
                <a:cubicBezTo>
                  <a:pt x="11906" y="119249"/>
                  <a:pt x="15221" y="115888"/>
                  <a:pt x="15175" y="111755"/>
                </a:cubicBezTo>
                <a:lnTo>
                  <a:pt x="15081" y="99732"/>
                </a:lnTo>
                <a:lnTo>
                  <a:pt x="17579" y="102090"/>
                </a:lnTo>
                <a:cubicBezTo>
                  <a:pt x="28388" y="112853"/>
                  <a:pt x="43306" y="119529"/>
                  <a:pt x="59765" y="119529"/>
                </a:cubicBezTo>
                <a:cubicBezTo>
                  <a:pt x="89881" y="119529"/>
                  <a:pt x="114790" y="97258"/>
                  <a:pt x="118922" y="68286"/>
                </a:cubicBezTo>
                <a:close/>
              </a:path>
            </a:pathLst>
          </a:custGeom>
          <a:solidFill>
            <a:srgbClr val="DDFF00"/>
          </a:solidFill>
          <a:ln/>
        </p:spPr>
      </p:sp>
      <p:sp>
        <p:nvSpPr>
          <p:cNvPr id="47" name="Text 45"/>
          <p:cNvSpPr/>
          <p:nvPr/>
        </p:nvSpPr>
        <p:spPr>
          <a:xfrm>
            <a:off x="889454" y="5450540"/>
            <a:ext cx="2916704" cy="170756"/>
          </a:xfrm>
          <a:prstGeom prst="rect">
            <a:avLst/>
          </a:prstGeom>
          <a:noFill/>
          <a:ln/>
        </p:spPr>
        <p:txBody>
          <a:bodyPr wrap="square" lIns="0" tIns="0" rIns="0" bIns="0" rtlCol="0" anchor="ctr"/>
          <a:lstStyle/>
          <a:p>
            <a:pPr>
              <a:lnSpc>
                <a:spcPct val="120000"/>
              </a:lnSpc>
            </a:pPr>
            <a:r>
              <a:rPr lang="en-US" sz="941" b="1" dirty="0">
                <a:solidFill>
                  <a:srgbClr val="DDFF00"/>
                </a:solidFill>
                <a:latin typeface="Liter" pitchFamily="34" charset="0"/>
                <a:ea typeface="Liter" pitchFamily="34" charset="-122"/>
                <a:cs typeface="Liter" pitchFamily="34" charset="-120"/>
              </a:rPr>
              <a:t>Example:</a:t>
            </a:r>
            <a:endParaRPr lang="en-US" sz="1600" dirty="0"/>
          </a:p>
        </p:txBody>
      </p:sp>
      <p:sp>
        <p:nvSpPr>
          <p:cNvPr id="48" name="Text 46"/>
          <p:cNvSpPr/>
          <p:nvPr/>
        </p:nvSpPr>
        <p:spPr>
          <a:xfrm>
            <a:off x="689855" y="5689599"/>
            <a:ext cx="3124840" cy="204908"/>
          </a:xfrm>
          <a:prstGeom prst="rect">
            <a:avLst/>
          </a:prstGeom>
          <a:noFill/>
          <a:ln/>
        </p:spPr>
        <p:txBody>
          <a:bodyPr wrap="square" lIns="0" tIns="0" rIns="0" bIns="0" rtlCol="0" anchor="ctr"/>
          <a:lstStyle/>
          <a:p>
            <a:pPr>
              <a:lnSpc>
                <a:spcPct val="130000"/>
              </a:lnSpc>
            </a:pPr>
            <a:r>
              <a:rPr lang="en-US" sz="1076" dirty="0">
                <a:solidFill>
                  <a:srgbClr val="FFFFFF"/>
                </a:solidFill>
                <a:latin typeface="Liter" pitchFamily="34" charset="0"/>
                <a:ea typeface="Liter" pitchFamily="34" charset="-122"/>
                <a:cs typeface="Liter" pitchFamily="34" charset="-120"/>
              </a:rPr>
              <a:t>Freelancers offering services on Upwork, Fiverr</a:t>
            </a:r>
            <a:endParaRPr lang="en-US" sz="1600" dirty="0"/>
          </a:p>
        </p:txBody>
      </p:sp>
      <p:sp>
        <p:nvSpPr>
          <p:cNvPr id="49" name="Shape 47"/>
          <p:cNvSpPr/>
          <p:nvPr/>
        </p:nvSpPr>
        <p:spPr>
          <a:xfrm>
            <a:off x="4250551" y="3770300"/>
            <a:ext cx="3705412" cy="2441815"/>
          </a:xfrm>
          <a:custGeom>
            <a:avLst/>
            <a:gdLst/>
            <a:ahLst/>
            <a:cxnLst/>
            <a:rect l="l" t="t" r="r" b="b"/>
            <a:pathLst>
              <a:path w="3705412" h="2441815">
                <a:moveTo>
                  <a:pt x="0" y="0"/>
                </a:moveTo>
                <a:lnTo>
                  <a:pt x="3705412" y="0"/>
                </a:lnTo>
                <a:lnTo>
                  <a:pt x="3705412" y="2441815"/>
                </a:lnTo>
                <a:lnTo>
                  <a:pt x="0" y="2441815"/>
                </a:lnTo>
                <a:lnTo>
                  <a:pt x="0" y="0"/>
                </a:lnTo>
                <a:close/>
              </a:path>
            </a:pathLst>
          </a:custGeom>
          <a:solidFill>
            <a:srgbClr val="111111"/>
          </a:solidFill>
          <a:ln/>
        </p:spPr>
      </p:sp>
      <p:sp>
        <p:nvSpPr>
          <p:cNvPr id="50" name="Shape 48"/>
          <p:cNvSpPr/>
          <p:nvPr/>
        </p:nvSpPr>
        <p:spPr>
          <a:xfrm>
            <a:off x="4250551" y="3770300"/>
            <a:ext cx="34151" cy="2441815"/>
          </a:xfrm>
          <a:custGeom>
            <a:avLst/>
            <a:gdLst/>
            <a:ahLst/>
            <a:cxnLst/>
            <a:rect l="l" t="t" r="r" b="b"/>
            <a:pathLst>
              <a:path w="34151" h="2441815">
                <a:moveTo>
                  <a:pt x="0" y="0"/>
                </a:moveTo>
                <a:lnTo>
                  <a:pt x="34151" y="0"/>
                </a:lnTo>
                <a:lnTo>
                  <a:pt x="34151" y="2441815"/>
                </a:lnTo>
                <a:lnTo>
                  <a:pt x="0" y="2441815"/>
                </a:lnTo>
                <a:lnTo>
                  <a:pt x="0" y="0"/>
                </a:lnTo>
                <a:close/>
              </a:path>
            </a:pathLst>
          </a:custGeom>
          <a:solidFill>
            <a:srgbClr val="DDFF00"/>
          </a:solidFill>
          <a:ln/>
        </p:spPr>
      </p:sp>
      <p:sp>
        <p:nvSpPr>
          <p:cNvPr id="51" name="Shape 49"/>
          <p:cNvSpPr/>
          <p:nvPr/>
        </p:nvSpPr>
        <p:spPr>
          <a:xfrm>
            <a:off x="4438384" y="3941056"/>
            <a:ext cx="478118" cy="478118"/>
          </a:xfrm>
          <a:custGeom>
            <a:avLst/>
            <a:gdLst/>
            <a:ahLst/>
            <a:cxnLst/>
            <a:rect l="l" t="t" r="r" b="b"/>
            <a:pathLst>
              <a:path w="478118" h="478118">
                <a:moveTo>
                  <a:pt x="0" y="0"/>
                </a:moveTo>
                <a:lnTo>
                  <a:pt x="478118" y="0"/>
                </a:lnTo>
                <a:lnTo>
                  <a:pt x="478118" y="478118"/>
                </a:lnTo>
                <a:lnTo>
                  <a:pt x="0" y="478118"/>
                </a:lnTo>
                <a:lnTo>
                  <a:pt x="0" y="0"/>
                </a:lnTo>
                <a:close/>
              </a:path>
            </a:pathLst>
          </a:custGeom>
          <a:solidFill>
            <a:srgbClr val="DDFF00"/>
          </a:solidFill>
          <a:ln/>
        </p:spPr>
      </p:sp>
      <p:sp>
        <p:nvSpPr>
          <p:cNvPr id="52" name="Shape 50"/>
          <p:cNvSpPr/>
          <p:nvPr/>
        </p:nvSpPr>
        <p:spPr>
          <a:xfrm>
            <a:off x="4574989" y="4077661"/>
            <a:ext cx="204908" cy="204908"/>
          </a:xfrm>
          <a:custGeom>
            <a:avLst/>
            <a:gdLst/>
            <a:ahLst/>
            <a:cxnLst/>
            <a:rect l="l" t="t" r="r" b="b"/>
            <a:pathLst>
              <a:path w="204908" h="204908">
                <a:moveTo>
                  <a:pt x="95530" y="2041"/>
                </a:moveTo>
                <a:cubicBezTo>
                  <a:pt x="99732" y="-680"/>
                  <a:pt x="105175" y="-680"/>
                  <a:pt x="109377" y="2041"/>
                </a:cubicBezTo>
                <a:lnTo>
                  <a:pt x="199024" y="59671"/>
                </a:lnTo>
                <a:cubicBezTo>
                  <a:pt x="203787" y="62753"/>
                  <a:pt x="205988" y="68596"/>
                  <a:pt x="204387" y="74039"/>
                </a:cubicBezTo>
                <a:cubicBezTo>
                  <a:pt x="202786" y="79482"/>
                  <a:pt x="197784" y="83244"/>
                  <a:pt x="192101" y="83244"/>
                </a:cubicBezTo>
                <a:lnTo>
                  <a:pt x="179294" y="83244"/>
                </a:lnTo>
                <a:lnTo>
                  <a:pt x="179294" y="166487"/>
                </a:lnTo>
                <a:lnTo>
                  <a:pt x="199785" y="181855"/>
                </a:lnTo>
                <a:cubicBezTo>
                  <a:pt x="203027" y="184257"/>
                  <a:pt x="204908" y="188059"/>
                  <a:pt x="204908" y="192101"/>
                </a:cubicBezTo>
                <a:cubicBezTo>
                  <a:pt x="204908" y="199185"/>
                  <a:pt x="199185" y="204908"/>
                  <a:pt x="192101" y="204908"/>
                </a:cubicBezTo>
                <a:lnTo>
                  <a:pt x="12807" y="204908"/>
                </a:lnTo>
                <a:cubicBezTo>
                  <a:pt x="5723" y="204908"/>
                  <a:pt x="0" y="199185"/>
                  <a:pt x="0" y="192101"/>
                </a:cubicBezTo>
                <a:cubicBezTo>
                  <a:pt x="0" y="188059"/>
                  <a:pt x="1881" y="184257"/>
                  <a:pt x="5123" y="181855"/>
                </a:cubicBezTo>
                <a:lnTo>
                  <a:pt x="25613" y="166487"/>
                </a:lnTo>
                <a:lnTo>
                  <a:pt x="25613" y="166487"/>
                </a:lnTo>
                <a:lnTo>
                  <a:pt x="25613" y="83244"/>
                </a:lnTo>
                <a:lnTo>
                  <a:pt x="12807" y="83244"/>
                </a:lnTo>
                <a:cubicBezTo>
                  <a:pt x="7124" y="83244"/>
                  <a:pt x="2121" y="79482"/>
                  <a:pt x="520" y="74039"/>
                </a:cubicBezTo>
                <a:cubicBezTo>
                  <a:pt x="-1081" y="68596"/>
                  <a:pt x="1121" y="62713"/>
                  <a:pt x="5883" y="59671"/>
                </a:cubicBezTo>
                <a:lnTo>
                  <a:pt x="95530" y="2041"/>
                </a:lnTo>
                <a:close/>
                <a:moveTo>
                  <a:pt x="134471" y="83244"/>
                </a:moveTo>
                <a:lnTo>
                  <a:pt x="134471" y="166487"/>
                </a:lnTo>
                <a:lnTo>
                  <a:pt x="160084" y="166487"/>
                </a:lnTo>
                <a:lnTo>
                  <a:pt x="160084" y="83244"/>
                </a:lnTo>
                <a:lnTo>
                  <a:pt x="134471" y="83244"/>
                </a:lnTo>
                <a:close/>
                <a:moveTo>
                  <a:pt x="89647" y="166487"/>
                </a:moveTo>
                <a:lnTo>
                  <a:pt x="115261" y="166487"/>
                </a:lnTo>
                <a:lnTo>
                  <a:pt x="115261" y="83244"/>
                </a:lnTo>
                <a:lnTo>
                  <a:pt x="89647" y="83244"/>
                </a:lnTo>
                <a:lnTo>
                  <a:pt x="89647" y="166487"/>
                </a:lnTo>
                <a:close/>
                <a:moveTo>
                  <a:pt x="44824" y="83244"/>
                </a:moveTo>
                <a:lnTo>
                  <a:pt x="44824" y="166487"/>
                </a:lnTo>
                <a:lnTo>
                  <a:pt x="70437" y="166487"/>
                </a:lnTo>
                <a:lnTo>
                  <a:pt x="70437" y="83244"/>
                </a:lnTo>
                <a:lnTo>
                  <a:pt x="44824" y="83244"/>
                </a:lnTo>
                <a:close/>
              </a:path>
            </a:pathLst>
          </a:custGeom>
          <a:solidFill>
            <a:srgbClr val="000000"/>
          </a:solidFill>
          <a:ln/>
        </p:spPr>
      </p:sp>
      <p:sp>
        <p:nvSpPr>
          <p:cNvPr id="53" name="Text 51"/>
          <p:cNvSpPr/>
          <p:nvPr/>
        </p:nvSpPr>
        <p:spPr>
          <a:xfrm>
            <a:off x="5018955" y="3958132"/>
            <a:ext cx="1383126" cy="273210"/>
          </a:xfrm>
          <a:prstGeom prst="rect">
            <a:avLst/>
          </a:prstGeom>
          <a:noFill/>
          <a:ln/>
        </p:spPr>
        <p:txBody>
          <a:bodyPr wrap="square" lIns="0" tIns="0" rIns="0" bIns="0" rtlCol="0" anchor="ctr"/>
          <a:lstStyle/>
          <a:p>
            <a:pPr>
              <a:lnSpc>
                <a:spcPct val="110000"/>
              </a:lnSpc>
            </a:pPr>
            <a:r>
              <a:rPr lang="en-US" sz="1613" b="1" dirty="0">
                <a:solidFill>
                  <a:srgbClr val="DDFF00"/>
                </a:solidFill>
                <a:latin typeface="Liter" pitchFamily="34" charset="0"/>
                <a:ea typeface="Liter" pitchFamily="34" charset="-122"/>
                <a:cs typeface="Liter" pitchFamily="34" charset="-120"/>
              </a:rPr>
              <a:t>G2B</a:t>
            </a:r>
            <a:endParaRPr lang="en-US" sz="1600" dirty="0"/>
          </a:p>
        </p:txBody>
      </p:sp>
      <p:sp>
        <p:nvSpPr>
          <p:cNvPr id="54" name="Text 52"/>
          <p:cNvSpPr/>
          <p:nvPr/>
        </p:nvSpPr>
        <p:spPr>
          <a:xfrm>
            <a:off x="5018955" y="4231234"/>
            <a:ext cx="1340437" cy="170756"/>
          </a:xfrm>
          <a:prstGeom prst="rect">
            <a:avLst/>
          </a:prstGeom>
          <a:noFill/>
          <a:ln/>
        </p:spPr>
        <p:txBody>
          <a:bodyPr wrap="square" lIns="0" tIns="0" rIns="0" bIns="0" rtlCol="0" anchor="ctr"/>
          <a:lstStyle/>
          <a:p>
            <a:pPr>
              <a:lnSpc>
                <a:spcPct val="120000"/>
              </a:lnSpc>
            </a:pPr>
            <a:r>
              <a:rPr lang="en-US" sz="941" dirty="0">
                <a:solidFill>
                  <a:srgbClr val="FFFFFF">
                    <a:alpha val="60000"/>
                  </a:srgbClr>
                </a:solidFill>
                <a:latin typeface="Liter" pitchFamily="34" charset="0"/>
                <a:ea typeface="Liter" pitchFamily="34" charset="-122"/>
                <a:cs typeface="Liter" pitchFamily="34" charset="-120"/>
              </a:rPr>
              <a:t>Government to Business</a:t>
            </a:r>
            <a:endParaRPr lang="en-US" sz="1600" dirty="0"/>
          </a:p>
        </p:txBody>
      </p:sp>
      <p:sp>
        <p:nvSpPr>
          <p:cNvPr id="55" name="Text 53"/>
          <p:cNvSpPr/>
          <p:nvPr/>
        </p:nvSpPr>
        <p:spPr>
          <a:xfrm>
            <a:off x="4438384" y="4555779"/>
            <a:ext cx="3415126" cy="614723"/>
          </a:xfrm>
          <a:prstGeom prst="rect">
            <a:avLst/>
          </a:prstGeom>
          <a:noFill/>
          <a:ln/>
        </p:spPr>
        <p:txBody>
          <a:bodyPr wrap="square" lIns="0" tIns="0" rIns="0" bIns="0" rtlCol="0" anchor="ctr"/>
          <a:lstStyle/>
          <a:p>
            <a:pPr>
              <a:lnSpc>
                <a:spcPct val="130000"/>
              </a:lnSpc>
            </a:pPr>
            <a:r>
              <a:rPr lang="en-US" sz="1076" dirty="0">
                <a:solidFill>
                  <a:srgbClr val="FFFFFF">
                    <a:alpha val="90000"/>
                  </a:srgbClr>
                </a:solidFill>
                <a:latin typeface="Liter" pitchFamily="34" charset="0"/>
                <a:ea typeface="Liter" pitchFamily="34" charset="-122"/>
                <a:cs typeface="Liter" pitchFamily="34" charset="-120"/>
              </a:rPr>
              <a:t>Government providing services, information, or products to businesses.</a:t>
            </a:r>
            <a:endParaRPr lang="en-US" sz="1600" dirty="0"/>
          </a:p>
        </p:txBody>
      </p:sp>
      <p:sp>
        <p:nvSpPr>
          <p:cNvPr id="56" name="Shape 54"/>
          <p:cNvSpPr/>
          <p:nvPr/>
        </p:nvSpPr>
        <p:spPr>
          <a:xfrm>
            <a:off x="4441799" y="5310522"/>
            <a:ext cx="3336578" cy="724007"/>
          </a:xfrm>
          <a:custGeom>
            <a:avLst/>
            <a:gdLst/>
            <a:ahLst/>
            <a:cxnLst/>
            <a:rect l="l" t="t" r="r" b="b"/>
            <a:pathLst>
              <a:path w="3336578" h="724007">
                <a:moveTo>
                  <a:pt x="0" y="0"/>
                </a:moveTo>
                <a:lnTo>
                  <a:pt x="3336578" y="0"/>
                </a:lnTo>
                <a:lnTo>
                  <a:pt x="3336578" y="724007"/>
                </a:lnTo>
                <a:lnTo>
                  <a:pt x="0" y="724007"/>
                </a:lnTo>
                <a:lnTo>
                  <a:pt x="0" y="0"/>
                </a:lnTo>
                <a:close/>
              </a:path>
            </a:pathLst>
          </a:custGeom>
          <a:solidFill>
            <a:srgbClr val="000000"/>
          </a:solidFill>
          <a:ln w="10160">
            <a:solidFill>
              <a:srgbClr val="DDFF00">
                <a:alpha val="30196"/>
              </a:srgbClr>
            </a:solidFill>
            <a:prstDash val="solid"/>
          </a:ln>
        </p:spPr>
      </p:sp>
      <p:sp>
        <p:nvSpPr>
          <p:cNvPr id="57" name="Shape 55"/>
          <p:cNvSpPr/>
          <p:nvPr/>
        </p:nvSpPr>
        <p:spPr>
          <a:xfrm>
            <a:off x="4598894" y="5477863"/>
            <a:ext cx="119529" cy="119529"/>
          </a:xfrm>
          <a:custGeom>
            <a:avLst/>
            <a:gdLst/>
            <a:ahLst/>
            <a:cxnLst/>
            <a:rect l="l" t="t" r="r" b="b"/>
            <a:pathLst>
              <a:path w="119529" h="119529">
                <a:moveTo>
                  <a:pt x="15385" y="53345"/>
                </a:moveTo>
                <a:cubicBezTo>
                  <a:pt x="18490" y="31633"/>
                  <a:pt x="37190" y="14941"/>
                  <a:pt x="59765" y="14941"/>
                </a:cubicBezTo>
                <a:cubicBezTo>
                  <a:pt x="72138" y="14941"/>
                  <a:pt x="83344" y="19960"/>
                  <a:pt x="91468" y="28061"/>
                </a:cubicBezTo>
                <a:cubicBezTo>
                  <a:pt x="91515" y="28108"/>
                  <a:pt x="91561" y="28155"/>
                  <a:pt x="91608" y="28201"/>
                </a:cubicBezTo>
                <a:lnTo>
                  <a:pt x="93382" y="29882"/>
                </a:lnTo>
                <a:lnTo>
                  <a:pt x="82200" y="29882"/>
                </a:lnTo>
                <a:cubicBezTo>
                  <a:pt x="78068" y="29882"/>
                  <a:pt x="74729" y="33221"/>
                  <a:pt x="74729" y="37353"/>
                </a:cubicBezTo>
                <a:cubicBezTo>
                  <a:pt x="74729" y="41485"/>
                  <a:pt x="78068" y="44824"/>
                  <a:pt x="82200" y="44824"/>
                </a:cubicBezTo>
                <a:lnTo>
                  <a:pt x="112082" y="44824"/>
                </a:lnTo>
                <a:cubicBezTo>
                  <a:pt x="116214" y="44824"/>
                  <a:pt x="119553" y="41485"/>
                  <a:pt x="119553" y="37353"/>
                </a:cubicBezTo>
                <a:lnTo>
                  <a:pt x="119553" y="7471"/>
                </a:lnTo>
                <a:cubicBezTo>
                  <a:pt x="119553" y="3338"/>
                  <a:pt x="116214" y="0"/>
                  <a:pt x="112082" y="0"/>
                </a:cubicBezTo>
                <a:cubicBezTo>
                  <a:pt x="107950" y="0"/>
                  <a:pt x="104612" y="3338"/>
                  <a:pt x="104612" y="7471"/>
                </a:cubicBezTo>
                <a:lnTo>
                  <a:pt x="104612" y="19937"/>
                </a:lnTo>
                <a:lnTo>
                  <a:pt x="101974" y="17439"/>
                </a:lnTo>
                <a:cubicBezTo>
                  <a:pt x="91165" y="6677"/>
                  <a:pt x="76223" y="0"/>
                  <a:pt x="59765" y="0"/>
                </a:cubicBezTo>
                <a:cubicBezTo>
                  <a:pt x="29649" y="0"/>
                  <a:pt x="4739" y="22272"/>
                  <a:pt x="607" y="51244"/>
                </a:cubicBezTo>
                <a:cubicBezTo>
                  <a:pt x="23" y="55329"/>
                  <a:pt x="2848" y="59111"/>
                  <a:pt x="6934" y="59695"/>
                </a:cubicBezTo>
                <a:cubicBezTo>
                  <a:pt x="11019" y="60278"/>
                  <a:pt x="14801" y="57430"/>
                  <a:pt x="15385" y="53368"/>
                </a:cubicBezTo>
                <a:close/>
                <a:moveTo>
                  <a:pt x="118922" y="68286"/>
                </a:moveTo>
                <a:cubicBezTo>
                  <a:pt x="119506" y="64200"/>
                  <a:pt x="116658" y="60418"/>
                  <a:pt x="112596" y="59835"/>
                </a:cubicBezTo>
                <a:cubicBezTo>
                  <a:pt x="108534" y="59251"/>
                  <a:pt x="104728" y="62099"/>
                  <a:pt x="104145" y="66161"/>
                </a:cubicBezTo>
                <a:cubicBezTo>
                  <a:pt x="101040" y="87873"/>
                  <a:pt x="82340" y="104565"/>
                  <a:pt x="59765" y="104565"/>
                </a:cubicBezTo>
                <a:cubicBezTo>
                  <a:pt x="47392" y="104565"/>
                  <a:pt x="36186" y="99546"/>
                  <a:pt x="28061" y="91445"/>
                </a:cubicBezTo>
                <a:cubicBezTo>
                  <a:pt x="28015" y="91398"/>
                  <a:pt x="27968" y="91351"/>
                  <a:pt x="27921" y="91305"/>
                </a:cubicBezTo>
                <a:lnTo>
                  <a:pt x="26147" y="89624"/>
                </a:lnTo>
                <a:lnTo>
                  <a:pt x="37330" y="89624"/>
                </a:lnTo>
                <a:cubicBezTo>
                  <a:pt x="41462" y="89624"/>
                  <a:pt x="44800" y="86285"/>
                  <a:pt x="44800" y="82153"/>
                </a:cubicBezTo>
                <a:cubicBezTo>
                  <a:pt x="44800" y="78021"/>
                  <a:pt x="41462" y="74683"/>
                  <a:pt x="37330" y="74683"/>
                </a:cubicBezTo>
                <a:lnTo>
                  <a:pt x="7471" y="74706"/>
                </a:lnTo>
                <a:cubicBezTo>
                  <a:pt x="5486" y="74706"/>
                  <a:pt x="3572" y="75500"/>
                  <a:pt x="2171" y="76924"/>
                </a:cubicBezTo>
                <a:cubicBezTo>
                  <a:pt x="770" y="78348"/>
                  <a:pt x="-23" y="80239"/>
                  <a:pt x="0" y="82247"/>
                </a:cubicBezTo>
                <a:lnTo>
                  <a:pt x="233" y="111895"/>
                </a:lnTo>
                <a:cubicBezTo>
                  <a:pt x="257" y="116028"/>
                  <a:pt x="3642" y="119343"/>
                  <a:pt x="7774" y="119296"/>
                </a:cubicBezTo>
                <a:cubicBezTo>
                  <a:pt x="11906" y="119249"/>
                  <a:pt x="15221" y="115888"/>
                  <a:pt x="15175" y="111755"/>
                </a:cubicBezTo>
                <a:lnTo>
                  <a:pt x="15081" y="99732"/>
                </a:lnTo>
                <a:lnTo>
                  <a:pt x="17579" y="102090"/>
                </a:lnTo>
                <a:cubicBezTo>
                  <a:pt x="28388" y="112853"/>
                  <a:pt x="43306" y="119529"/>
                  <a:pt x="59765" y="119529"/>
                </a:cubicBezTo>
                <a:cubicBezTo>
                  <a:pt x="89881" y="119529"/>
                  <a:pt x="114790" y="97258"/>
                  <a:pt x="118922" y="68286"/>
                </a:cubicBezTo>
                <a:close/>
              </a:path>
            </a:pathLst>
          </a:custGeom>
          <a:solidFill>
            <a:srgbClr val="DDFF00"/>
          </a:solidFill>
          <a:ln/>
        </p:spPr>
      </p:sp>
      <p:sp>
        <p:nvSpPr>
          <p:cNvPr id="58" name="Text 56"/>
          <p:cNvSpPr/>
          <p:nvPr/>
        </p:nvSpPr>
        <p:spPr>
          <a:xfrm>
            <a:off x="4781417" y="5450540"/>
            <a:ext cx="2916704" cy="170756"/>
          </a:xfrm>
          <a:prstGeom prst="rect">
            <a:avLst/>
          </a:prstGeom>
          <a:noFill/>
          <a:ln/>
        </p:spPr>
        <p:txBody>
          <a:bodyPr wrap="square" lIns="0" tIns="0" rIns="0" bIns="0" rtlCol="0" anchor="ctr"/>
          <a:lstStyle/>
          <a:p>
            <a:pPr>
              <a:lnSpc>
                <a:spcPct val="120000"/>
              </a:lnSpc>
            </a:pPr>
            <a:r>
              <a:rPr lang="en-US" sz="941" b="1" dirty="0">
                <a:solidFill>
                  <a:srgbClr val="DDFF00"/>
                </a:solidFill>
                <a:latin typeface="Liter" pitchFamily="34" charset="0"/>
                <a:ea typeface="Liter" pitchFamily="34" charset="-122"/>
                <a:cs typeface="Liter" pitchFamily="34" charset="-120"/>
              </a:rPr>
              <a:t>Example:</a:t>
            </a:r>
            <a:endParaRPr lang="en-US" sz="1600" dirty="0"/>
          </a:p>
        </p:txBody>
      </p:sp>
      <p:sp>
        <p:nvSpPr>
          <p:cNvPr id="59" name="Text 57"/>
          <p:cNvSpPr/>
          <p:nvPr/>
        </p:nvSpPr>
        <p:spPr>
          <a:xfrm>
            <a:off x="4581819" y="5689599"/>
            <a:ext cx="3124840" cy="204908"/>
          </a:xfrm>
          <a:prstGeom prst="rect">
            <a:avLst/>
          </a:prstGeom>
          <a:noFill/>
          <a:ln/>
        </p:spPr>
        <p:txBody>
          <a:bodyPr wrap="square" lIns="0" tIns="0" rIns="0" bIns="0" rtlCol="0" anchor="ctr"/>
          <a:lstStyle/>
          <a:p>
            <a:pPr>
              <a:lnSpc>
                <a:spcPct val="130000"/>
              </a:lnSpc>
            </a:pPr>
            <a:r>
              <a:rPr lang="en-US" sz="1076" dirty="0">
                <a:solidFill>
                  <a:srgbClr val="FFFFFF"/>
                </a:solidFill>
                <a:latin typeface="Liter" pitchFamily="34" charset="0"/>
                <a:ea typeface="Liter" pitchFamily="34" charset="-122"/>
                <a:cs typeface="Liter" pitchFamily="34" charset="-120"/>
              </a:rPr>
              <a:t>Online tax filing, e-tender systems</a:t>
            </a:r>
            <a:endParaRPr lang="en-US" sz="1600" dirty="0"/>
          </a:p>
        </p:txBody>
      </p:sp>
      <p:sp>
        <p:nvSpPr>
          <p:cNvPr id="60" name="Shape 58"/>
          <p:cNvSpPr/>
          <p:nvPr/>
        </p:nvSpPr>
        <p:spPr>
          <a:xfrm>
            <a:off x="8142514" y="3770300"/>
            <a:ext cx="3705412" cy="2441815"/>
          </a:xfrm>
          <a:custGeom>
            <a:avLst/>
            <a:gdLst/>
            <a:ahLst/>
            <a:cxnLst/>
            <a:rect l="l" t="t" r="r" b="b"/>
            <a:pathLst>
              <a:path w="3705412" h="2441815">
                <a:moveTo>
                  <a:pt x="0" y="0"/>
                </a:moveTo>
                <a:lnTo>
                  <a:pt x="3705412" y="0"/>
                </a:lnTo>
                <a:lnTo>
                  <a:pt x="3705412" y="2441815"/>
                </a:lnTo>
                <a:lnTo>
                  <a:pt x="0" y="2441815"/>
                </a:lnTo>
                <a:lnTo>
                  <a:pt x="0" y="0"/>
                </a:lnTo>
                <a:close/>
              </a:path>
            </a:pathLst>
          </a:custGeom>
          <a:solidFill>
            <a:srgbClr val="111111"/>
          </a:solidFill>
          <a:ln/>
        </p:spPr>
      </p:sp>
      <p:sp>
        <p:nvSpPr>
          <p:cNvPr id="61" name="Shape 59"/>
          <p:cNvSpPr/>
          <p:nvPr/>
        </p:nvSpPr>
        <p:spPr>
          <a:xfrm>
            <a:off x="8142514" y="3770300"/>
            <a:ext cx="34151" cy="2441815"/>
          </a:xfrm>
          <a:custGeom>
            <a:avLst/>
            <a:gdLst/>
            <a:ahLst/>
            <a:cxnLst/>
            <a:rect l="l" t="t" r="r" b="b"/>
            <a:pathLst>
              <a:path w="34151" h="2441815">
                <a:moveTo>
                  <a:pt x="0" y="0"/>
                </a:moveTo>
                <a:lnTo>
                  <a:pt x="34151" y="0"/>
                </a:lnTo>
                <a:lnTo>
                  <a:pt x="34151" y="2441815"/>
                </a:lnTo>
                <a:lnTo>
                  <a:pt x="0" y="2441815"/>
                </a:lnTo>
                <a:lnTo>
                  <a:pt x="0" y="0"/>
                </a:lnTo>
                <a:close/>
              </a:path>
            </a:pathLst>
          </a:custGeom>
          <a:solidFill>
            <a:srgbClr val="DDFF00"/>
          </a:solidFill>
          <a:ln/>
        </p:spPr>
      </p:sp>
      <p:sp>
        <p:nvSpPr>
          <p:cNvPr id="62" name="Shape 60"/>
          <p:cNvSpPr/>
          <p:nvPr/>
        </p:nvSpPr>
        <p:spPr>
          <a:xfrm>
            <a:off x="8330346" y="3941056"/>
            <a:ext cx="478118" cy="478118"/>
          </a:xfrm>
          <a:custGeom>
            <a:avLst/>
            <a:gdLst/>
            <a:ahLst/>
            <a:cxnLst/>
            <a:rect l="l" t="t" r="r" b="b"/>
            <a:pathLst>
              <a:path w="478118" h="478118">
                <a:moveTo>
                  <a:pt x="0" y="0"/>
                </a:moveTo>
                <a:lnTo>
                  <a:pt x="478118" y="0"/>
                </a:lnTo>
                <a:lnTo>
                  <a:pt x="478118" y="478118"/>
                </a:lnTo>
                <a:lnTo>
                  <a:pt x="0" y="478118"/>
                </a:lnTo>
                <a:lnTo>
                  <a:pt x="0" y="0"/>
                </a:lnTo>
                <a:close/>
              </a:path>
            </a:pathLst>
          </a:custGeom>
          <a:solidFill>
            <a:srgbClr val="DDFF00"/>
          </a:solidFill>
          <a:ln/>
        </p:spPr>
      </p:sp>
      <p:sp>
        <p:nvSpPr>
          <p:cNvPr id="63" name="Shape 61"/>
          <p:cNvSpPr/>
          <p:nvPr/>
        </p:nvSpPr>
        <p:spPr>
          <a:xfrm>
            <a:off x="8441338" y="4077661"/>
            <a:ext cx="256134" cy="204908"/>
          </a:xfrm>
          <a:custGeom>
            <a:avLst/>
            <a:gdLst/>
            <a:ahLst/>
            <a:cxnLst/>
            <a:rect l="l" t="t" r="r" b="b"/>
            <a:pathLst>
              <a:path w="256134" h="204908">
                <a:moveTo>
                  <a:pt x="128067" y="89647"/>
                </a:moveTo>
                <a:cubicBezTo>
                  <a:pt x="151039" y="89647"/>
                  <a:pt x="169689" y="70997"/>
                  <a:pt x="169689" y="48025"/>
                </a:cubicBezTo>
                <a:cubicBezTo>
                  <a:pt x="169689" y="25053"/>
                  <a:pt x="151039" y="6403"/>
                  <a:pt x="128067" y="6403"/>
                </a:cubicBezTo>
                <a:cubicBezTo>
                  <a:pt x="105096" y="6403"/>
                  <a:pt x="86445" y="25053"/>
                  <a:pt x="86445" y="48025"/>
                </a:cubicBezTo>
                <a:cubicBezTo>
                  <a:pt x="86445" y="70997"/>
                  <a:pt x="105096" y="89647"/>
                  <a:pt x="128067" y="89647"/>
                </a:cubicBezTo>
                <a:close/>
                <a:moveTo>
                  <a:pt x="38420" y="92849"/>
                </a:moveTo>
                <a:cubicBezTo>
                  <a:pt x="54324" y="92849"/>
                  <a:pt x="67235" y="79937"/>
                  <a:pt x="67235" y="64034"/>
                </a:cubicBezTo>
                <a:cubicBezTo>
                  <a:pt x="67235" y="48130"/>
                  <a:pt x="54324" y="35218"/>
                  <a:pt x="38420" y="35218"/>
                </a:cubicBezTo>
                <a:cubicBezTo>
                  <a:pt x="22517" y="35218"/>
                  <a:pt x="9605" y="48130"/>
                  <a:pt x="9605" y="64034"/>
                </a:cubicBezTo>
                <a:cubicBezTo>
                  <a:pt x="9605" y="79937"/>
                  <a:pt x="22517" y="92849"/>
                  <a:pt x="38420" y="92849"/>
                </a:cubicBezTo>
                <a:close/>
                <a:moveTo>
                  <a:pt x="0" y="166487"/>
                </a:moveTo>
                <a:lnTo>
                  <a:pt x="0" y="179294"/>
                </a:lnTo>
                <a:cubicBezTo>
                  <a:pt x="0" y="186378"/>
                  <a:pt x="5723" y="192101"/>
                  <a:pt x="12807" y="192101"/>
                </a:cubicBezTo>
                <a:lnTo>
                  <a:pt x="47505" y="192101"/>
                </a:lnTo>
                <a:cubicBezTo>
                  <a:pt x="45784" y="188179"/>
                  <a:pt x="44824" y="183857"/>
                  <a:pt x="44824" y="179294"/>
                </a:cubicBezTo>
                <a:lnTo>
                  <a:pt x="44824" y="172891"/>
                </a:lnTo>
                <a:cubicBezTo>
                  <a:pt x="44824" y="151600"/>
                  <a:pt x="52828" y="132149"/>
                  <a:pt x="65995" y="117422"/>
                </a:cubicBezTo>
                <a:cubicBezTo>
                  <a:pt x="61312" y="116021"/>
                  <a:pt x="56350" y="115261"/>
                  <a:pt x="51227" y="115261"/>
                </a:cubicBezTo>
                <a:cubicBezTo>
                  <a:pt x="22932" y="115261"/>
                  <a:pt x="0" y="138193"/>
                  <a:pt x="0" y="166487"/>
                </a:cubicBezTo>
                <a:close/>
                <a:moveTo>
                  <a:pt x="246529" y="64034"/>
                </a:moveTo>
                <a:cubicBezTo>
                  <a:pt x="246529" y="48130"/>
                  <a:pt x="233618" y="35218"/>
                  <a:pt x="217714" y="35218"/>
                </a:cubicBezTo>
                <a:cubicBezTo>
                  <a:pt x="201811" y="35218"/>
                  <a:pt x="188899" y="48130"/>
                  <a:pt x="188899" y="64034"/>
                </a:cubicBezTo>
                <a:cubicBezTo>
                  <a:pt x="188899" y="79937"/>
                  <a:pt x="201811" y="92849"/>
                  <a:pt x="217714" y="92849"/>
                </a:cubicBezTo>
                <a:cubicBezTo>
                  <a:pt x="233618" y="92849"/>
                  <a:pt x="246529" y="79937"/>
                  <a:pt x="246529" y="64034"/>
                </a:cubicBezTo>
                <a:close/>
                <a:moveTo>
                  <a:pt x="64034" y="172891"/>
                </a:moveTo>
                <a:lnTo>
                  <a:pt x="64034" y="179294"/>
                </a:lnTo>
                <a:cubicBezTo>
                  <a:pt x="64034" y="186378"/>
                  <a:pt x="69757" y="192101"/>
                  <a:pt x="76840" y="192101"/>
                </a:cubicBezTo>
                <a:lnTo>
                  <a:pt x="139593" y="192101"/>
                </a:lnTo>
                <a:cubicBezTo>
                  <a:pt x="136752" y="183456"/>
                  <a:pt x="137072" y="174332"/>
                  <a:pt x="143876" y="166487"/>
                </a:cubicBezTo>
                <a:cubicBezTo>
                  <a:pt x="138273" y="160004"/>
                  <a:pt x="135671" y="150599"/>
                  <a:pt x="139313" y="141154"/>
                </a:cubicBezTo>
                <a:cubicBezTo>
                  <a:pt x="141955" y="134311"/>
                  <a:pt x="145676" y="127907"/>
                  <a:pt x="150279" y="122224"/>
                </a:cubicBezTo>
                <a:cubicBezTo>
                  <a:pt x="152440" y="119583"/>
                  <a:pt x="154921" y="117542"/>
                  <a:pt x="157603" y="116061"/>
                </a:cubicBezTo>
                <a:cubicBezTo>
                  <a:pt x="148758" y="111459"/>
                  <a:pt x="138713" y="108857"/>
                  <a:pt x="128067" y="108857"/>
                </a:cubicBezTo>
                <a:cubicBezTo>
                  <a:pt x="92689" y="108857"/>
                  <a:pt x="64034" y="137512"/>
                  <a:pt x="64034" y="172891"/>
                </a:cubicBezTo>
                <a:close/>
                <a:moveTo>
                  <a:pt x="249971" y="155241"/>
                </a:moveTo>
                <a:cubicBezTo>
                  <a:pt x="252493" y="153801"/>
                  <a:pt x="253773" y="150799"/>
                  <a:pt x="252693" y="148038"/>
                </a:cubicBezTo>
                <a:cubicBezTo>
                  <a:pt x="250772" y="143075"/>
                  <a:pt x="248090" y="138393"/>
                  <a:pt x="244728" y="134270"/>
                </a:cubicBezTo>
                <a:cubicBezTo>
                  <a:pt x="242888" y="131989"/>
                  <a:pt x="239646" y="131589"/>
                  <a:pt x="237124" y="133070"/>
                </a:cubicBezTo>
                <a:cubicBezTo>
                  <a:pt x="228400" y="138113"/>
                  <a:pt x="217674" y="131949"/>
                  <a:pt x="217674" y="121824"/>
                </a:cubicBezTo>
                <a:cubicBezTo>
                  <a:pt x="217674" y="118902"/>
                  <a:pt x="215713" y="116301"/>
                  <a:pt x="212832" y="115861"/>
                </a:cubicBezTo>
                <a:cubicBezTo>
                  <a:pt x="207669" y="115060"/>
                  <a:pt x="202106" y="115060"/>
                  <a:pt x="196943" y="115861"/>
                </a:cubicBezTo>
                <a:cubicBezTo>
                  <a:pt x="194062" y="116301"/>
                  <a:pt x="192101" y="118902"/>
                  <a:pt x="192101" y="121824"/>
                </a:cubicBezTo>
                <a:cubicBezTo>
                  <a:pt x="192101" y="131909"/>
                  <a:pt x="181375" y="138113"/>
                  <a:pt x="172651" y="133070"/>
                </a:cubicBezTo>
                <a:cubicBezTo>
                  <a:pt x="170129" y="131629"/>
                  <a:pt x="166888" y="132029"/>
                  <a:pt x="165047" y="134270"/>
                </a:cubicBezTo>
                <a:cubicBezTo>
                  <a:pt x="161685" y="138393"/>
                  <a:pt x="159003" y="143075"/>
                  <a:pt x="157082" y="148038"/>
                </a:cubicBezTo>
                <a:cubicBezTo>
                  <a:pt x="156042" y="150759"/>
                  <a:pt x="157283" y="153761"/>
                  <a:pt x="159804" y="155201"/>
                </a:cubicBezTo>
                <a:cubicBezTo>
                  <a:pt x="168568" y="160244"/>
                  <a:pt x="168568" y="172611"/>
                  <a:pt x="159804" y="177693"/>
                </a:cubicBezTo>
                <a:cubicBezTo>
                  <a:pt x="157283" y="179134"/>
                  <a:pt x="156002" y="182136"/>
                  <a:pt x="157082" y="184857"/>
                </a:cubicBezTo>
                <a:cubicBezTo>
                  <a:pt x="159003" y="189820"/>
                  <a:pt x="161685" y="194502"/>
                  <a:pt x="165047" y="198624"/>
                </a:cubicBezTo>
                <a:cubicBezTo>
                  <a:pt x="166888" y="200905"/>
                  <a:pt x="170129" y="201306"/>
                  <a:pt x="172651" y="199825"/>
                </a:cubicBezTo>
                <a:cubicBezTo>
                  <a:pt x="181375" y="194782"/>
                  <a:pt x="192101" y="200986"/>
                  <a:pt x="192101" y="211071"/>
                </a:cubicBezTo>
                <a:cubicBezTo>
                  <a:pt x="192101" y="213992"/>
                  <a:pt x="194062" y="216594"/>
                  <a:pt x="196943" y="217034"/>
                </a:cubicBezTo>
                <a:cubicBezTo>
                  <a:pt x="202106" y="217834"/>
                  <a:pt x="207669" y="217834"/>
                  <a:pt x="212832" y="217034"/>
                </a:cubicBezTo>
                <a:cubicBezTo>
                  <a:pt x="215713" y="216594"/>
                  <a:pt x="217674" y="213992"/>
                  <a:pt x="217674" y="211071"/>
                </a:cubicBezTo>
                <a:cubicBezTo>
                  <a:pt x="217674" y="200986"/>
                  <a:pt x="228400" y="194782"/>
                  <a:pt x="237124" y="199825"/>
                </a:cubicBezTo>
                <a:cubicBezTo>
                  <a:pt x="239646" y="201266"/>
                  <a:pt x="242888" y="200865"/>
                  <a:pt x="244728" y="198624"/>
                </a:cubicBezTo>
                <a:cubicBezTo>
                  <a:pt x="248090" y="194502"/>
                  <a:pt x="250772" y="189820"/>
                  <a:pt x="252693" y="184857"/>
                </a:cubicBezTo>
                <a:cubicBezTo>
                  <a:pt x="253733" y="182136"/>
                  <a:pt x="252493" y="179134"/>
                  <a:pt x="249971" y="177693"/>
                </a:cubicBezTo>
                <a:cubicBezTo>
                  <a:pt x="241207" y="172651"/>
                  <a:pt x="241207" y="160284"/>
                  <a:pt x="249971" y="155201"/>
                </a:cubicBezTo>
                <a:close/>
                <a:moveTo>
                  <a:pt x="188899" y="166487"/>
                </a:moveTo>
                <a:cubicBezTo>
                  <a:pt x="188899" y="157652"/>
                  <a:pt x="196072" y="150479"/>
                  <a:pt x="204908" y="150479"/>
                </a:cubicBezTo>
                <a:cubicBezTo>
                  <a:pt x="213743" y="150479"/>
                  <a:pt x="220916" y="157652"/>
                  <a:pt x="220916" y="166487"/>
                </a:cubicBezTo>
                <a:cubicBezTo>
                  <a:pt x="220916" y="175323"/>
                  <a:pt x="213743" y="182496"/>
                  <a:pt x="204908" y="182496"/>
                </a:cubicBezTo>
                <a:cubicBezTo>
                  <a:pt x="196072" y="182496"/>
                  <a:pt x="188899" y="175323"/>
                  <a:pt x="188899" y="166487"/>
                </a:cubicBezTo>
                <a:close/>
              </a:path>
            </a:pathLst>
          </a:custGeom>
          <a:solidFill>
            <a:srgbClr val="000000"/>
          </a:solidFill>
          <a:ln/>
        </p:spPr>
      </p:sp>
      <p:sp>
        <p:nvSpPr>
          <p:cNvPr id="64" name="Text 62"/>
          <p:cNvSpPr/>
          <p:nvPr/>
        </p:nvSpPr>
        <p:spPr>
          <a:xfrm>
            <a:off x="8910918" y="3958132"/>
            <a:ext cx="1272134" cy="273210"/>
          </a:xfrm>
          <a:prstGeom prst="rect">
            <a:avLst/>
          </a:prstGeom>
          <a:noFill/>
          <a:ln/>
        </p:spPr>
        <p:txBody>
          <a:bodyPr wrap="square" lIns="0" tIns="0" rIns="0" bIns="0" rtlCol="0" anchor="ctr"/>
          <a:lstStyle/>
          <a:p>
            <a:pPr>
              <a:lnSpc>
                <a:spcPct val="110000"/>
              </a:lnSpc>
            </a:pPr>
            <a:r>
              <a:rPr lang="en-US" sz="1613" b="1" dirty="0">
                <a:solidFill>
                  <a:srgbClr val="DDFF00"/>
                </a:solidFill>
                <a:latin typeface="Liter" pitchFamily="34" charset="0"/>
                <a:ea typeface="Liter" pitchFamily="34" charset="-122"/>
                <a:cs typeface="Liter" pitchFamily="34" charset="-120"/>
              </a:rPr>
              <a:t>G2C</a:t>
            </a:r>
            <a:endParaRPr lang="en-US" sz="1600" dirty="0"/>
          </a:p>
        </p:txBody>
      </p:sp>
      <p:sp>
        <p:nvSpPr>
          <p:cNvPr id="65" name="Text 63"/>
          <p:cNvSpPr/>
          <p:nvPr/>
        </p:nvSpPr>
        <p:spPr>
          <a:xfrm>
            <a:off x="8910918" y="4231234"/>
            <a:ext cx="1229445" cy="170756"/>
          </a:xfrm>
          <a:prstGeom prst="rect">
            <a:avLst/>
          </a:prstGeom>
          <a:noFill/>
          <a:ln/>
        </p:spPr>
        <p:txBody>
          <a:bodyPr wrap="square" lIns="0" tIns="0" rIns="0" bIns="0" rtlCol="0" anchor="ctr"/>
          <a:lstStyle/>
          <a:p>
            <a:pPr>
              <a:lnSpc>
                <a:spcPct val="120000"/>
              </a:lnSpc>
            </a:pPr>
            <a:r>
              <a:rPr lang="en-US" sz="941" dirty="0">
                <a:solidFill>
                  <a:srgbClr val="FFFFFF">
                    <a:alpha val="60000"/>
                  </a:srgbClr>
                </a:solidFill>
                <a:latin typeface="Liter" pitchFamily="34" charset="0"/>
                <a:ea typeface="Liter" pitchFamily="34" charset="-122"/>
                <a:cs typeface="Liter" pitchFamily="34" charset="-120"/>
              </a:rPr>
              <a:t>Government to Citizen</a:t>
            </a:r>
            <a:endParaRPr lang="en-US" sz="1600" dirty="0"/>
          </a:p>
        </p:txBody>
      </p:sp>
      <p:sp>
        <p:nvSpPr>
          <p:cNvPr id="66" name="Text 64"/>
          <p:cNvSpPr/>
          <p:nvPr/>
        </p:nvSpPr>
        <p:spPr>
          <a:xfrm>
            <a:off x="8330346" y="4555779"/>
            <a:ext cx="3415126" cy="409815"/>
          </a:xfrm>
          <a:prstGeom prst="rect">
            <a:avLst/>
          </a:prstGeom>
          <a:noFill/>
          <a:ln/>
        </p:spPr>
        <p:txBody>
          <a:bodyPr wrap="square" lIns="0" tIns="0" rIns="0" bIns="0" rtlCol="0" anchor="ctr"/>
          <a:lstStyle/>
          <a:p>
            <a:pPr>
              <a:lnSpc>
                <a:spcPct val="130000"/>
              </a:lnSpc>
            </a:pPr>
            <a:r>
              <a:rPr lang="en-US" sz="1076" dirty="0">
                <a:solidFill>
                  <a:srgbClr val="FFFFFF">
                    <a:alpha val="90000"/>
                  </a:srgbClr>
                </a:solidFill>
                <a:latin typeface="Liter" pitchFamily="34" charset="0"/>
                <a:ea typeface="Liter" pitchFamily="34" charset="-122"/>
                <a:cs typeface="Liter" pitchFamily="34" charset="-120"/>
              </a:rPr>
              <a:t>Government providing services and information directly to citizens.</a:t>
            </a:r>
            <a:endParaRPr lang="en-US" sz="1600" dirty="0"/>
          </a:p>
        </p:txBody>
      </p:sp>
      <p:sp>
        <p:nvSpPr>
          <p:cNvPr id="67" name="Shape 65"/>
          <p:cNvSpPr/>
          <p:nvPr/>
        </p:nvSpPr>
        <p:spPr>
          <a:xfrm>
            <a:off x="8333761" y="5105614"/>
            <a:ext cx="3336578" cy="928914"/>
          </a:xfrm>
          <a:custGeom>
            <a:avLst/>
            <a:gdLst/>
            <a:ahLst/>
            <a:cxnLst/>
            <a:rect l="l" t="t" r="r" b="b"/>
            <a:pathLst>
              <a:path w="3336578" h="928914">
                <a:moveTo>
                  <a:pt x="0" y="0"/>
                </a:moveTo>
                <a:lnTo>
                  <a:pt x="3336578" y="0"/>
                </a:lnTo>
                <a:lnTo>
                  <a:pt x="3336578" y="928914"/>
                </a:lnTo>
                <a:lnTo>
                  <a:pt x="0" y="928914"/>
                </a:lnTo>
                <a:lnTo>
                  <a:pt x="0" y="0"/>
                </a:lnTo>
                <a:close/>
              </a:path>
            </a:pathLst>
          </a:custGeom>
          <a:solidFill>
            <a:srgbClr val="000000"/>
          </a:solidFill>
          <a:ln w="10160">
            <a:solidFill>
              <a:srgbClr val="DDFF00">
                <a:alpha val="30196"/>
              </a:srgbClr>
            </a:solidFill>
            <a:prstDash val="solid"/>
          </a:ln>
        </p:spPr>
      </p:sp>
      <p:sp>
        <p:nvSpPr>
          <p:cNvPr id="68" name="Shape 66"/>
          <p:cNvSpPr/>
          <p:nvPr/>
        </p:nvSpPr>
        <p:spPr>
          <a:xfrm>
            <a:off x="8490857" y="5272955"/>
            <a:ext cx="119529" cy="119529"/>
          </a:xfrm>
          <a:custGeom>
            <a:avLst/>
            <a:gdLst/>
            <a:ahLst/>
            <a:cxnLst/>
            <a:rect l="l" t="t" r="r" b="b"/>
            <a:pathLst>
              <a:path w="119529" h="119529">
                <a:moveTo>
                  <a:pt x="15385" y="53345"/>
                </a:moveTo>
                <a:cubicBezTo>
                  <a:pt x="18490" y="31633"/>
                  <a:pt x="37190" y="14941"/>
                  <a:pt x="59765" y="14941"/>
                </a:cubicBezTo>
                <a:cubicBezTo>
                  <a:pt x="72138" y="14941"/>
                  <a:pt x="83344" y="19960"/>
                  <a:pt x="91468" y="28061"/>
                </a:cubicBezTo>
                <a:cubicBezTo>
                  <a:pt x="91515" y="28108"/>
                  <a:pt x="91561" y="28155"/>
                  <a:pt x="91608" y="28201"/>
                </a:cubicBezTo>
                <a:lnTo>
                  <a:pt x="93382" y="29882"/>
                </a:lnTo>
                <a:lnTo>
                  <a:pt x="82200" y="29882"/>
                </a:lnTo>
                <a:cubicBezTo>
                  <a:pt x="78068" y="29882"/>
                  <a:pt x="74729" y="33221"/>
                  <a:pt x="74729" y="37353"/>
                </a:cubicBezTo>
                <a:cubicBezTo>
                  <a:pt x="74729" y="41485"/>
                  <a:pt x="78068" y="44824"/>
                  <a:pt x="82200" y="44824"/>
                </a:cubicBezTo>
                <a:lnTo>
                  <a:pt x="112082" y="44824"/>
                </a:lnTo>
                <a:cubicBezTo>
                  <a:pt x="116214" y="44824"/>
                  <a:pt x="119553" y="41485"/>
                  <a:pt x="119553" y="37353"/>
                </a:cubicBezTo>
                <a:lnTo>
                  <a:pt x="119553" y="7471"/>
                </a:lnTo>
                <a:cubicBezTo>
                  <a:pt x="119553" y="3338"/>
                  <a:pt x="116214" y="0"/>
                  <a:pt x="112082" y="0"/>
                </a:cubicBezTo>
                <a:cubicBezTo>
                  <a:pt x="107950" y="0"/>
                  <a:pt x="104612" y="3338"/>
                  <a:pt x="104612" y="7471"/>
                </a:cubicBezTo>
                <a:lnTo>
                  <a:pt x="104612" y="19937"/>
                </a:lnTo>
                <a:lnTo>
                  <a:pt x="101974" y="17439"/>
                </a:lnTo>
                <a:cubicBezTo>
                  <a:pt x="91165" y="6677"/>
                  <a:pt x="76223" y="0"/>
                  <a:pt x="59765" y="0"/>
                </a:cubicBezTo>
                <a:cubicBezTo>
                  <a:pt x="29649" y="0"/>
                  <a:pt x="4739" y="22272"/>
                  <a:pt x="607" y="51244"/>
                </a:cubicBezTo>
                <a:cubicBezTo>
                  <a:pt x="23" y="55329"/>
                  <a:pt x="2848" y="59111"/>
                  <a:pt x="6934" y="59695"/>
                </a:cubicBezTo>
                <a:cubicBezTo>
                  <a:pt x="11019" y="60278"/>
                  <a:pt x="14801" y="57430"/>
                  <a:pt x="15385" y="53368"/>
                </a:cubicBezTo>
                <a:close/>
                <a:moveTo>
                  <a:pt x="118922" y="68286"/>
                </a:moveTo>
                <a:cubicBezTo>
                  <a:pt x="119506" y="64200"/>
                  <a:pt x="116658" y="60418"/>
                  <a:pt x="112596" y="59835"/>
                </a:cubicBezTo>
                <a:cubicBezTo>
                  <a:pt x="108534" y="59251"/>
                  <a:pt x="104728" y="62099"/>
                  <a:pt x="104145" y="66161"/>
                </a:cubicBezTo>
                <a:cubicBezTo>
                  <a:pt x="101040" y="87873"/>
                  <a:pt x="82340" y="104565"/>
                  <a:pt x="59765" y="104565"/>
                </a:cubicBezTo>
                <a:cubicBezTo>
                  <a:pt x="47392" y="104565"/>
                  <a:pt x="36186" y="99546"/>
                  <a:pt x="28061" y="91445"/>
                </a:cubicBezTo>
                <a:cubicBezTo>
                  <a:pt x="28015" y="91398"/>
                  <a:pt x="27968" y="91351"/>
                  <a:pt x="27921" y="91305"/>
                </a:cubicBezTo>
                <a:lnTo>
                  <a:pt x="26147" y="89624"/>
                </a:lnTo>
                <a:lnTo>
                  <a:pt x="37330" y="89624"/>
                </a:lnTo>
                <a:cubicBezTo>
                  <a:pt x="41462" y="89624"/>
                  <a:pt x="44800" y="86285"/>
                  <a:pt x="44800" y="82153"/>
                </a:cubicBezTo>
                <a:cubicBezTo>
                  <a:pt x="44800" y="78021"/>
                  <a:pt x="41462" y="74683"/>
                  <a:pt x="37330" y="74683"/>
                </a:cubicBezTo>
                <a:lnTo>
                  <a:pt x="7471" y="74706"/>
                </a:lnTo>
                <a:cubicBezTo>
                  <a:pt x="5486" y="74706"/>
                  <a:pt x="3572" y="75500"/>
                  <a:pt x="2171" y="76924"/>
                </a:cubicBezTo>
                <a:cubicBezTo>
                  <a:pt x="770" y="78348"/>
                  <a:pt x="-23" y="80239"/>
                  <a:pt x="0" y="82247"/>
                </a:cubicBezTo>
                <a:lnTo>
                  <a:pt x="233" y="111895"/>
                </a:lnTo>
                <a:cubicBezTo>
                  <a:pt x="257" y="116028"/>
                  <a:pt x="3642" y="119343"/>
                  <a:pt x="7774" y="119296"/>
                </a:cubicBezTo>
                <a:cubicBezTo>
                  <a:pt x="11906" y="119249"/>
                  <a:pt x="15221" y="115888"/>
                  <a:pt x="15175" y="111755"/>
                </a:cubicBezTo>
                <a:lnTo>
                  <a:pt x="15081" y="99732"/>
                </a:lnTo>
                <a:lnTo>
                  <a:pt x="17579" y="102090"/>
                </a:lnTo>
                <a:cubicBezTo>
                  <a:pt x="28388" y="112853"/>
                  <a:pt x="43306" y="119529"/>
                  <a:pt x="59765" y="119529"/>
                </a:cubicBezTo>
                <a:cubicBezTo>
                  <a:pt x="89881" y="119529"/>
                  <a:pt x="114790" y="97258"/>
                  <a:pt x="118922" y="68286"/>
                </a:cubicBezTo>
                <a:close/>
              </a:path>
            </a:pathLst>
          </a:custGeom>
          <a:solidFill>
            <a:srgbClr val="DDFF00"/>
          </a:solidFill>
          <a:ln/>
        </p:spPr>
      </p:sp>
      <p:sp>
        <p:nvSpPr>
          <p:cNvPr id="69" name="Text 67"/>
          <p:cNvSpPr/>
          <p:nvPr/>
        </p:nvSpPr>
        <p:spPr>
          <a:xfrm>
            <a:off x="8673380" y="5245633"/>
            <a:ext cx="2916704" cy="170756"/>
          </a:xfrm>
          <a:prstGeom prst="rect">
            <a:avLst/>
          </a:prstGeom>
          <a:noFill/>
          <a:ln/>
        </p:spPr>
        <p:txBody>
          <a:bodyPr wrap="square" lIns="0" tIns="0" rIns="0" bIns="0" rtlCol="0" anchor="ctr"/>
          <a:lstStyle/>
          <a:p>
            <a:pPr>
              <a:lnSpc>
                <a:spcPct val="120000"/>
              </a:lnSpc>
            </a:pPr>
            <a:r>
              <a:rPr lang="en-US" sz="941" b="1" dirty="0">
                <a:solidFill>
                  <a:srgbClr val="DDFF00"/>
                </a:solidFill>
                <a:latin typeface="Liter" pitchFamily="34" charset="0"/>
                <a:ea typeface="Liter" pitchFamily="34" charset="-122"/>
                <a:cs typeface="Liter" pitchFamily="34" charset="-120"/>
              </a:rPr>
              <a:t>Examples:</a:t>
            </a:r>
            <a:endParaRPr lang="en-US" sz="1600" dirty="0"/>
          </a:p>
        </p:txBody>
      </p:sp>
      <p:sp>
        <p:nvSpPr>
          <p:cNvPr id="70" name="Text 68"/>
          <p:cNvSpPr/>
          <p:nvPr/>
        </p:nvSpPr>
        <p:spPr>
          <a:xfrm>
            <a:off x="8473782" y="5484692"/>
            <a:ext cx="3124840" cy="409815"/>
          </a:xfrm>
          <a:prstGeom prst="rect">
            <a:avLst/>
          </a:prstGeom>
          <a:noFill/>
          <a:ln/>
        </p:spPr>
        <p:txBody>
          <a:bodyPr wrap="square" lIns="0" tIns="0" rIns="0" bIns="0" rtlCol="0" anchor="ctr"/>
          <a:lstStyle/>
          <a:p>
            <a:pPr>
              <a:lnSpc>
                <a:spcPct val="130000"/>
              </a:lnSpc>
            </a:pPr>
            <a:r>
              <a:rPr lang="en-US" sz="1076" dirty="0">
                <a:solidFill>
                  <a:srgbClr val="FFFFFF"/>
                </a:solidFill>
                <a:latin typeface="Liter" pitchFamily="34" charset="0"/>
                <a:ea typeface="Liter" pitchFamily="34" charset="-122"/>
                <a:cs typeface="Liter" pitchFamily="34" charset="-120"/>
              </a:rPr>
              <a:t>Aadhaar services, passport applications, utility bill payments</a:t>
            </a:r>
            <a:endParaRPr lang="en-US" sz="1600" dirty="0"/>
          </a:p>
        </p:txBody>
      </p:sp>
      <p:sp>
        <p:nvSpPr>
          <p:cNvPr id="71" name="Shape 69"/>
          <p:cNvSpPr/>
          <p:nvPr/>
        </p:nvSpPr>
        <p:spPr>
          <a:xfrm>
            <a:off x="341513" y="6345306"/>
            <a:ext cx="11508975" cy="512269"/>
          </a:xfrm>
          <a:custGeom>
            <a:avLst/>
            <a:gdLst/>
            <a:ahLst/>
            <a:cxnLst/>
            <a:rect l="l" t="t" r="r" b="b"/>
            <a:pathLst>
              <a:path w="11508975" h="512269">
                <a:moveTo>
                  <a:pt x="0" y="0"/>
                </a:moveTo>
                <a:lnTo>
                  <a:pt x="11508975" y="0"/>
                </a:lnTo>
                <a:lnTo>
                  <a:pt x="11508975" y="512269"/>
                </a:lnTo>
                <a:lnTo>
                  <a:pt x="0" y="512269"/>
                </a:lnTo>
                <a:lnTo>
                  <a:pt x="0" y="0"/>
                </a:lnTo>
                <a:close/>
              </a:path>
            </a:pathLst>
          </a:custGeom>
          <a:solidFill>
            <a:srgbClr val="DDFF00"/>
          </a:solidFill>
          <a:ln/>
        </p:spPr>
      </p:sp>
      <p:sp>
        <p:nvSpPr>
          <p:cNvPr id="72" name="Shape 70"/>
          <p:cNvSpPr/>
          <p:nvPr/>
        </p:nvSpPr>
        <p:spPr>
          <a:xfrm>
            <a:off x="3278841" y="6498987"/>
            <a:ext cx="204908" cy="204908"/>
          </a:xfrm>
          <a:custGeom>
            <a:avLst/>
            <a:gdLst/>
            <a:ahLst/>
            <a:cxnLst/>
            <a:rect l="l" t="t" r="r" b="b"/>
            <a:pathLst>
              <a:path w="204908" h="204908">
                <a:moveTo>
                  <a:pt x="102454" y="204908"/>
                </a:moveTo>
                <a:cubicBezTo>
                  <a:pt x="159000" y="204908"/>
                  <a:pt x="204908" y="159000"/>
                  <a:pt x="204908" y="102454"/>
                </a:cubicBezTo>
                <a:cubicBezTo>
                  <a:pt x="204908" y="45908"/>
                  <a:pt x="159000" y="0"/>
                  <a:pt x="102454" y="0"/>
                </a:cubicBezTo>
                <a:cubicBezTo>
                  <a:pt x="45908" y="0"/>
                  <a:pt x="0" y="45908"/>
                  <a:pt x="0" y="102454"/>
                </a:cubicBezTo>
                <a:cubicBezTo>
                  <a:pt x="0" y="159000"/>
                  <a:pt x="45908" y="204908"/>
                  <a:pt x="102454" y="204908"/>
                </a:cubicBezTo>
                <a:close/>
                <a:moveTo>
                  <a:pt x="89647" y="64034"/>
                </a:moveTo>
                <a:cubicBezTo>
                  <a:pt x="89647" y="56965"/>
                  <a:pt x="95386" y="51227"/>
                  <a:pt x="102454" y="51227"/>
                </a:cubicBezTo>
                <a:cubicBezTo>
                  <a:pt x="109522" y="51227"/>
                  <a:pt x="115261" y="56965"/>
                  <a:pt x="115261" y="64034"/>
                </a:cubicBezTo>
                <a:cubicBezTo>
                  <a:pt x="115261" y="71102"/>
                  <a:pt x="109522" y="76840"/>
                  <a:pt x="102454" y="76840"/>
                </a:cubicBezTo>
                <a:cubicBezTo>
                  <a:pt x="95386" y="76840"/>
                  <a:pt x="89647" y="71102"/>
                  <a:pt x="89647" y="64034"/>
                </a:cubicBezTo>
                <a:close/>
                <a:moveTo>
                  <a:pt x="86445" y="89647"/>
                </a:moveTo>
                <a:lnTo>
                  <a:pt x="105655" y="89647"/>
                </a:lnTo>
                <a:cubicBezTo>
                  <a:pt x="110978" y="89647"/>
                  <a:pt x="115261" y="93929"/>
                  <a:pt x="115261" y="99252"/>
                </a:cubicBezTo>
                <a:lnTo>
                  <a:pt x="115261" y="134471"/>
                </a:lnTo>
                <a:lnTo>
                  <a:pt x="118462" y="134471"/>
                </a:lnTo>
                <a:cubicBezTo>
                  <a:pt x="123785" y="134471"/>
                  <a:pt x="128067" y="138753"/>
                  <a:pt x="128067" y="144076"/>
                </a:cubicBezTo>
                <a:cubicBezTo>
                  <a:pt x="128067" y="149398"/>
                  <a:pt x="123785" y="153681"/>
                  <a:pt x="118462" y="153681"/>
                </a:cubicBezTo>
                <a:lnTo>
                  <a:pt x="86445" y="153681"/>
                </a:lnTo>
                <a:cubicBezTo>
                  <a:pt x="81123" y="153681"/>
                  <a:pt x="76840" y="149398"/>
                  <a:pt x="76840" y="144076"/>
                </a:cubicBezTo>
                <a:cubicBezTo>
                  <a:pt x="76840" y="138753"/>
                  <a:pt x="81123" y="134471"/>
                  <a:pt x="86445" y="134471"/>
                </a:cubicBezTo>
                <a:lnTo>
                  <a:pt x="96050" y="134471"/>
                </a:lnTo>
                <a:lnTo>
                  <a:pt x="96050" y="108857"/>
                </a:lnTo>
                <a:lnTo>
                  <a:pt x="86445" y="108857"/>
                </a:lnTo>
                <a:cubicBezTo>
                  <a:pt x="81123" y="108857"/>
                  <a:pt x="76840" y="104575"/>
                  <a:pt x="76840" y="99252"/>
                </a:cubicBezTo>
                <a:cubicBezTo>
                  <a:pt x="76840" y="93929"/>
                  <a:pt x="81123" y="89647"/>
                  <a:pt x="86445" y="89647"/>
                </a:cubicBezTo>
                <a:close/>
              </a:path>
            </a:pathLst>
          </a:custGeom>
          <a:solidFill>
            <a:srgbClr val="000000"/>
          </a:solidFill>
          <a:ln/>
        </p:spPr>
      </p:sp>
      <p:sp>
        <p:nvSpPr>
          <p:cNvPr id="73" name="Text 71"/>
          <p:cNvSpPr/>
          <p:nvPr/>
        </p:nvSpPr>
        <p:spPr>
          <a:xfrm>
            <a:off x="3645967" y="6481911"/>
            <a:ext cx="5361748" cy="239059"/>
          </a:xfrm>
          <a:prstGeom prst="rect">
            <a:avLst/>
          </a:prstGeom>
          <a:noFill/>
          <a:ln/>
        </p:spPr>
        <p:txBody>
          <a:bodyPr wrap="square" lIns="0" tIns="0" rIns="0" bIns="0" rtlCol="0" anchor="ctr"/>
          <a:lstStyle/>
          <a:p>
            <a:pPr>
              <a:lnSpc>
                <a:spcPct val="130000"/>
              </a:lnSpc>
            </a:pPr>
            <a:r>
              <a:rPr lang="en-US" sz="1210" b="1" dirty="0">
                <a:solidFill>
                  <a:srgbClr val="000000"/>
                </a:solidFill>
                <a:latin typeface="Liter" pitchFamily="34" charset="0"/>
                <a:ea typeface="Liter" pitchFamily="34" charset="-122"/>
                <a:cs typeface="Liter" pitchFamily="34" charset="-120"/>
              </a:rPr>
              <a:t>Each type serves different stakeholders and requires specific legal frameworks</a:t>
            </a:r>
            <a:endParaRPr lang="en-US" sz="1600" dirty="0"/>
          </a:p>
        </p:txBody>
      </p:sp>
    </p:spTree>
  </p:cSld>
  <p:clrMapOvr>
    <a:masterClrMapping/>
  </p:clrMapOvr>
  <p:transition>
    <p:fade/>
    <p:spd val="med"/>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pic>
        <p:nvPicPr>
          <p:cNvPr id="2" name="Image 0" descr="https://kimi-web-img.moonshot.cn/img/thumbs.dreamstime.com/0335518a37ef358d805f04c1b8a4812084be5a26.jpg">    </p:cNvPr>
          <p:cNvPicPr>
            <a:picLocks noChangeAspect="1"/>
          </p:cNvPicPr>
          <p:nvPr/>
        </p:nvPicPr>
        <p:blipFill>
          <a:blip r:embed="rId1">
            <a:alphaModFix amt="15000"/>
          </a:blip>
          <a:srcRect l="0" r="0" t="7217" b="7217"/>
          <a:stretch/>
        </p:blipFill>
        <p:spPr>
          <a:xfrm>
            <a:off x="0" y="0"/>
            <a:ext cx="12192000" cy="6859149"/>
          </a:xfrm>
          <a:prstGeom prst="roundRect">
            <a:avLst>
              <a:gd name="adj" fmla="val 0"/>
            </a:avLst>
          </a:prstGeom>
        </p:spPr>
      </p:pic>
      <p:sp>
        <p:nvSpPr>
          <p:cNvPr id="3" name="Shape 0"/>
          <p:cNvSpPr/>
          <p:nvPr/>
        </p:nvSpPr>
        <p:spPr>
          <a:xfrm>
            <a:off x="0" y="0"/>
            <a:ext cx="12192000" cy="6859149"/>
          </a:xfrm>
          <a:custGeom>
            <a:avLst/>
            <a:gdLst/>
            <a:ahLst/>
            <a:cxnLst/>
            <a:rect l="l" t="t" r="r" b="b"/>
            <a:pathLst>
              <a:path w="12192000" h="6859149">
                <a:moveTo>
                  <a:pt x="0" y="0"/>
                </a:moveTo>
                <a:lnTo>
                  <a:pt x="12192000" y="0"/>
                </a:lnTo>
                <a:lnTo>
                  <a:pt x="12192000" y="6859149"/>
                </a:lnTo>
                <a:lnTo>
                  <a:pt x="0" y="6859149"/>
                </a:lnTo>
                <a:lnTo>
                  <a:pt x="0" y="0"/>
                </a:lnTo>
                <a:close/>
              </a:path>
            </a:pathLst>
          </a:custGeom>
          <a:gradFill rotWithShape="1" flip="none">
            <a:gsLst>
              <a:gs pos="0">
                <a:srgbClr val="000000"/>
              </a:gs>
              <a:gs pos="50000">
                <a:srgbClr val="000000">
                  <a:alpha val="95000"/>
                </a:srgbClr>
              </a:gs>
              <a:gs pos="100000">
                <a:srgbClr val="000000">
                  <a:alpha val="0"/>
                </a:srgbClr>
              </a:gs>
            </a:gsLst>
            <a:lin ang="2700000" scaled="1"/>
          </a:gradFill>
          <a:ln/>
        </p:spPr>
      </p:sp>
      <p:sp>
        <p:nvSpPr>
          <p:cNvPr id="4" name="Shape 1"/>
          <p:cNvSpPr/>
          <p:nvPr/>
        </p:nvSpPr>
        <p:spPr>
          <a:xfrm>
            <a:off x="367783" y="459729"/>
            <a:ext cx="73557" cy="441339"/>
          </a:xfrm>
          <a:custGeom>
            <a:avLst/>
            <a:gdLst/>
            <a:ahLst/>
            <a:cxnLst/>
            <a:rect l="l" t="t" r="r" b="b"/>
            <a:pathLst>
              <a:path w="73557" h="441339">
                <a:moveTo>
                  <a:pt x="0" y="0"/>
                </a:moveTo>
                <a:lnTo>
                  <a:pt x="73557" y="0"/>
                </a:lnTo>
                <a:lnTo>
                  <a:pt x="73557" y="441339"/>
                </a:lnTo>
                <a:lnTo>
                  <a:pt x="0" y="441339"/>
                </a:lnTo>
                <a:lnTo>
                  <a:pt x="0" y="0"/>
                </a:lnTo>
                <a:close/>
              </a:path>
            </a:pathLst>
          </a:custGeom>
          <a:solidFill>
            <a:srgbClr val="DDFF00"/>
          </a:solidFill>
          <a:ln/>
        </p:spPr>
      </p:sp>
      <p:sp>
        <p:nvSpPr>
          <p:cNvPr id="5" name="Text 2"/>
          <p:cNvSpPr/>
          <p:nvPr/>
        </p:nvSpPr>
        <p:spPr>
          <a:xfrm>
            <a:off x="588452" y="367783"/>
            <a:ext cx="4854733" cy="183891"/>
          </a:xfrm>
          <a:prstGeom prst="rect">
            <a:avLst/>
          </a:prstGeom>
          <a:noFill/>
          <a:ln/>
        </p:spPr>
        <p:txBody>
          <a:bodyPr wrap="square" lIns="0" tIns="0" rIns="0" bIns="0" rtlCol="0" anchor="ctr"/>
          <a:lstStyle/>
          <a:p>
            <a:pPr>
              <a:lnSpc>
                <a:spcPct val="120000"/>
              </a:lnSpc>
            </a:pPr>
            <a:r>
              <a:rPr lang="en-US" sz="1014" b="1" spc="101" kern="0" dirty="0">
                <a:solidFill>
                  <a:srgbClr val="DDFF00"/>
                </a:solidFill>
                <a:latin typeface="Liter" pitchFamily="34" charset="0"/>
                <a:ea typeface="Liter" pitchFamily="34" charset="-122"/>
                <a:cs typeface="Liter" pitchFamily="34" charset="-120"/>
              </a:rPr>
              <a:t>CHAPTER 09</a:t>
            </a:r>
            <a:endParaRPr lang="en-US" sz="1600" dirty="0"/>
          </a:p>
        </p:txBody>
      </p:sp>
      <p:sp>
        <p:nvSpPr>
          <p:cNvPr id="6" name="Text 3"/>
          <p:cNvSpPr/>
          <p:nvPr/>
        </p:nvSpPr>
        <p:spPr>
          <a:xfrm>
            <a:off x="588452" y="551674"/>
            <a:ext cx="5011041" cy="441339"/>
          </a:xfrm>
          <a:prstGeom prst="rect">
            <a:avLst/>
          </a:prstGeom>
          <a:noFill/>
          <a:ln/>
        </p:spPr>
        <p:txBody>
          <a:bodyPr wrap="square" lIns="0" tIns="0" rIns="0" bIns="0" rtlCol="0" anchor="ctr"/>
          <a:lstStyle/>
          <a:p>
            <a:pPr>
              <a:lnSpc>
                <a:spcPct val="80000"/>
              </a:lnSpc>
            </a:pPr>
            <a:r>
              <a:rPr lang="en-US" sz="3475" b="1" dirty="0">
                <a:solidFill>
                  <a:srgbClr val="FFFFFF"/>
                </a:solidFill>
                <a:latin typeface="Liter" pitchFamily="34" charset="0"/>
                <a:ea typeface="Liter" pitchFamily="34" charset="-122"/>
                <a:cs typeface="Liter" pitchFamily="34" charset="-120"/>
              </a:rPr>
              <a:t>Benefits of E-Commerce</a:t>
            </a:r>
            <a:endParaRPr lang="en-US" sz="1600" dirty="0"/>
          </a:p>
        </p:txBody>
      </p:sp>
      <p:sp>
        <p:nvSpPr>
          <p:cNvPr id="7" name="Shape 4"/>
          <p:cNvSpPr/>
          <p:nvPr/>
        </p:nvSpPr>
        <p:spPr>
          <a:xfrm>
            <a:off x="375138" y="1257817"/>
            <a:ext cx="2717915" cy="2368521"/>
          </a:xfrm>
          <a:custGeom>
            <a:avLst/>
            <a:gdLst/>
            <a:ahLst/>
            <a:cxnLst/>
            <a:rect l="l" t="t" r="r" b="b"/>
            <a:pathLst>
              <a:path w="2717915" h="2368521">
                <a:moveTo>
                  <a:pt x="0" y="0"/>
                </a:moveTo>
                <a:lnTo>
                  <a:pt x="2717915" y="0"/>
                </a:lnTo>
                <a:lnTo>
                  <a:pt x="2717915" y="2368521"/>
                </a:lnTo>
                <a:lnTo>
                  <a:pt x="0" y="2368521"/>
                </a:lnTo>
                <a:lnTo>
                  <a:pt x="0" y="0"/>
                </a:lnTo>
                <a:close/>
              </a:path>
            </a:pathLst>
          </a:custGeom>
          <a:solidFill>
            <a:srgbClr val="111111">
              <a:alpha val="90196"/>
            </a:srgbClr>
          </a:solidFill>
          <a:ln w="20320">
            <a:solidFill>
              <a:srgbClr val="DDFF00"/>
            </a:solidFill>
            <a:prstDash val="solid"/>
          </a:ln>
        </p:spPr>
      </p:sp>
      <p:sp>
        <p:nvSpPr>
          <p:cNvPr id="8" name="Shape 5"/>
          <p:cNvSpPr/>
          <p:nvPr/>
        </p:nvSpPr>
        <p:spPr>
          <a:xfrm>
            <a:off x="1441479" y="1704672"/>
            <a:ext cx="588452" cy="588452"/>
          </a:xfrm>
          <a:custGeom>
            <a:avLst/>
            <a:gdLst/>
            <a:ahLst/>
            <a:cxnLst/>
            <a:rect l="l" t="t" r="r" b="b"/>
            <a:pathLst>
              <a:path w="588452" h="588452">
                <a:moveTo>
                  <a:pt x="0" y="0"/>
                </a:moveTo>
                <a:lnTo>
                  <a:pt x="588452" y="0"/>
                </a:lnTo>
                <a:lnTo>
                  <a:pt x="588452" y="588452"/>
                </a:lnTo>
                <a:lnTo>
                  <a:pt x="0" y="588452"/>
                </a:lnTo>
                <a:lnTo>
                  <a:pt x="0" y="0"/>
                </a:lnTo>
                <a:close/>
              </a:path>
            </a:pathLst>
          </a:custGeom>
          <a:solidFill>
            <a:srgbClr val="DDFF00"/>
          </a:solidFill>
          <a:ln/>
        </p:spPr>
      </p:sp>
      <p:sp>
        <p:nvSpPr>
          <p:cNvPr id="9" name="Shape 6"/>
          <p:cNvSpPr/>
          <p:nvPr/>
        </p:nvSpPr>
        <p:spPr>
          <a:xfrm>
            <a:off x="1600085" y="1860980"/>
            <a:ext cx="275837" cy="275837"/>
          </a:xfrm>
          <a:custGeom>
            <a:avLst/>
            <a:gdLst/>
            <a:ahLst/>
            <a:cxnLst/>
            <a:rect l="l" t="t" r="r" b="b"/>
            <a:pathLst>
              <a:path w="275837" h="275837">
                <a:moveTo>
                  <a:pt x="137919" y="0"/>
                </a:moveTo>
                <a:cubicBezTo>
                  <a:pt x="214038" y="0"/>
                  <a:pt x="275837" y="61799"/>
                  <a:pt x="275837" y="137919"/>
                </a:cubicBezTo>
                <a:cubicBezTo>
                  <a:pt x="275837" y="214038"/>
                  <a:pt x="214038" y="275837"/>
                  <a:pt x="137919" y="275837"/>
                </a:cubicBezTo>
                <a:cubicBezTo>
                  <a:pt x="61799" y="275837"/>
                  <a:pt x="0" y="214038"/>
                  <a:pt x="0" y="137919"/>
                </a:cubicBezTo>
                <a:cubicBezTo>
                  <a:pt x="0" y="61799"/>
                  <a:pt x="61799" y="0"/>
                  <a:pt x="137919" y="0"/>
                </a:cubicBezTo>
                <a:close/>
                <a:moveTo>
                  <a:pt x="124989" y="64649"/>
                </a:moveTo>
                <a:lnTo>
                  <a:pt x="124989" y="137919"/>
                </a:lnTo>
                <a:cubicBezTo>
                  <a:pt x="124989" y="142229"/>
                  <a:pt x="127144" y="146269"/>
                  <a:pt x="130753" y="148693"/>
                </a:cubicBezTo>
                <a:lnTo>
                  <a:pt x="182473" y="183173"/>
                </a:lnTo>
                <a:cubicBezTo>
                  <a:pt x="188399" y="187160"/>
                  <a:pt x="196426" y="185544"/>
                  <a:pt x="200413" y="179563"/>
                </a:cubicBezTo>
                <a:cubicBezTo>
                  <a:pt x="204400" y="173583"/>
                  <a:pt x="202783" y="165610"/>
                  <a:pt x="196803" y="161623"/>
                </a:cubicBezTo>
                <a:lnTo>
                  <a:pt x="150848" y="131023"/>
                </a:lnTo>
                <a:lnTo>
                  <a:pt x="150848" y="64649"/>
                </a:lnTo>
                <a:cubicBezTo>
                  <a:pt x="150848" y="57484"/>
                  <a:pt x="145084" y="51719"/>
                  <a:pt x="137919" y="51719"/>
                </a:cubicBezTo>
                <a:cubicBezTo>
                  <a:pt x="130753" y="51719"/>
                  <a:pt x="124989" y="57484"/>
                  <a:pt x="124989" y="64649"/>
                </a:cubicBezTo>
                <a:close/>
              </a:path>
            </a:pathLst>
          </a:custGeom>
          <a:solidFill>
            <a:srgbClr val="000000"/>
          </a:solidFill>
          <a:ln/>
        </p:spPr>
      </p:sp>
      <p:sp>
        <p:nvSpPr>
          <p:cNvPr id="10" name="Text 7"/>
          <p:cNvSpPr/>
          <p:nvPr/>
        </p:nvSpPr>
        <p:spPr>
          <a:xfrm>
            <a:off x="953132" y="2403460"/>
            <a:ext cx="1563077" cy="257448"/>
          </a:xfrm>
          <a:prstGeom prst="rect">
            <a:avLst/>
          </a:prstGeom>
          <a:noFill/>
          <a:ln/>
        </p:spPr>
        <p:txBody>
          <a:bodyPr wrap="square" lIns="0" tIns="0" rIns="0" bIns="0" rtlCol="0" anchor="ctr"/>
          <a:lstStyle/>
          <a:p>
            <a:pPr algn="ctr">
              <a:lnSpc>
                <a:spcPct val="120000"/>
              </a:lnSpc>
            </a:pPr>
            <a:r>
              <a:rPr lang="en-US" sz="1448" b="1" dirty="0">
                <a:solidFill>
                  <a:srgbClr val="FFFFFF"/>
                </a:solidFill>
                <a:latin typeface="Liter" pitchFamily="34" charset="0"/>
                <a:ea typeface="Liter" pitchFamily="34" charset="-122"/>
                <a:cs typeface="Liter" pitchFamily="34" charset="-120"/>
              </a:rPr>
              <a:t>24/7 Convenience</a:t>
            </a:r>
            <a:endParaRPr lang="en-US" sz="1600" dirty="0"/>
          </a:p>
        </p:txBody>
      </p:sp>
      <p:sp>
        <p:nvSpPr>
          <p:cNvPr id="11" name="Text 8"/>
          <p:cNvSpPr/>
          <p:nvPr/>
        </p:nvSpPr>
        <p:spPr>
          <a:xfrm>
            <a:off x="529607" y="2734464"/>
            <a:ext cx="2408977" cy="441339"/>
          </a:xfrm>
          <a:prstGeom prst="rect">
            <a:avLst/>
          </a:prstGeom>
          <a:noFill/>
          <a:ln/>
        </p:spPr>
        <p:txBody>
          <a:bodyPr wrap="square" lIns="0" tIns="0" rIns="0" bIns="0" rtlCol="0" anchor="ctr"/>
          <a:lstStyle/>
          <a:p>
            <a:pPr algn="ctr">
              <a:lnSpc>
                <a:spcPct val="120000"/>
              </a:lnSpc>
            </a:pPr>
            <a:r>
              <a:rPr lang="en-US" sz="1158" dirty="0">
                <a:solidFill>
                  <a:srgbClr val="FFFFFF">
                    <a:alpha val="70000"/>
                  </a:srgbClr>
                </a:solidFill>
                <a:latin typeface="Liter" pitchFamily="34" charset="0"/>
                <a:ea typeface="Liter" pitchFamily="34" charset="-122"/>
                <a:cs typeface="Liter" pitchFamily="34" charset="-120"/>
              </a:rPr>
              <a:t>Shop anytime, anywhere without time restrictions</a:t>
            </a:r>
            <a:endParaRPr lang="en-US" sz="1600" dirty="0"/>
          </a:p>
        </p:txBody>
      </p:sp>
      <p:sp>
        <p:nvSpPr>
          <p:cNvPr id="12" name="Shape 9"/>
          <p:cNvSpPr/>
          <p:nvPr/>
        </p:nvSpPr>
        <p:spPr>
          <a:xfrm>
            <a:off x="3258096" y="1257817"/>
            <a:ext cx="2717915" cy="2368521"/>
          </a:xfrm>
          <a:custGeom>
            <a:avLst/>
            <a:gdLst/>
            <a:ahLst/>
            <a:cxnLst/>
            <a:rect l="l" t="t" r="r" b="b"/>
            <a:pathLst>
              <a:path w="2717915" h="2368521">
                <a:moveTo>
                  <a:pt x="0" y="0"/>
                </a:moveTo>
                <a:lnTo>
                  <a:pt x="2717915" y="0"/>
                </a:lnTo>
                <a:lnTo>
                  <a:pt x="2717915" y="2368521"/>
                </a:lnTo>
                <a:lnTo>
                  <a:pt x="0" y="2368521"/>
                </a:lnTo>
                <a:lnTo>
                  <a:pt x="0" y="0"/>
                </a:lnTo>
                <a:close/>
              </a:path>
            </a:pathLst>
          </a:custGeom>
          <a:solidFill>
            <a:srgbClr val="111111">
              <a:alpha val="90196"/>
            </a:srgbClr>
          </a:solidFill>
          <a:ln w="20320">
            <a:solidFill>
              <a:srgbClr val="DDFF00"/>
            </a:solidFill>
            <a:prstDash val="solid"/>
          </a:ln>
        </p:spPr>
      </p:sp>
      <p:sp>
        <p:nvSpPr>
          <p:cNvPr id="13" name="Shape 10"/>
          <p:cNvSpPr/>
          <p:nvPr/>
        </p:nvSpPr>
        <p:spPr>
          <a:xfrm>
            <a:off x="4324436" y="1704672"/>
            <a:ext cx="588452" cy="588452"/>
          </a:xfrm>
          <a:custGeom>
            <a:avLst/>
            <a:gdLst/>
            <a:ahLst/>
            <a:cxnLst/>
            <a:rect l="l" t="t" r="r" b="b"/>
            <a:pathLst>
              <a:path w="588452" h="588452">
                <a:moveTo>
                  <a:pt x="0" y="0"/>
                </a:moveTo>
                <a:lnTo>
                  <a:pt x="588452" y="0"/>
                </a:lnTo>
                <a:lnTo>
                  <a:pt x="588452" y="588452"/>
                </a:lnTo>
                <a:lnTo>
                  <a:pt x="0" y="588452"/>
                </a:lnTo>
                <a:lnTo>
                  <a:pt x="0" y="0"/>
                </a:lnTo>
                <a:close/>
              </a:path>
            </a:pathLst>
          </a:custGeom>
          <a:solidFill>
            <a:srgbClr val="DDFF00"/>
          </a:solidFill>
          <a:ln/>
        </p:spPr>
      </p:sp>
      <p:sp>
        <p:nvSpPr>
          <p:cNvPr id="14" name="Shape 11"/>
          <p:cNvSpPr/>
          <p:nvPr/>
        </p:nvSpPr>
        <p:spPr>
          <a:xfrm>
            <a:off x="4483043" y="1860980"/>
            <a:ext cx="275837" cy="275837"/>
          </a:xfrm>
          <a:custGeom>
            <a:avLst/>
            <a:gdLst/>
            <a:ahLst/>
            <a:cxnLst/>
            <a:rect l="l" t="t" r="r" b="b"/>
            <a:pathLst>
              <a:path w="275837" h="275837">
                <a:moveTo>
                  <a:pt x="30008" y="107587"/>
                </a:moveTo>
                <a:lnTo>
                  <a:pt x="46655" y="124234"/>
                </a:lnTo>
                <a:cubicBezTo>
                  <a:pt x="49888" y="127467"/>
                  <a:pt x="54252" y="129299"/>
                  <a:pt x="58831" y="129299"/>
                </a:cubicBezTo>
                <a:lnTo>
                  <a:pt x="70414" y="129299"/>
                </a:lnTo>
                <a:cubicBezTo>
                  <a:pt x="74993" y="129299"/>
                  <a:pt x="79357" y="131130"/>
                  <a:pt x="82590" y="134363"/>
                </a:cubicBezTo>
                <a:lnTo>
                  <a:pt x="98375" y="150148"/>
                </a:lnTo>
                <a:cubicBezTo>
                  <a:pt x="101607" y="153381"/>
                  <a:pt x="103439" y="157744"/>
                  <a:pt x="103439" y="162324"/>
                </a:cubicBezTo>
                <a:lnTo>
                  <a:pt x="103439" y="182527"/>
                </a:lnTo>
                <a:cubicBezTo>
                  <a:pt x="103439" y="187106"/>
                  <a:pt x="105271" y="191470"/>
                  <a:pt x="108503" y="194702"/>
                </a:cubicBezTo>
                <a:lnTo>
                  <a:pt x="115668" y="201868"/>
                </a:lnTo>
                <a:cubicBezTo>
                  <a:pt x="118901" y="205100"/>
                  <a:pt x="120733" y="209464"/>
                  <a:pt x="120733" y="214043"/>
                </a:cubicBezTo>
                <a:lnTo>
                  <a:pt x="120733" y="224118"/>
                </a:lnTo>
                <a:cubicBezTo>
                  <a:pt x="120733" y="233653"/>
                  <a:pt x="128437" y="241357"/>
                  <a:pt x="137972" y="241357"/>
                </a:cubicBezTo>
                <a:cubicBezTo>
                  <a:pt x="147508" y="241357"/>
                  <a:pt x="155212" y="233653"/>
                  <a:pt x="155212" y="224118"/>
                </a:cubicBezTo>
                <a:lnTo>
                  <a:pt x="155212" y="222663"/>
                </a:lnTo>
                <a:cubicBezTo>
                  <a:pt x="155212" y="218084"/>
                  <a:pt x="157044" y="213720"/>
                  <a:pt x="160276" y="210487"/>
                </a:cubicBezTo>
                <a:lnTo>
                  <a:pt x="184682" y="186082"/>
                </a:lnTo>
                <a:cubicBezTo>
                  <a:pt x="187914" y="182850"/>
                  <a:pt x="189746" y="178486"/>
                  <a:pt x="189746" y="173907"/>
                </a:cubicBezTo>
                <a:lnTo>
                  <a:pt x="189746" y="155212"/>
                </a:lnTo>
                <a:cubicBezTo>
                  <a:pt x="189746" y="145676"/>
                  <a:pt x="182042" y="137972"/>
                  <a:pt x="172506" y="137972"/>
                </a:cubicBezTo>
                <a:lnTo>
                  <a:pt x="127952" y="137972"/>
                </a:lnTo>
                <a:cubicBezTo>
                  <a:pt x="123372" y="137972"/>
                  <a:pt x="119009" y="136141"/>
                  <a:pt x="115776" y="132908"/>
                </a:cubicBezTo>
                <a:lnTo>
                  <a:pt x="107156" y="124288"/>
                </a:lnTo>
                <a:cubicBezTo>
                  <a:pt x="104894" y="122026"/>
                  <a:pt x="103601" y="118901"/>
                  <a:pt x="103601" y="115668"/>
                </a:cubicBezTo>
                <a:cubicBezTo>
                  <a:pt x="103601" y="108934"/>
                  <a:pt x="109042" y="103493"/>
                  <a:pt x="115776" y="103493"/>
                </a:cubicBezTo>
                <a:lnTo>
                  <a:pt x="134471" y="103493"/>
                </a:lnTo>
                <a:cubicBezTo>
                  <a:pt x="141205" y="103493"/>
                  <a:pt x="146646" y="98051"/>
                  <a:pt x="146646" y="91317"/>
                </a:cubicBezTo>
                <a:cubicBezTo>
                  <a:pt x="146646" y="88085"/>
                  <a:pt x="145353" y="84960"/>
                  <a:pt x="143090" y="82697"/>
                </a:cubicBezTo>
                <a:lnTo>
                  <a:pt x="132477" y="72084"/>
                </a:lnTo>
                <a:cubicBezTo>
                  <a:pt x="130376" y="70037"/>
                  <a:pt x="129299" y="67397"/>
                  <a:pt x="129299" y="64649"/>
                </a:cubicBezTo>
                <a:cubicBezTo>
                  <a:pt x="129299" y="61902"/>
                  <a:pt x="130376" y="59262"/>
                  <a:pt x="132369" y="57269"/>
                </a:cubicBezTo>
                <a:lnTo>
                  <a:pt x="141690" y="47948"/>
                </a:lnTo>
                <a:cubicBezTo>
                  <a:pt x="144814" y="44824"/>
                  <a:pt x="146592" y="40567"/>
                  <a:pt x="146592" y="36150"/>
                </a:cubicBezTo>
                <a:cubicBezTo>
                  <a:pt x="146592" y="32271"/>
                  <a:pt x="145299" y="28769"/>
                  <a:pt x="143144" y="25967"/>
                </a:cubicBezTo>
                <a:cubicBezTo>
                  <a:pt x="141420" y="25914"/>
                  <a:pt x="139696" y="25860"/>
                  <a:pt x="137972" y="25860"/>
                </a:cubicBezTo>
                <a:cubicBezTo>
                  <a:pt x="86576" y="25860"/>
                  <a:pt x="43315" y="60447"/>
                  <a:pt x="30062" y="107587"/>
                </a:cubicBezTo>
                <a:close/>
                <a:moveTo>
                  <a:pt x="249977" y="137919"/>
                </a:moveTo>
                <a:cubicBezTo>
                  <a:pt x="249977" y="119278"/>
                  <a:pt x="245452" y="101715"/>
                  <a:pt x="237371" y="86307"/>
                </a:cubicBezTo>
                <a:cubicBezTo>
                  <a:pt x="233923" y="86792"/>
                  <a:pt x="230529" y="88408"/>
                  <a:pt x="227727" y="91209"/>
                </a:cubicBezTo>
                <a:lnTo>
                  <a:pt x="220508" y="98429"/>
                </a:lnTo>
                <a:cubicBezTo>
                  <a:pt x="217276" y="101661"/>
                  <a:pt x="215444" y="106025"/>
                  <a:pt x="215444" y="110604"/>
                </a:cubicBezTo>
                <a:lnTo>
                  <a:pt x="215444" y="129299"/>
                </a:lnTo>
                <a:cubicBezTo>
                  <a:pt x="215444" y="138834"/>
                  <a:pt x="223148" y="146538"/>
                  <a:pt x="232684" y="146538"/>
                </a:cubicBezTo>
                <a:lnTo>
                  <a:pt x="245667" y="146538"/>
                </a:lnTo>
                <a:cubicBezTo>
                  <a:pt x="247014" y="146538"/>
                  <a:pt x="248361" y="146377"/>
                  <a:pt x="249600" y="146107"/>
                </a:cubicBezTo>
                <a:cubicBezTo>
                  <a:pt x="249816" y="143414"/>
                  <a:pt x="249870" y="140666"/>
                  <a:pt x="249870" y="137919"/>
                </a:cubicBezTo>
                <a:close/>
                <a:moveTo>
                  <a:pt x="0" y="137919"/>
                </a:moveTo>
                <a:cubicBezTo>
                  <a:pt x="0" y="61799"/>
                  <a:pt x="61799" y="0"/>
                  <a:pt x="137919" y="0"/>
                </a:cubicBezTo>
                <a:cubicBezTo>
                  <a:pt x="214038" y="0"/>
                  <a:pt x="275837" y="61799"/>
                  <a:pt x="275837" y="137919"/>
                </a:cubicBezTo>
                <a:cubicBezTo>
                  <a:pt x="275837" y="214038"/>
                  <a:pt x="214038" y="275837"/>
                  <a:pt x="137919" y="275837"/>
                </a:cubicBezTo>
                <a:cubicBezTo>
                  <a:pt x="61799" y="275837"/>
                  <a:pt x="0" y="214038"/>
                  <a:pt x="0" y="137919"/>
                </a:cubicBezTo>
                <a:close/>
              </a:path>
            </a:pathLst>
          </a:custGeom>
          <a:solidFill>
            <a:srgbClr val="000000"/>
          </a:solidFill>
          <a:ln/>
        </p:spPr>
      </p:sp>
      <p:sp>
        <p:nvSpPr>
          <p:cNvPr id="15" name="Text 12"/>
          <p:cNvSpPr/>
          <p:nvPr/>
        </p:nvSpPr>
        <p:spPr>
          <a:xfrm>
            <a:off x="3691620" y="2403460"/>
            <a:ext cx="1857303" cy="257448"/>
          </a:xfrm>
          <a:prstGeom prst="rect">
            <a:avLst/>
          </a:prstGeom>
          <a:noFill/>
          <a:ln/>
        </p:spPr>
        <p:txBody>
          <a:bodyPr wrap="square" lIns="0" tIns="0" rIns="0" bIns="0" rtlCol="0" anchor="ctr"/>
          <a:lstStyle/>
          <a:p>
            <a:pPr algn="ctr">
              <a:lnSpc>
                <a:spcPct val="120000"/>
              </a:lnSpc>
            </a:pPr>
            <a:r>
              <a:rPr lang="en-US" sz="1448" b="1" dirty="0">
                <a:solidFill>
                  <a:srgbClr val="FFFFFF"/>
                </a:solidFill>
                <a:latin typeface="Liter" pitchFamily="34" charset="0"/>
                <a:ea typeface="Liter" pitchFamily="34" charset="-122"/>
                <a:cs typeface="Liter" pitchFamily="34" charset="-120"/>
              </a:rPr>
              <a:t>Global Market Access</a:t>
            </a:r>
            <a:endParaRPr lang="en-US" sz="1600" dirty="0"/>
          </a:p>
        </p:txBody>
      </p:sp>
      <p:sp>
        <p:nvSpPr>
          <p:cNvPr id="16" name="Text 13"/>
          <p:cNvSpPr/>
          <p:nvPr/>
        </p:nvSpPr>
        <p:spPr>
          <a:xfrm>
            <a:off x="3412565" y="2734464"/>
            <a:ext cx="2408977" cy="441339"/>
          </a:xfrm>
          <a:prstGeom prst="rect">
            <a:avLst/>
          </a:prstGeom>
          <a:noFill/>
          <a:ln/>
        </p:spPr>
        <p:txBody>
          <a:bodyPr wrap="square" lIns="0" tIns="0" rIns="0" bIns="0" rtlCol="0" anchor="ctr"/>
          <a:lstStyle/>
          <a:p>
            <a:pPr algn="ctr">
              <a:lnSpc>
                <a:spcPct val="120000"/>
              </a:lnSpc>
            </a:pPr>
            <a:r>
              <a:rPr lang="en-US" sz="1158" dirty="0">
                <a:solidFill>
                  <a:srgbClr val="FFFFFF">
                    <a:alpha val="70000"/>
                  </a:srgbClr>
                </a:solidFill>
                <a:latin typeface="Liter" pitchFamily="34" charset="0"/>
                <a:ea typeface="Liter" pitchFamily="34" charset="-122"/>
                <a:cs typeface="Liter" pitchFamily="34" charset="-120"/>
              </a:rPr>
              <a:t>Reach customers worldwide without physical presence</a:t>
            </a:r>
            <a:endParaRPr lang="en-US" sz="1600" dirty="0"/>
          </a:p>
        </p:txBody>
      </p:sp>
      <p:sp>
        <p:nvSpPr>
          <p:cNvPr id="17" name="Shape 14"/>
          <p:cNvSpPr/>
          <p:nvPr/>
        </p:nvSpPr>
        <p:spPr>
          <a:xfrm>
            <a:off x="375138" y="3784488"/>
            <a:ext cx="2717915" cy="2368521"/>
          </a:xfrm>
          <a:custGeom>
            <a:avLst/>
            <a:gdLst/>
            <a:ahLst/>
            <a:cxnLst/>
            <a:rect l="l" t="t" r="r" b="b"/>
            <a:pathLst>
              <a:path w="2717915" h="2368521">
                <a:moveTo>
                  <a:pt x="0" y="0"/>
                </a:moveTo>
                <a:lnTo>
                  <a:pt x="2717915" y="0"/>
                </a:lnTo>
                <a:lnTo>
                  <a:pt x="2717915" y="2368521"/>
                </a:lnTo>
                <a:lnTo>
                  <a:pt x="0" y="2368521"/>
                </a:lnTo>
                <a:lnTo>
                  <a:pt x="0" y="0"/>
                </a:lnTo>
                <a:close/>
              </a:path>
            </a:pathLst>
          </a:custGeom>
          <a:solidFill>
            <a:srgbClr val="111111">
              <a:alpha val="90196"/>
            </a:srgbClr>
          </a:solidFill>
          <a:ln w="20320">
            <a:solidFill>
              <a:srgbClr val="DDFF00"/>
            </a:solidFill>
            <a:prstDash val="solid"/>
          </a:ln>
        </p:spPr>
      </p:sp>
      <p:sp>
        <p:nvSpPr>
          <p:cNvPr id="18" name="Shape 15"/>
          <p:cNvSpPr/>
          <p:nvPr/>
        </p:nvSpPr>
        <p:spPr>
          <a:xfrm>
            <a:off x="1441479" y="4231343"/>
            <a:ext cx="588452" cy="588452"/>
          </a:xfrm>
          <a:custGeom>
            <a:avLst/>
            <a:gdLst/>
            <a:ahLst/>
            <a:cxnLst/>
            <a:rect l="l" t="t" r="r" b="b"/>
            <a:pathLst>
              <a:path w="588452" h="588452">
                <a:moveTo>
                  <a:pt x="0" y="0"/>
                </a:moveTo>
                <a:lnTo>
                  <a:pt x="588452" y="0"/>
                </a:lnTo>
                <a:lnTo>
                  <a:pt x="588452" y="588452"/>
                </a:lnTo>
                <a:lnTo>
                  <a:pt x="0" y="588452"/>
                </a:lnTo>
                <a:lnTo>
                  <a:pt x="0" y="0"/>
                </a:lnTo>
                <a:close/>
              </a:path>
            </a:pathLst>
          </a:custGeom>
          <a:solidFill>
            <a:srgbClr val="DDFF00"/>
          </a:solidFill>
          <a:ln/>
        </p:spPr>
      </p:sp>
      <p:sp>
        <p:nvSpPr>
          <p:cNvPr id="19" name="Shape 16"/>
          <p:cNvSpPr/>
          <p:nvPr/>
        </p:nvSpPr>
        <p:spPr>
          <a:xfrm>
            <a:off x="1651805" y="4387651"/>
            <a:ext cx="172398" cy="275837"/>
          </a:xfrm>
          <a:custGeom>
            <a:avLst/>
            <a:gdLst/>
            <a:ahLst/>
            <a:cxnLst/>
            <a:rect l="l" t="t" r="r" b="b"/>
            <a:pathLst>
              <a:path w="172398" h="275837">
                <a:moveTo>
                  <a:pt x="73269" y="12930"/>
                </a:moveTo>
                <a:cubicBezTo>
                  <a:pt x="73269" y="5765"/>
                  <a:pt x="79034" y="0"/>
                  <a:pt x="86199" y="0"/>
                </a:cubicBezTo>
                <a:cubicBezTo>
                  <a:pt x="93364" y="0"/>
                  <a:pt x="99129" y="5765"/>
                  <a:pt x="99129" y="12930"/>
                </a:cubicBezTo>
                <a:lnTo>
                  <a:pt x="99129" y="34480"/>
                </a:lnTo>
                <a:lnTo>
                  <a:pt x="129299" y="34480"/>
                </a:lnTo>
                <a:cubicBezTo>
                  <a:pt x="138834" y="34480"/>
                  <a:pt x="146538" y="42184"/>
                  <a:pt x="146538" y="51719"/>
                </a:cubicBezTo>
                <a:cubicBezTo>
                  <a:pt x="146538" y="61255"/>
                  <a:pt x="138834" y="68959"/>
                  <a:pt x="129299" y="68959"/>
                </a:cubicBezTo>
                <a:lnTo>
                  <a:pt x="67397" y="68959"/>
                </a:lnTo>
                <a:cubicBezTo>
                  <a:pt x="53982" y="68959"/>
                  <a:pt x="43100" y="79842"/>
                  <a:pt x="43100" y="93257"/>
                </a:cubicBezTo>
                <a:cubicBezTo>
                  <a:pt x="43100" y="105378"/>
                  <a:pt x="51989" y="115615"/>
                  <a:pt x="63949" y="117339"/>
                </a:cubicBezTo>
                <a:lnTo>
                  <a:pt x="113298" y="124396"/>
                </a:lnTo>
                <a:cubicBezTo>
                  <a:pt x="142282" y="128544"/>
                  <a:pt x="163778" y="153327"/>
                  <a:pt x="163778" y="182580"/>
                </a:cubicBezTo>
                <a:cubicBezTo>
                  <a:pt x="163778" y="215067"/>
                  <a:pt x="137434" y="241357"/>
                  <a:pt x="105001" y="241357"/>
                </a:cubicBezTo>
                <a:lnTo>
                  <a:pt x="99129" y="241357"/>
                </a:lnTo>
                <a:lnTo>
                  <a:pt x="99129" y="262907"/>
                </a:lnTo>
                <a:cubicBezTo>
                  <a:pt x="99129" y="270073"/>
                  <a:pt x="93364" y="275837"/>
                  <a:pt x="86199" y="275837"/>
                </a:cubicBezTo>
                <a:cubicBezTo>
                  <a:pt x="79034" y="275837"/>
                  <a:pt x="73269" y="270073"/>
                  <a:pt x="73269" y="262907"/>
                </a:cubicBezTo>
                <a:lnTo>
                  <a:pt x="73269" y="241357"/>
                </a:lnTo>
                <a:lnTo>
                  <a:pt x="34480" y="241357"/>
                </a:lnTo>
                <a:cubicBezTo>
                  <a:pt x="24944" y="241357"/>
                  <a:pt x="17240" y="233653"/>
                  <a:pt x="17240" y="224118"/>
                </a:cubicBezTo>
                <a:cubicBezTo>
                  <a:pt x="17240" y="214582"/>
                  <a:pt x="24944" y="206878"/>
                  <a:pt x="34480" y="206878"/>
                </a:cubicBezTo>
                <a:lnTo>
                  <a:pt x="105001" y="206878"/>
                </a:lnTo>
                <a:cubicBezTo>
                  <a:pt x="118416" y="206878"/>
                  <a:pt x="129299" y="195995"/>
                  <a:pt x="129299" y="182580"/>
                </a:cubicBezTo>
                <a:cubicBezTo>
                  <a:pt x="129299" y="170459"/>
                  <a:pt x="120409" y="160223"/>
                  <a:pt x="108449" y="158499"/>
                </a:cubicBezTo>
                <a:lnTo>
                  <a:pt x="59100" y="151441"/>
                </a:lnTo>
                <a:cubicBezTo>
                  <a:pt x="30116" y="147347"/>
                  <a:pt x="8620" y="122510"/>
                  <a:pt x="8620" y="93257"/>
                </a:cubicBezTo>
                <a:cubicBezTo>
                  <a:pt x="8620" y="60824"/>
                  <a:pt x="34965" y="34480"/>
                  <a:pt x="67397" y="34480"/>
                </a:cubicBezTo>
                <a:lnTo>
                  <a:pt x="73269" y="34480"/>
                </a:lnTo>
                <a:lnTo>
                  <a:pt x="73269" y="12930"/>
                </a:lnTo>
                <a:close/>
              </a:path>
            </a:pathLst>
          </a:custGeom>
          <a:solidFill>
            <a:srgbClr val="000000"/>
          </a:solidFill>
          <a:ln/>
        </p:spPr>
      </p:sp>
      <p:sp>
        <p:nvSpPr>
          <p:cNvPr id="20" name="Text 17"/>
          <p:cNvSpPr/>
          <p:nvPr/>
        </p:nvSpPr>
        <p:spPr>
          <a:xfrm>
            <a:off x="630288" y="4930130"/>
            <a:ext cx="2206697" cy="257448"/>
          </a:xfrm>
          <a:prstGeom prst="rect">
            <a:avLst/>
          </a:prstGeom>
          <a:noFill/>
          <a:ln/>
        </p:spPr>
        <p:txBody>
          <a:bodyPr wrap="square" lIns="0" tIns="0" rIns="0" bIns="0" rtlCol="0" anchor="ctr"/>
          <a:lstStyle/>
          <a:p>
            <a:pPr algn="ctr">
              <a:lnSpc>
                <a:spcPct val="120000"/>
              </a:lnSpc>
            </a:pPr>
            <a:r>
              <a:rPr lang="en-US" sz="1448" b="1" dirty="0">
                <a:solidFill>
                  <a:srgbClr val="FFFFFF"/>
                </a:solidFill>
                <a:latin typeface="Liter" pitchFamily="34" charset="0"/>
                <a:ea typeface="Liter" pitchFamily="34" charset="-122"/>
                <a:cs typeface="Liter" pitchFamily="34" charset="-120"/>
              </a:rPr>
              <a:t>Reduced Operational Cost</a:t>
            </a:r>
            <a:endParaRPr lang="en-US" sz="1600" dirty="0"/>
          </a:p>
        </p:txBody>
      </p:sp>
      <p:sp>
        <p:nvSpPr>
          <p:cNvPr id="21" name="Text 18"/>
          <p:cNvSpPr/>
          <p:nvPr/>
        </p:nvSpPr>
        <p:spPr>
          <a:xfrm>
            <a:off x="529607" y="5261135"/>
            <a:ext cx="2408977" cy="441339"/>
          </a:xfrm>
          <a:prstGeom prst="rect">
            <a:avLst/>
          </a:prstGeom>
          <a:noFill/>
          <a:ln/>
        </p:spPr>
        <p:txBody>
          <a:bodyPr wrap="square" lIns="0" tIns="0" rIns="0" bIns="0" rtlCol="0" anchor="ctr"/>
          <a:lstStyle/>
          <a:p>
            <a:pPr algn="ctr">
              <a:lnSpc>
                <a:spcPct val="120000"/>
              </a:lnSpc>
            </a:pPr>
            <a:r>
              <a:rPr lang="en-US" sz="1158" dirty="0">
                <a:solidFill>
                  <a:srgbClr val="FFFFFF">
                    <a:alpha val="70000"/>
                  </a:srgbClr>
                </a:solidFill>
                <a:latin typeface="Liter" pitchFamily="34" charset="0"/>
                <a:ea typeface="Liter" pitchFamily="34" charset="-122"/>
                <a:cs typeface="Liter" pitchFamily="34" charset="-120"/>
              </a:rPr>
              <a:t>Lower overhead expenses compared to physical stores</a:t>
            </a:r>
            <a:endParaRPr lang="en-US" sz="1600" dirty="0"/>
          </a:p>
        </p:txBody>
      </p:sp>
      <p:sp>
        <p:nvSpPr>
          <p:cNvPr id="22" name="Shape 19"/>
          <p:cNvSpPr/>
          <p:nvPr/>
        </p:nvSpPr>
        <p:spPr>
          <a:xfrm>
            <a:off x="3258096" y="3784488"/>
            <a:ext cx="2717915" cy="2368521"/>
          </a:xfrm>
          <a:custGeom>
            <a:avLst/>
            <a:gdLst/>
            <a:ahLst/>
            <a:cxnLst/>
            <a:rect l="l" t="t" r="r" b="b"/>
            <a:pathLst>
              <a:path w="2717915" h="2368521">
                <a:moveTo>
                  <a:pt x="0" y="0"/>
                </a:moveTo>
                <a:lnTo>
                  <a:pt x="2717915" y="0"/>
                </a:lnTo>
                <a:lnTo>
                  <a:pt x="2717915" y="2368521"/>
                </a:lnTo>
                <a:lnTo>
                  <a:pt x="0" y="2368521"/>
                </a:lnTo>
                <a:lnTo>
                  <a:pt x="0" y="0"/>
                </a:lnTo>
                <a:close/>
              </a:path>
            </a:pathLst>
          </a:custGeom>
          <a:solidFill>
            <a:srgbClr val="111111">
              <a:alpha val="90196"/>
            </a:srgbClr>
          </a:solidFill>
          <a:ln w="20320">
            <a:solidFill>
              <a:srgbClr val="DDFF00"/>
            </a:solidFill>
            <a:prstDash val="solid"/>
          </a:ln>
        </p:spPr>
      </p:sp>
      <p:sp>
        <p:nvSpPr>
          <p:cNvPr id="23" name="Shape 20"/>
          <p:cNvSpPr/>
          <p:nvPr/>
        </p:nvSpPr>
        <p:spPr>
          <a:xfrm>
            <a:off x="4324436" y="4231343"/>
            <a:ext cx="588452" cy="588452"/>
          </a:xfrm>
          <a:custGeom>
            <a:avLst/>
            <a:gdLst/>
            <a:ahLst/>
            <a:cxnLst/>
            <a:rect l="l" t="t" r="r" b="b"/>
            <a:pathLst>
              <a:path w="588452" h="588452">
                <a:moveTo>
                  <a:pt x="0" y="0"/>
                </a:moveTo>
                <a:lnTo>
                  <a:pt x="588452" y="0"/>
                </a:lnTo>
                <a:lnTo>
                  <a:pt x="588452" y="588452"/>
                </a:lnTo>
                <a:lnTo>
                  <a:pt x="0" y="588452"/>
                </a:lnTo>
                <a:lnTo>
                  <a:pt x="0" y="0"/>
                </a:lnTo>
                <a:close/>
              </a:path>
            </a:pathLst>
          </a:custGeom>
          <a:solidFill>
            <a:srgbClr val="DDFF00"/>
          </a:solidFill>
          <a:ln/>
        </p:spPr>
      </p:sp>
      <p:sp>
        <p:nvSpPr>
          <p:cNvPr id="24" name="Shape 21"/>
          <p:cNvSpPr/>
          <p:nvPr/>
        </p:nvSpPr>
        <p:spPr>
          <a:xfrm>
            <a:off x="4500282" y="4387651"/>
            <a:ext cx="241357" cy="275837"/>
          </a:xfrm>
          <a:custGeom>
            <a:avLst/>
            <a:gdLst/>
            <a:ahLst/>
            <a:cxnLst/>
            <a:rect l="l" t="t" r="r" b="b"/>
            <a:pathLst>
              <a:path w="241357" h="275837">
                <a:moveTo>
                  <a:pt x="182527" y="-5334"/>
                </a:moveTo>
                <a:cubicBezTo>
                  <a:pt x="188938" y="-700"/>
                  <a:pt x="191308" y="7704"/>
                  <a:pt x="188399" y="15031"/>
                </a:cubicBezTo>
                <a:lnTo>
                  <a:pt x="146161" y="120679"/>
                </a:lnTo>
                <a:lnTo>
                  <a:pt x="224118" y="120679"/>
                </a:lnTo>
                <a:cubicBezTo>
                  <a:pt x="231391" y="120679"/>
                  <a:pt x="237856" y="125204"/>
                  <a:pt x="240334" y="132046"/>
                </a:cubicBezTo>
                <a:cubicBezTo>
                  <a:pt x="242812" y="138888"/>
                  <a:pt x="240711" y="146538"/>
                  <a:pt x="235162" y="151172"/>
                </a:cubicBezTo>
                <a:lnTo>
                  <a:pt x="80004" y="280470"/>
                </a:lnTo>
                <a:cubicBezTo>
                  <a:pt x="73916" y="285535"/>
                  <a:pt x="65242" y="285804"/>
                  <a:pt x="58831" y="281171"/>
                </a:cubicBezTo>
                <a:cubicBezTo>
                  <a:pt x="52420" y="276537"/>
                  <a:pt x="50049" y="268133"/>
                  <a:pt x="52959" y="260806"/>
                </a:cubicBezTo>
                <a:lnTo>
                  <a:pt x="95196" y="155158"/>
                </a:lnTo>
                <a:lnTo>
                  <a:pt x="17240" y="155158"/>
                </a:lnTo>
                <a:cubicBezTo>
                  <a:pt x="9967" y="155158"/>
                  <a:pt x="3502" y="150633"/>
                  <a:pt x="1024" y="143791"/>
                </a:cubicBezTo>
                <a:cubicBezTo>
                  <a:pt x="-1455" y="136949"/>
                  <a:pt x="646" y="129299"/>
                  <a:pt x="6196" y="124665"/>
                </a:cubicBezTo>
                <a:lnTo>
                  <a:pt x="161354" y="-4633"/>
                </a:lnTo>
                <a:cubicBezTo>
                  <a:pt x="167442" y="-9697"/>
                  <a:pt x="176116" y="-9967"/>
                  <a:pt x="182527" y="-5334"/>
                </a:cubicBezTo>
                <a:close/>
              </a:path>
            </a:pathLst>
          </a:custGeom>
          <a:solidFill>
            <a:srgbClr val="000000"/>
          </a:solidFill>
          <a:ln/>
        </p:spPr>
      </p:sp>
      <p:sp>
        <p:nvSpPr>
          <p:cNvPr id="25" name="Text 22"/>
          <p:cNvSpPr/>
          <p:nvPr/>
        </p:nvSpPr>
        <p:spPr>
          <a:xfrm>
            <a:off x="3773337" y="4930130"/>
            <a:ext cx="1691801" cy="257448"/>
          </a:xfrm>
          <a:prstGeom prst="rect">
            <a:avLst/>
          </a:prstGeom>
          <a:noFill/>
          <a:ln/>
        </p:spPr>
        <p:txBody>
          <a:bodyPr wrap="square" lIns="0" tIns="0" rIns="0" bIns="0" rtlCol="0" anchor="ctr"/>
          <a:lstStyle/>
          <a:p>
            <a:pPr algn="ctr">
              <a:lnSpc>
                <a:spcPct val="120000"/>
              </a:lnSpc>
            </a:pPr>
            <a:r>
              <a:rPr lang="en-US" sz="1448" b="1" dirty="0">
                <a:solidFill>
                  <a:srgbClr val="FFFFFF"/>
                </a:solidFill>
                <a:latin typeface="Liter" pitchFamily="34" charset="0"/>
                <a:ea typeface="Liter" pitchFamily="34" charset="-122"/>
                <a:cs typeface="Liter" pitchFamily="34" charset="-120"/>
              </a:rPr>
              <a:t>Faster Transactions</a:t>
            </a:r>
            <a:endParaRPr lang="en-US" sz="1600" dirty="0"/>
          </a:p>
        </p:txBody>
      </p:sp>
      <p:sp>
        <p:nvSpPr>
          <p:cNvPr id="26" name="Text 23"/>
          <p:cNvSpPr/>
          <p:nvPr/>
        </p:nvSpPr>
        <p:spPr>
          <a:xfrm>
            <a:off x="3412565" y="5261135"/>
            <a:ext cx="2408977" cy="441339"/>
          </a:xfrm>
          <a:prstGeom prst="rect">
            <a:avLst/>
          </a:prstGeom>
          <a:noFill/>
          <a:ln/>
        </p:spPr>
        <p:txBody>
          <a:bodyPr wrap="square" lIns="0" tIns="0" rIns="0" bIns="0" rtlCol="0" anchor="ctr"/>
          <a:lstStyle/>
          <a:p>
            <a:pPr algn="ctr">
              <a:lnSpc>
                <a:spcPct val="120000"/>
              </a:lnSpc>
            </a:pPr>
            <a:r>
              <a:rPr lang="en-US" sz="1158" dirty="0">
                <a:solidFill>
                  <a:srgbClr val="FFFFFF">
                    <a:alpha val="70000"/>
                  </a:srgbClr>
                </a:solidFill>
                <a:latin typeface="Liter" pitchFamily="34" charset="0"/>
                <a:ea typeface="Liter" pitchFamily="34" charset="-122"/>
                <a:cs typeface="Liter" pitchFamily="34" charset="-120"/>
              </a:rPr>
              <a:t>Instant order processing and quick delivery</a:t>
            </a:r>
            <a:endParaRPr lang="en-US" sz="1600" dirty="0"/>
          </a:p>
        </p:txBody>
      </p:sp>
      <p:sp>
        <p:nvSpPr>
          <p:cNvPr id="27" name="Shape 24"/>
          <p:cNvSpPr/>
          <p:nvPr/>
        </p:nvSpPr>
        <p:spPr>
          <a:xfrm>
            <a:off x="6214725" y="1257817"/>
            <a:ext cx="5605010" cy="1632956"/>
          </a:xfrm>
          <a:custGeom>
            <a:avLst/>
            <a:gdLst/>
            <a:ahLst/>
            <a:cxnLst/>
            <a:rect l="l" t="t" r="r" b="b"/>
            <a:pathLst>
              <a:path w="5605010" h="1632956">
                <a:moveTo>
                  <a:pt x="0" y="0"/>
                </a:moveTo>
                <a:lnTo>
                  <a:pt x="5605010" y="0"/>
                </a:lnTo>
                <a:lnTo>
                  <a:pt x="5605010" y="1632956"/>
                </a:lnTo>
                <a:lnTo>
                  <a:pt x="0" y="1632956"/>
                </a:lnTo>
                <a:lnTo>
                  <a:pt x="0" y="0"/>
                </a:lnTo>
                <a:close/>
              </a:path>
            </a:pathLst>
          </a:custGeom>
          <a:solidFill>
            <a:srgbClr val="111111">
              <a:alpha val="90196"/>
            </a:srgbClr>
          </a:solidFill>
          <a:ln w="20320">
            <a:solidFill>
              <a:srgbClr val="DDFF00"/>
            </a:solidFill>
            <a:prstDash val="solid"/>
          </a:ln>
        </p:spPr>
      </p:sp>
      <p:sp>
        <p:nvSpPr>
          <p:cNvPr id="28" name="Shape 25"/>
          <p:cNvSpPr/>
          <p:nvPr/>
        </p:nvSpPr>
        <p:spPr>
          <a:xfrm>
            <a:off x="8722544" y="1449065"/>
            <a:ext cx="588452" cy="588452"/>
          </a:xfrm>
          <a:custGeom>
            <a:avLst/>
            <a:gdLst/>
            <a:ahLst/>
            <a:cxnLst/>
            <a:rect l="l" t="t" r="r" b="b"/>
            <a:pathLst>
              <a:path w="588452" h="588452">
                <a:moveTo>
                  <a:pt x="0" y="0"/>
                </a:moveTo>
                <a:lnTo>
                  <a:pt x="588452" y="0"/>
                </a:lnTo>
                <a:lnTo>
                  <a:pt x="588452" y="588452"/>
                </a:lnTo>
                <a:lnTo>
                  <a:pt x="0" y="588452"/>
                </a:lnTo>
                <a:lnTo>
                  <a:pt x="0" y="0"/>
                </a:lnTo>
                <a:close/>
              </a:path>
            </a:pathLst>
          </a:custGeom>
          <a:solidFill>
            <a:srgbClr val="DDFF00"/>
          </a:solidFill>
          <a:ln/>
        </p:spPr>
      </p:sp>
      <p:sp>
        <p:nvSpPr>
          <p:cNvPr id="29" name="Shape 26"/>
          <p:cNvSpPr/>
          <p:nvPr/>
        </p:nvSpPr>
        <p:spPr>
          <a:xfrm>
            <a:off x="8881151" y="1605373"/>
            <a:ext cx="275837" cy="275837"/>
          </a:xfrm>
          <a:custGeom>
            <a:avLst/>
            <a:gdLst/>
            <a:ahLst/>
            <a:cxnLst/>
            <a:rect l="l" t="t" r="r" b="b"/>
            <a:pathLst>
              <a:path w="275837" h="275837">
                <a:moveTo>
                  <a:pt x="241357" y="137919"/>
                </a:moveTo>
                <a:cubicBezTo>
                  <a:pt x="241357" y="80829"/>
                  <a:pt x="195008" y="34480"/>
                  <a:pt x="137919" y="34480"/>
                </a:cubicBezTo>
                <a:cubicBezTo>
                  <a:pt x="80829" y="34480"/>
                  <a:pt x="34480" y="80829"/>
                  <a:pt x="34480" y="137919"/>
                </a:cubicBezTo>
                <a:cubicBezTo>
                  <a:pt x="34480" y="195008"/>
                  <a:pt x="80829" y="241357"/>
                  <a:pt x="137919" y="241357"/>
                </a:cubicBezTo>
                <a:cubicBezTo>
                  <a:pt x="195008" y="241357"/>
                  <a:pt x="241357" y="195008"/>
                  <a:pt x="241357" y="137919"/>
                </a:cubicBezTo>
                <a:close/>
                <a:moveTo>
                  <a:pt x="0" y="137919"/>
                </a:moveTo>
                <a:cubicBezTo>
                  <a:pt x="0" y="61799"/>
                  <a:pt x="61799" y="0"/>
                  <a:pt x="137919" y="0"/>
                </a:cubicBezTo>
                <a:cubicBezTo>
                  <a:pt x="214038" y="0"/>
                  <a:pt x="275837" y="61799"/>
                  <a:pt x="275837" y="137919"/>
                </a:cubicBezTo>
                <a:cubicBezTo>
                  <a:pt x="275837" y="214038"/>
                  <a:pt x="214038" y="275837"/>
                  <a:pt x="137919" y="275837"/>
                </a:cubicBezTo>
                <a:cubicBezTo>
                  <a:pt x="61799" y="275837"/>
                  <a:pt x="0" y="214038"/>
                  <a:pt x="0" y="137919"/>
                </a:cubicBezTo>
                <a:close/>
                <a:moveTo>
                  <a:pt x="137919" y="181018"/>
                </a:moveTo>
                <a:cubicBezTo>
                  <a:pt x="161706" y="181018"/>
                  <a:pt x="181018" y="161706"/>
                  <a:pt x="181018" y="137919"/>
                </a:cubicBezTo>
                <a:cubicBezTo>
                  <a:pt x="181018" y="114131"/>
                  <a:pt x="161706" y="94819"/>
                  <a:pt x="137919" y="94819"/>
                </a:cubicBezTo>
                <a:cubicBezTo>
                  <a:pt x="114131" y="94819"/>
                  <a:pt x="94819" y="114131"/>
                  <a:pt x="94819" y="137919"/>
                </a:cubicBezTo>
                <a:cubicBezTo>
                  <a:pt x="94819" y="161706"/>
                  <a:pt x="114131" y="181018"/>
                  <a:pt x="137919" y="181018"/>
                </a:cubicBezTo>
                <a:close/>
                <a:moveTo>
                  <a:pt x="137919" y="60339"/>
                </a:moveTo>
                <a:cubicBezTo>
                  <a:pt x="180736" y="60339"/>
                  <a:pt x="215498" y="95101"/>
                  <a:pt x="215498" y="137919"/>
                </a:cubicBezTo>
                <a:cubicBezTo>
                  <a:pt x="215498" y="180736"/>
                  <a:pt x="180736" y="215498"/>
                  <a:pt x="137919" y="215498"/>
                </a:cubicBezTo>
                <a:cubicBezTo>
                  <a:pt x="95101" y="215498"/>
                  <a:pt x="60339" y="180736"/>
                  <a:pt x="60339" y="137919"/>
                </a:cubicBezTo>
                <a:cubicBezTo>
                  <a:pt x="60339" y="95101"/>
                  <a:pt x="95101" y="60339"/>
                  <a:pt x="137919" y="60339"/>
                </a:cubicBezTo>
                <a:close/>
                <a:moveTo>
                  <a:pt x="120679" y="137919"/>
                </a:moveTo>
                <a:cubicBezTo>
                  <a:pt x="120679" y="128404"/>
                  <a:pt x="128404" y="120679"/>
                  <a:pt x="137919" y="120679"/>
                </a:cubicBezTo>
                <a:cubicBezTo>
                  <a:pt x="147433" y="120679"/>
                  <a:pt x="155158" y="128404"/>
                  <a:pt x="155158" y="137919"/>
                </a:cubicBezTo>
                <a:cubicBezTo>
                  <a:pt x="155158" y="147433"/>
                  <a:pt x="147433" y="155158"/>
                  <a:pt x="137919" y="155158"/>
                </a:cubicBezTo>
                <a:cubicBezTo>
                  <a:pt x="128404" y="155158"/>
                  <a:pt x="120679" y="147433"/>
                  <a:pt x="120679" y="137919"/>
                </a:cubicBezTo>
                <a:close/>
              </a:path>
            </a:pathLst>
          </a:custGeom>
          <a:solidFill>
            <a:srgbClr val="000000"/>
          </a:solidFill>
          <a:ln/>
        </p:spPr>
      </p:sp>
      <p:sp>
        <p:nvSpPr>
          <p:cNvPr id="30" name="Text 27"/>
          <p:cNvSpPr/>
          <p:nvPr/>
        </p:nvSpPr>
        <p:spPr>
          <a:xfrm>
            <a:off x="8020998" y="2147852"/>
            <a:ext cx="1995222" cy="257448"/>
          </a:xfrm>
          <a:prstGeom prst="rect">
            <a:avLst/>
          </a:prstGeom>
          <a:noFill/>
          <a:ln/>
        </p:spPr>
        <p:txBody>
          <a:bodyPr wrap="square" lIns="0" tIns="0" rIns="0" bIns="0" rtlCol="0" anchor="ctr"/>
          <a:lstStyle/>
          <a:p>
            <a:pPr algn="ctr">
              <a:lnSpc>
                <a:spcPct val="120000"/>
              </a:lnSpc>
            </a:pPr>
            <a:r>
              <a:rPr lang="en-US" sz="1448" b="1" dirty="0">
                <a:solidFill>
                  <a:srgbClr val="FFFFFF"/>
                </a:solidFill>
                <a:latin typeface="Liter" pitchFamily="34" charset="0"/>
                <a:ea typeface="Liter" pitchFamily="34" charset="-122"/>
                <a:cs typeface="Liter" pitchFamily="34" charset="-120"/>
              </a:rPr>
              <a:t>Personalized Marketing</a:t>
            </a:r>
            <a:endParaRPr lang="en-US" sz="1600" dirty="0"/>
          </a:p>
        </p:txBody>
      </p:sp>
      <p:sp>
        <p:nvSpPr>
          <p:cNvPr id="31" name="Text 28"/>
          <p:cNvSpPr/>
          <p:nvPr/>
        </p:nvSpPr>
        <p:spPr>
          <a:xfrm>
            <a:off x="6516307" y="2478857"/>
            <a:ext cx="5001846" cy="220670"/>
          </a:xfrm>
          <a:prstGeom prst="rect">
            <a:avLst/>
          </a:prstGeom>
          <a:noFill/>
          <a:ln/>
        </p:spPr>
        <p:txBody>
          <a:bodyPr wrap="square" lIns="0" tIns="0" rIns="0" bIns="0" rtlCol="0" anchor="ctr"/>
          <a:lstStyle/>
          <a:p>
            <a:pPr algn="ctr">
              <a:lnSpc>
                <a:spcPct val="120000"/>
              </a:lnSpc>
            </a:pPr>
            <a:r>
              <a:rPr lang="en-US" sz="1158" dirty="0">
                <a:solidFill>
                  <a:srgbClr val="FFFFFF">
                    <a:alpha val="70000"/>
                  </a:srgbClr>
                </a:solidFill>
                <a:latin typeface="Liter" pitchFamily="34" charset="0"/>
                <a:ea typeface="Liter" pitchFamily="34" charset="-122"/>
                <a:cs typeface="Liter" pitchFamily="34" charset="-120"/>
              </a:rPr>
              <a:t>AI-driven recommendations and targeted advertising based on user behavior</a:t>
            </a:r>
            <a:endParaRPr lang="en-US" sz="1600" dirty="0"/>
          </a:p>
        </p:txBody>
      </p:sp>
      <p:sp>
        <p:nvSpPr>
          <p:cNvPr id="32" name="Shape 29"/>
          <p:cNvSpPr/>
          <p:nvPr/>
        </p:nvSpPr>
        <p:spPr>
          <a:xfrm>
            <a:off x="6214725" y="3052599"/>
            <a:ext cx="5605010" cy="1632956"/>
          </a:xfrm>
          <a:custGeom>
            <a:avLst/>
            <a:gdLst/>
            <a:ahLst/>
            <a:cxnLst/>
            <a:rect l="l" t="t" r="r" b="b"/>
            <a:pathLst>
              <a:path w="5605010" h="1632956">
                <a:moveTo>
                  <a:pt x="0" y="0"/>
                </a:moveTo>
                <a:lnTo>
                  <a:pt x="5605010" y="0"/>
                </a:lnTo>
                <a:lnTo>
                  <a:pt x="5605010" y="1632956"/>
                </a:lnTo>
                <a:lnTo>
                  <a:pt x="0" y="1632956"/>
                </a:lnTo>
                <a:lnTo>
                  <a:pt x="0" y="0"/>
                </a:lnTo>
                <a:close/>
              </a:path>
            </a:pathLst>
          </a:custGeom>
          <a:solidFill>
            <a:srgbClr val="111111">
              <a:alpha val="90196"/>
            </a:srgbClr>
          </a:solidFill>
          <a:ln w="20320">
            <a:solidFill>
              <a:srgbClr val="DDFF00"/>
            </a:solidFill>
            <a:prstDash val="solid"/>
          </a:ln>
        </p:spPr>
      </p:sp>
      <p:sp>
        <p:nvSpPr>
          <p:cNvPr id="33" name="Shape 30"/>
          <p:cNvSpPr/>
          <p:nvPr/>
        </p:nvSpPr>
        <p:spPr>
          <a:xfrm>
            <a:off x="8722544" y="3243847"/>
            <a:ext cx="588452" cy="588452"/>
          </a:xfrm>
          <a:custGeom>
            <a:avLst/>
            <a:gdLst/>
            <a:ahLst/>
            <a:cxnLst/>
            <a:rect l="l" t="t" r="r" b="b"/>
            <a:pathLst>
              <a:path w="588452" h="588452">
                <a:moveTo>
                  <a:pt x="0" y="0"/>
                </a:moveTo>
                <a:lnTo>
                  <a:pt x="588452" y="0"/>
                </a:lnTo>
                <a:lnTo>
                  <a:pt x="588452" y="588452"/>
                </a:lnTo>
                <a:lnTo>
                  <a:pt x="0" y="588452"/>
                </a:lnTo>
                <a:lnTo>
                  <a:pt x="0" y="0"/>
                </a:lnTo>
                <a:close/>
              </a:path>
            </a:pathLst>
          </a:custGeom>
          <a:solidFill>
            <a:srgbClr val="DDFF00"/>
          </a:solidFill>
          <a:ln/>
        </p:spPr>
      </p:sp>
      <p:sp>
        <p:nvSpPr>
          <p:cNvPr id="34" name="Shape 31"/>
          <p:cNvSpPr/>
          <p:nvPr/>
        </p:nvSpPr>
        <p:spPr>
          <a:xfrm>
            <a:off x="8898390" y="3400155"/>
            <a:ext cx="241357" cy="275837"/>
          </a:xfrm>
          <a:custGeom>
            <a:avLst/>
            <a:gdLst/>
            <a:ahLst/>
            <a:cxnLst/>
            <a:rect l="l" t="t" r="r" b="b"/>
            <a:pathLst>
              <a:path w="241357" h="275837">
                <a:moveTo>
                  <a:pt x="206878" y="51719"/>
                </a:moveTo>
                <a:lnTo>
                  <a:pt x="137919" y="51719"/>
                </a:lnTo>
                <a:lnTo>
                  <a:pt x="137919" y="120679"/>
                </a:lnTo>
                <a:lnTo>
                  <a:pt x="206878" y="120679"/>
                </a:lnTo>
                <a:lnTo>
                  <a:pt x="206878" y="51719"/>
                </a:lnTo>
                <a:close/>
                <a:moveTo>
                  <a:pt x="241357" y="120679"/>
                </a:moveTo>
                <a:lnTo>
                  <a:pt x="241357" y="224118"/>
                </a:lnTo>
                <a:cubicBezTo>
                  <a:pt x="241357" y="243135"/>
                  <a:pt x="225896" y="258597"/>
                  <a:pt x="206878" y="258597"/>
                </a:cubicBezTo>
                <a:lnTo>
                  <a:pt x="34480" y="258597"/>
                </a:lnTo>
                <a:cubicBezTo>
                  <a:pt x="15462" y="258597"/>
                  <a:pt x="0" y="243135"/>
                  <a:pt x="0" y="224118"/>
                </a:cubicBezTo>
                <a:lnTo>
                  <a:pt x="0" y="51719"/>
                </a:lnTo>
                <a:cubicBezTo>
                  <a:pt x="0" y="32702"/>
                  <a:pt x="15462" y="17240"/>
                  <a:pt x="34480" y="17240"/>
                </a:cubicBezTo>
                <a:lnTo>
                  <a:pt x="206878" y="17240"/>
                </a:lnTo>
                <a:cubicBezTo>
                  <a:pt x="225896" y="17240"/>
                  <a:pt x="241357" y="32702"/>
                  <a:pt x="241357" y="51719"/>
                </a:cubicBezTo>
                <a:lnTo>
                  <a:pt x="241357" y="120679"/>
                </a:lnTo>
                <a:close/>
                <a:moveTo>
                  <a:pt x="34480" y="155158"/>
                </a:moveTo>
                <a:lnTo>
                  <a:pt x="34480" y="224118"/>
                </a:lnTo>
                <a:lnTo>
                  <a:pt x="103439" y="224118"/>
                </a:lnTo>
                <a:lnTo>
                  <a:pt x="103439" y="155158"/>
                </a:lnTo>
                <a:lnTo>
                  <a:pt x="34480" y="155158"/>
                </a:lnTo>
                <a:close/>
                <a:moveTo>
                  <a:pt x="103439" y="120679"/>
                </a:moveTo>
                <a:lnTo>
                  <a:pt x="103439" y="51719"/>
                </a:lnTo>
                <a:lnTo>
                  <a:pt x="34480" y="51719"/>
                </a:lnTo>
                <a:lnTo>
                  <a:pt x="34480" y="120679"/>
                </a:lnTo>
                <a:lnTo>
                  <a:pt x="103439" y="120679"/>
                </a:lnTo>
                <a:close/>
                <a:moveTo>
                  <a:pt x="137919" y="155158"/>
                </a:moveTo>
                <a:lnTo>
                  <a:pt x="137919" y="224118"/>
                </a:lnTo>
                <a:lnTo>
                  <a:pt x="206878" y="224118"/>
                </a:lnTo>
                <a:lnTo>
                  <a:pt x="206878" y="155158"/>
                </a:lnTo>
                <a:lnTo>
                  <a:pt x="137919" y="155158"/>
                </a:lnTo>
                <a:close/>
              </a:path>
            </a:pathLst>
          </a:custGeom>
          <a:solidFill>
            <a:srgbClr val="000000"/>
          </a:solidFill>
          <a:ln/>
        </p:spPr>
      </p:sp>
      <p:sp>
        <p:nvSpPr>
          <p:cNvPr id="35" name="Text 32"/>
          <p:cNvSpPr/>
          <p:nvPr/>
        </p:nvSpPr>
        <p:spPr>
          <a:xfrm>
            <a:off x="7986174" y="3942634"/>
            <a:ext cx="2059584" cy="257448"/>
          </a:xfrm>
          <a:prstGeom prst="rect">
            <a:avLst/>
          </a:prstGeom>
          <a:noFill/>
          <a:ln/>
        </p:spPr>
        <p:txBody>
          <a:bodyPr wrap="square" lIns="0" tIns="0" rIns="0" bIns="0" rtlCol="0" anchor="ctr"/>
          <a:lstStyle/>
          <a:p>
            <a:pPr algn="ctr">
              <a:lnSpc>
                <a:spcPct val="120000"/>
              </a:lnSpc>
            </a:pPr>
            <a:r>
              <a:rPr lang="en-US" sz="1448" b="1" dirty="0">
                <a:solidFill>
                  <a:srgbClr val="FFFFFF"/>
                </a:solidFill>
                <a:latin typeface="Liter" pitchFamily="34" charset="0"/>
                <a:ea typeface="Liter" pitchFamily="34" charset="-122"/>
                <a:cs typeface="Liter" pitchFamily="34" charset="-120"/>
              </a:rPr>
              <a:t>Wider Product Selection</a:t>
            </a:r>
            <a:endParaRPr lang="en-US" sz="1600" dirty="0"/>
          </a:p>
        </p:txBody>
      </p:sp>
      <p:sp>
        <p:nvSpPr>
          <p:cNvPr id="36" name="Text 33"/>
          <p:cNvSpPr/>
          <p:nvPr/>
        </p:nvSpPr>
        <p:spPr>
          <a:xfrm>
            <a:off x="6731115" y="4273639"/>
            <a:ext cx="4569701" cy="220670"/>
          </a:xfrm>
          <a:prstGeom prst="rect">
            <a:avLst/>
          </a:prstGeom>
          <a:noFill/>
          <a:ln/>
        </p:spPr>
        <p:txBody>
          <a:bodyPr wrap="square" lIns="0" tIns="0" rIns="0" bIns="0" rtlCol="0" anchor="ctr"/>
          <a:lstStyle/>
          <a:p>
            <a:pPr algn="ctr">
              <a:lnSpc>
                <a:spcPct val="120000"/>
              </a:lnSpc>
            </a:pPr>
            <a:r>
              <a:rPr lang="en-US" sz="1158" dirty="0">
                <a:solidFill>
                  <a:srgbClr val="FFFFFF">
                    <a:alpha val="70000"/>
                  </a:srgbClr>
                </a:solidFill>
                <a:latin typeface="Liter" pitchFamily="34" charset="0"/>
                <a:ea typeface="Liter" pitchFamily="34" charset="-122"/>
                <a:cs typeface="Liter" pitchFamily="34" charset="-120"/>
              </a:rPr>
              <a:t>Access to unlimited variety of products from multiple vendors globally</a:t>
            </a:r>
            <a:endParaRPr lang="en-US" sz="1600" dirty="0"/>
          </a:p>
        </p:txBody>
      </p:sp>
      <p:sp>
        <p:nvSpPr>
          <p:cNvPr id="37" name="Shape 34"/>
          <p:cNvSpPr/>
          <p:nvPr/>
        </p:nvSpPr>
        <p:spPr>
          <a:xfrm>
            <a:off x="6214725" y="4847376"/>
            <a:ext cx="2717915" cy="1301951"/>
          </a:xfrm>
          <a:custGeom>
            <a:avLst/>
            <a:gdLst/>
            <a:ahLst/>
            <a:cxnLst/>
            <a:rect l="l" t="t" r="r" b="b"/>
            <a:pathLst>
              <a:path w="2717915" h="1301951">
                <a:moveTo>
                  <a:pt x="0" y="0"/>
                </a:moveTo>
                <a:lnTo>
                  <a:pt x="2717915" y="0"/>
                </a:lnTo>
                <a:lnTo>
                  <a:pt x="2717915" y="1301951"/>
                </a:lnTo>
                <a:lnTo>
                  <a:pt x="0" y="1301951"/>
                </a:lnTo>
                <a:lnTo>
                  <a:pt x="0" y="0"/>
                </a:lnTo>
                <a:close/>
              </a:path>
            </a:pathLst>
          </a:custGeom>
          <a:solidFill>
            <a:srgbClr val="111111">
              <a:alpha val="90196"/>
            </a:srgbClr>
          </a:solidFill>
          <a:ln w="20320">
            <a:solidFill>
              <a:srgbClr val="DDFF00"/>
            </a:solidFill>
            <a:prstDash val="solid"/>
          </a:ln>
        </p:spPr>
      </p:sp>
      <p:sp>
        <p:nvSpPr>
          <p:cNvPr id="38" name="Shape 35"/>
          <p:cNvSpPr/>
          <p:nvPr/>
        </p:nvSpPr>
        <p:spPr>
          <a:xfrm>
            <a:off x="7354622" y="5001846"/>
            <a:ext cx="441339" cy="441339"/>
          </a:xfrm>
          <a:custGeom>
            <a:avLst/>
            <a:gdLst/>
            <a:ahLst/>
            <a:cxnLst/>
            <a:rect l="l" t="t" r="r" b="b"/>
            <a:pathLst>
              <a:path w="441339" h="441339">
                <a:moveTo>
                  <a:pt x="0" y="0"/>
                </a:moveTo>
                <a:lnTo>
                  <a:pt x="441339" y="0"/>
                </a:lnTo>
                <a:lnTo>
                  <a:pt x="441339" y="441339"/>
                </a:lnTo>
                <a:lnTo>
                  <a:pt x="0" y="441339"/>
                </a:lnTo>
                <a:lnTo>
                  <a:pt x="0" y="0"/>
                </a:lnTo>
                <a:close/>
              </a:path>
            </a:pathLst>
          </a:custGeom>
          <a:solidFill>
            <a:srgbClr val="DDFF00"/>
          </a:solidFill>
          <a:ln/>
        </p:spPr>
      </p:sp>
      <p:sp>
        <p:nvSpPr>
          <p:cNvPr id="39" name="Shape 36"/>
          <p:cNvSpPr/>
          <p:nvPr/>
        </p:nvSpPr>
        <p:spPr>
          <a:xfrm>
            <a:off x="7464957" y="5112181"/>
            <a:ext cx="220670" cy="220670"/>
          </a:xfrm>
          <a:custGeom>
            <a:avLst/>
            <a:gdLst/>
            <a:ahLst/>
            <a:cxnLst/>
            <a:rect l="l" t="t" r="r" b="b"/>
            <a:pathLst>
              <a:path w="220670" h="220670">
                <a:moveTo>
                  <a:pt x="0" y="55167"/>
                </a:moveTo>
                <a:lnTo>
                  <a:pt x="0" y="68959"/>
                </a:lnTo>
                <a:lnTo>
                  <a:pt x="220670" y="68959"/>
                </a:lnTo>
                <a:lnTo>
                  <a:pt x="220670" y="55167"/>
                </a:lnTo>
                <a:cubicBezTo>
                  <a:pt x="220670" y="39953"/>
                  <a:pt x="208300" y="27584"/>
                  <a:pt x="193086" y="27584"/>
                </a:cubicBezTo>
                <a:lnTo>
                  <a:pt x="27584" y="27584"/>
                </a:lnTo>
                <a:cubicBezTo>
                  <a:pt x="12370" y="27584"/>
                  <a:pt x="0" y="39953"/>
                  <a:pt x="0" y="55167"/>
                </a:cubicBezTo>
                <a:close/>
                <a:moveTo>
                  <a:pt x="0" y="89647"/>
                </a:moveTo>
                <a:lnTo>
                  <a:pt x="0" y="165502"/>
                </a:lnTo>
                <a:cubicBezTo>
                  <a:pt x="0" y="180716"/>
                  <a:pt x="12370" y="193086"/>
                  <a:pt x="27584" y="193086"/>
                </a:cubicBezTo>
                <a:lnTo>
                  <a:pt x="193086" y="193086"/>
                </a:lnTo>
                <a:cubicBezTo>
                  <a:pt x="208300" y="193086"/>
                  <a:pt x="220670" y="180716"/>
                  <a:pt x="220670" y="165502"/>
                </a:cubicBezTo>
                <a:lnTo>
                  <a:pt x="220670" y="89647"/>
                </a:lnTo>
                <a:lnTo>
                  <a:pt x="0" y="89647"/>
                </a:lnTo>
                <a:close/>
                <a:moveTo>
                  <a:pt x="27584" y="155158"/>
                </a:moveTo>
                <a:cubicBezTo>
                  <a:pt x="27584" y="149426"/>
                  <a:pt x="32195" y="144814"/>
                  <a:pt x="37928" y="144814"/>
                </a:cubicBezTo>
                <a:lnTo>
                  <a:pt x="58615" y="144814"/>
                </a:lnTo>
                <a:cubicBezTo>
                  <a:pt x="64348" y="144814"/>
                  <a:pt x="68959" y="149426"/>
                  <a:pt x="68959" y="155158"/>
                </a:cubicBezTo>
                <a:cubicBezTo>
                  <a:pt x="68959" y="160891"/>
                  <a:pt x="64348" y="165502"/>
                  <a:pt x="58615" y="165502"/>
                </a:cubicBezTo>
                <a:lnTo>
                  <a:pt x="37928" y="165502"/>
                </a:lnTo>
                <a:cubicBezTo>
                  <a:pt x="32195" y="165502"/>
                  <a:pt x="27584" y="160891"/>
                  <a:pt x="27584" y="155158"/>
                </a:cubicBezTo>
                <a:close/>
                <a:moveTo>
                  <a:pt x="89647" y="155158"/>
                </a:moveTo>
                <a:cubicBezTo>
                  <a:pt x="89647" y="149426"/>
                  <a:pt x="94259" y="144814"/>
                  <a:pt x="99991" y="144814"/>
                </a:cubicBezTo>
                <a:lnTo>
                  <a:pt x="127575" y="144814"/>
                </a:lnTo>
                <a:cubicBezTo>
                  <a:pt x="133307" y="144814"/>
                  <a:pt x="137919" y="149426"/>
                  <a:pt x="137919" y="155158"/>
                </a:cubicBezTo>
                <a:cubicBezTo>
                  <a:pt x="137919" y="160891"/>
                  <a:pt x="133307" y="165502"/>
                  <a:pt x="127575" y="165502"/>
                </a:cubicBezTo>
                <a:lnTo>
                  <a:pt x="99991" y="165502"/>
                </a:lnTo>
                <a:cubicBezTo>
                  <a:pt x="94259" y="165502"/>
                  <a:pt x="89647" y="160891"/>
                  <a:pt x="89647" y="155158"/>
                </a:cubicBezTo>
                <a:close/>
              </a:path>
            </a:pathLst>
          </a:custGeom>
          <a:solidFill>
            <a:srgbClr val="000000"/>
          </a:solidFill>
          <a:ln/>
        </p:spPr>
      </p:sp>
      <p:sp>
        <p:nvSpPr>
          <p:cNvPr id="40" name="Text 37"/>
          <p:cNvSpPr/>
          <p:nvPr/>
        </p:nvSpPr>
        <p:spPr>
          <a:xfrm>
            <a:off x="6726748" y="5516742"/>
            <a:ext cx="1700995" cy="257448"/>
          </a:xfrm>
          <a:prstGeom prst="rect">
            <a:avLst/>
          </a:prstGeom>
          <a:noFill/>
          <a:ln/>
        </p:spPr>
        <p:txBody>
          <a:bodyPr wrap="square" lIns="0" tIns="0" rIns="0" bIns="0" rtlCol="0" anchor="ctr"/>
          <a:lstStyle/>
          <a:p>
            <a:pPr algn="ctr">
              <a:lnSpc>
                <a:spcPct val="130000"/>
              </a:lnSpc>
            </a:pPr>
            <a:r>
              <a:rPr lang="en-US" sz="1303" b="1" dirty="0">
                <a:solidFill>
                  <a:srgbClr val="FFFFFF"/>
                </a:solidFill>
                <a:latin typeface="Liter" pitchFamily="34" charset="0"/>
                <a:ea typeface="Liter" pitchFamily="34" charset="-122"/>
                <a:cs typeface="Liter" pitchFamily="34" charset="-120"/>
              </a:rPr>
              <a:t>Easy Digital Payments</a:t>
            </a:r>
            <a:endParaRPr lang="en-US" sz="1600" dirty="0"/>
          </a:p>
        </p:txBody>
      </p:sp>
      <p:sp>
        <p:nvSpPr>
          <p:cNvPr id="41" name="Text 38"/>
          <p:cNvSpPr/>
          <p:nvPr/>
        </p:nvSpPr>
        <p:spPr>
          <a:xfrm>
            <a:off x="6618482" y="5810968"/>
            <a:ext cx="1912471" cy="183891"/>
          </a:xfrm>
          <a:prstGeom prst="rect">
            <a:avLst/>
          </a:prstGeom>
          <a:noFill/>
          <a:ln/>
        </p:spPr>
        <p:txBody>
          <a:bodyPr wrap="square" lIns="0" tIns="0" rIns="0" bIns="0" rtlCol="0" anchor="ctr"/>
          <a:lstStyle/>
          <a:p>
            <a:pPr algn="ctr">
              <a:lnSpc>
                <a:spcPct val="120000"/>
              </a:lnSpc>
            </a:pPr>
            <a:r>
              <a:rPr lang="en-US" sz="1014" dirty="0">
                <a:solidFill>
                  <a:srgbClr val="FFFFFF">
                    <a:alpha val="70000"/>
                  </a:srgbClr>
                </a:solidFill>
                <a:latin typeface="Liter" pitchFamily="34" charset="0"/>
                <a:ea typeface="Liter" pitchFamily="34" charset="-122"/>
                <a:cs typeface="Liter" pitchFamily="34" charset="-120"/>
              </a:rPr>
              <a:t>Multiple secure payment options</a:t>
            </a:r>
            <a:endParaRPr lang="en-US" sz="1600" dirty="0"/>
          </a:p>
        </p:txBody>
      </p:sp>
      <p:sp>
        <p:nvSpPr>
          <p:cNvPr id="42" name="Shape 39"/>
          <p:cNvSpPr/>
          <p:nvPr/>
        </p:nvSpPr>
        <p:spPr>
          <a:xfrm>
            <a:off x="9097683" y="4847376"/>
            <a:ext cx="2717915" cy="1301951"/>
          </a:xfrm>
          <a:custGeom>
            <a:avLst/>
            <a:gdLst/>
            <a:ahLst/>
            <a:cxnLst/>
            <a:rect l="l" t="t" r="r" b="b"/>
            <a:pathLst>
              <a:path w="2717915" h="1301951">
                <a:moveTo>
                  <a:pt x="0" y="0"/>
                </a:moveTo>
                <a:lnTo>
                  <a:pt x="2717915" y="0"/>
                </a:lnTo>
                <a:lnTo>
                  <a:pt x="2717915" y="1301951"/>
                </a:lnTo>
                <a:lnTo>
                  <a:pt x="0" y="1301951"/>
                </a:lnTo>
                <a:lnTo>
                  <a:pt x="0" y="0"/>
                </a:lnTo>
                <a:close/>
              </a:path>
            </a:pathLst>
          </a:custGeom>
          <a:solidFill>
            <a:srgbClr val="111111">
              <a:alpha val="90196"/>
            </a:srgbClr>
          </a:solidFill>
          <a:ln w="20320">
            <a:solidFill>
              <a:srgbClr val="DDFF00"/>
            </a:solidFill>
            <a:prstDash val="solid"/>
          </a:ln>
        </p:spPr>
      </p:sp>
      <p:sp>
        <p:nvSpPr>
          <p:cNvPr id="43" name="Shape 40"/>
          <p:cNvSpPr/>
          <p:nvPr/>
        </p:nvSpPr>
        <p:spPr>
          <a:xfrm>
            <a:off x="10237579" y="5001846"/>
            <a:ext cx="441339" cy="441339"/>
          </a:xfrm>
          <a:custGeom>
            <a:avLst/>
            <a:gdLst/>
            <a:ahLst/>
            <a:cxnLst/>
            <a:rect l="l" t="t" r="r" b="b"/>
            <a:pathLst>
              <a:path w="441339" h="441339">
                <a:moveTo>
                  <a:pt x="0" y="0"/>
                </a:moveTo>
                <a:lnTo>
                  <a:pt x="441339" y="0"/>
                </a:lnTo>
                <a:lnTo>
                  <a:pt x="441339" y="441339"/>
                </a:lnTo>
                <a:lnTo>
                  <a:pt x="0" y="441339"/>
                </a:lnTo>
                <a:lnTo>
                  <a:pt x="0" y="0"/>
                </a:lnTo>
                <a:close/>
              </a:path>
            </a:pathLst>
          </a:custGeom>
          <a:solidFill>
            <a:srgbClr val="DDFF00"/>
          </a:solidFill>
          <a:ln/>
        </p:spPr>
      </p:sp>
      <p:sp>
        <p:nvSpPr>
          <p:cNvPr id="44" name="Shape 41"/>
          <p:cNvSpPr/>
          <p:nvPr/>
        </p:nvSpPr>
        <p:spPr>
          <a:xfrm>
            <a:off x="10347914" y="5112181"/>
            <a:ext cx="220670" cy="220670"/>
          </a:xfrm>
          <a:custGeom>
            <a:avLst/>
            <a:gdLst/>
            <a:ahLst/>
            <a:cxnLst/>
            <a:rect l="l" t="t" r="r" b="b"/>
            <a:pathLst>
              <a:path w="220670" h="220670">
                <a:moveTo>
                  <a:pt x="27584" y="27584"/>
                </a:moveTo>
                <a:cubicBezTo>
                  <a:pt x="27584" y="19955"/>
                  <a:pt x="21420" y="13792"/>
                  <a:pt x="13792" y="13792"/>
                </a:cubicBezTo>
                <a:cubicBezTo>
                  <a:pt x="6163" y="13792"/>
                  <a:pt x="0" y="19955"/>
                  <a:pt x="0" y="27584"/>
                </a:cubicBezTo>
                <a:lnTo>
                  <a:pt x="0" y="172398"/>
                </a:lnTo>
                <a:cubicBezTo>
                  <a:pt x="0" y="191448"/>
                  <a:pt x="15430" y="206878"/>
                  <a:pt x="34480" y="206878"/>
                </a:cubicBezTo>
                <a:lnTo>
                  <a:pt x="206878" y="206878"/>
                </a:lnTo>
                <a:cubicBezTo>
                  <a:pt x="214506" y="206878"/>
                  <a:pt x="220670" y="200715"/>
                  <a:pt x="220670" y="193086"/>
                </a:cubicBezTo>
                <a:cubicBezTo>
                  <a:pt x="220670" y="185457"/>
                  <a:pt x="214506" y="179294"/>
                  <a:pt x="206878" y="179294"/>
                </a:cubicBezTo>
                <a:lnTo>
                  <a:pt x="34480" y="179294"/>
                </a:lnTo>
                <a:cubicBezTo>
                  <a:pt x="30687" y="179294"/>
                  <a:pt x="27584" y="176191"/>
                  <a:pt x="27584" y="172398"/>
                </a:cubicBezTo>
                <a:lnTo>
                  <a:pt x="27584" y="27584"/>
                </a:lnTo>
                <a:close/>
                <a:moveTo>
                  <a:pt x="202826" y="64908"/>
                </a:moveTo>
                <a:cubicBezTo>
                  <a:pt x="208214" y="59520"/>
                  <a:pt x="208214" y="50771"/>
                  <a:pt x="202826" y="45384"/>
                </a:cubicBezTo>
                <a:cubicBezTo>
                  <a:pt x="197439" y="39996"/>
                  <a:pt x="188690" y="39996"/>
                  <a:pt x="183302" y="45384"/>
                </a:cubicBezTo>
                <a:lnTo>
                  <a:pt x="137919" y="90811"/>
                </a:lnTo>
                <a:lnTo>
                  <a:pt x="113179" y="66115"/>
                </a:lnTo>
                <a:cubicBezTo>
                  <a:pt x="107792" y="60727"/>
                  <a:pt x="99043" y="60727"/>
                  <a:pt x="93655" y="66115"/>
                </a:cubicBezTo>
                <a:lnTo>
                  <a:pt x="52280" y="107490"/>
                </a:lnTo>
                <a:cubicBezTo>
                  <a:pt x="46892" y="112878"/>
                  <a:pt x="46892" y="121627"/>
                  <a:pt x="52280" y="127014"/>
                </a:cubicBezTo>
                <a:cubicBezTo>
                  <a:pt x="57667" y="132402"/>
                  <a:pt x="66416" y="132402"/>
                  <a:pt x="71804" y="127014"/>
                </a:cubicBezTo>
                <a:lnTo>
                  <a:pt x="103439" y="95379"/>
                </a:lnTo>
                <a:lnTo>
                  <a:pt x="128178" y="120118"/>
                </a:lnTo>
                <a:cubicBezTo>
                  <a:pt x="133565" y="125506"/>
                  <a:pt x="142315" y="125506"/>
                  <a:pt x="147702" y="120118"/>
                </a:cubicBezTo>
                <a:lnTo>
                  <a:pt x="202870" y="64951"/>
                </a:lnTo>
                <a:close/>
              </a:path>
            </a:pathLst>
          </a:custGeom>
          <a:solidFill>
            <a:srgbClr val="000000"/>
          </a:solidFill>
          <a:ln/>
        </p:spPr>
      </p:sp>
      <p:sp>
        <p:nvSpPr>
          <p:cNvPr id="45" name="Text 42"/>
          <p:cNvSpPr/>
          <p:nvPr/>
        </p:nvSpPr>
        <p:spPr>
          <a:xfrm>
            <a:off x="9651081" y="5516742"/>
            <a:ext cx="1618244" cy="257448"/>
          </a:xfrm>
          <a:prstGeom prst="rect">
            <a:avLst/>
          </a:prstGeom>
          <a:noFill/>
          <a:ln/>
        </p:spPr>
        <p:txBody>
          <a:bodyPr wrap="square" lIns="0" tIns="0" rIns="0" bIns="0" rtlCol="0" anchor="ctr"/>
          <a:lstStyle/>
          <a:p>
            <a:pPr algn="ctr">
              <a:lnSpc>
                <a:spcPct val="130000"/>
              </a:lnSpc>
            </a:pPr>
            <a:r>
              <a:rPr lang="en-US" sz="1303" b="1" dirty="0">
                <a:solidFill>
                  <a:srgbClr val="FFFFFF"/>
                </a:solidFill>
                <a:latin typeface="Liter" pitchFamily="34" charset="0"/>
                <a:ea typeface="Liter" pitchFamily="34" charset="-122"/>
                <a:cs typeface="Liter" pitchFamily="34" charset="-120"/>
              </a:rPr>
              <a:t>Better Data Analytics</a:t>
            </a:r>
            <a:endParaRPr lang="en-US" sz="1600" dirty="0"/>
          </a:p>
        </p:txBody>
      </p:sp>
      <p:sp>
        <p:nvSpPr>
          <p:cNvPr id="46" name="Text 43"/>
          <p:cNvSpPr/>
          <p:nvPr/>
        </p:nvSpPr>
        <p:spPr>
          <a:xfrm>
            <a:off x="9559710" y="5810968"/>
            <a:ext cx="1792941" cy="183891"/>
          </a:xfrm>
          <a:prstGeom prst="rect">
            <a:avLst/>
          </a:prstGeom>
          <a:noFill/>
          <a:ln/>
        </p:spPr>
        <p:txBody>
          <a:bodyPr wrap="square" lIns="0" tIns="0" rIns="0" bIns="0" rtlCol="0" anchor="ctr"/>
          <a:lstStyle/>
          <a:p>
            <a:pPr algn="ctr">
              <a:lnSpc>
                <a:spcPct val="120000"/>
              </a:lnSpc>
            </a:pPr>
            <a:r>
              <a:rPr lang="en-US" sz="1014" dirty="0">
                <a:solidFill>
                  <a:srgbClr val="FFFFFF">
                    <a:alpha val="70000"/>
                  </a:srgbClr>
                </a:solidFill>
                <a:latin typeface="Liter" pitchFamily="34" charset="0"/>
                <a:ea typeface="Liter" pitchFamily="34" charset="-122"/>
                <a:cs typeface="Liter" pitchFamily="34" charset="-120"/>
              </a:rPr>
              <a:t>Insights for business decisions</a:t>
            </a:r>
            <a:endParaRPr lang="en-US" sz="1600" dirty="0"/>
          </a:p>
        </p:txBody>
      </p:sp>
      <p:sp>
        <p:nvSpPr>
          <p:cNvPr id="47" name="Shape 44"/>
          <p:cNvSpPr/>
          <p:nvPr/>
        </p:nvSpPr>
        <p:spPr>
          <a:xfrm>
            <a:off x="367783" y="6303803"/>
            <a:ext cx="11456434" cy="551674"/>
          </a:xfrm>
          <a:custGeom>
            <a:avLst/>
            <a:gdLst/>
            <a:ahLst/>
            <a:cxnLst/>
            <a:rect l="l" t="t" r="r" b="b"/>
            <a:pathLst>
              <a:path w="11456434" h="551674">
                <a:moveTo>
                  <a:pt x="0" y="0"/>
                </a:moveTo>
                <a:lnTo>
                  <a:pt x="11456434" y="0"/>
                </a:lnTo>
                <a:lnTo>
                  <a:pt x="11456434" y="551674"/>
                </a:lnTo>
                <a:lnTo>
                  <a:pt x="0" y="551674"/>
                </a:lnTo>
                <a:lnTo>
                  <a:pt x="0" y="0"/>
                </a:lnTo>
                <a:close/>
              </a:path>
            </a:pathLst>
          </a:custGeom>
          <a:solidFill>
            <a:srgbClr val="DDFF00"/>
          </a:solidFill>
          <a:ln/>
        </p:spPr>
      </p:sp>
      <p:sp>
        <p:nvSpPr>
          <p:cNvPr id="48" name="Shape 45"/>
          <p:cNvSpPr/>
          <p:nvPr/>
        </p:nvSpPr>
        <p:spPr>
          <a:xfrm>
            <a:off x="1788114" y="6469305"/>
            <a:ext cx="220670" cy="220670"/>
          </a:xfrm>
          <a:custGeom>
            <a:avLst/>
            <a:gdLst/>
            <a:ahLst/>
            <a:cxnLst/>
            <a:rect l="l" t="t" r="r" b="b"/>
            <a:pathLst>
              <a:path w="220670" h="220670">
                <a:moveTo>
                  <a:pt x="62193" y="0"/>
                </a:moveTo>
                <a:lnTo>
                  <a:pt x="158736" y="0"/>
                </a:lnTo>
                <a:cubicBezTo>
                  <a:pt x="170157" y="0"/>
                  <a:pt x="179467" y="9396"/>
                  <a:pt x="179036" y="20774"/>
                </a:cubicBezTo>
                <a:cubicBezTo>
                  <a:pt x="178949" y="23058"/>
                  <a:pt x="178863" y="25343"/>
                  <a:pt x="178734" y="27584"/>
                </a:cubicBezTo>
                <a:lnTo>
                  <a:pt x="200111" y="27584"/>
                </a:lnTo>
                <a:cubicBezTo>
                  <a:pt x="211360" y="27584"/>
                  <a:pt x="221273" y="36893"/>
                  <a:pt x="220411" y="49047"/>
                </a:cubicBezTo>
                <a:cubicBezTo>
                  <a:pt x="217179" y="93742"/>
                  <a:pt x="194336" y="118308"/>
                  <a:pt x="169554" y="131152"/>
                </a:cubicBezTo>
                <a:cubicBezTo>
                  <a:pt x="162744" y="134686"/>
                  <a:pt x="155805" y="137315"/>
                  <a:pt x="149211" y="139255"/>
                </a:cubicBezTo>
                <a:cubicBezTo>
                  <a:pt x="140505" y="151581"/>
                  <a:pt x="131454" y="158089"/>
                  <a:pt x="124256" y="161580"/>
                </a:cubicBezTo>
                <a:lnTo>
                  <a:pt x="124256" y="193086"/>
                </a:lnTo>
                <a:lnTo>
                  <a:pt x="151840" y="193086"/>
                </a:lnTo>
                <a:cubicBezTo>
                  <a:pt x="159468" y="193086"/>
                  <a:pt x="165632" y="199249"/>
                  <a:pt x="165632" y="206878"/>
                </a:cubicBezTo>
                <a:cubicBezTo>
                  <a:pt x="165632" y="214506"/>
                  <a:pt x="159468" y="220670"/>
                  <a:pt x="151840" y="220670"/>
                </a:cubicBezTo>
                <a:lnTo>
                  <a:pt x="69089" y="220670"/>
                </a:lnTo>
                <a:cubicBezTo>
                  <a:pt x="61460" y="220670"/>
                  <a:pt x="55297" y="214506"/>
                  <a:pt x="55297" y="206878"/>
                </a:cubicBezTo>
                <a:cubicBezTo>
                  <a:pt x="55297" y="199249"/>
                  <a:pt x="61460" y="193086"/>
                  <a:pt x="69089" y="193086"/>
                </a:cubicBezTo>
                <a:lnTo>
                  <a:pt x="96672" y="193086"/>
                </a:lnTo>
                <a:lnTo>
                  <a:pt x="96672" y="161580"/>
                </a:lnTo>
                <a:cubicBezTo>
                  <a:pt x="89776" y="158262"/>
                  <a:pt x="81200" y="152098"/>
                  <a:pt x="72838" y="140763"/>
                </a:cubicBezTo>
                <a:cubicBezTo>
                  <a:pt x="64908" y="138694"/>
                  <a:pt x="56288" y="135548"/>
                  <a:pt x="47884" y="130807"/>
                </a:cubicBezTo>
                <a:cubicBezTo>
                  <a:pt x="24567" y="117748"/>
                  <a:pt x="3534" y="93138"/>
                  <a:pt x="517" y="48961"/>
                </a:cubicBezTo>
                <a:cubicBezTo>
                  <a:pt x="-302" y="36850"/>
                  <a:pt x="9568" y="27541"/>
                  <a:pt x="20817" y="27541"/>
                </a:cubicBezTo>
                <a:lnTo>
                  <a:pt x="42194" y="27541"/>
                </a:lnTo>
                <a:cubicBezTo>
                  <a:pt x="42065" y="25299"/>
                  <a:pt x="41979" y="23058"/>
                  <a:pt x="41893" y="20731"/>
                </a:cubicBezTo>
                <a:cubicBezTo>
                  <a:pt x="41462" y="9310"/>
                  <a:pt x="50771" y="-43"/>
                  <a:pt x="62193" y="-43"/>
                </a:cubicBezTo>
                <a:close/>
                <a:moveTo>
                  <a:pt x="43746" y="48271"/>
                </a:moveTo>
                <a:lnTo>
                  <a:pt x="21162" y="48271"/>
                </a:lnTo>
                <a:cubicBezTo>
                  <a:pt x="23834" y="84777"/>
                  <a:pt x="40600" y="103051"/>
                  <a:pt x="57883" y="112748"/>
                </a:cubicBezTo>
                <a:cubicBezTo>
                  <a:pt x="51676" y="96672"/>
                  <a:pt x="46548" y="75683"/>
                  <a:pt x="43746" y="48271"/>
                </a:cubicBezTo>
                <a:close/>
                <a:moveTo>
                  <a:pt x="163778" y="110680"/>
                </a:moveTo>
                <a:cubicBezTo>
                  <a:pt x="181234" y="100422"/>
                  <a:pt x="197008" y="82191"/>
                  <a:pt x="199680" y="48271"/>
                </a:cubicBezTo>
                <a:lnTo>
                  <a:pt x="177139" y="48271"/>
                </a:lnTo>
                <a:cubicBezTo>
                  <a:pt x="174467" y="74519"/>
                  <a:pt x="169640" y="94905"/>
                  <a:pt x="163778" y="110680"/>
                </a:cubicBezTo>
                <a:close/>
              </a:path>
            </a:pathLst>
          </a:custGeom>
          <a:solidFill>
            <a:srgbClr val="000000"/>
          </a:solidFill>
          <a:ln/>
        </p:spPr>
      </p:sp>
      <p:sp>
        <p:nvSpPr>
          <p:cNvPr id="49" name="Text 46"/>
          <p:cNvSpPr/>
          <p:nvPr/>
        </p:nvSpPr>
        <p:spPr>
          <a:xfrm>
            <a:off x="2183481" y="6450916"/>
            <a:ext cx="8330281" cy="257448"/>
          </a:xfrm>
          <a:prstGeom prst="rect">
            <a:avLst/>
          </a:prstGeom>
          <a:noFill/>
          <a:ln/>
        </p:spPr>
        <p:txBody>
          <a:bodyPr wrap="square" lIns="0" tIns="0" rIns="0" bIns="0" rtlCol="0" anchor="ctr"/>
          <a:lstStyle/>
          <a:p>
            <a:pPr>
              <a:lnSpc>
                <a:spcPct val="130000"/>
              </a:lnSpc>
            </a:pPr>
            <a:r>
              <a:rPr lang="en-US" sz="1303" b="1" dirty="0">
                <a:solidFill>
                  <a:srgbClr val="000000"/>
                </a:solidFill>
                <a:latin typeface="Liter" pitchFamily="34" charset="0"/>
                <a:ea typeface="Liter" pitchFamily="34" charset="-122"/>
                <a:cs typeface="Liter" pitchFamily="34" charset="-120"/>
              </a:rPr>
              <a:t>E-commerce has transformed the global economy, creating new opportunities for businesses and consumers alike</a:t>
            </a:r>
            <a:endParaRPr lang="en-US" sz="1600" dirty="0"/>
          </a:p>
        </p:txBody>
      </p:sp>
    </p:spTree>
  </p:cSld>
  <p:clrMapOvr>
    <a:masterClrMapping/>
  </p:clrMapOvr>
  <p:transition>
    <p:fade/>
    <p:spd val="med"/>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81000" y="438150"/>
            <a:ext cx="76200" cy="457200"/>
          </a:xfrm>
          <a:custGeom>
            <a:avLst/>
            <a:gdLst/>
            <a:ahLst/>
            <a:cxnLst/>
            <a:rect l="l" t="t" r="r" b="b"/>
            <a:pathLst>
              <a:path w="76200" h="457200">
                <a:moveTo>
                  <a:pt x="0" y="0"/>
                </a:moveTo>
                <a:lnTo>
                  <a:pt x="76200" y="0"/>
                </a:lnTo>
                <a:lnTo>
                  <a:pt x="76200" y="457200"/>
                </a:lnTo>
                <a:lnTo>
                  <a:pt x="0" y="457200"/>
                </a:lnTo>
                <a:lnTo>
                  <a:pt x="0" y="0"/>
                </a:lnTo>
                <a:close/>
              </a:path>
            </a:pathLst>
          </a:custGeom>
          <a:solidFill>
            <a:srgbClr val="DDFF00"/>
          </a:solidFill>
          <a:ln/>
        </p:spPr>
      </p:sp>
      <p:sp>
        <p:nvSpPr>
          <p:cNvPr id="3" name="Text 1"/>
          <p:cNvSpPr/>
          <p:nvPr/>
        </p:nvSpPr>
        <p:spPr>
          <a:xfrm>
            <a:off x="609600" y="381000"/>
            <a:ext cx="4705350" cy="190500"/>
          </a:xfrm>
          <a:prstGeom prst="rect">
            <a:avLst/>
          </a:prstGeom>
          <a:noFill/>
          <a:ln/>
        </p:spPr>
        <p:txBody>
          <a:bodyPr wrap="square" lIns="0" tIns="0" rIns="0" bIns="0" rtlCol="0" anchor="ctr"/>
          <a:lstStyle/>
          <a:p>
            <a:pPr>
              <a:lnSpc>
                <a:spcPct val="120000"/>
              </a:lnSpc>
            </a:pPr>
            <a:r>
              <a:rPr lang="en-US" sz="1050" b="1" spc="105" kern="0" dirty="0">
                <a:solidFill>
                  <a:srgbClr val="DDFF00"/>
                </a:solidFill>
                <a:latin typeface="Liter" pitchFamily="34" charset="0"/>
                <a:ea typeface="Liter" pitchFamily="34" charset="-122"/>
                <a:cs typeface="Liter" pitchFamily="34" charset="-120"/>
              </a:rPr>
              <a:t>CHAPTER 10</a:t>
            </a:r>
            <a:endParaRPr lang="en-US" sz="1600" dirty="0"/>
          </a:p>
        </p:txBody>
      </p:sp>
      <p:sp>
        <p:nvSpPr>
          <p:cNvPr id="4" name="Text 2"/>
          <p:cNvSpPr/>
          <p:nvPr/>
        </p:nvSpPr>
        <p:spPr>
          <a:xfrm>
            <a:off x="609600" y="571500"/>
            <a:ext cx="4810125" cy="381000"/>
          </a:xfrm>
          <a:prstGeom prst="rect">
            <a:avLst/>
          </a:prstGeom>
          <a:noFill/>
          <a:ln/>
        </p:spPr>
        <p:txBody>
          <a:bodyPr wrap="square" lIns="0" tIns="0" rIns="0" bIns="0" rtlCol="0" anchor="ctr"/>
          <a:lstStyle/>
          <a:p>
            <a:pPr>
              <a:lnSpc>
                <a:spcPct val="90000"/>
              </a:lnSpc>
            </a:pPr>
            <a:r>
              <a:rPr lang="en-US" sz="2700" b="1" dirty="0">
                <a:solidFill>
                  <a:srgbClr val="FFFFFF"/>
                </a:solidFill>
                <a:latin typeface="Liter" pitchFamily="34" charset="0"/>
                <a:ea typeface="Liter" pitchFamily="34" charset="-122"/>
                <a:cs typeface="Liter" pitchFamily="34" charset="-120"/>
              </a:rPr>
              <a:t>Issues Related to E-Commerce</a:t>
            </a:r>
            <a:endParaRPr lang="en-US" sz="1600" dirty="0"/>
          </a:p>
        </p:txBody>
      </p:sp>
      <p:sp>
        <p:nvSpPr>
          <p:cNvPr id="5" name="Shape 3"/>
          <p:cNvSpPr/>
          <p:nvPr/>
        </p:nvSpPr>
        <p:spPr>
          <a:xfrm>
            <a:off x="400050" y="1181100"/>
            <a:ext cx="2724150" cy="2895600"/>
          </a:xfrm>
          <a:custGeom>
            <a:avLst/>
            <a:gdLst/>
            <a:ahLst/>
            <a:cxnLst/>
            <a:rect l="l" t="t" r="r" b="b"/>
            <a:pathLst>
              <a:path w="2724150" h="2895600">
                <a:moveTo>
                  <a:pt x="0" y="0"/>
                </a:moveTo>
                <a:lnTo>
                  <a:pt x="2724150" y="0"/>
                </a:lnTo>
                <a:lnTo>
                  <a:pt x="2724150" y="2895600"/>
                </a:lnTo>
                <a:lnTo>
                  <a:pt x="0" y="2895600"/>
                </a:lnTo>
                <a:lnTo>
                  <a:pt x="0" y="0"/>
                </a:lnTo>
                <a:close/>
              </a:path>
            </a:pathLst>
          </a:custGeom>
          <a:solidFill>
            <a:srgbClr val="111111"/>
          </a:solidFill>
          <a:ln/>
        </p:spPr>
      </p:sp>
      <p:sp>
        <p:nvSpPr>
          <p:cNvPr id="6" name="Shape 4"/>
          <p:cNvSpPr/>
          <p:nvPr/>
        </p:nvSpPr>
        <p:spPr>
          <a:xfrm>
            <a:off x="400050" y="1181100"/>
            <a:ext cx="38100" cy="2895600"/>
          </a:xfrm>
          <a:custGeom>
            <a:avLst/>
            <a:gdLst/>
            <a:ahLst/>
            <a:cxnLst/>
            <a:rect l="l" t="t" r="r" b="b"/>
            <a:pathLst>
              <a:path w="38100" h="2895600">
                <a:moveTo>
                  <a:pt x="0" y="0"/>
                </a:moveTo>
                <a:lnTo>
                  <a:pt x="38100" y="0"/>
                </a:lnTo>
                <a:lnTo>
                  <a:pt x="38100" y="2895600"/>
                </a:lnTo>
                <a:lnTo>
                  <a:pt x="0" y="2895600"/>
                </a:lnTo>
                <a:lnTo>
                  <a:pt x="0" y="0"/>
                </a:lnTo>
                <a:close/>
              </a:path>
            </a:pathLst>
          </a:custGeom>
          <a:solidFill>
            <a:srgbClr val="DDFF00"/>
          </a:solidFill>
          <a:ln/>
        </p:spPr>
      </p:sp>
      <p:sp>
        <p:nvSpPr>
          <p:cNvPr id="7" name="Shape 5"/>
          <p:cNvSpPr/>
          <p:nvPr/>
        </p:nvSpPr>
        <p:spPr>
          <a:xfrm>
            <a:off x="571500" y="1333500"/>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solidFill>
            <a:srgbClr val="DDFF00"/>
          </a:solidFill>
          <a:ln/>
        </p:spPr>
      </p:sp>
      <p:sp>
        <p:nvSpPr>
          <p:cNvPr id="8" name="Shape 6"/>
          <p:cNvSpPr/>
          <p:nvPr/>
        </p:nvSpPr>
        <p:spPr>
          <a:xfrm>
            <a:off x="704850" y="1466850"/>
            <a:ext cx="190500" cy="190500"/>
          </a:xfrm>
          <a:custGeom>
            <a:avLst/>
            <a:gdLst/>
            <a:ahLst/>
            <a:cxnLst/>
            <a:rect l="l" t="t" r="r" b="b"/>
            <a:pathLst>
              <a:path w="190500" h="190500">
                <a:moveTo>
                  <a:pt x="94283" y="1079"/>
                </a:moveTo>
                <a:cubicBezTo>
                  <a:pt x="92720" y="372"/>
                  <a:pt x="91046" y="0"/>
                  <a:pt x="89297" y="0"/>
                </a:cubicBezTo>
                <a:cubicBezTo>
                  <a:pt x="87548" y="0"/>
                  <a:pt x="85874" y="372"/>
                  <a:pt x="84311" y="1079"/>
                </a:cubicBezTo>
                <a:lnTo>
                  <a:pt x="14250" y="30807"/>
                </a:lnTo>
                <a:cubicBezTo>
                  <a:pt x="6065" y="34268"/>
                  <a:pt x="-37" y="42342"/>
                  <a:pt x="0" y="52090"/>
                </a:cubicBezTo>
                <a:cubicBezTo>
                  <a:pt x="186" y="88999"/>
                  <a:pt x="15367" y="156530"/>
                  <a:pt x="79474" y="187226"/>
                </a:cubicBezTo>
                <a:cubicBezTo>
                  <a:pt x="85688" y="190202"/>
                  <a:pt x="92906" y="190202"/>
                  <a:pt x="99120" y="187226"/>
                </a:cubicBezTo>
                <a:cubicBezTo>
                  <a:pt x="163264" y="156530"/>
                  <a:pt x="178445" y="88999"/>
                  <a:pt x="178594" y="52090"/>
                </a:cubicBezTo>
                <a:cubicBezTo>
                  <a:pt x="178631" y="42342"/>
                  <a:pt x="172529" y="34268"/>
                  <a:pt x="164343" y="30807"/>
                </a:cubicBezTo>
                <a:lnTo>
                  <a:pt x="94283" y="1079"/>
                </a:lnTo>
                <a:close/>
                <a:moveTo>
                  <a:pt x="89297" y="47625"/>
                </a:moveTo>
                <a:cubicBezTo>
                  <a:pt x="94245" y="47625"/>
                  <a:pt x="98227" y="51606"/>
                  <a:pt x="98227" y="56555"/>
                </a:cubicBezTo>
                <a:cubicBezTo>
                  <a:pt x="98227" y="65075"/>
                  <a:pt x="108533" y="69354"/>
                  <a:pt x="114560" y="63326"/>
                </a:cubicBezTo>
                <a:cubicBezTo>
                  <a:pt x="118058" y="59829"/>
                  <a:pt x="123713" y="59829"/>
                  <a:pt x="127174" y="63326"/>
                </a:cubicBezTo>
                <a:cubicBezTo>
                  <a:pt x="130634" y="66824"/>
                  <a:pt x="130671" y="72479"/>
                  <a:pt x="127174" y="75940"/>
                </a:cubicBezTo>
                <a:cubicBezTo>
                  <a:pt x="121146" y="81967"/>
                  <a:pt x="125425" y="92273"/>
                  <a:pt x="133945" y="92273"/>
                </a:cubicBezTo>
                <a:cubicBezTo>
                  <a:pt x="138894" y="92273"/>
                  <a:pt x="142875" y="96255"/>
                  <a:pt x="142875" y="101203"/>
                </a:cubicBezTo>
                <a:cubicBezTo>
                  <a:pt x="142875" y="106152"/>
                  <a:pt x="138894" y="110133"/>
                  <a:pt x="133945" y="110133"/>
                </a:cubicBezTo>
                <a:cubicBezTo>
                  <a:pt x="125425" y="110133"/>
                  <a:pt x="121146" y="120439"/>
                  <a:pt x="127174" y="126467"/>
                </a:cubicBezTo>
                <a:cubicBezTo>
                  <a:pt x="130671" y="129964"/>
                  <a:pt x="130671" y="135620"/>
                  <a:pt x="127174" y="139080"/>
                </a:cubicBezTo>
                <a:cubicBezTo>
                  <a:pt x="123676" y="142540"/>
                  <a:pt x="118021" y="142577"/>
                  <a:pt x="114560" y="139080"/>
                </a:cubicBezTo>
                <a:cubicBezTo>
                  <a:pt x="108533" y="133052"/>
                  <a:pt x="98227" y="137331"/>
                  <a:pt x="98227" y="145852"/>
                </a:cubicBezTo>
                <a:cubicBezTo>
                  <a:pt x="98227" y="150800"/>
                  <a:pt x="94245" y="154781"/>
                  <a:pt x="89297" y="154781"/>
                </a:cubicBezTo>
                <a:cubicBezTo>
                  <a:pt x="84348" y="154781"/>
                  <a:pt x="80367" y="150800"/>
                  <a:pt x="80367" y="145852"/>
                </a:cubicBezTo>
                <a:cubicBezTo>
                  <a:pt x="80367" y="137331"/>
                  <a:pt x="70061" y="133052"/>
                  <a:pt x="64033" y="139080"/>
                </a:cubicBezTo>
                <a:cubicBezTo>
                  <a:pt x="60536" y="142577"/>
                  <a:pt x="54880" y="142577"/>
                  <a:pt x="51420" y="139080"/>
                </a:cubicBezTo>
                <a:cubicBezTo>
                  <a:pt x="47960" y="135582"/>
                  <a:pt x="47923" y="129927"/>
                  <a:pt x="51420" y="126467"/>
                </a:cubicBezTo>
                <a:cubicBezTo>
                  <a:pt x="57448" y="120439"/>
                  <a:pt x="53169" y="110133"/>
                  <a:pt x="44648" y="110133"/>
                </a:cubicBezTo>
                <a:cubicBezTo>
                  <a:pt x="39700" y="110133"/>
                  <a:pt x="35719" y="106152"/>
                  <a:pt x="35719" y="101203"/>
                </a:cubicBezTo>
                <a:cubicBezTo>
                  <a:pt x="35719" y="96255"/>
                  <a:pt x="39700" y="92273"/>
                  <a:pt x="44648" y="92273"/>
                </a:cubicBezTo>
                <a:cubicBezTo>
                  <a:pt x="53169" y="92273"/>
                  <a:pt x="57448" y="81967"/>
                  <a:pt x="51420" y="75940"/>
                </a:cubicBezTo>
                <a:cubicBezTo>
                  <a:pt x="47923" y="72442"/>
                  <a:pt x="47923" y="66787"/>
                  <a:pt x="51420" y="63326"/>
                </a:cubicBezTo>
                <a:cubicBezTo>
                  <a:pt x="54918" y="59866"/>
                  <a:pt x="60573" y="59829"/>
                  <a:pt x="64033" y="63326"/>
                </a:cubicBezTo>
                <a:cubicBezTo>
                  <a:pt x="70061" y="69354"/>
                  <a:pt x="80367" y="65075"/>
                  <a:pt x="80367" y="56555"/>
                </a:cubicBezTo>
                <a:cubicBezTo>
                  <a:pt x="80367" y="51606"/>
                  <a:pt x="84348" y="47625"/>
                  <a:pt x="89297" y="47625"/>
                </a:cubicBezTo>
                <a:close/>
                <a:moveTo>
                  <a:pt x="77391" y="98227"/>
                </a:moveTo>
                <a:cubicBezTo>
                  <a:pt x="82319" y="98227"/>
                  <a:pt x="86320" y="94225"/>
                  <a:pt x="86320" y="89297"/>
                </a:cubicBezTo>
                <a:cubicBezTo>
                  <a:pt x="86320" y="84368"/>
                  <a:pt x="82319" y="80367"/>
                  <a:pt x="77391" y="80367"/>
                </a:cubicBezTo>
                <a:cubicBezTo>
                  <a:pt x="72462" y="80367"/>
                  <a:pt x="68461" y="84368"/>
                  <a:pt x="68461" y="89297"/>
                </a:cubicBezTo>
                <a:cubicBezTo>
                  <a:pt x="68461" y="94225"/>
                  <a:pt x="72462" y="98227"/>
                  <a:pt x="77391" y="98227"/>
                </a:cubicBezTo>
                <a:close/>
                <a:moveTo>
                  <a:pt x="110133" y="113109"/>
                </a:moveTo>
                <a:cubicBezTo>
                  <a:pt x="110133" y="108181"/>
                  <a:pt x="106132" y="104180"/>
                  <a:pt x="101203" y="104180"/>
                </a:cubicBezTo>
                <a:cubicBezTo>
                  <a:pt x="96275" y="104180"/>
                  <a:pt x="92273" y="108181"/>
                  <a:pt x="92273" y="113109"/>
                </a:cubicBezTo>
                <a:cubicBezTo>
                  <a:pt x="92273" y="118038"/>
                  <a:pt x="96275" y="122039"/>
                  <a:pt x="101203" y="122039"/>
                </a:cubicBezTo>
                <a:cubicBezTo>
                  <a:pt x="106132" y="122039"/>
                  <a:pt x="110133" y="118038"/>
                  <a:pt x="110133" y="113109"/>
                </a:cubicBezTo>
                <a:close/>
              </a:path>
            </a:pathLst>
          </a:custGeom>
          <a:solidFill>
            <a:srgbClr val="000000"/>
          </a:solidFill>
          <a:ln/>
        </p:spPr>
      </p:sp>
      <p:sp>
        <p:nvSpPr>
          <p:cNvPr id="9" name="Text 7"/>
          <p:cNvSpPr/>
          <p:nvPr/>
        </p:nvSpPr>
        <p:spPr>
          <a:xfrm>
            <a:off x="1143000" y="1428750"/>
            <a:ext cx="1228725" cy="266700"/>
          </a:xfrm>
          <a:prstGeom prst="rect">
            <a:avLst/>
          </a:prstGeom>
          <a:noFill/>
          <a:ln/>
        </p:spPr>
        <p:txBody>
          <a:bodyPr wrap="square" lIns="0" tIns="0" rIns="0" bIns="0" rtlCol="0" anchor="ctr"/>
          <a:lstStyle/>
          <a:p>
            <a:pPr>
              <a:lnSpc>
                <a:spcPct val="130000"/>
              </a:lnSpc>
            </a:pPr>
            <a:r>
              <a:rPr lang="en-US" sz="1350" b="1" dirty="0">
                <a:solidFill>
                  <a:srgbClr val="FFFFFF"/>
                </a:solidFill>
                <a:latin typeface="Liter" pitchFamily="34" charset="0"/>
                <a:ea typeface="Liter" pitchFamily="34" charset="-122"/>
                <a:cs typeface="Liter" pitchFamily="34" charset="-120"/>
              </a:rPr>
              <a:t>Security Issues</a:t>
            </a:r>
            <a:endParaRPr lang="en-US" sz="1600" dirty="0"/>
          </a:p>
        </p:txBody>
      </p:sp>
      <p:sp>
        <p:nvSpPr>
          <p:cNvPr id="10" name="Text 8"/>
          <p:cNvSpPr/>
          <p:nvPr/>
        </p:nvSpPr>
        <p:spPr>
          <a:xfrm>
            <a:off x="571500" y="1905000"/>
            <a:ext cx="2476500" cy="723900"/>
          </a:xfrm>
          <a:prstGeom prst="rect">
            <a:avLst/>
          </a:prstGeom>
          <a:noFill/>
          <a:ln/>
        </p:spPr>
        <p:txBody>
          <a:bodyPr wrap="square" lIns="0" tIns="0" rIns="0" bIns="0" rtlCol="0" anchor="ctr"/>
          <a:lstStyle/>
          <a:p>
            <a:pPr>
              <a:lnSpc>
                <a:spcPct val="130000"/>
              </a:lnSpc>
            </a:pPr>
            <a:r>
              <a:rPr lang="en-US" sz="1200" dirty="0">
                <a:solidFill>
                  <a:srgbClr val="FFFFFF">
                    <a:alpha val="80000"/>
                  </a:srgbClr>
                </a:solidFill>
                <a:latin typeface="Liter" pitchFamily="34" charset="0"/>
                <a:ea typeface="Liter" pitchFamily="34" charset="-122"/>
                <a:cs typeface="Liter" pitchFamily="34" charset="-120"/>
              </a:rPr>
              <a:t>Cyber attacks targeting e-commerce platforms to steal data or disrupt services.</a:t>
            </a:r>
            <a:endParaRPr lang="en-US" sz="1600" dirty="0"/>
          </a:p>
        </p:txBody>
      </p:sp>
      <p:sp>
        <p:nvSpPr>
          <p:cNvPr id="11" name="Shape 9"/>
          <p:cNvSpPr/>
          <p:nvPr/>
        </p:nvSpPr>
        <p:spPr>
          <a:xfrm>
            <a:off x="571500" y="2743200"/>
            <a:ext cx="2400300" cy="342900"/>
          </a:xfrm>
          <a:custGeom>
            <a:avLst/>
            <a:gdLst/>
            <a:ahLst/>
            <a:cxnLst/>
            <a:rect l="l" t="t" r="r" b="b"/>
            <a:pathLst>
              <a:path w="2400300" h="342900">
                <a:moveTo>
                  <a:pt x="0" y="0"/>
                </a:moveTo>
                <a:lnTo>
                  <a:pt x="2400300" y="0"/>
                </a:lnTo>
                <a:lnTo>
                  <a:pt x="2400300" y="342900"/>
                </a:lnTo>
                <a:lnTo>
                  <a:pt x="0" y="342900"/>
                </a:lnTo>
                <a:lnTo>
                  <a:pt x="0" y="0"/>
                </a:lnTo>
                <a:close/>
              </a:path>
            </a:pathLst>
          </a:custGeom>
          <a:solidFill>
            <a:srgbClr val="000000"/>
          </a:solidFill>
          <a:ln/>
        </p:spPr>
      </p:sp>
      <p:sp>
        <p:nvSpPr>
          <p:cNvPr id="12" name="Shape 10"/>
          <p:cNvSpPr/>
          <p:nvPr/>
        </p:nvSpPr>
        <p:spPr>
          <a:xfrm>
            <a:off x="675084" y="2847975"/>
            <a:ext cx="116681" cy="133350"/>
          </a:xfrm>
          <a:custGeom>
            <a:avLst/>
            <a:gdLst/>
            <a:ahLst/>
            <a:cxnLst/>
            <a:rect l="l" t="t" r="r" b="b"/>
            <a:pathLst>
              <a:path w="116681" h="133350">
                <a:moveTo>
                  <a:pt x="44537" y="-4167"/>
                </a:moveTo>
                <a:cubicBezTo>
                  <a:pt x="35056" y="-4167"/>
                  <a:pt x="29483" y="11017"/>
                  <a:pt x="26748" y="25003"/>
                </a:cubicBezTo>
                <a:lnTo>
                  <a:pt x="18752" y="25003"/>
                </a:lnTo>
                <a:cubicBezTo>
                  <a:pt x="15288" y="25003"/>
                  <a:pt x="12502" y="27790"/>
                  <a:pt x="12502" y="31254"/>
                </a:cubicBezTo>
                <a:cubicBezTo>
                  <a:pt x="12502" y="34718"/>
                  <a:pt x="15288" y="37505"/>
                  <a:pt x="18752" y="37505"/>
                </a:cubicBezTo>
                <a:lnTo>
                  <a:pt x="25003" y="37505"/>
                </a:lnTo>
                <a:lnTo>
                  <a:pt x="25003" y="45839"/>
                </a:lnTo>
                <a:cubicBezTo>
                  <a:pt x="25003" y="50267"/>
                  <a:pt x="25863" y="54486"/>
                  <a:pt x="27425" y="58341"/>
                </a:cubicBezTo>
                <a:lnTo>
                  <a:pt x="25003" y="58341"/>
                </a:lnTo>
                <a:lnTo>
                  <a:pt x="25003" y="58341"/>
                </a:lnTo>
                <a:lnTo>
                  <a:pt x="19664" y="58341"/>
                </a:lnTo>
                <a:cubicBezTo>
                  <a:pt x="15705" y="58341"/>
                  <a:pt x="12502" y="61544"/>
                  <a:pt x="12502" y="65503"/>
                </a:cubicBezTo>
                <a:cubicBezTo>
                  <a:pt x="12502" y="66284"/>
                  <a:pt x="12632" y="67040"/>
                  <a:pt x="12866" y="67769"/>
                </a:cubicBezTo>
                <a:lnTo>
                  <a:pt x="20393" y="90324"/>
                </a:lnTo>
                <a:cubicBezTo>
                  <a:pt x="10470" y="98867"/>
                  <a:pt x="4167" y="111498"/>
                  <a:pt x="4167" y="125615"/>
                </a:cubicBezTo>
                <a:cubicBezTo>
                  <a:pt x="4167" y="129886"/>
                  <a:pt x="7631" y="133350"/>
                  <a:pt x="11903" y="133350"/>
                </a:cubicBezTo>
                <a:lnTo>
                  <a:pt x="104779" y="133350"/>
                </a:lnTo>
                <a:cubicBezTo>
                  <a:pt x="109050" y="133350"/>
                  <a:pt x="112514" y="129886"/>
                  <a:pt x="112514" y="125615"/>
                </a:cubicBezTo>
                <a:cubicBezTo>
                  <a:pt x="112514" y="111498"/>
                  <a:pt x="106211" y="98867"/>
                  <a:pt x="96288" y="90350"/>
                </a:cubicBezTo>
                <a:lnTo>
                  <a:pt x="103815" y="67795"/>
                </a:lnTo>
                <a:cubicBezTo>
                  <a:pt x="104049" y="67066"/>
                  <a:pt x="104180" y="66310"/>
                  <a:pt x="104180" y="65529"/>
                </a:cubicBezTo>
                <a:cubicBezTo>
                  <a:pt x="104180" y="61570"/>
                  <a:pt x="100976" y="58367"/>
                  <a:pt x="97017" y="58367"/>
                </a:cubicBezTo>
                <a:lnTo>
                  <a:pt x="91678" y="58367"/>
                </a:lnTo>
                <a:lnTo>
                  <a:pt x="91678" y="58367"/>
                </a:lnTo>
                <a:lnTo>
                  <a:pt x="89256" y="58367"/>
                </a:lnTo>
                <a:cubicBezTo>
                  <a:pt x="90819" y="54512"/>
                  <a:pt x="91678" y="50293"/>
                  <a:pt x="91678" y="45865"/>
                </a:cubicBezTo>
                <a:lnTo>
                  <a:pt x="91678" y="37531"/>
                </a:lnTo>
                <a:lnTo>
                  <a:pt x="97929" y="37531"/>
                </a:lnTo>
                <a:cubicBezTo>
                  <a:pt x="101393" y="37531"/>
                  <a:pt x="104180" y="34744"/>
                  <a:pt x="104180" y="31280"/>
                </a:cubicBezTo>
                <a:cubicBezTo>
                  <a:pt x="104180" y="27816"/>
                  <a:pt x="101393" y="25029"/>
                  <a:pt x="97929" y="25029"/>
                </a:cubicBezTo>
                <a:lnTo>
                  <a:pt x="89933" y="25029"/>
                </a:lnTo>
                <a:cubicBezTo>
                  <a:pt x="87224" y="11043"/>
                  <a:pt x="81625" y="-4141"/>
                  <a:pt x="72144" y="-4141"/>
                </a:cubicBezTo>
                <a:cubicBezTo>
                  <a:pt x="69644" y="-4141"/>
                  <a:pt x="67196" y="-3125"/>
                  <a:pt x="64982" y="-2005"/>
                </a:cubicBezTo>
                <a:cubicBezTo>
                  <a:pt x="62846" y="-938"/>
                  <a:pt x="60190" y="26"/>
                  <a:pt x="58341" y="26"/>
                </a:cubicBezTo>
                <a:cubicBezTo>
                  <a:pt x="56491" y="26"/>
                  <a:pt x="53835" y="-938"/>
                  <a:pt x="51699" y="-2005"/>
                </a:cubicBezTo>
                <a:cubicBezTo>
                  <a:pt x="49485" y="-3151"/>
                  <a:pt x="47037" y="-4167"/>
                  <a:pt x="44537" y="-4167"/>
                </a:cubicBezTo>
                <a:close/>
                <a:moveTo>
                  <a:pt x="68941" y="121994"/>
                </a:moveTo>
                <a:lnTo>
                  <a:pt x="62482" y="103529"/>
                </a:lnTo>
                <a:lnTo>
                  <a:pt x="69748" y="95064"/>
                </a:lnTo>
                <a:cubicBezTo>
                  <a:pt x="70452" y="94231"/>
                  <a:pt x="70842" y="93189"/>
                  <a:pt x="70842" y="92095"/>
                </a:cubicBezTo>
                <a:cubicBezTo>
                  <a:pt x="70842" y="89568"/>
                  <a:pt x="68811" y="87537"/>
                  <a:pt x="66284" y="87537"/>
                </a:cubicBezTo>
                <a:lnTo>
                  <a:pt x="50397" y="87537"/>
                </a:lnTo>
                <a:cubicBezTo>
                  <a:pt x="47871" y="87537"/>
                  <a:pt x="45839" y="89568"/>
                  <a:pt x="45839" y="92095"/>
                </a:cubicBezTo>
                <a:cubicBezTo>
                  <a:pt x="45839" y="93189"/>
                  <a:pt x="46230" y="94231"/>
                  <a:pt x="46933" y="95064"/>
                </a:cubicBezTo>
                <a:lnTo>
                  <a:pt x="54199" y="103529"/>
                </a:lnTo>
                <a:lnTo>
                  <a:pt x="47740" y="121994"/>
                </a:lnTo>
                <a:lnTo>
                  <a:pt x="32895" y="75009"/>
                </a:lnTo>
                <a:lnTo>
                  <a:pt x="42193" y="75009"/>
                </a:lnTo>
                <a:cubicBezTo>
                  <a:pt x="46985" y="77666"/>
                  <a:pt x="52481" y="79177"/>
                  <a:pt x="58341" y="79177"/>
                </a:cubicBezTo>
                <a:cubicBezTo>
                  <a:pt x="64201" y="79177"/>
                  <a:pt x="69696" y="77666"/>
                  <a:pt x="74488" y="75009"/>
                </a:cubicBezTo>
                <a:lnTo>
                  <a:pt x="83787" y="75009"/>
                </a:lnTo>
                <a:lnTo>
                  <a:pt x="68941" y="121994"/>
                </a:lnTo>
                <a:close/>
                <a:moveTo>
                  <a:pt x="58341" y="66675"/>
                </a:moveTo>
                <a:cubicBezTo>
                  <a:pt x="49303" y="66675"/>
                  <a:pt x="41620" y="60919"/>
                  <a:pt x="38729" y="52871"/>
                </a:cubicBezTo>
                <a:cubicBezTo>
                  <a:pt x="40213" y="53705"/>
                  <a:pt x="41932" y="54173"/>
                  <a:pt x="43755" y="54173"/>
                </a:cubicBezTo>
                <a:lnTo>
                  <a:pt x="46985" y="54173"/>
                </a:lnTo>
                <a:cubicBezTo>
                  <a:pt x="51282" y="54173"/>
                  <a:pt x="55085" y="51413"/>
                  <a:pt x="56439" y="47350"/>
                </a:cubicBezTo>
                <a:cubicBezTo>
                  <a:pt x="57038" y="45527"/>
                  <a:pt x="59617" y="45527"/>
                  <a:pt x="60216" y="47350"/>
                </a:cubicBezTo>
                <a:cubicBezTo>
                  <a:pt x="61570" y="51413"/>
                  <a:pt x="65399" y="54173"/>
                  <a:pt x="69670" y="54173"/>
                </a:cubicBezTo>
                <a:lnTo>
                  <a:pt x="72900" y="54173"/>
                </a:lnTo>
                <a:cubicBezTo>
                  <a:pt x="74723" y="54173"/>
                  <a:pt x="76442" y="53705"/>
                  <a:pt x="77926" y="52871"/>
                </a:cubicBezTo>
                <a:cubicBezTo>
                  <a:pt x="75035" y="60919"/>
                  <a:pt x="67352" y="66675"/>
                  <a:pt x="58315" y="66675"/>
                </a:cubicBezTo>
                <a:close/>
              </a:path>
            </a:pathLst>
          </a:custGeom>
          <a:solidFill>
            <a:srgbClr val="DDFF00"/>
          </a:solidFill>
          <a:ln/>
        </p:spPr>
      </p:sp>
      <p:sp>
        <p:nvSpPr>
          <p:cNvPr id="13" name="Text 11"/>
          <p:cNvSpPr/>
          <p:nvPr/>
        </p:nvSpPr>
        <p:spPr>
          <a:xfrm>
            <a:off x="890588" y="2819400"/>
            <a:ext cx="552450" cy="190500"/>
          </a:xfrm>
          <a:prstGeom prst="rect">
            <a:avLst/>
          </a:prstGeom>
          <a:noFill/>
          <a:ln/>
        </p:spPr>
        <p:txBody>
          <a:bodyPr wrap="square" lIns="0" tIns="0" rIns="0" bIns="0" rtlCol="0" anchor="ctr"/>
          <a:lstStyle/>
          <a:p>
            <a:pPr>
              <a:lnSpc>
                <a:spcPct val="120000"/>
              </a:lnSpc>
            </a:pPr>
            <a:r>
              <a:rPr lang="en-US" sz="1050" dirty="0">
                <a:solidFill>
                  <a:srgbClr val="FFFFFF"/>
                </a:solidFill>
                <a:latin typeface="Liter" pitchFamily="34" charset="0"/>
                <a:ea typeface="Liter" pitchFamily="34" charset="-122"/>
                <a:cs typeface="Liter" pitchFamily="34" charset="-120"/>
              </a:rPr>
              <a:t>Hacking</a:t>
            </a:r>
            <a:endParaRPr lang="en-US" sz="1600" dirty="0"/>
          </a:p>
        </p:txBody>
      </p:sp>
      <p:sp>
        <p:nvSpPr>
          <p:cNvPr id="14" name="Shape 12"/>
          <p:cNvSpPr/>
          <p:nvPr/>
        </p:nvSpPr>
        <p:spPr>
          <a:xfrm>
            <a:off x="571500" y="3162300"/>
            <a:ext cx="2400300" cy="342900"/>
          </a:xfrm>
          <a:custGeom>
            <a:avLst/>
            <a:gdLst/>
            <a:ahLst/>
            <a:cxnLst/>
            <a:rect l="l" t="t" r="r" b="b"/>
            <a:pathLst>
              <a:path w="2400300" h="342900">
                <a:moveTo>
                  <a:pt x="0" y="0"/>
                </a:moveTo>
                <a:lnTo>
                  <a:pt x="2400300" y="0"/>
                </a:lnTo>
                <a:lnTo>
                  <a:pt x="2400300" y="342900"/>
                </a:lnTo>
                <a:lnTo>
                  <a:pt x="0" y="342900"/>
                </a:lnTo>
                <a:lnTo>
                  <a:pt x="0" y="0"/>
                </a:lnTo>
                <a:close/>
              </a:path>
            </a:pathLst>
          </a:custGeom>
          <a:solidFill>
            <a:srgbClr val="000000"/>
          </a:solidFill>
          <a:ln/>
        </p:spPr>
      </p:sp>
      <p:sp>
        <p:nvSpPr>
          <p:cNvPr id="15" name="Shape 13"/>
          <p:cNvSpPr/>
          <p:nvPr/>
        </p:nvSpPr>
        <p:spPr>
          <a:xfrm>
            <a:off x="675084" y="3267075"/>
            <a:ext cx="116681" cy="133350"/>
          </a:xfrm>
          <a:custGeom>
            <a:avLst/>
            <a:gdLst/>
            <a:ahLst/>
            <a:cxnLst/>
            <a:rect l="l" t="t" r="r" b="b"/>
            <a:pathLst>
              <a:path w="116681" h="133350">
                <a:moveTo>
                  <a:pt x="116681" y="53600"/>
                </a:moveTo>
                <a:cubicBezTo>
                  <a:pt x="112827" y="56153"/>
                  <a:pt x="108399" y="58210"/>
                  <a:pt x="103789" y="59851"/>
                </a:cubicBezTo>
                <a:cubicBezTo>
                  <a:pt x="91548" y="64227"/>
                  <a:pt x="75478" y="66675"/>
                  <a:pt x="58341" y="66675"/>
                </a:cubicBezTo>
                <a:cubicBezTo>
                  <a:pt x="41203" y="66675"/>
                  <a:pt x="25107" y="64201"/>
                  <a:pt x="12892" y="59851"/>
                </a:cubicBezTo>
                <a:cubicBezTo>
                  <a:pt x="8308" y="58210"/>
                  <a:pt x="3855" y="56153"/>
                  <a:pt x="0" y="53600"/>
                </a:cubicBezTo>
                <a:lnTo>
                  <a:pt x="0" y="75009"/>
                </a:lnTo>
                <a:cubicBezTo>
                  <a:pt x="0" y="86521"/>
                  <a:pt x="26123" y="95845"/>
                  <a:pt x="58341" y="95845"/>
                </a:cubicBezTo>
                <a:cubicBezTo>
                  <a:pt x="90558" y="95845"/>
                  <a:pt x="116681" y="86521"/>
                  <a:pt x="116681" y="75009"/>
                </a:cubicBezTo>
                <a:lnTo>
                  <a:pt x="116681" y="53600"/>
                </a:lnTo>
                <a:close/>
                <a:moveTo>
                  <a:pt x="116681" y="33337"/>
                </a:moveTo>
                <a:lnTo>
                  <a:pt x="116681" y="20836"/>
                </a:lnTo>
                <a:cubicBezTo>
                  <a:pt x="116681" y="9324"/>
                  <a:pt x="90558" y="0"/>
                  <a:pt x="58341" y="0"/>
                </a:cubicBezTo>
                <a:cubicBezTo>
                  <a:pt x="26123" y="0"/>
                  <a:pt x="0" y="9324"/>
                  <a:pt x="0" y="20836"/>
                </a:cubicBezTo>
                <a:lnTo>
                  <a:pt x="0" y="33337"/>
                </a:lnTo>
                <a:cubicBezTo>
                  <a:pt x="0" y="44849"/>
                  <a:pt x="26123" y="54173"/>
                  <a:pt x="58341" y="54173"/>
                </a:cubicBezTo>
                <a:cubicBezTo>
                  <a:pt x="90558" y="54173"/>
                  <a:pt x="116681" y="44849"/>
                  <a:pt x="116681" y="33337"/>
                </a:cubicBezTo>
                <a:close/>
                <a:moveTo>
                  <a:pt x="103789" y="101523"/>
                </a:moveTo>
                <a:cubicBezTo>
                  <a:pt x="91574" y="105873"/>
                  <a:pt x="75504" y="108347"/>
                  <a:pt x="58341" y="108347"/>
                </a:cubicBezTo>
                <a:cubicBezTo>
                  <a:pt x="41177" y="108347"/>
                  <a:pt x="25107" y="105873"/>
                  <a:pt x="12892" y="101523"/>
                </a:cubicBezTo>
                <a:cubicBezTo>
                  <a:pt x="8308" y="99882"/>
                  <a:pt x="3855" y="97825"/>
                  <a:pt x="0" y="95272"/>
                </a:cubicBezTo>
                <a:lnTo>
                  <a:pt x="0" y="112514"/>
                </a:lnTo>
                <a:cubicBezTo>
                  <a:pt x="0" y="124026"/>
                  <a:pt x="26123" y="133350"/>
                  <a:pt x="58341" y="133350"/>
                </a:cubicBezTo>
                <a:cubicBezTo>
                  <a:pt x="90558" y="133350"/>
                  <a:pt x="116681" y="124026"/>
                  <a:pt x="116681" y="112514"/>
                </a:cubicBezTo>
                <a:lnTo>
                  <a:pt x="116681" y="95272"/>
                </a:lnTo>
                <a:cubicBezTo>
                  <a:pt x="112827" y="97825"/>
                  <a:pt x="108399" y="99882"/>
                  <a:pt x="103789" y="101523"/>
                </a:cubicBezTo>
                <a:close/>
              </a:path>
            </a:pathLst>
          </a:custGeom>
          <a:solidFill>
            <a:srgbClr val="DDFF00"/>
          </a:solidFill>
          <a:ln/>
        </p:spPr>
      </p:sp>
      <p:sp>
        <p:nvSpPr>
          <p:cNvPr id="16" name="Text 14"/>
          <p:cNvSpPr/>
          <p:nvPr/>
        </p:nvSpPr>
        <p:spPr>
          <a:xfrm>
            <a:off x="890588" y="3238500"/>
            <a:ext cx="685800" cy="190500"/>
          </a:xfrm>
          <a:prstGeom prst="rect">
            <a:avLst/>
          </a:prstGeom>
          <a:noFill/>
          <a:ln/>
        </p:spPr>
        <p:txBody>
          <a:bodyPr wrap="square" lIns="0" tIns="0" rIns="0" bIns="0" rtlCol="0" anchor="ctr"/>
          <a:lstStyle/>
          <a:p>
            <a:pPr>
              <a:lnSpc>
                <a:spcPct val="120000"/>
              </a:lnSpc>
            </a:pPr>
            <a:r>
              <a:rPr lang="en-US" sz="1050" dirty="0">
                <a:solidFill>
                  <a:srgbClr val="FFFFFF"/>
                </a:solidFill>
                <a:latin typeface="Liter" pitchFamily="34" charset="0"/>
                <a:ea typeface="Liter" pitchFamily="34" charset="-122"/>
                <a:cs typeface="Liter" pitchFamily="34" charset="-120"/>
              </a:rPr>
              <a:t>Data Theft</a:t>
            </a:r>
            <a:endParaRPr lang="en-US" sz="1600" dirty="0"/>
          </a:p>
        </p:txBody>
      </p:sp>
      <p:sp>
        <p:nvSpPr>
          <p:cNvPr id="17" name="Shape 15"/>
          <p:cNvSpPr/>
          <p:nvPr/>
        </p:nvSpPr>
        <p:spPr>
          <a:xfrm>
            <a:off x="571500" y="3581400"/>
            <a:ext cx="2400300" cy="342900"/>
          </a:xfrm>
          <a:custGeom>
            <a:avLst/>
            <a:gdLst/>
            <a:ahLst/>
            <a:cxnLst/>
            <a:rect l="l" t="t" r="r" b="b"/>
            <a:pathLst>
              <a:path w="2400300" h="342900">
                <a:moveTo>
                  <a:pt x="0" y="0"/>
                </a:moveTo>
                <a:lnTo>
                  <a:pt x="2400300" y="0"/>
                </a:lnTo>
                <a:lnTo>
                  <a:pt x="2400300" y="342900"/>
                </a:lnTo>
                <a:lnTo>
                  <a:pt x="0" y="342900"/>
                </a:lnTo>
                <a:lnTo>
                  <a:pt x="0" y="0"/>
                </a:lnTo>
                <a:close/>
              </a:path>
            </a:pathLst>
          </a:custGeom>
          <a:solidFill>
            <a:srgbClr val="000000"/>
          </a:solidFill>
          <a:ln/>
        </p:spPr>
      </p:sp>
      <p:sp>
        <p:nvSpPr>
          <p:cNvPr id="18" name="Shape 16"/>
          <p:cNvSpPr/>
          <p:nvPr/>
        </p:nvSpPr>
        <p:spPr>
          <a:xfrm>
            <a:off x="658416" y="3686175"/>
            <a:ext cx="150019" cy="133350"/>
          </a:xfrm>
          <a:custGeom>
            <a:avLst/>
            <a:gdLst/>
            <a:ahLst/>
            <a:cxnLst/>
            <a:rect l="l" t="t" r="r" b="b"/>
            <a:pathLst>
              <a:path w="150019" h="133350">
                <a:moveTo>
                  <a:pt x="47011" y="36854"/>
                </a:moveTo>
                <a:cubicBezTo>
                  <a:pt x="57221" y="28259"/>
                  <a:pt x="70998" y="20836"/>
                  <a:pt x="87511" y="20836"/>
                </a:cubicBezTo>
                <a:cubicBezTo>
                  <a:pt x="104023" y="20836"/>
                  <a:pt x="117801" y="28259"/>
                  <a:pt x="128011" y="36854"/>
                </a:cubicBezTo>
                <a:cubicBezTo>
                  <a:pt x="138194" y="45448"/>
                  <a:pt x="145435" y="55710"/>
                  <a:pt x="149107" y="62846"/>
                </a:cubicBezTo>
                <a:cubicBezTo>
                  <a:pt x="150331" y="65243"/>
                  <a:pt x="150331" y="68081"/>
                  <a:pt x="149107" y="70478"/>
                </a:cubicBezTo>
                <a:cubicBezTo>
                  <a:pt x="145435" y="77614"/>
                  <a:pt x="138194" y="87876"/>
                  <a:pt x="128011" y="96470"/>
                </a:cubicBezTo>
                <a:cubicBezTo>
                  <a:pt x="117801" y="105091"/>
                  <a:pt x="104049" y="112488"/>
                  <a:pt x="87511" y="112488"/>
                </a:cubicBezTo>
                <a:cubicBezTo>
                  <a:pt x="70972" y="112488"/>
                  <a:pt x="57221" y="105065"/>
                  <a:pt x="47011" y="96470"/>
                </a:cubicBezTo>
                <a:cubicBezTo>
                  <a:pt x="42792" y="92902"/>
                  <a:pt x="39067" y="89048"/>
                  <a:pt x="35890" y="85245"/>
                </a:cubicBezTo>
                <a:lnTo>
                  <a:pt x="12528" y="98867"/>
                </a:lnTo>
                <a:cubicBezTo>
                  <a:pt x="9272" y="100768"/>
                  <a:pt x="5131" y="100247"/>
                  <a:pt x="2448" y="97590"/>
                </a:cubicBezTo>
                <a:cubicBezTo>
                  <a:pt x="-234" y="94934"/>
                  <a:pt x="-781" y="90819"/>
                  <a:pt x="1068" y="87537"/>
                </a:cubicBezTo>
                <a:lnTo>
                  <a:pt x="13022" y="66675"/>
                </a:lnTo>
                <a:lnTo>
                  <a:pt x="1094" y="45813"/>
                </a:lnTo>
                <a:cubicBezTo>
                  <a:pt x="-781" y="42531"/>
                  <a:pt x="-208" y="38416"/>
                  <a:pt x="2474" y="35760"/>
                </a:cubicBezTo>
                <a:cubicBezTo>
                  <a:pt x="5157" y="33103"/>
                  <a:pt x="9272" y="32582"/>
                  <a:pt x="12554" y="34483"/>
                </a:cubicBezTo>
                <a:lnTo>
                  <a:pt x="35916" y="48105"/>
                </a:lnTo>
                <a:cubicBezTo>
                  <a:pt x="39093" y="44302"/>
                  <a:pt x="42818" y="40448"/>
                  <a:pt x="47037" y="36880"/>
                </a:cubicBezTo>
                <a:close/>
                <a:moveTo>
                  <a:pt x="116681" y="66675"/>
                </a:moveTo>
                <a:cubicBezTo>
                  <a:pt x="116681" y="62075"/>
                  <a:pt x="112947" y="58341"/>
                  <a:pt x="108347" y="58341"/>
                </a:cubicBezTo>
                <a:cubicBezTo>
                  <a:pt x="103747" y="58341"/>
                  <a:pt x="100013" y="62075"/>
                  <a:pt x="100013" y="66675"/>
                </a:cubicBezTo>
                <a:cubicBezTo>
                  <a:pt x="100013" y="71275"/>
                  <a:pt x="103747" y="75009"/>
                  <a:pt x="108347" y="75009"/>
                </a:cubicBezTo>
                <a:cubicBezTo>
                  <a:pt x="112947" y="75009"/>
                  <a:pt x="116681" y="71275"/>
                  <a:pt x="116681" y="66675"/>
                </a:cubicBezTo>
                <a:close/>
              </a:path>
            </a:pathLst>
          </a:custGeom>
          <a:solidFill>
            <a:srgbClr val="DDFF00"/>
          </a:solidFill>
          <a:ln/>
        </p:spPr>
      </p:sp>
      <p:sp>
        <p:nvSpPr>
          <p:cNvPr id="19" name="Text 17"/>
          <p:cNvSpPr/>
          <p:nvPr/>
        </p:nvSpPr>
        <p:spPr>
          <a:xfrm>
            <a:off x="890588" y="3657600"/>
            <a:ext cx="571500" cy="190500"/>
          </a:xfrm>
          <a:prstGeom prst="rect">
            <a:avLst/>
          </a:prstGeom>
          <a:noFill/>
          <a:ln/>
        </p:spPr>
        <p:txBody>
          <a:bodyPr wrap="square" lIns="0" tIns="0" rIns="0" bIns="0" rtlCol="0" anchor="ctr"/>
          <a:lstStyle/>
          <a:p>
            <a:pPr>
              <a:lnSpc>
                <a:spcPct val="120000"/>
              </a:lnSpc>
            </a:pPr>
            <a:r>
              <a:rPr lang="en-US" sz="1050" dirty="0">
                <a:solidFill>
                  <a:srgbClr val="FFFFFF"/>
                </a:solidFill>
                <a:latin typeface="Liter" pitchFamily="34" charset="0"/>
                <a:ea typeface="Liter" pitchFamily="34" charset="-122"/>
                <a:cs typeface="Liter" pitchFamily="34" charset="-120"/>
              </a:rPr>
              <a:t>Phishing</a:t>
            </a:r>
            <a:endParaRPr lang="en-US" sz="1600" dirty="0"/>
          </a:p>
        </p:txBody>
      </p:sp>
      <p:sp>
        <p:nvSpPr>
          <p:cNvPr id="20" name="Shape 18"/>
          <p:cNvSpPr/>
          <p:nvPr/>
        </p:nvSpPr>
        <p:spPr>
          <a:xfrm>
            <a:off x="3295650" y="1181100"/>
            <a:ext cx="2724150" cy="2895600"/>
          </a:xfrm>
          <a:custGeom>
            <a:avLst/>
            <a:gdLst/>
            <a:ahLst/>
            <a:cxnLst/>
            <a:rect l="l" t="t" r="r" b="b"/>
            <a:pathLst>
              <a:path w="2724150" h="2895600">
                <a:moveTo>
                  <a:pt x="0" y="0"/>
                </a:moveTo>
                <a:lnTo>
                  <a:pt x="2724150" y="0"/>
                </a:lnTo>
                <a:lnTo>
                  <a:pt x="2724150" y="2895600"/>
                </a:lnTo>
                <a:lnTo>
                  <a:pt x="0" y="2895600"/>
                </a:lnTo>
                <a:lnTo>
                  <a:pt x="0" y="0"/>
                </a:lnTo>
                <a:close/>
              </a:path>
            </a:pathLst>
          </a:custGeom>
          <a:solidFill>
            <a:srgbClr val="111111"/>
          </a:solidFill>
          <a:ln/>
        </p:spPr>
      </p:sp>
      <p:sp>
        <p:nvSpPr>
          <p:cNvPr id="21" name="Shape 19"/>
          <p:cNvSpPr/>
          <p:nvPr/>
        </p:nvSpPr>
        <p:spPr>
          <a:xfrm>
            <a:off x="3295650" y="1181100"/>
            <a:ext cx="38100" cy="2895600"/>
          </a:xfrm>
          <a:custGeom>
            <a:avLst/>
            <a:gdLst/>
            <a:ahLst/>
            <a:cxnLst/>
            <a:rect l="l" t="t" r="r" b="b"/>
            <a:pathLst>
              <a:path w="38100" h="2895600">
                <a:moveTo>
                  <a:pt x="0" y="0"/>
                </a:moveTo>
                <a:lnTo>
                  <a:pt x="38100" y="0"/>
                </a:lnTo>
                <a:lnTo>
                  <a:pt x="38100" y="2895600"/>
                </a:lnTo>
                <a:lnTo>
                  <a:pt x="0" y="2895600"/>
                </a:lnTo>
                <a:lnTo>
                  <a:pt x="0" y="0"/>
                </a:lnTo>
                <a:close/>
              </a:path>
            </a:pathLst>
          </a:custGeom>
          <a:solidFill>
            <a:srgbClr val="DDFF00"/>
          </a:solidFill>
          <a:ln/>
        </p:spPr>
      </p:sp>
      <p:sp>
        <p:nvSpPr>
          <p:cNvPr id="22" name="Shape 20"/>
          <p:cNvSpPr/>
          <p:nvPr/>
        </p:nvSpPr>
        <p:spPr>
          <a:xfrm>
            <a:off x="3467100" y="1333500"/>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solidFill>
            <a:srgbClr val="DDFF00"/>
          </a:solidFill>
          <a:ln/>
        </p:spPr>
      </p:sp>
      <p:sp>
        <p:nvSpPr>
          <p:cNvPr id="23" name="Shape 21"/>
          <p:cNvSpPr/>
          <p:nvPr/>
        </p:nvSpPr>
        <p:spPr>
          <a:xfrm>
            <a:off x="3588544" y="1466850"/>
            <a:ext cx="214313" cy="190500"/>
          </a:xfrm>
          <a:custGeom>
            <a:avLst/>
            <a:gdLst/>
            <a:ahLst/>
            <a:cxnLst/>
            <a:rect l="l" t="t" r="r" b="b"/>
            <a:pathLst>
              <a:path w="214313" h="190500">
                <a:moveTo>
                  <a:pt x="83344" y="2977"/>
                </a:moveTo>
                <a:cubicBezTo>
                  <a:pt x="107986" y="2977"/>
                  <a:pt x="127992" y="22983"/>
                  <a:pt x="127992" y="47625"/>
                </a:cubicBezTo>
                <a:cubicBezTo>
                  <a:pt x="127992" y="72267"/>
                  <a:pt x="107986" y="92273"/>
                  <a:pt x="83344" y="92273"/>
                </a:cubicBezTo>
                <a:cubicBezTo>
                  <a:pt x="58702" y="92273"/>
                  <a:pt x="38695" y="72267"/>
                  <a:pt x="38695" y="47625"/>
                </a:cubicBezTo>
                <a:cubicBezTo>
                  <a:pt x="38695" y="22983"/>
                  <a:pt x="58702" y="2977"/>
                  <a:pt x="83344" y="2977"/>
                </a:cubicBezTo>
                <a:close/>
                <a:moveTo>
                  <a:pt x="72293" y="113109"/>
                </a:moveTo>
                <a:lnTo>
                  <a:pt x="94394" y="113109"/>
                </a:lnTo>
                <a:cubicBezTo>
                  <a:pt x="105445" y="113109"/>
                  <a:pt x="115863" y="115825"/>
                  <a:pt x="125016" y="120588"/>
                </a:cubicBezTo>
                <a:lnTo>
                  <a:pt x="125016" y="122188"/>
                </a:lnTo>
                <a:cubicBezTo>
                  <a:pt x="117723" y="128736"/>
                  <a:pt x="113109" y="138224"/>
                  <a:pt x="113109" y="148791"/>
                </a:cubicBezTo>
                <a:lnTo>
                  <a:pt x="113109" y="184510"/>
                </a:lnTo>
                <a:cubicBezTo>
                  <a:pt x="113109" y="186556"/>
                  <a:pt x="113295" y="188565"/>
                  <a:pt x="113593" y="190500"/>
                </a:cubicBezTo>
                <a:lnTo>
                  <a:pt x="17004" y="190500"/>
                </a:lnTo>
                <a:cubicBezTo>
                  <a:pt x="10902" y="190500"/>
                  <a:pt x="5953" y="185551"/>
                  <a:pt x="5953" y="179450"/>
                </a:cubicBezTo>
                <a:cubicBezTo>
                  <a:pt x="5953" y="142801"/>
                  <a:pt x="35644" y="113109"/>
                  <a:pt x="72293" y="113109"/>
                </a:cubicBezTo>
                <a:close/>
                <a:moveTo>
                  <a:pt x="184547" y="113147"/>
                </a:moveTo>
                <a:cubicBezTo>
                  <a:pt x="184547" y="106561"/>
                  <a:pt x="179226" y="101240"/>
                  <a:pt x="172641" y="101240"/>
                </a:cubicBezTo>
                <a:cubicBezTo>
                  <a:pt x="166055" y="101240"/>
                  <a:pt x="160734" y="106561"/>
                  <a:pt x="160734" y="113147"/>
                </a:cubicBezTo>
                <a:lnTo>
                  <a:pt x="160734" y="130969"/>
                </a:lnTo>
                <a:lnTo>
                  <a:pt x="184547" y="130969"/>
                </a:lnTo>
                <a:lnTo>
                  <a:pt x="184547" y="113147"/>
                </a:lnTo>
                <a:close/>
                <a:moveTo>
                  <a:pt x="130969" y="148828"/>
                </a:moveTo>
                <a:cubicBezTo>
                  <a:pt x="130969" y="141052"/>
                  <a:pt x="135954" y="134429"/>
                  <a:pt x="142875" y="131973"/>
                </a:cubicBezTo>
                <a:lnTo>
                  <a:pt x="142875" y="113147"/>
                </a:lnTo>
                <a:cubicBezTo>
                  <a:pt x="142875" y="96701"/>
                  <a:pt x="156195" y="83381"/>
                  <a:pt x="172641" y="83381"/>
                </a:cubicBezTo>
                <a:cubicBezTo>
                  <a:pt x="189086" y="83381"/>
                  <a:pt x="202406" y="96701"/>
                  <a:pt x="202406" y="113147"/>
                </a:cubicBezTo>
                <a:lnTo>
                  <a:pt x="202406" y="131973"/>
                </a:lnTo>
                <a:cubicBezTo>
                  <a:pt x="209327" y="134429"/>
                  <a:pt x="214313" y="141052"/>
                  <a:pt x="214313" y="148828"/>
                </a:cubicBezTo>
                <a:lnTo>
                  <a:pt x="214313" y="184547"/>
                </a:lnTo>
                <a:cubicBezTo>
                  <a:pt x="214313" y="194407"/>
                  <a:pt x="206313" y="202406"/>
                  <a:pt x="196453" y="202406"/>
                </a:cubicBezTo>
                <a:lnTo>
                  <a:pt x="148828" y="202406"/>
                </a:lnTo>
                <a:cubicBezTo>
                  <a:pt x="138968" y="202406"/>
                  <a:pt x="130969" y="194407"/>
                  <a:pt x="130969" y="184547"/>
                </a:cubicBezTo>
                <a:lnTo>
                  <a:pt x="130969" y="148828"/>
                </a:lnTo>
                <a:close/>
              </a:path>
            </a:pathLst>
          </a:custGeom>
          <a:solidFill>
            <a:srgbClr val="000000"/>
          </a:solidFill>
          <a:ln/>
        </p:spPr>
      </p:sp>
      <p:sp>
        <p:nvSpPr>
          <p:cNvPr id="24" name="Text 22"/>
          <p:cNvSpPr/>
          <p:nvPr/>
        </p:nvSpPr>
        <p:spPr>
          <a:xfrm>
            <a:off x="4038600" y="1428750"/>
            <a:ext cx="1162050" cy="266700"/>
          </a:xfrm>
          <a:prstGeom prst="rect">
            <a:avLst/>
          </a:prstGeom>
          <a:noFill/>
          <a:ln/>
        </p:spPr>
        <p:txBody>
          <a:bodyPr wrap="square" lIns="0" tIns="0" rIns="0" bIns="0" rtlCol="0" anchor="ctr"/>
          <a:lstStyle/>
          <a:p>
            <a:pPr>
              <a:lnSpc>
                <a:spcPct val="130000"/>
              </a:lnSpc>
            </a:pPr>
            <a:r>
              <a:rPr lang="en-US" sz="1350" b="1" dirty="0">
                <a:solidFill>
                  <a:srgbClr val="FFFFFF"/>
                </a:solidFill>
                <a:latin typeface="Liter" pitchFamily="34" charset="0"/>
                <a:ea typeface="Liter" pitchFamily="34" charset="-122"/>
                <a:cs typeface="Liter" pitchFamily="34" charset="-120"/>
              </a:rPr>
              <a:t>Privacy Issues</a:t>
            </a:r>
            <a:endParaRPr lang="en-US" sz="1600" dirty="0"/>
          </a:p>
        </p:txBody>
      </p:sp>
      <p:sp>
        <p:nvSpPr>
          <p:cNvPr id="25" name="Text 23"/>
          <p:cNvSpPr/>
          <p:nvPr/>
        </p:nvSpPr>
        <p:spPr>
          <a:xfrm>
            <a:off x="3467100" y="1905000"/>
            <a:ext cx="2476500" cy="1466850"/>
          </a:xfrm>
          <a:prstGeom prst="rect">
            <a:avLst/>
          </a:prstGeom>
          <a:noFill/>
          <a:ln/>
        </p:spPr>
        <p:txBody>
          <a:bodyPr wrap="square" lIns="0" tIns="0" rIns="0" bIns="0" rtlCol="0" anchor="ctr"/>
          <a:lstStyle/>
          <a:p>
            <a:pPr>
              <a:lnSpc>
                <a:spcPct val="130000"/>
              </a:lnSpc>
            </a:pPr>
            <a:r>
              <a:rPr lang="en-US" sz="1200" dirty="0">
                <a:solidFill>
                  <a:srgbClr val="FFFFFF">
                    <a:alpha val="80000"/>
                  </a:srgbClr>
                </a:solidFill>
                <a:latin typeface="Liter" pitchFamily="34" charset="0"/>
                <a:ea typeface="Liter" pitchFamily="34" charset="-122"/>
                <a:cs typeface="Liter" pitchFamily="34" charset="-120"/>
              </a:rPr>
              <a:t>Unauthorized collection, use, or sharing of customer personal information.</a:t>
            </a:r>
            <a:endParaRPr lang="en-US" sz="1600" dirty="0"/>
          </a:p>
        </p:txBody>
      </p:sp>
      <p:sp>
        <p:nvSpPr>
          <p:cNvPr id="26" name="Shape 24"/>
          <p:cNvSpPr/>
          <p:nvPr/>
        </p:nvSpPr>
        <p:spPr>
          <a:xfrm>
            <a:off x="3470910" y="3493774"/>
            <a:ext cx="2388870" cy="426720"/>
          </a:xfrm>
          <a:custGeom>
            <a:avLst/>
            <a:gdLst/>
            <a:ahLst/>
            <a:cxnLst/>
            <a:rect l="l" t="t" r="r" b="b"/>
            <a:pathLst>
              <a:path w="2388870" h="426720">
                <a:moveTo>
                  <a:pt x="0" y="0"/>
                </a:moveTo>
                <a:lnTo>
                  <a:pt x="2388870" y="0"/>
                </a:lnTo>
                <a:lnTo>
                  <a:pt x="2388870" y="426720"/>
                </a:lnTo>
                <a:lnTo>
                  <a:pt x="0" y="426720"/>
                </a:lnTo>
                <a:lnTo>
                  <a:pt x="0" y="0"/>
                </a:lnTo>
                <a:close/>
              </a:path>
            </a:pathLst>
          </a:custGeom>
          <a:solidFill>
            <a:srgbClr val="DDFF00">
              <a:alpha val="10196"/>
            </a:srgbClr>
          </a:solidFill>
          <a:ln w="10160">
            <a:solidFill>
              <a:srgbClr val="DDFF00"/>
            </a:solidFill>
            <a:prstDash val="solid"/>
          </a:ln>
        </p:spPr>
      </p:sp>
      <p:sp>
        <p:nvSpPr>
          <p:cNvPr id="27" name="Shape 25"/>
          <p:cNvSpPr/>
          <p:nvPr/>
        </p:nvSpPr>
        <p:spPr>
          <a:xfrm>
            <a:off x="3608070" y="3642364"/>
            <a:ext cx="133350" cy="133350"/>
          </a:xfrm>
          <a:custGeom>
            <a:avLst/>
            <a:gdLst/>
            <a:ahLst/>
            <a:cxnLst/>
            <a:rect l="l" t="t" r="r" b="b"/>
            <a:pathLst>
              <a:path w="133350" h="133350">
                <a:moveTo>
                  <a:pt x="66675" y="0"/>
                </a:moveTo>
                <a:cubicBezTo>
                  <a:pt x="70504" y="0"/>
                  <a:pt x="74020" y="2110"/>
                  <a:pt x="75843" y="5469"/>
                </a:cubicBezTo>
                <a:lnTo>
                  <a:pt x="132100" y="109649"/>
                </a:lnTo>
                <a:cubicBezTo>
                  <a:pt x="133845" y="112879"/>
                  <a:pt x="133767" y="116785"/>
                  <a:pt x="131891" y="119937"/>
                </a:cubicBezTo>
                <a:cubicBezTo>
                  <a:pt x="130016" y="123088"/>
                  <a:pt x="126604" y="125016"/>
                  <a:pt x="122932" y="125016"/>
                </a:cubicBezTo>
                <a:lnTo>
                  <a:pt x="10418" y="125016"/>
                </a:lnTo>
                <a:cubicBezTo>
                  <a:pt x="6746" y="125016"/>
                  <a:pt x="3360" y="123088"/>
                  <a:pt x="1459" y="119937"/>
                </a:cubicBezTo>
                <a:cubicBezTo>
                  <a:pt x="-443" y="116785"/>
                  <a:pt x="-495" y="112879"/>
                  <a:pt x="1250" y="109649"/>
                </a:cubicBezTo>
                <a:lnTo>
                  <a:pt x="57507" y="5469"/>
                </a:lnTo>
                <a:cubicBezTo>
                  <a:pt x="59330" y="2110"/>
                  <a:pt x="62846" y="0"/>
                  <a:pt x="66675" y="0"/>
                </a:cubicBezTo>
                <a:close/>
                <a:moveTo>
                  <a:pt x="66675" y="43755"/>
                </a:moveTo>
                <a:cubicBezTo>
                  <a:pt x="63211" y="43755"/>
                  <a:pt x="60424" y="46542"/>
                  <a:pt x="60424" y="50006"/>
                </a:cubicBezTo>
                <a:lnTo>
                  <a:pt x="60424" y="79177"/>
                </a:lnTo>
                <a:cubicBezTo>
                  <a:pt x="60424" y="82641"/>
                  <a:pt x="63211" y="85427"/>
                  <a:pt x="66675" y="85427"/>
                </a:cubicBezTo>
                <a:cubicBezTo>
                  <a:pt x="70139" y="85427"/>
                  <a:pt x="72926" y="82641"/>
                  <a:pt x="72926" y="79177"/>
                </a:cubicBezTo>
                <a:lnTo>
                  <a:pt x="72926" y="50006"/>
                </a:lnTo>
                <a:cubicBezTo>
                  <a:pt x="72926" y="46542"/>
                  <a:pt x="70139" y="43755"/>
                  <a:pt x="66675" y="43755"/>
                </a:cubicBezTo>
                <a:close/>
                <a:moveTo>
                  <a:pt x="73629" y="100013"/>
                </a:moveTo>
                <a:cubicBezTo>
                  <a:pt x="73787" y="97431"/>
                  <a:pt x="72500" y="94975"/>
                  <a:pt x="70287" y="93637"/>
                </a:cubicBezTo>
                <a:cubicBezTo>
                  <a:pt x="68074" y="92299"/>
                  <a:pt x="65302" y="92299"/>
                  <a:pt x="63089" y="93637"/>
                </a:cubicBezTo>
                <a:cubicBezTo>
                  <a:pt x="60876" y="94975"/>
                  <a:pt x="59589" y="97431"/>
                  <a:pt x="59747" y="100012"/>
                </a:cubicBezTo>
                <a:cubicBezTo>
                  <a:pt x="59589" y="102594"/>
                  <a:pt x="60876" y="105050"/>
                  <a:pt x="63089" y="106388"/>
                </a:cubicBezTo>
                <a:cubicBezTo>
                  <a:pt x="65302" y="107726"/>
                  <a:pt x="68074" y="107726"/>
                  <a:pt x="70287" y="106388"/>
                </a:cubicBezTo>
                <a:cubicBezTo>
                  <a:pt x="72500" y="105050"/>
                  <a:pt x="73787" y="102594"/>
                  <a:pt x="73629" y="100013"/>
                </a:cubicBezTo>
                <a:close/>
              </a:path>
            </a:pathLst>
          </a:custGeom>
          <a:solidFill>
            <a:srgbClr val="DDFF00"/>
          </a:solidFill>
          <a:ln/>
        </p:spPr>
      </p:sp>
      <p:sp>
        <p:nvSpPr>
          <p:cNvPr id="28" name="Text 26"/>
          <p:cNvSpPr/>
          <p:nvPr/>
        </p:nvSpPr>
        <p:spPr>
          <a:xfrm>
            <a:off x="3817620" y="3611882"/>
            <a:ext cx="1990725" cy="190500"/>
          </a:xfrm>
          <a:prstGeom prst="rect">
            <a:avLst/>
          </a:prstGeom>
          <a:noFill/>
          <a:ln/>
        </p:spPr>
        <p:txBody>
          <a:bodyPr wrap="square" lIns="0" tIns="0" rIns="0" bIns="0" rtlCol="0" anchor="ctr"/>
          <a:lstStyle/>
          <a:p>
            <a:pPr>
              <a:lnSpc>
                <a:spcPct val="120000"/>
              </a:lnSpc>
            </a:pPr>
            <a:r>
              <a:rPr lang="en-US" sz="1050" dirty="0">
                <a:solidFill>
                  <a:srgbClr val="FFFFFF"/>
                </a:solidFill>
                <a:latin typeface="Liter" pitchFamily="34" charset="0"/>
                <a:ea typeface="Liter" pitchFamily="34" charset="-122"/>
                <a:cs typeface="Liter" pitchFamily="34" charset="-120"/>
              </a:rPr>
              <a:t>Personal data misuse</a:t>
            </a:r>
            <a:endParaRPr lang="en-US" sz="1600" dirty="0"/>
          </a:p>
        </p:txBody>
      </p:sp>
      <p:sp>
        <p:nvSpPr>
          <p:cNvPr id="29" name="Shape 27"/>
          <p:cNvSpPr/>
          <p:nvPr/>
        </p:nvSpPr>
        <p:spPr>
          <a:xfrm>
            <a:off x="6191250" y="1181100"/>
            <a:ext cx="2724150" cy="2895600"/>
          </a:xfrm>
          <a:custGeom>
            <a:avLst/>
            <a:gdLst/>
            <a:ahLst/>
            <a:cxnLst/>
            <a:rect l="l" t="t" r="r" b="b"/>
            <a:pathLst>
              <a:path w="2724150" h="2895600">
                <a:moveTo>
                  <a:pt x="0" y="0"/>
                </a:moveTo>
                <a:lnTo>
                  <a:pt x="2724150" y="0"/>
                </a:lnTo>
                <a:lnTo>
                  <a:pt x="2724150" y="2895600"/>
                </a:lnTo>
                <a:lnTo>
                  <a:pt x="0" y="2895600"/>
                </a:lnTo>
                <a:lnTo>
                  <a:pt x="0" y="0"/>
                </a:lnTo>
                <a:close/>
              </a:path>
            </a:pathLst>
          </a:custGeom>
          <a:solidFill>
            <a:srgbClr val="111111"/>
          </a:solidFill>
          <a:ln/>
        </p:spPr>
      </p:sp>
      <p:sp>
        <p:nvSpPr>
          <p:cNvPr id="30" name="Shape 28"/>
          <p:cNvSpPr/>
          <p:nvPr/>
        </p:nvSpPr>
        <p:spPr>
          <a:xfrm>
            <a:off x="6191250" y="1181100"/>
            <a:ext cx="38100" cy="2895600"/>
          </a:xfrm>
          <a:custGeom>
            <a:avLst/>
            <a:gdLst/>
            <a:ahLst/>
            <a:cxnLst/>
            <a:rect l="l" t="t" r="r" b="b"/>
            <a:pathLst>
              <a:path w="38100" h="2895600">
                <a:moveTo>
                  <a:pt x="0" y="0"/>
                </a:moveTo>
                <a:lnTo>
                  <a:pt x="38100" y="0"/>
                </a:lnTo>
                <a:lnTo>
                  <a:pt x="38100" y="2895600"/>
                </a:lnTo>
                <a:lnTo>
                  <a:pt x="0" y="2895600"/>
                </a:lnTo>
                <a:lnTo>
                  <a:pt x="0" y="0"/>
                </a:lnTo>
                <a:close/>
              </a:path>
            </a:pathLst>
          </a:custGeom>
          <a:solidFill>
            <a:srgbClr val="DDFF00"/>
          </a:solidFill>
          <a:ln/>
        </p:spPr>
      </p:sp>
      <p:sp>
        <p:nvSpPr>
          <p:cNvPr id="31" name="Shape 29"/>
          <p:cNvSpPr/>
          <p:nvPr/>
        </p:nvSpPr>
        <p:spPr>
          <a:xfrm>
            <a:off x="6362700" y="1333500"/>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solidFill>
            <a:srgbClr val="DDFF00"/>
          </a:solidFill>
          <a:ln/>
        </p:spPr>
      </p:sp>
      <p:sp>
        <p:nvSpPr>
          <p:cNvPr id="32" name="Shape 30"/>
          <p:cNvSpPr/>
          <p:nvPr/>
        </p:nvSpPr>
        <p:spPr>
          <a:xfrm>
            <a:off x="6484144" y="1466850"/>
            <a:ext cx="214313" cy="190500"/>
          </a:xfrm>
          <a:custGeom>
            <a:avLst/>
            <a:gdLst/>
            <a:ahLst/>
            <a:cxnLst/>
            <a:rect l="l" t="t" r="r" b="b"/>
            <a:pathLst>
              <a:path w="214313" h="190500">
                <a:moveTo>
                  <a:pt x="63103" y="57076"/>
                </a:moveTo>
                <a:lnTo>
                  <a:pt x="56145" y="50118"/>
                </a:lnTo>
                <a:cubicBezTo>
                  <a:pt x="51495" y="45467"/>
                  <a:pt x="51495" y="37914"/>
                  <a:pt x="56145" y="33263"/>
                </a:cubicBezTo>
                <a:lnTo>
                  <a:pt x="98822" y="-9451"/>
                </a:lnTo>
                <a:cubicBezTo>
                  <a:pt x="103473" y="-14101"/>
                  <a:pt x="111026" y="-14101"/>
                  <a:pt x="115677" y="-9451"/>
                </a:cubicBezTo>
                <a:lnTo>
                  <a:pt x="122634" y="-2456"/>
                </a:lnTo>
                <a:cubicBezTo>
                  <a:pt x="127285" y="2195"/>
                  <a:pt x="127285" y="9748"/>
                  <a:pt x="122634" y="14399"/>
                </a:cubicBezTo>
                <a:lnTo>
                  <a:pt x="79958" y="57076"/>
                </a:lnTo>
                <a:cubicBezTo>
                  <a:pt x="75307" y="61726"/>
                  <a:pt x="67754" y="61726"/>
                  <a:pt x="63103" y="57076"/>
                </a:cubicBezTo>
                <a:close/>
                <a:moveTo>
                  <a:pt x="102691" y="78767"/>
                </a:moveTo>
                <a:lnTo>
                  <a:pt x="91008" y="67084"/>
                </a:lnTo>
                <a:lnTo>
                  <a:pt x="132680" y="25412"/>
                </a:lnTo>
                <a:lnTo>
                  <a:pt x="177105" y="69838"/>
                </a:lnTo>
                <a:lnTo>
                  <a:pt x="135434" y="111509"/>
                </a:lnTo>
                <a:lnTo>
                  <a:pt x="123751" y="99826"/>
                </a:lnTo>
                <a:lnTo>
                  <a:pt x="37430" y="186147"/>
                </a:lnTo>
                <a:cubicBezTo>
                  <a:pt x="31626" y="191951"/>
                  <a:pt x="22213" y="191951"/>
                  <a:pt x="16371" y="186147"/>
                </a:cubicBezTo>
                <a:cubicBezTo>
                  <a:pt x="10530" y="180342"/>
                  <a:pt x="10567" y="170929"/>
                  <a:pt x="16371" y="165088"/>
                </a:cubicBezTo>
                <a:lnTo>
                  <a:pt x="102691" y="78767"/>
                </a:lnTo>
                <a:close/>
                <a:moveTo>
                  <a:pt x="145442" y="139378"/>
                </a:moveTo>
                <a:cubicBezTo>
                  <a:pt x="140791" y="134727"/>
                  <a:pt x="140791" y="127174"/>
                  <a:pt x="145442" y="122523"/>
                </a:cubicBezTo>
                <a:lnTo>
                  <a:pt x="188119" y="79846"/>
                </a:lnTo>
                <a:cubicBezTo>
                  <a:pt x="192770" y="75195"/>
                  <a:pt x="200323" y="75195"/>
                  <a:pt x="204974" y="79846"/>
                </a:cubicBezTo>
                <a:lnTo>
                  <a:pt x="211931" y="86804"/>
                </a:lnTo>
                <a:cubicBezTo>
                  <a:pt x="216582" y="91455"/>
                  <a:pt x="216582" y="99008"/>
                  <a:pt x="211931" y="103659"/>
                </a:cubicBezTo>
                <a:lnTo>
                  <a:pt x="169255" y="146372"/>
                </a:lnTo>
                <a:cubicBezTo>
                  <a:pt x="164604" y="151023"/>
                  <a:pt x="157051" y="151023"/>
                  <a:pt x="152400" y="146372"/>
                </a:cubicBezTo>
                <a:lnTo>
                  <a:pt x="145442" y="139415"/>
                </a:lnTo>
                <a:close/>
              </a:path>
            </a:pathLst>
          </a:custGeom>
          <a:solidFill>
            <a:srgbClr val="000000"/>
          </a:solidFill>
          <a:ln/>
        </p:spPr>
      </p:sp>
      <p:sp>
        <p:nvSpPr>
          <p:cNvPr id="33" name="Text 31"/>
          <p:cNvSpPr/>
          <p:nvPr/>
        </p:nvSpPr>
        <p:spPr>
          <a:xfrm>
            <a:off x="6934200" y="1428750"/>
            <a:ext cx="1019175" cy="266700"/>
          </a:xfrm>
          <a:prstGeom prst="rect">
            <a:avLst/>
          </a:prstGeom>
          <a:noFill/>
          <a:ln/>
        </p:spPr>
        <p:txBody>
          <a:bodyPr wrap="square" lIns="0" tIns="0" rIns="0" bIns="0" rtlCol="0" anchor="ctr"/>
          <a:lstStyle/>
          <a:p>
            <a:pPr>
              <a:lnSpc>
                <a:spcPct val="130000"/>
              </a:lnSpc>
            </a:pPr>
            <a:r>
              <a:rPr lang="en-US" sz="1350" b="1" dirty="0">
                <a:solidFill>
                  <a:srgbClr val="FFFFFF"/>
                </a:solidFill>
                <a:latin typeface="Liter" pitchFamily="34" charset="0"/>
                <a:ea typeface="Liter" pitchFamily="34" charset="-122"/>
                <a:cs typeface="Liter" pitchFamily="34" charset="-120"/>
              </a:rPr>
              <a:t>Legal Issues</a:t>
            </a:r>
            <a:endParaRPr lang="en-US" sz="1600" dirty="0"/>
          </a:p>
        </p:txBody>
      </p:sp>
      <p:sp>
        <p:nvSpPr>
          <p:cNvPr id="34" name="Text 32"/>
          <p:cNvSpPr/>
          <p:nvPr/>
        </p:nvSpPr>
        <p:spPr>
          <a:xfrm>
            <a:off x="6362700" y="1905000"/>
            <a:ext cx="2476500" cy="1181100"/>
          </a:xfrm>
          <a:prstGeom prst="rect">
            <a:avLst/>
          </a:prstGeom>
          <a:noFill/>
          <a:ln/>
        </p:spPr>
        <p:txBody>
          <a:bodyPr wrap="square" lIns="0" tIns="0" rIns="0" bIns="0" rtlCol="0" anchor="ctr"/>
          <a:lstStyle/>
          <a:p>
            <a:pPr>
              <a:lnSpc>
                <a:spcPct val="130000"/>
              </a:lnSpc>
            </a:pPr>
            <a:r>
              <a:rPr lang="en-US" sz="1200" dirty="0">
                <a:solidFill>
                  <a:srgbClr val="FFFFFF">
                    <a:alpha val="80000"/>
                  </a:srgbClr>
                </a:solidFill>
                <a:latin typeface="Liter" pitchFamily="34" charset="0"/>
                <a:ea typeface="Liter" pitchFamily="34" charset="-122"/>
                <a:cs typeface="Liter" pitchFamily="34" charset="-120"/>
              </a:rPr>
              <a:t>Different country laws create complexity for international e-commerce operations.</a:t>
            </a:r>
            <a:endParaRPr lang="en-US" sz="1600" dirty="0"/>
          </a:p>
        </p:txBody>
      </p:sp>
      <p:sp>
        <p:nvSpPr>
          <p:cNvPr id="35" name="Shape 33"/>
          <p:cNvSpPr/>
          <p:nvPr/>
        </p:nvSpPr>
        <p:spPr>
          <a:xfrm>
            <a:off x="6381750" y="3228975"/>
            <a:ext cx="133350" cy="133350"/>
          </a:xfrm>
          <a:custGeom>
            <a:avLst/>
            <a:gdLst/>
            <a:ahLst/>
            <a:cxnLst/>
            <a:rect l="l" t="t" r="r" b="b"/>
            <a:pathLst>
              <a:path w="133350" h="133350">
                <a:moveTo>
                  <a:pt x="91652" y="72926"/>
                </a:moveTo>
                <a:lnTo>
                  <a:pt x="41932" y="72926"/>
                </a:lnTo>
                <a:cubicBezTo>
                  <a:pt x="42688" y="89725"/>
                  <a:pt x="46412" y="105195"/>
                  <a:pt x="51699" y="116525"/>
                </a:cubicBezTo>
                <a:cubicBezTo>
                  <a:pt x="54668" y="122906"/>
                  <a:pt x="57872" y="127412"/>
                  <a:pt x="60841" y="130173"/>
                </a:cubicBezTo>
                <a:cubicBezTo>
                  <a:pt x="63758" y="132907"/>
                  <a:pt x="65763" y="133350"/>
                  <a:pt x="66805" y="133350"/>
                </a:cubicBezTo>
                <a:cubicBezTo>
                  <a:pt x="67847" y="133350"/>
                  <a:pt x="69852" y="132907"/>
                  <a:pt x="72770" y="130173"/>
                </a:cubicBezTo>
                <a:cubicBezTo>
                  <a:pt x="75739" y="127412"/>
                  <a:pt x="78942" y="122880"/>
                  <a:pt x="81911" y="116525"/>
                </a:cubicBezTo>
                <a:cubicBezTo>
                  <a:pt x="87198" y="105195"/>
                  <a:pt x="90923" y="89725"/>
                  <a:pt x="91678" y="72926"/>
                </a:cubicBezTo>
                <a:close/>
                <a:moveTo>
                  <a:pt x="41906" y="60424"/>
                </a:moveTo>
                <a:lnTo>
                  <a:pt x="91626" y="60424"/>
                </a:lnTo>
                <a:cubicBezTo>
                  <a:pt x="90897" y="43625"/>
                  <a:pt x="87172" y="28155"/>
                  <a:pt x="81885" y="16825"/>
                </a:cubicBezTo>
                <a:cubicBezTo>
                  <a:pt x="78916" y="10470"/>
                  <a:pt x="75713" y="5938"/>
                  <a:pt x="72743" y="3177"/>
                </a:cubicBezTo>
                <a:cubicBezTo>
                  <a:pt x="69826" y="443"/>
                  <a:pt x="67821" y="0"/>
                  <a:pt x="66779" y="0"/>
                </a:cubicBezTo>
                <a:cubicBezTo>
                  <a:pt x="65737" y="0"/>
                  <a:pt x="63732" y="443"/>
                  <a:pt x="60815" y="3177"/>
                </a:cubicBezTo>
                <a:cubicBezTo>
                  <a:pt x="57846" y="5938"/>
                  <a:pt x="54642" y="10470"/>
                  <a:pt x="51673" y="16825"/>
                </a:cubicBezTo>
                <a:cubicBezTo>
                  <a:pt x="46386" y="28155"/>
                  <a:pt x="42662" y="43625"/>
                  <a:pt x="41906" y="60424"/>
                </a:cubicBezTo>
                <a:close/>
                <a:moveTo>
                  <a:pt x="29405" y="60424"/>
                </a:moveTo>
                <a:cubicBezTo>
                  <a:pt x="30316" y="38130"/>
                  <a:pt x="36072" y="17424"/>
                  <a:pt x="44485" y="3829"/>
                </a:cubicBezTo>
                <a:cubicBezTo>
                  <a:pt x="20497" y="12319"/>
                  <a:pt x="2839" y="34171"/>
                  <a:pt x="391" y="60424"/>
                </a:cubicBezTo>
                <a:lnTo>
                  <a:pt x="29405" y="60424"/>
                </a:lnTo>
                <a:close/>
                <a:moveTo>
                  <a:pt x="391" y="72926"/>
                </a:moveTo>
                <a:cubicBezTo>
                  <a:pt x="2839" y="99179"/>
                  <a:pt x="20497" y="121031"/>
                  <a:pt x="44485" y="129521"/>
                </a:cubicBezTo>
                <a:cubicBezTo>
                  <a:pt x="36072" y="115926"/>
                  <a:pt x="30316" y="95220"/>
                  <a:pt x="29405" y="72926"/>
                </a:cubicBezTo>
                <a:lnTo>
                  <a:pt x="391" y="72926"/>
                </a:lnTo>
                <a:close/>
                <a:moveTo>
                  <a:pt x="104154" y="72926"/>
                </a:moveTo>
                <a:cubicBezTo>
                  <a:pt x="103242" y="95220"/>
                  <a:pt x="97486" y="115926"/>
                  <a:pt x="89074" y="129521"/>
                </a:cubicBezTo>
                <a:cubicBezTo>
                  <a:pt x="113061" y="121005"/>
                  <a:pt x="130719" y="99179"/>
                  <a:pt x="133168" y="72926"/>
                </a:cubicBezTo>
                <a:lnTo>
                  <a:pt x="104154" y="72926"/>
                </a:lnTo>
                <a:close/>
                <a:moveTo>
                  <a:pt x="133168" y="60424"/>
                </a:moveTo>
                <a:cubicBezTo>
                  <a:pt x="130719" y="34171"/>
                  <a:pt x="113061" y="12319"/>
                  <a:pt x="89074" y="3829"/>
                </a:cubicBezTo>
                <a:cubicBezTo>
                  <a:pt x="97486" y="17424"/>
                  <a:pt x="103242" y="38130"/>
                  <a:pt x="104154" y="60424"/>
                </a:cubicBezTo>
                <a:lnTo>
                  <a:pt x="133168" y="60424"/>
                </a:lnTo>
                <a:close/>
              </a:path>
            </a:pathLst>
          </a:custGeom>
          <a:solidFill>
            <a:srgbClr val="DDFF00"/>
          </a:solidFill>
          <a:ln/>
        </p:spPr>
      </p:sp>
      <p:sp>
        <p:nvSpPr>
          <p:cNvPr id="36" name="Text 34"/>
          <p:cNvSpPr/>
          <p:nvPr/>
        </p:nvSpPr>
        <p:spPr>
          <a:xfrm>
            <a:off x="6605588" y="3200400"/>
            <a:ext cx="1295400" cy="190500"/>
          </a:xfrm>
          <a:prstGeom prst="rect">
            <a:avLst/>
          </a:prstGeom>
          <a:noFill/>
          <a:ln/>
        </p:spPr>
        <p:txBody>
          <a:bodyPr wrap="square" lIns="0" tIns="0" rIns="0" bIns="0" rtlCol="0" anchor="ctr"/>
          <a:lstStyle/>
          <a:p>
            <a:pPr>
              <a:lnSpc>
                <a:spcPct val="120000"/>
              </a:lnSpc>
            </a:pPr>
            <a:r>
              <a:rPr lang="en-US" sz="1050" dirty="0">
                <a:solidFill>
                  <a:srgbClr val="FFFFFF">
                    <a:alpha val="70000"/>
                  </a:srgbClr>
                </a:solidFill>
                <a:latin typeface="Liter" pitchFamily="34" charset="0"/>
                <a:ea typeface="Liter" pitchFamily="34" charset="-122"/>
                <a:cs typeface="Liter" pitchFamily="34" charset="-120"/>
              </a:rPr>
              <a:t>Jurisdiction conflicts</a:t>
            </a:r>
            <a:endParaRPr lang="en-US" sz="1600" dirty="0"/>
          </a:p>
        </p:txBody>
      </p:sp>
      <p:sp>
        <p:nvSpPr>
          <p:cNvPr id="37" name="Shape 35"/>
          <p:cNvSpPr/>
          <p:nvPr/>
        </p:nvSpPr>
        <p:spPr>
          <a:xfrm>
            <a:off x="6365081" y="3495675"/>
            <a:ext cx="166688" cy="133350"/>
          </a:xfrm>
          <a:custGeom>
            <a:avLst/>
            <a:gdLst/>
            <a:ahLst/>
            <a:cxnLst/>
            <a:rect l="l" t="t" r="r" b="b"/>
            <a:pathLst>
              <a:path w="166688" h="133350">
                <a:moveTo>
                  <a:pt x="100013" y="8334"/>
                </a:moveTo>
                <a:lnTo>
                  <a:pt x="133350" y="8334"/>
                </a:lnTo>
                <a:cubicBezTo>
                  <a:pt x="137960" y="8334"/>
                  <a:pt x="141684" y="12059"/>
                  <a:pt x="141684" y="16669"/>
                </a:cubicBezTo>
                <a:cubicBezTo>
                  <a:pt x="141684" y="21279"/>
                  <a:pt x="137960" y="25003"/>
                  <a:pt x="133350" y="25003"/>
                </a:cubicBezTo>
                <a:lnTo>
                  <a:pt x="103763" y="25003"/>
                </a:lnTo>
                <a:cubicBezTo>
                  <a:pt x="102409" y="31723"/>
                  <a:pt x="97799" y="37270"/>
                  <a:pt x="91678" y="39927"/>
                </a:cubicBezTo>
                <a:lnTo>
                  <a:pt x="91678" y="116681"/>
                </a:lnTo>
                <a:lnTo>
                  <a:pt x="133350" y="116681"/>
                </a:lnTo>
                <a:cubicBezTo>
                  <a:pt x="137960" y="116681"/>
                  <a:pt x="141684" y="120406"/>
                  <a:pt x="141684" y="125016"/>
                </a:cubicBezTo>
                <a:cubicBezTo>
                  <a:pt x="141684" y="129626"/>
                  <a:pt x="137960" y="133350"/>
                  <a:pt x="133350" y="133350"/>
                </a:cubicBezTo>
                <a:lnTo>
                  <a:pt x="33337" y="133350"/>
                </a:lnTo>
                <a:cubicBezTo>
                  <a:pt x="28728" y="133350"/>
                  <a:pt x="25003" y="129626"/>
                  <a:pt x="25003" y="125016"/>
                </a:cubicBezTo>
                <a:cubicBezTo>
                  <a:pt x="25003" y="120406"/>
                  <a:pt x="28728" y="116681"/>
                  <a:pt x="33337" y="116681"/>
                </a:cubicBezTo>
                <a:lnTo>
                  <a:pt x="75009" y="116681"/>
                </a:lnTo>
                <a:lnTo>
                  <a:pt x="75009" y="39927"/>
                </a:lnTo>
                <a:cubicBezTo>
                  <a:pt x="68889" y="37244"/>
                  <a:pt x="64279" y="31697"/>
                  <a:pt x="62925" y="25003"/>
                </a:cubicBezTo>
                <a:lnTo>
                  <a:pt x="33337" y="25003"/>
                </a:lnTo>
                <a:cubicBezTo>
                  <a:pt x="28728" y="25003"/>
                  <a:pt x="25003" y="21279"/>
                  <a:pt x="25003" y="16669"/>
                </a:cubicBezTo>
                <a:cubicBezTo>
                  <a:pt x="25003" y="12059"/>
                  <a:pt x="28728" y="8334"/>
                  <a:pt x="33337" y="8334"/>
                </a:cubicBezTo>
                <a:lnTo>
                  <a:pt x="66675" y="8334"/>
                </a:lnTo>
                <a:cubicBezTo>
                  <a:pt x="70478" y="3282"/>
                  <a:pt x="76520" y="0"/>
                  <a:pt x="83344" y="0"/>
                </a:cubicBezTo>
                <a:cubicBezTo>
                  <a:pt x="90168" y="0"/>
                  <a:pt x="96210" y="3282"/>
                  <a:pt x="100013" y="8334"/>
                </a:cubicBezTo>
                <a:close/>
                <a:moveTo>
                  <a:pt x="114493" y="83344"/>
                </a:moveTo>
                <a:lnTo>
                  <a:pt x="152207" y="83344"/>
                </a:lnTo>
                <a:lnTo>
                  <a:pt x="133350" y="50996"/>
                </a:lnTo>
                <a:lnTo>
                  <a:pt x="114493" y="83344"/>
                </a:lnTo>
                <a:close/>
                <a:moveTo>
                  <a:pt x="133350" y="108347"/>
                </a:moveTo>
                <a:cubicBezTo>
                  <a:pt x="116968" y="108347"/>
                  <a:pt x="103346" y="99492"/>
                  <a:pt x="100533" y="87797"/>
                </a:cubicBezTo>
                <a:cubicBezTo>
                  <a:pt x="99856" y="84932"/>
                  <a:pt x="100794" y="81989"/>
                  <a:pt x="102278" y="79437"/>
                </a:cubicBezTo>
                <a:lnTo>
                  <a:pt x="127073" y="36932"/>
                </a:lnTo>
                <a:cubicBezTo>
                  <a:pt x="128375" y="34692"/>
                  <a:pt x="130772" y="33337"/>
                  <a:pt x="133350" y="33337"/>
                </a:cubicBezTo>
                <a:cubicBezTo>
                  <a:pt x="135928" y="33337"/>
                  <a:pt x="138325" y="34718"/>
                  <a:pt x="139627" y="36932"/>
                </a:cubicBezTo>
                <a:lnTo>
                  <a:pt x="164422" y="79437"/>
                </a:lnTo>
                <a:cubicBezTo>
                  <a:pt x="165906" y="81989"/>
                  <a:pt x="166844" y="84932"/>
                  <a:pt x="166167" y="87797"/>
                </a:cubicBezTo>
                <a:cubicBezTo>
                  <a:pt x="163354" y="99466"/>
                  <a:pt x="149732" y="108347"/>
                  <a:pt x="133350" y="108347"/>
                </a:cubicBezTo>
                <a:close/>
                <a:moveTo>
                  <a:pt x="33025" y="50996"/>
                </a:moveTo>
                <a:lnTo>
                  <a:pt x="14168" y="83344"/>
                </a:lnTo>
                <a:lnTo>
                  <a:pt x="51908" y="83344"/>
                </a:lnTo>
                <a:lnTo>
                  <a:pt x="33025" y="50996"/>
                </a:lnTo>
                <a:close/>
                <a:moveTo>
                  <a:pt x="234" y="87797"/>
                </a:moveTo>
                <a:cubicBezTo>
                  <a:pt x="-443" y="84932"/>
                  <a:pt x="495" y="81989"/>
                  <a:pt x="1979" y="79437"/>
                </a:cubicBezTo>
                <a:lnTo>
                  <a:pt x="26774" y="36932"/>
                </a:lnTo>
                <a:cubicBezTo>
                  <a:pt x="28076" y="34692"/>
                  <a:pt x="30473" y="33337"/>
                  <a:pt x="33051" y="33337"/>
                </a:cubicBezTo>
                <a:cubicBezTo>
                  <a:pt x="35629" y="33337"/>
                  <a:pt x="38026" y="34718"/>
                  <a:pt x="39328" y="36932"/>
                </a:cubicBezTo>
                <a:lnTo>
                  <a:pt x="64123" y="79437"/>
                </a:lnTo>
                <a:cubicBezTo>
                  <a:pt x="65607" y="81989"/>
                  <a:pt x="66545" y="84932"/>
                  <a:pt x="65868" y="87797"/>
                </a:cubicBezTo>
                <a:cubicBezTo>
                  <a:pt x="63055" y="99466"/>
                  <a:pt x="49433" y="108347"/>
                  <a:pt x="33051" y="108347"/>
                </a:cubicBezTo>
                <a:cubicBezTo>
                  <a:pt x="16669" y="108347"/>
                  <a:pt x="3047" y="99492"/>
                  <a:pt x="234" y="87797"/>
                </a:cubicBezTo>
                <a:close/>
              </a:path>
            </a:pathLst>
          </a:custGeom>
          <a:solidFill>
            <a:srgbClr val="DDFF00"/>
          </a:solidFill>
          <a:ln/>
        </p:spPr>
      </p:sp>
      <p:sp>
        <p:nvSpPr>
          <p:cNvPr id="38" name="Text 36"/>
          <p:cNvSpPr/>
          <p:nvPr/>
        </p:nvSpPr>
        <p:spPr>
          <a:xfrm>
            <a:off x="6605588" y="3467100"/>
            <a:ext cx="1409700" cy="190500"/>
          </a:xfrm>
          <a:prstGeom prst="rect">
            <a:avLst/>
          </a:prstGeom>
          <a:noFill/>
          <a:ln/>
        </p:spPr>
        <p:txBody>
          <a:bodyPr wrap="square" lIns="0" tIns="0" rIns="0" bIns="0" rtlCol="0" anchor="ctr"/>
          <a:lstStyle/>
          <a:p>
            <a:pPr>
              <a:lnSpc>
                <a:spcPct val="120000"/>
              </a:lnSpc>
            </a:pPr>
            <a:r>
              <a:rPr lang="en-US" sz="1050" dirty="0">
                <a:solidFill>
                  <a:srgbClr val="FFFFFF">
                    <a:alpha val="70000"/>
                  </a:srgbClr>
                </a:solidFill>
                <a:latin typeface="Liter" pitchFamily="34" charset="0"/>
                <a:ea typeface="Liter" pitchFamily="34" charset="-122"/>
                <a:cs typeface="Liter" pitchFamily="34" charset="-120"/>
              </a:rPr>
              <a:t>Regulatory compliance</a:t>
            </a:r>
            <a:endParaRPr lang="en-US" sz="1600" dirty="0"/>
          </a:p>
        </p:txBody>
      </p:sp>
      <p:sp>
        <p:nvSpPr>
          <p:cNvPr id="39" name="Shape 37"/>
          <p:cNvSpPr/>
          <p:nvPr/>
        </p:nvSpPr>
        <p:spPr>
          <a:xfrm>
            <a:off x="6398419" y="3762375"/>
            <a:ext cx="100013" cy="133350"/>
          </a:xfrm>
          <a:custGeom>
            <a:avLst/>
            <a:gdLst/>
            <a:ahLst/>
            <a:cxnLst/>
            <a:rect l="l" t="t" r="r" b="b"/>
            <a:pathLst>
              <a:path w="100013" h="133350">
                <a:moveTo>
                  <a:pt x="0" y="16669"/>
                </a:moveTo>
                <a:cubicBezTo>
                  <a:pt x="0" y="7475"/>
                  <a:pt x="7475" y="0"/>
                  <a:pt x="16669" y="0"/>
                </a:cubicBezTo>
                <a:lnTo>
                  <a:pt x="55606" y="0"/>
                </a:lnTo>
                <a:cubicBezTo>
                  <a:pt x="60034" y="0"/>
                  <a:pt x="64279" y="1745"/>
                  <a:pt x="67404" y="4870"/>
                </a:cubicBezTo>
                <a:lnTo>
                  <a:pt x="95142" y="32634"/>
                </a:lnTo>
                <a:cubicBezTo>
                  <a:pt x="98267" y="35760"/>
                  <a:pt x="100013" y="40005"/>
                  <a:pt x="100013" y="44433"/>
                </a:cubicBezTo>
                <a:lnTo>
                  <a:pt x="100013" y="116681"/>
                </a:lnTo>
                <a:cubicBezTo>
                  <a:pt x="100013" y="125875"/>
                  <a:pt x="92538" y="133350"/>
                  <a:pt x="83344" y="133350"/>
                </a:cubicBezTo>
                <a:lnTo>
                  <a:pt x="16669" y="133350"/>
                </a:lnTo>
                <a:cubicBezTo>
                  <a:pt x="7475" y="133350"/>
                  <a:pt x="0" y="125875"/>
                  <a:pt x="0" y="116681"/>
                </a:cubicBezTo>
                <a:lnTo>
                  <a:pt x="0" y="16669"/>
                </a:lnTo>
                <a:close/>
                <a:moveTo>
                  <a:pt x="54173" y="15236"/>
                </a:moveTo>
                <a:lnTo>
                  <a:pt x="54173" y="39588"/>
                </a:lnTo>
                <a:cubicBezTo>
                  <a:pt x="54173" y="43052"/>
                  <a:pt x="56960" y="45839"/>
                  <a:pt x="60424" y="45839"/>
                </a:cubicBezTo>
                <a:lnTo>
                  <a:pt x="84776" y="45839"/>
                </a:lnTo>
                <a:lnTo>
                  <a:pt x="54173" y="15236"/>
                </a:lnTo>
                <a:close/>
                <a:moveTo>
                  <a:pt x="22920" y="16669"/>
                </a:moveTo>
                <a:cubicBezTo>
                  <a:pt x="19456" y="16669"/>
                  <a:pt x="16669" y="19456"/>
                  <a:pt x="16669" y="22920"/>
                </a:cubicBezTo>
                <a:cubicBezTo>
                  <a:pt x="16669" y="26384"/>
                  <a:pt x="19456" y="29170"/>
                  <a:pt x="22920" y="29170"/>
                </a:cubicBezTo>
                <a:lnTo>
                  <a:pt x="35421" y="29170"/>
                </a:lnTo>
                <a:cubicBezTo>
                  <a:pt x="38885" y="29170"/>
                  <a:pt x="41672" y="26384"/>
                  <a:pt x="41672" y="22920"/>
                </a:cubicBezTo>
                <a:cubicBezTo>
                  <a:pt x="41672" y="19456"/>
                  <a:pt x="38885" y="16669"/>
                  <a:pt x="35421" y="16669"/>
                </a:cubicBezTo>
                <a:lnTo>
                  <a:pt x="22920" y="16669"/>
                </a:lnTo>
                <a:close/>
                <a:moveTo>
                  <a:pt x="22920" y="41672"/>
                </a:moveTo>
                <a:cubicBezTo>
                  <a:pt x="19456" y="41672"/>
                  <a:pt x="16669" y="44459"/>
                  <a:pt x="16669" y="47923"/>
                </a:cubicBezTo>
                <a:cubicBezTo>
                  <a:pt x="16669" y="51387"/>
                  <a:pt x="19456" y="54173"/>
                  <a:pt x="22920" y="54173"/>
                </a:cubicBezTo>
                <a:lnTo>
                  <a:pt x="35421" y="54173"/>
                </a:lnTo>
                <a:cubicBezTo>
                  <a:pt x="38885" y="54173"/>
                  <a:pt x="41672" y="51387"/>
                  <a:pt x="41672" y="47923"/>
                </a:cubicBezTo>
                <a:cubicBezTo>
                  <a:pt x="41672" y="44459"/>
                  <a:pt x="38885" y="41672"/>
                  <a:pt x="35421" y="41672"/>
                </a:cubicBezTo>
                <a:lnTo>
                  <a:pt x="22920" y="41672"/>
                </a:lnTo>
                <a:close/>
                <a:moveTo>
                  <a:pt x="41229" y="83344"/>
                </a:moveTo>
                <a:cubicBezTo>
                  <a:pt x="38286" y="83344"/>
                  <a:pt x="35525" y="84672"/>
                  <a:pt x="33702" y="86964"/>
                </a:cubicBezTo>
                <a:lnTo>
                  <a:pt x="18049" y="106524"/>
                </a:lnTo>
                <a:cubicBezTo>
                  <a:pt x="15887" y="109206"/>
                  <a:pt x="16330" y="113165"/>
                  <a:pt x="19013" y="115301"/>
                </a:cubicBezTo>
                <a:cubicBezTo>
                  <a:pt x="21695" y="117437"/>
                  <a:pt x="25654" y="117020"/>
                  <a:pt x="27790" y="114311"/>
                </a:cubicBezTo>
                <a:lnTo>
                  <a:pt x="40057" y="98997"/>
                </a:lnTo>
                <a:lnTo>
                  <a:pt x="44016" y="112202"/>
                </a:lnTo>
                <a:cubicBezTo>
                  <a:pt x="44797" y="114858"/>
                  <a:pt x="47245" y="116655"/>
                  <a:pt x="50006" y="116655"/>
                </a:cubicBezTo>
                <a:lnTo>
                  <a:pt x="77093" y="116655"/>
                </a:lnTo>
                <a:cubicBezTo>
                  <a:pt x="80557" y="116655"/>
                  <a:pt x="83344" y="113868"/>
                  <a:pt x="83344" y="110404"/>
                </a:cubicBezTo>
                <a:cubicBezTo>
                  <a:pt x="83344" y="106940"/>
                  <a:pt x="80557" y="104154"/>
                  <a:pt x="77093" y="104154"/>
                </a:cubicBezTo>
                <a:lnTo>
                  <a:pt x="54668" y="104154"/>
                </a:lnTo>
                <a:lnTo>
                  <a:pt x="50475" y="90194"/>
                </a:lnTo>
                <a:cubicBezTo>
                  <a:pt x="49251" y="86105"/>
                  <a:pt x="45500" y="83318"/>
                  <a:pt x="41229" y="83318"/>
                </a:cubicBezTo>
                <a:close/>
              </a:path>
            </a:pathLst>
          </a:custGeom>
          <a:solidFill>
            <a:srgbClr val="DDFF00"/>
          </a:solidFill>
          <a:ln/>
        </p:spPr>
      </p:sp>
      <p:sp>
        <p:nvSpPr>
          <p:cNvPr id="40" name="Text 38"/>
          <p:cNvSpPr/>
          <p:nvPr/>
        </p:nvSpPr>
        <p:spPr>
          <a:xfrm>
            <a:off x="6605588" y="3733800"/>
            <a:ext cx="1362075" cy="190500"/>
          </a:xfrm>
          <a:prstGeom prst="rect">
            <a:avLst/>
          </a:prstGeom>
          <a:noFill/>
          <a:ln/>
        </p:spPr>
        <p:txBody>
          <a:bodyPr wrap="square" lIns="0" tIns="0" rIns="0" bIns="0" rtlCol="0" anchor="ctr"/>
          <a:lstStyle/>
          <a:p>
            <a:pPr>
              <a:lnSpc>
                <a:spcPct val="120000"/>
              </a:lnSpc>
            </a:pPr>
            <a:r>
              <a:rPr lang="en-US" sz="1050" dirty="0">
                <a:solidFill>
                  <a:srgbClr val="FFFFFF">
                    <a:alpha val="70000"/>
                  </a:srgbClr>
                </a:solidFill>
                <a:latin typeface="Liter" pitchFamily="34" charset="0"/>
                <a:ea typeface="Liter" pitchFamily="34" charset="-122"/>
                <a:cs typeface="Liter" pitchFamily="34" charset="-120"/>
              </a:rPr>
              <a:t>Contract enforcement</a:t>
            </a:r>
            <a:endParaRPr lang="en-US" sz="1600" dirty="0"/>
          </a:p>
        </p:txBody>
      </p:sp>
      <p:sp>
        <p:nvSpPr>
          <p:cNvPr id="41" name="Shape 39"/>
          <p:cNvSpPr/>
          <p:nvPr/>
        </p:nvSpPr>
        <p:spPr>
          <a:xfrm>
            <a:off x="9086850" y="1181100"/>
            <a:ext cx="2724150" cy="2895600"/>
          </a:xfrm>
          <a:custGeom>
            <a:avLst/>
            <a:gdLst/>
            <a:ahLst/>
            <a:cxnLst/>
            <a:rect l="l" t="t" r="r" b="b"/>
            <a:pathLst>
              <a:path w="2724150" h="2895600">
                <a:moveTo>
                  <a:pt x="0" y="0"/>
                </a:moveTo>
                <a:lnTo>
                  <a:pt x="2724150" y="0"/>
                </a:lnTo>
                <a:lnTo>
                  <a:pt x="2724150" y="2895600"/>
                </a:lnTo>
                <a:lnTo>
                  <a:pt x="0" y="2895600"/>
                </a:lnTo>
                <a:lnTo>
                  <a:pt x="0" y="0"/>
                </a:lnTo>
                <a:close/>
              </a:path>
            </a:pathLst>
          </a:custGeom>
          <a:solidFill>
            <a:srgbClr val="111111"/>
          </a:solidFill>
          <a:ln/>
        </p:spPr>
      </p:sp>
      <p:sp>
        <p:nvSpPr>
          <p:cNvPr id="42" name="Shape 40"/>
          <p:cNvSpPr/>
          <p:nvPr/>
        </p:nvSpPr>
        <p:spPr>
          <a:xfrm>
            <a:off x="9086850" y="1181100"/>
            <a:ext cx="38100" cy="2895600"/>
          </a:xfrm>
          <a:custGeom>
            <a:avLst/>
            <a:gdLst/>
            <a:ahLst/>
            <a:cxnLst/>
            <a:rect l="l" t="t" r="r" b="b"/>
            <a:pathLst>
              <a:path w="38100" h="2895600">
                <a:moveTo>
                  <a:pt x="0" y="0"/>
                </a:moveTo>
                <a:lnTo>
                  <a:pt x="38100" y="0"/>
                </a:lnTo>
                <a:lnTo>
                  <a:pt x="38100" y="2895600"/>
                </a:lnTo>
                <a:lnTo>
                  <a:pt x="0" y="2895600"/>
                </a:lnTo>
                <a:lnTo>
                  <a:pt x="0" y="0"/>
                </a:lnTo>
                <a:close/>
              </a:path>
            </a:pathLst>
          </a:custGeom>
          <a:solidFill>
            <a:srgbClr val="DDFF00"/>
          </a:solidFill>
          <a:ln/>
        </p:spPr>
      </p:sp>
      <p:sp>
        <p:nvSpPr>
          <p:cNvPr id="43" name="Shape 41"/>
          <p:cNvSpPr/>
          <p:nvPr/>
        </p:nvSpPr>
        <p:spPr>
          <a:xfrm>
            <a:off x="9258300" y="1333500"/>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solidFill>
            <a:srgbClr val="DDFF00"/>
          </a:solidFill>
          <a:ln/>
        </p:spPr>
      </p:sp>
      <p:sp>
        <p:nvSpPr>
          <p:cNvPr id="44" name="Shape 42"/>
          <p:cNvSpPr/>
          <p:nvPr/>
        </p:nvSpPr>
        <p:spPr>
          <a:xfrm>
            <a:off x="9403556" y="1466850"/>
            <a:ext cx="166688" cy="190500"/>
          </a:xfrm>
          <a:custGeom>
            <a:avLst/>
            <a:gdLst/>
            <a:ahLst/>
            <a:cxnLst/>
            <a:rect l="l" t="t" r="r" b="b"/>
            <a:pathLst>
              <a:path w="166688" h="190500">
                <a:moveTo>
                  <a:pt x="23812" y="11906"/>
                </a:moveTo>
                <a:cubicBezTo>
                  <a:pt x="10678" y="11906"/>
                  <a:pt x="0" y="22585"/>
                  <a:pt x="0" y="35719"/>
                </a:cubicBezTo>
                <a:lnTo>
                  <a:pt x="0" y="59531"/>
                </a:lnTo>
                <a:cubicBezTo>
                  <a:pt x="0" y="72665"/>
                  <a:pt x="10678" y="83344"/>
                  <a:pt x="23812" y="83344"/>
                </a:cubicBezTo>
                <a:lnTo>
                  <a:pt x="142875" y="83344"/>
                </a:lnTo>
                <a:cubicBezTo>
                  <a:pt x="156009" y="83344"/>
                  <a:pt x="166688" y="72665"/>
                  <a:pt x="166688" y="59531"/>
                </a:cubicBezTo>
                <a:lnTo>
                  <a:pt x="166688" y="35719"/>
                </a:lnTo>
                <a:cubicBezTo>
                  <a:pt x="166688" y="22585"/>
                  <a:pt x="156009" y="11906"/>
                  <a:pt x="142875" y="11906"/>
                </a:cubicBezTo>
                <a:lnTo>
                  <a:pt x="23812" y="11906"/>
                </a:lnTo>
                <a:close/>
                <a:moveTo>
                  <a:pt x="104180" y="38695"/>
                </a:moveTo>
                <a:cubicBezTo>
                  <a:pt x="109108" y="38695"/>
                  <a:pt x="113109" y="42697"/>
                  <a:pt x="113109" y="47625"/>
                </a:cubicBezTo>
                <a:cubicBezTo>
                  <a:pt x="113109" y="52553"/>
                  <a:pt x="109108" y="56555"/>
                  <a:pt x="104180" y="56555"/>
                </a:cubicBezTo>
                <a:cubicBezTo>
                  <a:pt x="99251" y="56555"/>
                  <a:pt x="95250" y="52553"/>
                  <a:pt x="95250" y="47625"/>
                </a:cubicBezTo>
                <a:cubicBezTo>
                  <a:pt x="95250" y="42697"/>
                  <a:pt x="99251" y="38695"/>
                  <a:pt x="104180" y="38695"/>
                </a:cubicBezTo>
                <a:close/>
                <a:moveTo>
                  <a:pt x="125016" y="47625"/>
                </a:moveTo>
                <a:cubicBezTo>
                  <a:pt x="125016" y="42697"/>
                  <a:pt x="129017" y="38695"/>
                  <a:pt x="133945" y="38695"/>
                </a:cubicBezTo>
                <a:cubicBezTo>
                  <a:pt x="138874" y="38695"/>
                  <a:pt x="142875" y="42697"/>
                  <a:pt x="142875" y="47625"/>
                </a:cubicBezTo>
                <a:cubicBezTo>
                  <a:pt x="142875" y="52553"/>
                  <a:pt x="138874" y="56555"/>
                  <a:pt x="133945" y="56555"/>
                </a:cubicBezTo>
                <a:cubicBezTo>
                  <a:pt x="129017" y="56555"/>
                  <a:pt x="125016" y="52553"/>
                  <a:pt x="125016" y="47625"/>
                </a:cubicBezTo>
                <a:close/>
                <a:moveTo>
                  <a:pt x="23812" y="107156"/>
                </a:moveTo>
                <a:cubicBezTo>
                  <a:pt x="10678" y="107156"/>
                  <a:pt x="0" y="117835"/>
                  <a:pt x="0" y="130969"/>
                </a:cubicBezTo>
                <a:lnTo>
                  <a:pt x="0" y="154781"/>
                </a:lnTo>
                <a:cubicBezTo>
                  <a:pt x="0" y="167915"/>
                  <a:pt x="10678" y="178594"/>
                  <a:pt x="23812" y="178594"/>
                </a:cubicBezTo>
                <a:lnTo>
                  <a:pt x="142875" y="178594"/>
                </a:lnTo>
                <a:cubicBezTo>
                  <a:pt x="156009" y="178594"/>
                  <a:pt x="166688" y="167915"/>
                  <a:pt x="166688" y="154781"/>
                </a:cubicBezTo>
                <a:lnTo>
                  <a:pt x="166688" y="130969"/>
                </a:lnTo>
                <a:cubicBezTo>
                  <a:pt x="166688" y="117835"/>
                  <a:pt x="156009" y="107156"/>
                  <a:pt x="142875" y="107156"/>
                </a:cubicBezTo>
                <a:lnTo>
                  <a:pt x="23812" y="107156"/>
                </a:lnTo>
                <a:close/>
                <a:moveTo>
                  <a:pt x="104180" y="133945"/>
                </a:moveTo>
                <a:cubicBezTo>
                  <a:pt x="109108" y="133945"/>
                  <a:pt x="113109" y="137947"/>
                  <a:pt x="113109" y="142875"/>
                </a:cubicBezTo>
                <a:cubicBezTo>
                  <a:pt x="113109" y="147803"/>
                  <a:pt x="109108" y="151805"/>
                  <a:pt x="104180" y="151805"/>
                </a:cubicBezTo>
                <a:cubicBezTo>
                  <a:pt x="99251" y="151805"/>
                  <a:pt x="95250" y="147803"/>
                  <a:pt x="95250" y="142875"/>
                </a:cubicBezTo>
                <a:cubicBezTo>
                  <a:pt x="95250" y="137947"/>
                  <a:pt x="99251" y="133945"/>
                  <a:pt x="104180" y="133945"/>
                </a:cubicBezTo>
                <a:close/>
                <a:moveTo>
                  <a:pt x="125016" y="142875"/>
                </a:moveTo>
                <a:cubicBezTo>
                  <a:pt x="125016" y="137947"/>
                  <a:pt x="129017" y="133945"/>
                  <a:pt x="133945" y="133945"/>
                </a:cubicBezTo>
                <a:cubicBezTo>
                  <a:pt x="138874" y="133945"/>
                  <a:pt x="142875" y="137947"/>
                  <a:pt x="142875" y="142875"/>
                </a:cubicBezTo>
                <a:cubicBezTo>
                  <a:pt x="142875" y="147803"/>
                  <a:pt x="138874" y="151805"/>
                  <a:pt x="133945" y="151805"/>
                </a:cubicBezTo>
                <a:cubicBezTo>
                  <a:pt x="129017" y="151805"/>
                  <a:pt x="125016" y="147803"/>
                  <a:pt x="125016" y="142875"/>
                </a:cubicBezTo>
                <a:close/>
              </a:path>
            </a:pathLst>
          </a:custGeom>
          <a:solidFill>
            <a:srgbClr val="000000"/>
          </a:solidFill>
          <a:ln/>
        </p:spPr>
      </p:sp>
      <p:sp>
        <p:nvSpPr>
          <p:cNvPr id="45" name="Text 43"/>
          <p:cNvSpPr/>
          <p:nvPr/>
        </p:nvSpPr>
        <p:spPr>
          <a:xfrm>
            <a:off x="9829800" y="1428750"/>
            <a:ext cx="1333500" cy="266700"/>
          </a:xfrm>
          <a:prstGeom prst="rect">
            <a:avLst/>
          </a:prstGeom>
          <a:noFill/>
          <a:ln/>
        </p:spPr>
        <p:txBody>
          <a:bodyPr wrap="square" lIns="0" tIns="0" rIns="0" bIns="0" rtlCol="0" anchor="ctr"/>
          <a:lstStyle/>
          <a:p>
            <a:pPr>
              <a:lnSpc>
                <a:spcPct val="130000"/>
              </a:lnSpc>
            </a:pPr>
            <a:r>
              <a:rPr lang="en-US" sz="1350" b="1" dirty="0">
                <a:solidFill>
                  <a:srgbClr val="FFFFFF"/>
                </a:solidFill>
                <a:latin typeface="Liter" pitchFamily="34" charset="0"/>
                <a:ea typeface="Liter" pitchFamily="34" charset="-122"/>
                <a:cs typeface="Liter" pitchFamily="34" charset="-120"/>
              </a:rPr>
              <a:t>Technical Issues</a:t>
            </a:r>
            <a:endParaRPr lang="en-US" sz="1600" dirty="0"/>
          </a:p>
        </p:txBody>
      </p:sp>
      <p:sp>
        <p:nvSpPr>
          <p:cNvPr id="46" name="Text 44"/>
          <p:cNvSpPr/>
          <p:nvPr/>
        </p:nvSpPr>
        <p:spPr>
          <a:xfrm>
            <a:off x="9258300" y="1905000"/>
            <a:ext cx="2476500" cy="1143000"/>
          </a:xfrm>
          <a:prstGeom prst="rect">
            <a:avLst/>
          </a:prstGeom>
          <a:noFill/>
          <a:ln/>
        </p:spPr>
        <p:txBody>
          <a:bodyPr wrap="square" lIns="0" tIns="0" rIns="0" bIns="0" rtlCol="0" anchor="ctr"/>
          <a:lstStyle/>
          <a:p>
            <a:pPr>
              <a:lnSpc>
                <a:spcPct val="130000"/>
              </a:lnSpc>
            </a:pPr>
            <a:r>
              <a:rPr lang="en-US" sz="1200" dirty="0">
                <a:solidFill>
                  <a:srgbClr val="FFFFFF">
                    <a:alpha val="80000"/>
                  </a:srgbClr>
                </a:solidFill>
                <a:latin typeface="Liter" pitchFamily="34" charset="0"/>
                <a:ea typeface="Liter" pitchFamily="34" charset="-122"/>
                <a:cs typeface="Liter" pitchFamily="34" charset="-120"/>
              </a:rPr>
              <a:t>Infrastructure problems that affect website availability and performance.</a:t>
            </a:r>
            <a:endParaRPr lang="en-US" sz="1600" dirty="0"/>
          </a:p>
        </p:txBody>
      </p:sp>
      <p:sp>
        <p:nvSpPr>
          <p:cNvPr id="47" name="Shape 45"/>
          <p:cNvSpPr/>
          <p:nvPr/>
        </p:nvSpPr>
        <p:spPr>
          <a:xfrm>
            <a:off x="9258300" y="3162300"/>
            <a:ext cx="2400300" cy="342900"/>
          </a:xfrm>
          <a:custGeom>
            <a:avLst/>
            <a:gdLst/>
            <a:ahLst/>
            <a:cxnLst/>
            <a:rect l="l" t="t" r="r" b="b"/>
            <a:pathLst>
              <a:path w="2400300" h="342900">
                <a:moveTo>
                  <a:pt x="0" y="0"/>
                </a:moveTo>
                <a:lnTo>
                  <a:pt x="2400300" y="0"/>
                </a:lnTo>
                <a:lnTo>
                  <a:pt x="2400300" y="342900"/>
                </a:lnTo>
                <a:lnTo>
                  <a:pt x="0" y="342900"/>
                </a:lnTo>
                <a:lnTo>
                  <a:pt x="0" y="0"/>
                </a:lnTo>
                <a:close/>
              </a:path>
            </a:pathLst>
          </a:custGeom>
          <a:solidFill>
            <a:srgbClr val="000000"/>
          </a:solidFill>
          <a:ln/>
        </p:spPr>
      </p:sp>
      <p:sp>
        <p:nvSpPr>
          <p:cNvPr id="48" name="Shape 46"/>
          <p:cNvSpPr/>
          <p:nvPr/>
        </p:nvSpPr>
        <p:spPr>
          <a:xfrm>
            <a:off x="9353550" y="3267075"/>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43495" y="43495"/>
                </a:moveTo>
                <a:cubicBezTo>
                  <a:pt x="45943" y="41047"/>
                  <a:pt x="49902" y="41047"/>
                  <a:pt x="52324" y="43495"/>
                </a:cubicBezTo>
                <a:lnTo>
                  <a:pt x="66649" y="57820"/>
                </a:lnTo>
                <a:lnTo>
                  <a:pt x="80974" y="43495"/>
                </a:lnTo>
                <a:cubicBezTo>
                  <a:pt x="83422" y="41047"/>
                  <a:pt x="87381" y="41047"/>
                  <a:pt x="89803" y="43495"/>
                </a:cubicBezTo>
                <a:cubicBezTo>
                  <a:pt x="92225" y="45943"/>
                  <a:pt x="92251" y="49902"/>
                  <a:pt x="89803" y="52324"/>
                </a:cubicBezTo>
                <a:lnTo>
                  <a:pt x="75478" y="66649"/>
                </a:lnTo>
                <a:lnTo>
                  <a:pt x="89803" y="80974"/>
                </a:lnTo>
                <a:cubicBezTo>
                  <a:pt x="92251" y="83422"/>
                  <a:pt x="92251" y="87381"/>
                  <a:pt x="89803" y="89803"/>
                </a:cubicBezTo>
                <a:cubicBezTo>
                  <a:pt x="87355" y="92225"/>
                  <a:pt x="83396" y="92251"/>
                  <a:pt x="80974" y="89803"/>
                </a:cubicBezTo>
                <a:lnTo>
                  <a:pt x="66649" y="75478"/>
                </a:lnTo>
                <a:lnTo>
                  <a:pt x="52324" y="89803"/>
                </a:lnTo>
                <a:cubicBezTo>
                  <a:pt x="49876" y="92251"/>
                  <a:pt x="45917" y="92251"/>
                  <a:pt x="43495" y="89803"/>
                </a:cubicBezTo>
                <a:cubicBezTo>
                  <a:pt x="41073" y="87355"/>
                  <a:pt x="41047" y="83396"/>
                  <a:pt x="43495" y="80974"/>
                </a:cubicBezTo>
                <a:lnTo>
                  <a:pt x="57820" y="66649"/>
                </a:lnTo>
                <a:lnTo>
                  <a:pt x="43495" y="52324"/>
                </a:lnTo>
                <a:cubicBezTo>
                  <a:pt x="41047" y="49876"/>
                  <a:pt x="41047" y="45917"/>
                  <a:pt x="43495" y="43495"/>
                </a:cubicBezTo>
                <a:close/>
              </a:path>
            </a:pathLst>
          </a:custGeom>
          <a:solidFill>
            <a:srgbClr val="DDFF00"/>
          </a:solidFill>
          <a:ln/>
        </p:spPr>
      </p:sp>
      <p:sp>
        <p:nvSpPr>
          <p:cNvPr id="49" name="Text 47"/>
          <p:cNvSpPr/>
          <p:nvPr/>
        </p:nvSpPr>
        <p:spPr>
          <a:xfrm>
            <a:off x="9577388" y="3238500"/>
            <a:ext cx="1190625" cy="190500"/>
          </a:xfrm>
          <a:prstGeom prst="rect">
            <a:avLst/>
          </a:prstGeom>
          <a:noFill/>
          <a:ln/>
        </p:spPr>
        <p:txBody>
          <a:bodyPr wrap="square" lIns="0" tIns="0" rIns="0" bIns="0" rtlCol="0" anchor="ctr"/>
          <a:lstStyle/>
          <a:p>
            <a:pPr>
              <a:lnSpc>
                <a:spcPct val="120000"/>
              </a:lnSpc>
            </a:pPr>
            <a:r>
              <a:rPr lang="en-US" sz="1050" dirty="0">
                <a:solidFill>
                  <a:srgbClr val="FFFFFF"/>
                </a:solidFill>
                <a:latin typeface="Liter" pitchFamily="34" charset="0"/>
                <a:ea typeface="Liter" pitchFamily="34" charset="-122"/>
                <a:cs typeface="Liter" pitchFamily="34" charset="-120"/>
              </a:rPr>
              <a:t>Website Downtime</a:t>
            </a:r>
            <a:endParaRPr lang="en-US" sz="1600" dirty="0"/>
          </a:p>
        </p:txBody>
      </p:sp>
      <p:sp>
        <p:nvSpPr>
          <p:cNvPr id="50" name="Shape 48"/>
          <p:cNvSpPr/>
          <p:nvPr/>
        </p:nvSpPr>
        <p:spPr>
          <a:xfrm>
            <a:off x="9258300" y="3581400"/>
            <a:ext cx="2400300" cy="342900"/>
          </a:xfrm>
          <a:custGeom>
            <a:avLst/>
            <a:gdLst/>
            <a:ahLst/>
            <a:cxnLst/>
            <a:rect l="l" t="t" r="r" b="b"/>
            <a:pathLst>
              <a:path w="2400300" h="342900">
                <a:moveTo>
                  <a:pt x="0" y="0"/>
                </a:moveTo>
                <a:lnTo>
                  <a:pt x="2400300" y="0"/>
                </a:lnTo>
                <a:lnTo>
                  <a:pt x="2400300" y="342900"/>
                </a:lnTo>
                <a:lnTo>
                  <a:pt x="0" y="342900"/>
                </a:lnTo>
                <a:lnTo>
                  <a:pt x="0" y="0"/>
                </a:lnTo>
                <a:close/>
              </a:path>
            </a:pathLst>
          </a:custGeom>
          <a:solidFill>
            <a:srgbClr val="000000"/>
          </a:solidFill>
          <a:ln/>
        </p:spPr>
      </p:sp>
      <p:sp>
        <p:nvSpPr>
          <p:cNvPr id="51" name="Shape 49"/>
          <p:cNvSpPr/>
          <p:nvPr/>
        </p:nvSpPr>
        <p:spPr>
          <a:xfrm>
            <a:off x="9345216" y="3686175"/>
            <a:ext cx="150019" cy="133350"/>
          </a:xfrm>
          <a:custGeom>
            <a:avLst/>
            <a:gdLst/>
            <a:ahLst/>
            <a:cxnLst/>
            <a:rect l="l" t="t" r="r" b="b"/>
            <a:pathLst>
              <a:path w="150019" h="133350">
                <a:moveTo>
                  <a:pt x="125016" y="-4167"/>
                </a:moveTo>
                <a:cubicBezTo>
                  <a:pt x="126813" y="-4167"/>
                  <a:pt x="128401" y="-3021"/>
                  <a:pt x="128974" y="-1328"/>
                </a:cubicBezTo>
                <a:lnTo>
                  <a:pt x="132491" y="9194"/>
                </a:lnTo>
                <a:lnTo>
                  <a:pt x="143013" y="12710"/>
                </a:lnTo>
                <a:cubicBezTo>
                  <a:pt x="144706" y="13283"/>
                  <a:pt x="145852" y="14872"/>
                  <a:pt x="145852" y="16669"/>
                </a:cubicBezTo>
                <a:cubicBezTo>
                  <a:pt x="145852" y="18466"/>
                  <a:pt x="144706" y="20055"/>
                  <a:pt x="143013" y="20628"/>
                </a:cubicBezTo>
                <a:lnTo>
                  <a:pt x="132491" y="24144"/>
                </a:lnTo>
                <a:lnTo>
                  <a:pt x="128974" y="34666"/>
                </a:lnTo>
                <a:cubicBezTo>
                  <a:pt x="128401" y="36359"/>
                  <a:pt x="126813" y="37505"/>
                  <a:pt x="125016" y="37505"/>
                </a:cubicBezTo>
                <a:cubicBezTo>
                  <a:pt x="123219" y="37505"/>
                  <a:pt x="121630" y="36359"/>
                  <a:pt x="121057" y="34666"/>
                </a:cubicBezTo>
                <a:lnTo>
                  <a:pt x="117541" y="24144"/>
                </a:lnTo>
                <a:lnTo>
                  <a:pt x="107019" y="20628"/>
                </a:lnTo>
                <a:cubicBezTo>
                  <a:pt x="105326" y="20055"/>
                  <a:pt x="104180" y="18466"/>
                  <a:pt x="104180" y="16669"/>
                </a:cubicBezTo>
                <a:cubicBezTo>
                  <a:pt x="104180" y="14872"/>
                  <a:pt x="105326" y="13283"/>
                  <a:pt x="107019" y="12710"/>
                </a:cubicBezTo>
                <a:lnTo>
                  <a:pt x="117541" y="9194"/>
                </a:lnTo>
                <a:lnTo>
                  <a:pt x="121057" y="-1328"/>
                </a:lnTo>
                <a:cubicBezTo>
                  <a:pt x="121630" y="-3021"/>
                  <a:pt x="123219" y="-4167"/>
                  <a:pt x="125016" y="-4167"/>
                </a:cubicBezTo>
                <a:close/>
                <a:moveTo>
                  <a:pt x="83708" y="25368"/>
                </a:moveTo>
                <a:cubicBezTo>
                  <a:pt x="86964" y="22112"/>
                  <a:pt x="92251" y="22112"/>
                  <a:pt x="95507" y="25368"/>
                </a:cubicBezTo>
                <a:lnTo>
                  <a:pt x="116343" y="46204"/>
                </a:lnTo>
                <a:cubicBezTo>
                  <a:pt x="119598" y="49459"/>
                  <a:pt x="119598" y="54746"/>
                  <a:pt x="116343" y="58002"/>
                </a:cubicBezTo>
                <a:lnTo>
                  <a:pt x="113504" y="60841"/>
                </a:lnTo>
                <a:cubicBezTo>
                  <a:pt x="115561" y="66571"/>
                  <a:pt x="116681" y="72743"/>
                  <a:pt x="116681" y="79203"/>
                </a:cubicBezTo>
                <a:cubicBezTo>
                  <a:pt x="116681" y="109128"/>
                  <a:pt x="92433" y="133376"/>
                  <a:pt x="62508" y="133376"/>
                </a:cubicBezTo>
                <a:cubicBezTo>
                  <a:pt x="32582" y="133376"/>
                  <a:pt x="8334" y="109102"/>
                  <a:pt x="8334" y="79177"/>
                </a:cubicBezTo>
                <a:cubicBezTo>
                  <a:pt x="8334" y="49251"/>
                  <a:pt x="32582" y="25003"/>
                  <a:pt x="62508" y="25003"/>
                </a:cubicBezTo>
                <a:cubicBezTo>
                  <a:pt x="68941" y="25003"/>
                  <a:pt x="75140" y="26123"/>
                  <a:pt x="80869" y="28207"/>
                </a:cubicBezTo>
                <a:lnTo>
                  <a:pt x="83708" y="25368"/>
                </a:lnTo>
                <a:close/>
                <a:moveTo>
                  <a:pt x="37505" y="79177"/>
                </a:moveTo>
                <a:cubicBezTo>
                  <a:pt x="37505" y="65373"/>
                  <a:pt x="48704" y="54173"/>
                  <a:pt x="62508" y="54173"/>
                </a:cubicBezTo>
                <a:cubicBezTo>
                  <a:pt x="65972" y="54173"/>
                  <a:pt x="68759" y="51387"/>
                  <a:pt x="68759" y="47923"/>
                </a:cubicBezTo>
                <a:cubicBezTo>
                  <a:pt x="68759" y="44459"/>
                  <a:pt x="65972" y="41672"/>
                  <a:pt x="62508" y="41672"/>
                </a:cubicBezTo>
                <a:cubicBezTo>
                  <a:pt x="41802" y="41672"/>
                  <a:pt x="25003" y="58471"/>
                  <a:pt x="25003" y="79177"/>
                </a:cubicBezTo>
                <a:cubicBezTo>
                  <a:pt x="25003" y="82641"/>
                  <a:pt x="27790" y="85427"/>
                  <a:pt x="31254" y="85427"/>
                </a:cubicBezTo>
                <a:cubicBezTo>
                  <a:pt x="34718" y="85427"/>
                  <a:pt x="37505" y="82641"/>
                  <a:pt x="37505" y="79177"/>
                </a:cubicBezTo>
                <a:close/>
              </a:path>
            </a:pathLst>
          </a:custGeom>
          <a:solidFill>
            <a:srgbClr val="DDFF00"/>
          </a:solidFill>
          <a:ln/>
        </p:spPr>
      </p:sp>
      <p:sp>
        <p:nvSpPr>
          <p:cNvPr id="52" name="Text 50"/>
          <p:cNvSpPr/>
          <p:nvPr/>
        </p:nvSpPr>
        <p:spPr>
          <a:xfrm>
            <a:off x="9577388" y="3657600"/>
            <a:ext cx="962025" cy="190500"/>
          </a:xfrm>
          <a:prstGeom prst="rect">
            <a:avLst/>
          </a:prstGeom>
          <a:noFill/>
          <a:ln/>
        </p:spPr>
        <p:txBody>
          <a:bodyPr wrap="square" lIns="0" tIns="0" rIns="0" bIns="0" rtlCol="0" anchor="ctr"/>
          <a:lstStyle/>
          <a:p>
            <a:pPr>
              <a:lnSpc>
                <a:spcPct val="120000"/>
              </a:lnSpc>
            </a:pPr>
            <a:r>
              <a:rPr lang="en-US" sz="1050" dirty="0">
                <a:solidFill>
                  <a:srgbClr val="FFFFFF"/>
                </a:solidFill>
                <a:latin typeface="Liter" pitchFamily="34" charset="0"/>
                <a:ea typeface="Liter" pitchFamily="34" charset="-122"/>
                <a:cs typeface="Liter" pitchFamily="34" charset="-120"/>
              </a:rPr>
              <a:t>Server Crashes</a:t>
            </a:r>
            <a:endParaRPr lang="en-US" sz="1600" dirty="0"/>
          </a:p>
        </p:txBody>
      </p:sp>
      <p:sp>
        <p:nvSpPr>
          <p:cNvPr id="53" name="Shape 51"/>
          <p:cNvSpPr/>
          <p:nvPr/>
        </p:nvSpPr>
        <p:spPr>
          <a:xfrm>
            <a:off x="400050" y="4229100"/>
            <a:ext cx="2724150" cy="2247900"/>
          </a:xfrm>
          <a:custGeom>
            <a:avLst/>
            <a:gdLst/>
            <a:ahLst/>
            <a:cxnLst/>
            <a:rect l="l" t="t" r="r" b="b"/>
            <a:pathLst>
              <a:path w="2724150" h="2247900">
                <a:moveTo>
                  <a:pt x="0" y="0"/>
                </a:moveTo>
                <a:lnTo>
                  <a:pt x="2724150" y="0"/>
                </a:lnTo>
                <a:lnTo>
                  <a:pt x="2724150" y="2247900"/>
                </a:lnTo>
                <a:lnTo>
                  <a:pt x="0" y="2247900"/>
                </a:lnTo>
                <a:lnTo>
                  <a:pt x="0" y="0"/>
                </a:lnTo>
                <a:close/>
              </a:path>
            </a:pathLst>
          </a:custGeom>
          <a:solidFill>
            <a:srgbClr val="111111"/>
          </a:solidFill>
          <a:ln/>
        </p:spPr>
      </p:sp>
      <p:sp>
        <p:nvSpPr>
          <p:cNvPr id="54" name="Shape 52"/>
          <p:cNvSpPr/>
          <p:nvPr/>
        </p:nvSpPr>
        <p:spPr>
          <a:xfrm>
            <a:off x="400050" y="4229100"/>
            <a:ext cx="38100" cy="2247900"/>
          </a:xfrm>
          <a:custGeom>
            <a:avLst/>
            <a:gdLst/>
            <a:ahLst/>
            <a:cxnLst/>
            <a:rect l="l" t="t" r="r" b="b"/>
            <a:pathLst>
              <a:path w="38100" h="2247900">
                <a:moveTo>
                  <a:pt x="0" y="0"/>
                </a:moveTo>
                <a:lnTo>
                  <a:pt x="38100" y="0"/>
                </a:lnTo>
                <a:lnTo>
                  <a:pt x="38100" y="2247900"/>
                </a:lnTo>
                <a:lnTo>
                  <a:pt x="0" y="2247900"/>
                </a:lnTo>
                <a:lnTo>
                  <a:pt x="0" y="0"/>
                </a:lnTo>
                <a:close/>
              </a:path>
            </a:pathLst>
          </a:custGeom>
          <a:solidFill>
            <a:srgbClr val="DDFF00"/>
          </a:solidFill>
          <a:ln/>
        </p:spPr>
      </p:sp>
      <p:sp>
        <p:nvSpPr>
          <p:cNvPr id="55" name="Shape 53"/>
          <p:cNvSpPr/>
          <p:nvPr/>
        </p:nvSpPr>
        <p:spPr>
          <a:xfrm>
            <a:off x="571500" y="4381500"/>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solidFill>
            <a:srgbClr val="DDFF00"/>
          </a:solidFill>
          <a:ln/>
        </p:spPr>
      </p:sp>
      <p:sp>
        <p:nvSpPr>
          <p:cNvPr id="56" name="Shape 54"/>
          <p:cNvSpPr/>
          <p:nvPr/>
        </p:nvSpPr>
        <p:spPr>
          <a:xfrm>
            <a:off x="704850" y="4514850"/>
            <a:ext cx="190500" cy="190500"/>
          </a:xfrm>
          <a:custGeom>
            <a:avLst/>
            <a:gdLst/>
            <a:ahLst/>
            <a:cxnLst/>
            <a:rect l="l" t="t" r="r" b="b"/>
            <a:pathLst>
              <a:path w="190500" h="190500">
                <a:moveTo>
                  <a:pt x="0" y="47625"/>
                </a:moveTo>
                <a:lnTo>
                  <a:pt x="0" y="59531"/>
                </a:lnTo>
                <a:lnTo>
                  <a:pt x="190500" y="59531"/>
                </a:lnTo>
                <a:lnTo>
                  <a:pt x="190500" y="47625"/>
                </a:lnTo>
                <a:cubicBezTo>
                  <a:pt x="190500" y="34491"/>
                  <a:pt x="179822" y="23812"/>
                  <a:pt x="166688" y="23812"/>
                </a:cubicBezTo>
                <a:lnTo>
                  <a:pt x="23812" y="23812"/>
                </a:lnTo>
                <a:cubicBezTo>
                  <a:pt x="10678" y="23812"/>
                  <a:pt x="0" y="34491"/>
                  <a:pt x="0" y="47625"/>
                </a:cubicBezTo>
                <a:close/>
                <a:moveTo>
                  <a:pt x="0" y="77391"/>
                </a:moveTo>
                <a:lnTo>
                  <a:pt x="0" y="142875"/>
                </a:lnTo>
                <a:cubicBezTo>
                  <a:pt x="0" y="156009"/>
                  <a:pt x="10678" y="166688"/>
                  <a:pt x="23812" y="166688"/>
                </a:cubicBezTo>
                <a:lnTo>
                  <a:pt x="166688" y="166688"/>
                </a:lnTo>
                <a:cubicBezTo>
                  <a:pt x="179822" y="166688"/>
                  <a:pt x="190500" y="156009"/>
                  <a:pt x="190500" y="142875"/>
                </a:cubicBezTo>
                <a:lnTo>
                  <a:pt x="190500" y="77391"/>
                </a:lnTo>
                <a:lnTo>
                  <a:pt x="0" y="77391"/>
                </a:lnTo>
                <a:close/>
                <a:moveTo>
                  <a:pt x="23812" y="133945"/>
                </a:moveTo>
                <a:cubicBezTo>
                  <a:pt x="23812" y="128997"/>
                  <a:pt x="27794" y="125016"/>
                  <a:pt x="32742" y="125016"/>
                </a:cubicBezTo>
                <a:lnTo>
                  <a:pt x="50602" y="125016"/>
                </a:lnTo>
                <a:cubicBezTo>
                  <a:pt x="55550" y="125016"/>
                  <a:pt x="59531" y="128997"/>
                  <a:pt x="59531" y="133945"/>
                </a:cubicBezTo>
                <a:cubicBezTo>
                  <a:pt x="59531" y="138894"/>
                  <a:pt x="55550" y="142875"/>
                  <a:pt x="50602" y="142875"/>
                </a:cubicBezTo>
                <a:lnTo>
                  <a:pt x="32742" y="142875"/>
                </a:lnTo>
                <a:cubicBezTo>
                  <a:pt x="27794" y="142875"/>
                  <a:pt x="23812" y="138894"/>
                  <a:pt x="23812" y="133945"/>
                </a:cubicBezTo>
                <a:close/>
                <a:moveTo>
                  <a:pt x="77391" y="133945"/>
                </a:moveTo>
                <a:cubicBezTo>
                  <a:pt x="77391" y="128997"/>
                  <a:pt x="81372" y="125016"/>
                  <a:pt x="86320" y="125016"/>
                </a:cubicBezTo>
                <a:lnTo>
                  <a:pt x="110133" y="125016"/>
                </a:lnTo>
                <a:cubicBezTo>
                  <a:pt x="115081" y="125016"/>
                  <a:pt x="119063" y="128997"/>
                  <a:pt x="119063" y="133945"/>
                </a:cubicBezTo>
                <a:cubicBezTo>
                  <a:pt x="119063" y="138894"/>
                  <a:pt x="115081" y="142875"/>
                  <a:pt x="110133" y="142875"/>
                </a:cubicBezTo>
                <a:lnTo>
                  <a:pt x="86320" y="142875"/>
                </a:lnTo>
                <a:cubicBezTo>
                  <a:pt x="81372" y="142875"/>
                  <a:pt x="77391" y="138894"/>
                  <a:pt x="77391" y="133945"/>
                </a:cubicBezTo>
                <a:close/>
              </a:path>
            </a:pathLst>
          </a:custGeom>
          <a:solidFill>
            <a:srgbClr val="000000"/>
          </a:solidFill>
          <a:ln/>
        </p:spPr>
      </p:sp>
      <p:sp>
        <p:nvSpPr>
          <p:cNvPr id="57" name="Text 55"/>
          <p:cNvSpPr/>
          <p:nvPr/>
        </p:nvSpPr>
        <p:spPr>
          <a:xfrm>
            <a:off x="1143000" y="4476750"/>
            <a:ext cx="1276350" cy="266700"/>
          </a:xfrm>
          <a:prstGeom prst="rect">
            <a:avLst/>
          </a:prstGeom>
          <a:noFill/>
          <a:ln/>
        </p:spPr>
        <p:txBody>
          <a:bodyPr wrap="square" lIns="0" tIns="0" rIns="0" bIns="0" rtlCol="0" anchor="ctr"/>
          <a:lstStyle/>
          <a:p>
            <a:pPr>
              <a:lnSpc>
                <a:spcPct val="130000"/>
              </a:lnSpc>
            </a:pPr>
            <a:r>
              <a:rPr lang="en-US" sz="1350" b="1" dirty="0">
                <a:solidFill>
                  <a:srgbClr val="FFFFFF"/>
                </a:solidFill>
                <a:latin typeface="Liter" pitchFamily="34" charset="0"/>
                <a:ea typeface="Liter" pitchFamily="34" charset="-122"/>
                <a:cs typeface="Liter" pitchFamily="34" charset="-120"/>
              </a:rPr>
              <a:t>Payment Issues</a:t>
            </a:r>
            <a:endParaRPr lang="en-US" sz="1600" dirty="0"/>
          </a:p>
        </p:txBody>
      </p:sp>
      <p:sp>
        <p:nvSpPr>
          <p:cNvPr id="58" name="Text 56"/>
          <p:cNvSpPr/>
          <p:nvPr/>
        </p:nvSpPr>
        <p:spPr>
          <a:xfrm>
            <a:off x="571500" y="4953000"/>
            <a:ext cx="2476500" cy="533400"/>
          </a:xfrm>
          <a:prstGeom prst="rect">
            <a:avLst/>
          </a:prstGeom>
          <a:noFill/>
          <a:ln/>
        </p:spPr>
        <p:txBody>
          <a:bodyPr wrap="square" lIns="0" tIns="0" rIns="0" bIns="0" rtlCol="0" anchor="ctr"/>
          <a:lstStyle/>
          <a:p>
            <a:pPr>
              <a:lnSpc>
                <a:spcPct val="130000"/>
              </a:lnSpc>
            </a:pPr>
            <a:r>
              <a:rPr lang="en-US" sz="1200" dirty="0">
                <a:solidFill>
                  <a:srgbClr val="FFFFFF">
                    <a:alpha val="80000"/>
                  </a:srgbClr>
                </a:solidFill>
                <a:latin typeface="Liter" pitchFamily="34" charset="0"/>
                <a:ea typeface="Liter" pitchFamily="34" charset="-122"/>
                <a:cs typeface="Liter" pitchFamily="34" charset="-120"/>
              </a:rPr>
              <a:t>Problems related to payment processing and financial fraud.</a:t>
            </a:r>
            <a:endParaRPr lang="en-US" sz="1600" dirty="0"/>
          </a:p>
        </p:txBody>
      </p:sp>
      <p:sp>
        <p:nvSpPr>
          <p:cNvPr id="59" name="Shape 57"/>
          <p:cNvSpPr/>
          <p:nvPr/>
        </p:nvSpPr>
        <p:spPr>
          <a:xfrm>
            <a:off x="590550" y="5629275"/>
            <a:ext cx="133350" cy="133350"/>
          </a:xfrm>
          <a:custGeom>
            <a:avLst/>
            <a:gdLst/>
            <a:ahLst/>
            <a:cxnLst/>
            <a:rect l="l" t="t" r="r" b="b"/>
            <a:pathLst>
              <a:path w="133350" h="133350">
                <a:moveTo>
                  <a:pt x="0" y="109284"/>
                </a:moveTo>
                <a:lnTo>
                  <a:pt x="0" y="28519"/>
                </a:lnTo>
                <a:cubicBezTo>
                  <a:pt x="0" y="22477"/>
                  <a:pt x="6277" y="18466"/>
                  <a:pt x="12059" y="20185"/>
                </a:cubicBezTo>
                <a:cubicBezTo>
                  <a:pt x="34900" y="27009"/>
                  <a:pt x="51048" y="21617"/>
                  <a:pt x="67300" y="16200"/>
                </a:cubicBezTo>
                <a:cubicBezTo>
                  <a:pt x="84099" y="10600"/>
                  <a:pt x="101002" y="4975"/>
                  <a:pt x="125458" y="12788"/>
                </a:cubicBezTo>
                <a:cubicBezTo>
                  <a:pt x="130277" y="14325"/>
                  <a:pt x="133350" y="18987"/>
                  <a:pt x="133350" y="24066"/>
                </a:cubicBezTo>
                <a:lnTo>
                  <a:pt x="133350" y="104831"/>
                </a:lnTo>
                <a:cubicBezTo>
                  <a:pt x="133350" y="110873"/>
                  <a:pt x="127073" y="114884"/>
                  <a:pt x="121317" y="113165"/>
                </a:cubicBezTo>
                <a:cubicBezTo>
                  <a:pt x="98476" y="106341"/>
                  <a:pt x="82302" y="111733"/>
                  <a:pt x="66076" y="117150"/>
                </a:cubicBezTo>
                <a:cubicBezTo>
                  <a:pt x="49277" y="122750"/>
                  <a:pt x="32374" y="128375"/>
                  <a:pt x="7918" y="120562"/>
                </a:cubicBezTo>
                <a:cubicBezTo>
                  <a:pt x="3099" y="119025"/>
                  <a:pt x="26" y="114363"/>
                  <a:pt x="26" y="109284"/>
                </a:cubicBezTo>
                <a:close/>
                <a:moveTo>
                  <a:pt x="87511" y="66675"/>
                </a:moveTo>
                <a:cubicBezTo>
                  <a:pt x="87511" y="52871"/>
                  <a:pt x="78187" y="41672"/>
                  <a:pt x="66675" y="41672"/>
                </a:cubicBezTo>
                <a:cubicBezTo>
                  <a:pt x="55163" y="41672"/>
                  <a:pt x="45839" y="52871"/>
                  <a:pt x="45839" y="66675"/>
                </a:cubicBezTo>
                <a:cubicBezTo>
                  <a:pt x="45839" y="80479"/>
                  <a:pt x="55163" y="91678"/>
                  <a:pt x="66675" y="91678"/>
                </a:cubicBezTo>
                <a:cubicBezTo>
                  <a:pt x="78187" y="91678"/>
                  <a:pt x="87511" y="80479"/>
                  <a:pt x="87511" y="66675"/>
                </a:cubicBezTo>
                <a:close/>
                <a:moveTo>
                  <a:pt x="31254" y="107722"/>
                </a:moveTo>
                <a:cubicBezTo>
                  <a:pt x="32400" y="107722"/>
                  <a:pt x="33311" y="106732"/>
                  <a:pt x="33129" y="105612"/>
                </a:cubicBezTo>
                <a:cubicBezTo>
                  <a:pt x="31931" y="98372"/>
                  <a:pt x="26097" y="92720"/>
                  <a:pt x="18752" y="91808"/>
                </a:cubicBezTo>
                <a:cubicBezTo>
                  <a:pt x="17606" y="91678"/>
                  <a:pt x="16669" y="92616"/>
                  <a:pt x="16669" y="93762"/>
                </a:cubicBezTo>
                <a:lnTo>
                  <a:pt x="16669" y="104154"/>
                </a:lnTo>
                <a:cubicBezTo>
                  <a:pt x="16669" y="105091"/>
                  <a:pt x="17294" y="105925"/>
                  <a:pt x="18231" y="106159"/>
                </a:cubicBezTo>
                <a:cubicBezTo>
                  <a:pt x="22893" y="107253"/>
                  <a:pt x="27165" y="107748"/>
                  <a:pt x="31254" y="107748"/>
                </a:cubicBezTo>
                <a:close/>
                <a:moveTo>
                  <a:pt x="114207" y="94413"/>
                </a:moveTo>
                <a:cubicBezTo>
                  <a:pt x="115509" y="94621"/>
                  <a:pt x="116681" y="93631"/>
                  <a:pt x="116681" y="92329"/>
                </a:cubicBezTo>
                <a:lnTo>
                  <a:pt x="116681" y="81234"/>
                </a:lnTo>
                <a:cubicBezTo>
                  <a:pt x="116681" y="80088"/>
                  <a:pt x="115744" y="79124"/>
                  <a:pt x="114598" y="79281"/>
                </a:cubicBezTo>
                <a:cubicBezTo>
                  <a:pt x="108034" y="80088"/>
                  <a:pt x="102643" y="84724"/>
                  <a:pt x="100742" y="90897"/>
                </a:cubicBezTo>
                <a:cubicBezTo>
                  <a:pt x="100377" y="92121"/>
                  <a:pt x="101341" y="93267"/>
                  <a:pt x="102617" y="93293"/>
                </a:cubicBezTo>
                <a:cubicBezTo>
                  <a:pt x="106315" y="93397"/>
                  <a:pt x="110170" y="93736"/>
                  <a:pt x="114181" y="94413"/>
                </a:cubicBezTo>
                <a:close/>
                <a:moveTo>
                  <a:pt x="116681" y="39588"/>
                </a:moveTo>
                <a:lnTo>
                  <a:pt x="116681" y="29196"/>
                </a:lnTo>
                <a:cubicBezTo>
                  <a:pt x="116681" y="28259"/>
                  <a:pt x="116030" y="27425"/>
                  <a:pt x="115119" y="27191"/>
                </a:cubicBezTo>
                <a:cubicBezTo>
                  <a:pt x="110457" y="26097"/>
                  <a:pt x="106185" y="25602"/>
                  <a:pt x="102096" y="25602"/>
                </a:cubicBezTo>
                <a:cubicBezTo>
                  <a:pt x="100950" y="25602"/>
                  <a:pt x="100039" y="26592"/>
                  <a:pt x="100221" y="27712"/>
                </a:cubicBezTo>
                <a:cubicBezTo>
                  <a:pt x="101419" y="34952"/>
                  <a:pt x="107253" y="40604"/>
                  <a:pt x="114598" y="41516"/>
                </a:cubicBezTo>
                <a:cubicBezTo>
                  <a:pt x="115744" y="41646"/>
                  <a:pt x="116681" y="40708"/>
                  <a:pt x="116681" y="39562"/>
                </a:cubicBezTo>
                <a:close/>
                <a:moveTo>
                  <a:pt x="32608" y="42427"/>
                </a:moveTo>
                <a:cubicBezTo>
                  <a:pt x="32973" y="41203"/>
                  <a:pt x="32009" y="40057"/>
                  <a:pt x="30733" y="40031"/>
                </a:cubicBezTo>
                <a:cubicBezTo>
                  <a:pt x="27035" y="39927"/>
                  <a:pt x="23180" y="39588"/>
                  <a:pt x="19169" y="38911"/>
                </a:cubicBezTo>
                <a:cubicBezTo>
                  <a:pt x="17867" y="38703"/>
                  <a:pt x="16695" y="39692"/>
                  <a:pt x="16695" y="40995"/>
                </a:cubicBezTo>
                <a:lnTo>
                  <a:pt x="16669" y="52090"/>
                </a:lnTo>
                <a:cubicBezTo>
                  <a:pt x="16669" y="53236"/>
                  <a:pt x="17606" y="54199"/>
                  <a:pt x="18752" y="54043"/>
                </a:cubicBezTo>
                <a:cubicBezTo>
                  <a:pt x="25316" y="53236"/>
                  <a:pt x="30707" y="48600"/>
                  <a:pt x="32608" y="42427"/>
                </a:cubicBezTo>
                <a:close/>
              </a:path>
            </a:pathLst>
          </a:custGeom>
          <a:solidFill>
            <a:srgbClr val="DDFF00"/>
          </a:solidFill>
          <a:ln/>
        </p:spPr>
      </p:sp>
      <p:sp>
        <p:nvSpPr>
          <p:cNvPr id="60" name="Text 58"/>
          <p:cNvSpPr/>
          <p:nvPr/>
        </p:nvSpPr>
        <p:spPr>
          <a:xfrm>
            <a:off x="814388" y="5600700"/>
            <a:ext cx="923925" cy="190500"/>
          </a:xfrm>
          <a:prstGeom prst="rect">
            <a:avLst/>
          </a:prstGeom>
          <a:noFill/>
          <a:ln/>
        </p:spPr>
        <p:txBody>
          <a:bodyPr wrap="square" lIns="0" tIns="0" rIns="0" bIns="0" rtlCol="0" anchor="ctr"/>
          <a:lstStyle/>
          <a:p>
            <a:pPr>
              <a:lnSpc>
                <a:spcPct val="120000"/>
              </a:lnSpc>
            </a:pPr>
            <a:r>
              <a:rPr lang="en-US" sz="1050" dirty="0">
                <a:solidFill>
                  <a:srgbClr val="FFFFFF">
                    <a:alpha val="70000"/>
                  </a:srgbClr>
                </a:solidFill>
                <a:latin typeface="Liter" pitchFamily="34" charset="0"/>
                <a:ea typeface="Liter" pitchFamily="34" charset="-122"/>
                <a:cs typeface="Liter" pitchFamily="34" charset="-120"/>
              </a:rPr>
              <a:t>Payment fraud</a:t>
            </a:r>
            <a:endParaRPr lang="en-US" sz="1600" dirty="0"/>
          </a:p>
        </p:txBody>
      </p:sp>
      <p:sp>
        <p:nvSpPr>
          <p:cNvPr id="61" name="Shape 59"/>
          <p:cNvSpPr/>
          <p:nvPr/>
        </p:nvSpPr>
        <p:spPr>
          <a:xfrm>
            <a:off x="582216" y="5895975"/>
            <a:ext cx="150019" cy="133350"/>
          </a:xfrm>
          <a:custGeom>
            <a:avLst/>
            <a:gdLst/>
            <a:ahLst/>
            <a:cxnLst/>
            <a:rect l="l" t="t" r="r" b="b"/>
            <a:pathLst>
              <a:path w="150019" h="133350">
                <a:moveTo>
                  <a:pt x="10678" y="-6485"/>
                </a:moveTo>
                <a:cubicBezTo>
                  <a:pt x="8230" y="-8933"/>
                  <a:pt x="4271" y="-8933"/>
                  <a:pt x="1849" y="-6485"/>
                </a:cubicBezTo>
                <a:cubicBezTo>
                  <a:pt x="-573" y="-4037"/>
                  <a:pt x="-599" y="-78"/>
                  <a:pt x="1823" y="2370"/>
                </a:cubicBezTo>
                <a:lnTo>
                  <a:pt x="139340" y="139887"/>
                </a:lnTo>
                <a:cubicBezTo>
                  <a:pt x="141789" y="142335"/>
                  <a:pt x="145747" y="142335"/>
                  <a:pt x="148170" y="139887"/>
                </a:cubicBezTo>
                <a:cubicBezTo>
                  <a:pt x="150592" y="137439"/>
                  <a:pt x="150618" y="133480"/>
                  <a:pt x="148170" y="131058"/>
                </a:cubicBezTo>
                <a:lnTo>
                  <a:pt x="116395" y="99283"/>
                </a:lnTo>
                <a:cubicBezTo>
                  <a:pt x="117489" y="98398"/>
                  <a:pt x="118556" y="97434"/>
                  <a:pt x="119546" y="96444"/>
                </a:cubicBezTo>
                <a:lnTo>
                  <a:pt x="138064" y="77926"/>
                </a:lnTo>
                <a:cubicBezTo>
                  <a:pt x="145695" y="70295"/>
                  <a:pt x="149993" y="59929"/>
                  <a:pt x="149993" y="49121"/>
                </a:cubicBezTo>
                <a:cubicBezTo>
                  <a:pt x="149993" y="26618"/>
                  <a:pt x="131761" y="8360"/>
                  <a:pt x="109232" y="8360"/>
                </a:cubicBezTo>
                <a:cubicBezTo>
                  <a:pt x="99518" y="8360"/>
                  <a:pt x="90194" y="11824"/>
                  <a:pt x="82849" y="18049"/>
                </a:cubicBezTo>
                <a:cubicBezTo>
                  <a:pt x="88136" y="20680"/>
                  <a:pt x="92928" y="24170"/>
                  <a:pt x="97043" y="28337"/>
                </a:cubicBezTo>
                <a:cubicBezTo>
                  <a:pt x="100716" y="26175"/>
                  <a:pt x="104909" y="25029"/>
                  <a:pt x="109232" y="25029"/>
                </a:cubicBezTo>
                <a:cubicBezTo>
                  <a:pt x="122541" y="25029"/>
                  <a:pt x="133324" y="35812"/>
                  <a:pt x="133324" y="49121"/>
                </a:cubicBezTo>
                <a:cubicBezTo>
                  <a:pt x="133324" y="55502"/>
                  <a:pt x="130798" y="61622"/>
                  <a:pt x="126266" y="66154"/>
                </a:cubicBezTo>
                <a:lnTo>
                  <a:pt x="107748" y="84672"/>
                </a:lnTo>
                <a:cubicBezTo>
                  <a:pt x="106732" y="85688"/>
                  <a:pt x="105638" y="86599"/>
                  <a:pt x="104466" y="87407"/>
                </a:cubicBezTo>
                <a:lnTo>
                  <a:pt x="92095" y="75035"/>
                </a:lnTo>
                <a:cubicBezTo>
                  <a:pt x="96392" y="74801"/>
                  <a:pt x="99830" y="71285"/>
                  <a:pt x="99960" y="66935"/>
                </a:cubicBezTo>
                <a:cubicBezTo>
                  <a:pt x="99960" y="66597"/>
                  <a:pt x="99960" y="66258"/>
                  <a:pt x="99960" y="65920"/>
                </a:cubicBezTo>
                <a:cubicBezTo>
                  <a:pt x="99960" y="43443"/>
                  <a:pt x="81755" y="25055"/>
                  <a:pt x="59200" y="25055"/>
                </a:cubicBezTo>
                <a:cubicBezTo>
                  <a:pt x="54199" y="25055"/>
                  <a:pt x="49329" y="25967"/>
                  <a:pt x="44745" y="27712"/>
                </a:cubicBezTo>
                <a:lnTo>
                  <a:pt x="10678" y="-6485"/>
                </a:lnTo>
                <a:close/>
                <a:moveTo>
                  <a:pt x="58835" y="41672"/>
                </a:moveTo>
                <a:cubicBezTo>
                  <a:pt x="58992" y="41672"/>
                  <a:pt x="59122" y="41672"/>
                  <a:pt x="59278" y="41672"/>
                </a:cubicBezTo>
                <a:cubicBezTo>
                  <a:pt x="63211" y="41672"/>
                  <a:pt x="66961" y="42636"/>
                  <a:pt x="70243" y="44328"/>
                </a:cubicBezTo>
                <a:cubicBezTo>
                  <a:pt x="70712" y="44641"/>
                  <a:pt x="71181" y="44927"/>
                  <a:pt x="71676" y="45136"/>
                </a:cubicBezTo>
                <a:cubicBezTo>
                  <a:pt x="78656" y="49381"/>
                  <a:pt x="83344" y="57090"/>
                  <a:pt x="83344" y="65868"/>
                </a:cubicBezTo>
                <a:cubicBezTo>
                  <a:pt x="83344" y="65972"/>
                  <a:pt x="83344" y="66076"/>
                  <a:pt x="83344" y="66180"/>
                </a:cubicBezTo>
                <a:lnTo>
                  <a:pt x="58835" y="41672"/>
                </a:lnTo>
                <a:close/>
                <a:moveTo>
                  <a:pt x="90168" y="108347"/>
                </a:moveTo>
                <a:lnTo>
                  <a:pt x="50006" y="68186"/>
                </a:lnTo>
                <a:cubicBezTo>
                  <a:pt x="50319" y="90220"/>
                  <a:pt x="68134" y="108008"/>
                  <a:pt x="90141" y="108321"/>
                </a:cubicBezTo>
                <a:close/>
                <a:moveTo>
                  <a:pt x="36385" y="54564"/>
                </a:moveTo>
                <a:lnTo>
                  <a:pt x="24586" y="42766"/>
                </a:lnTo>
                <a:lnTo>
                  <a:pt x="11929" y="55424"/>
                </a:lnTo>
                <a:cubicBezTo>
                  <a:pt x="4297" y="63055"/>
                  <a:pt x="0" y="73421"/>
                  <a:pt x="0" y="84229"/>
                </a:cubicBezTo>
                <a:cubicBezTo>
                  <a:pt x="0" y="106732"/>
                  <a:pt x="18231" y="124990"/>
                  <a:pt x="40760" y="124990"/>
                </a:cubicBezTo>
                <a:cubicBezTo>
                  <a:pt x="50449" y="124990"/>
                  <a:pt x="59799" y="121526"/>
                  <a:pt x="67144" y="115301"/>
                </a:cubicBezTo>
                <a:cubicBezTo>
                  <a:pt x="61857" y="112670"/>
                  <a:pt x="57038" y="109180"/>
                  <a:pt x="52923" y="105013"/>
                </a:cubicBezTo>
                <a:cubicBezTo>
                  <a:pt x="49277" y="107149"/>
                  <a:pt x="45084" y="108295"/>
                  <a:pt x="40760" y="108295"/>
                </a:cubicBezTo>
                <a:cubicBezTo>
                  <a:pt x="27451" y="108295"/>
                  <a:pt x="16669" y="97512"/>
                  <a:pt x="16669" y="84203"/>
                </a:cubicBezTo>
                <a:cubicBezTo>
                  <a:pt x="16669" y="77822"/>
                  <a:pt x="19195" y="71702"/>
                  <a:pt x="23727" y="67170"/>
                </a:cubicBezTo>
                <a:lnTo>
                  <a:pt x="36385" y="54512"/>
                </a:lnTo>
                <a:close/>
              </a:path>
            </a:pathLst>
          </a:custGeom>
          <a:solidFill>
            <a:srgbClr val="DDFF00"/>
          </a:solidFill>
          <a:ln/>
        </p:spPr>
      </p:sp>
      <p:sp>
        <p:nvSpPr>
          <p:cNvPr id="62" name="Text 60"/>
          <p:cNvSpPr/>
          <p:nvPr/>
        </p:nvSpPr>
        <p:spPr>
          <a:xfrm>
            <a:off x="814388" y="5867400"/>
            <a:ext cx="1047750" cy="190500"/>
          </a:xfrm>
          <a:prstGeom prst="rect">
            <a:avLst/>
          </a:prstGeom>
          <a:noFill/>
          <a:ln/>
        </p:spPr>
        <p:txBody>
          <a:bodyPr wrap="square" lIns="0" tIns="0" rIns="0" bIns="0" rtlCol="0" anchor="ctr"/>
          <a:lstStyle/>
          <a:p>
            <a:pPr>
              <a:lnSpc>
                <a:spcPct val="120000"/>
              </a:lnSpc>
            </a:pPr>
            <a:r>
              <a:rPr lang="en-US" sz="1050" dirty="0">
                <a:solidFill>
                  <a:srgbClr val="FFFFFF">
                    <a:alpha val="70000"/>
                  </a:srgbClr>
                </a:solidFill>
                <a:latin typeface="Liter" pitchFamily="34" charset="0"/>
                <a:ea typeface="Liter" pitchFamily="34" charset="-122"/>
                <a:cs typeface="Liter" pitchFamily="34" charset="-120"/>
              </a:rPr>
              <a:t>Gateway failures</a:t>
            </a:r>
            <a:endParaRPr lang="en-US" sz="1600" dirty="0"/>
          </a:p>
        </p:txBody>
      </p:sp>
      <p:sp>
        <p:nvSpPr>
          <p:cNvPr id="63" name="Shape 61"/>
          <p:cNvSpPr/>
          <p:nvPr/>
        </p:nvSpPr>
        <p:spPr>
          <a:xfrm>
            <a:off x="590550" y="6162675"/>
            <a:ext cx="133350" cy="133350"/>
          </a:xfrm>
          <a:custGeom>
            <a:avLst/>
            <a:gdLst/>
            <a:ahLst/>
            <a:cxnLst/>
            <a:rect l="l" t="t" r="r" b="b"/>
            <a:pathLst>
              <a:path w="133350" h="133350">
                <a:moveTo>
                  <a:pt x="130902" y="39224"/>
                </a:moveTo>
                <a:lnTo>
                  <a:pt x="105899" y="64227"/>
                </a:lnTo>
                <a:cubicBezTo>
                  <a:pt x="103503" y="66623"/>
                  <a:pt x="99934" y="67326"/>
                  <a:pt x="96809" y="66024"/>
                </a:cubicBezTo>
                <a:cubicBezTo>
                  <a:pt x="93684" y="64722"/>
                  <a:pt x="91678" y="61700"/>
                  <a:pt x="91678" y="58341"/>
                </a:cubicBezTo>
                <a:lnTo>
                  <a:pt x="91678" y="41672"/>
                </a:lnTo>
                <a:lnTo>
                  <a:pt x="8334" y="41672"/>
                </a:lnTo>
                <a:cubicBezTo>
                  <a:pt x="3724" y="41672"/>
                  <a:pt x="0" y="37947"/>
                  <a:pt x="0" y="33337"/>
                </a:cubicBezTo>
                <a:cubicBezTo>
                  <a:pt x="0" y="28728"/>
                  <a:pt x="3724" y="25003"/>
                  <a:pt x="8334" y="25003"/>
                </a:cubicBezTo>
                <a:lnTo>
                  <a:pt x="91678" y="25003"/>
                </a:lnTo>
                <a:lnTo>
                  <a:pt x="91678" y="8334"/>
                </a:lnTo>
                <a:cubicBezTo>
                  <a:pt x="91678" y="4975"/>
                  <a:pt x="93710" y="1927"/>
                  <a:pt x="96835" y="625"/>
                </a:cubicBezTo>
                <a:cubicBezTo>
                  <a:pt x="99960" y="-677"/>
                  <a:pt x="103529" y="52"/>
                  <a:pt x="105925" y="2422"/>
                </a:cubicBezTo>
                <a:lnTo>
                  <a:pt x="130928" y="27425"/>
                </a:lnTo>
                <a:cubicBezTo>
                  <a:pt x="134183" y="30681"/>
                  <a:pt x="134183" y="35968"/>
                  <a:pt x="130928" y="39224"/>
                </a:cubicBezTo>
                <a:close/>
                <a:moveTo>
                  <a:pt x="27425" y="130902"/>
                </a:moveTo>
                <a:lnTo>
                  <a:pt x="2422" y="105899"/>
                </a:lnTo>
                <a:cubicBezTo>
                  <a:pt x="-833" y="102643"/>
                  <a:pt x="-833" y="97356"/>
                  <a:pt x="2422" y="94100"/>
                </a:cubicBezTo>
                <a:lnTo>
                  <a:pt x="27425" y="69097"/>
                </a:lnTo>
                <a:cubicBezTo>
                  <a:pt x="29821" y="66701"/>
                  <a:pt x="33390" y="65998"/>
                  <a:pt x="36515" y="67300"/>
                </a:cubicBezTo>
                <a:cubicBezTo>
                  <a:pt x="39640" y="68602"/>
                  <a:pt x="41672" y="71650"/>
                  <a:pt x="41672" y="75009"/>
                </a:cubicBezTo>
                <a:lnTo>
                  <a:pt x="41672" y="91678"/>
                </a:lnTo>
                <a:lnTo>
                  <a:pt x="125016" y="91678"/>
                </a:lnTo>
                <a:cubicBezTo>
                  <a:pt x="129626" y="91678"/>
                  <a:pt x="133350" y="95403"/>
                  <a:pt x="133350" y="100013"/>
                </a:cubicBezTo>
                <a:cubicBezTo>
                  <a:pt x="133350" y="104622"/>
                  <a:pt x="129626" y="108347"/>
                  <a:pt x="125016" y="108347"/>
                </a:cubicBezTo>
                <a:lnTo>
                  <a:pt x="41672" y="108347"/>
                </a:lnTo>
                <a:lnTo>
                  <a:pt x="41672" y="125016"/>
                </a:lnTo>
                <a:cubicBezTo>
                  <a:pt x="41672" y="128375"/>
                  <a:pt x="39640" y="131423"/>
                  <a:pt x="36515" y="132725"/>
                </a:cubicBezTo>
                <a:cubicBezTo>
                  <a:pt x="33390" y="134027"/>
                  <a:pt x="29821" y="133298"/>
                  <a:pt x="27425" y="130928"/>
                </a:cubicBezTo>
                <a:close/>
              </a:path>
            </a:pathLst>
          </a:custGeom>
          <a:solidFill>
            <a:srgbClr val="DDFF00"/>
          </a:solidFill>
          <a:ln/>
        </p:spPr>
      </p:sp>
      <p:sp>
        <p:nvSpPr>
          <p:cNvPr id="64" name="Text 62"/>
          <p:cNvSpPr/>
          <p:nvPr/>
        </p:nvSpPr>
        <p:spPr>
          <a:xfrm>
            <a:off x="814388" y="6134100"/>
            <a:ext cx="1133475" cy="190500"/>
          </a:xfrm>
          <a:prstGeom prst="rect">
            <a:avLst/>
          </a:prstGeom>
          <a:noFill/>
          <a:ln/>
        </p:spPr>
        <p:txBody>
          <a:bodyPr wrap="square" lIns="0" tIns="0" rIns="0" bIns="0" rtlCol="0" anchor="ctr"/>
          <a:lstStyle/>
          <a:p>
            <a:pPr>
              <a:lnSpc>
                <a:spcPct val="120000"/>
              </a:lnSpc>
            </a:pPr>
            <a:r>
              <a:rPr lang="en-US" sz="1050" dirty="0">
                <a:solidFill>
                  <a:srgbClr val="FFFFFF">
                    <a:alpha val="70000"/>
                  </a:srgbClr>
                </a:solidFill>
                <a:latin typeface="Liter" pitchFamily="34" charset="0"/>
                <a:ea typeface="Liter" pitchFamily="34" charset="-122"/>
                <a:cs typeface="Liter" pitchFamily="34" charset="-120"/>
              </a:rPr>
              <a:t>Transaction errors</a:t>
            </a:r>
            <a:endParaRPr lang="en-US" sz="1600" dirty="0"/>
          </a:p>
        </p:txBody>
      </p:sp>
      <p:sp>
        <p:nvSpPr>
          <p:cNvPr id="65" name="Shape 63"/>
          <p:cNvSpPr/>
          <p:nvPr/>
        </p:nvSpPr>
        <p:spPr>
          <a:xfrm>
            <a:off x="3295650" y="4229100"/>
            <a:ext cx="2724150" cy="2247900"/>
          </a:xfrm>
          <a:custGeom>
            <a:avLst/>
            <a:gdLst/>
            <a:ahLst/>
            <a:cxnLst/>
            <a:rect l="l" t="t" r="r" b="b"/>
            <a:pathLst>
              <a:path w="2724150" h="2247900">
                <a:moveTo>
                  <a:pt x="0" y="0"/>
                </a:moveTo>
                <a:lnTo>
                  <a:pt x="2724150" y="0"/>
                </a:lnTo>
                <a:lnTo>
                  <a:pt x="2724150" y="2247900"/>
                </a:lnTo>
                <a:lnTo>
                  <a:pt x="0" y="2247900"/>
                </a:lnTo>
                <a:lnTo>
                  <a:pt x="0" y="0"/>
                </a:lnTo>
                <a:close/>
              </a:path>
            </a:pathLst>
          </a:custGeom>
          <a:solidFill>
            <a:srgbClr val="111111"/>
          </a:solidFill>
          <a:ln/>
        </p:spPr>
      </p:sp>
      <p:sp>
        <p:nvSpPr>
          <p:cNvPr id="66" name="Shape 64"/>
          <p:cNvSpPr/>
          <p:nvPr/>
        </p:nvSpPr>
        <p:spPr>
          <a:xfrm>
            <a:off x="3295650" y="4229100"/>
            <a:ext cx="38100" cy="2247900"/>
          </a:xfrm>
          <a:custGeom>
            <a:avLst/>
            <a:gdLst/>
            <a:ahLst/>
            <a:cxnLst/>
            <a:rect l="l" t="t" r="r" b="b"/>
            <a:pathLst>
              <a:path w="38100" h="2247900">
                <a:moveTo>
                  <a:pt x="0" y="0"/>
                </a:moveTo>
                <a:lnTo>
                  <a:pt x="38100" y="0"/>
                </a:lnTo>
                <a:lnTo>
                  <a:pt x="38100" y="2247900"/>
                </a:lnTo>
                <a:lnTo>
                  <a:pt x="0" y="2247900"/>
                </a:lnTo>
                <a:lnTo>
                  <a:pt x="0" y="0"/>
                </a:lnTo>
                <a:close/>
              </a:path>
            </a:pathLst>
          </a:custGeom>
          <a:solidFill>
            <a:srgbClr val="DDFF00"/>
          </a:solidFill>
          <a:ln/>
        </p:spPr>
      </p:sp>
      <p:sp>
        <p:nvSpPr>
          <p:cNvPr id="67" name="Shape 65"/>
          <p:cNvSpPr/>
          <p:nvPr/>
        </p:nvSpPr>
        <p:spPr>
          <a:xfrm>
            <a:off x="3467100" y="4381500"/>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solidFill>
            <a:srgbClr val="DDFF00"/>
          </a:solidFill>
          <a:ln/>
        </p:spPr>
      </p:sp>
      <p:sp>
        <p:nvSpPr>
          <p:cNvPr id="68" name="Shape 66"/>
          <p:cNvSpPr/>
          <p:nvPr/>
        </p:nvSpPr>
        <p:spPr>
          <a:xfrm>
            <a:off x="3588544" y="4514850"/>
            <a:ext cx="214313" cy="190500"/>
          </a:xfrm>
          <a:custGeom>
            <a:avLst/>
            <a:gdLst/>
            <a:ahLst/>
            <a:cxnLst/>
            <a:rect l="l" t="t" r="r" b="b"/>
            <a:pathLst>
              <a:path w="214313" h="190500">
                <a:moveTo>
                  <a:pt x="15255" y="-9265"/>
                </a:moveTo>
                <a:cubicBezTo>
                  <a:pt x="11757" y="-12762"/>
                  <a:pt x="6102" y="-12762"/>
                  <a:pt x="2642" y="-9265"/>
                </a:cubicBezTo>
                <a:cubicBezTo>
                  <a:pt x="-819" y="-5767"/>
                  <a:pt x="-856" y="-112"/>
                  <a:pt x="2604" y="3386"/>
                </a:cubicBezTo>
                <a:lnTo>
                  <a:pt x="199058" y="199839"/>
                </a:lnTo>
                <a:cubicBezTo>
                  <a:pt x="202555" y="203336"/>
                  <a:pt x="208211" y="203336"/>
                  <a:pt x="211671" y="199839"/>
                </a:cubicBezTo>
                <a:cubicBezTo>
                  <a:pt x="215131" y="196342"/>
                  <a:pt x="215168" y="190686"/>
                  <a:pt x="211671" y="187226"/>
                </a:cubicBezTo>
                <a:lnTo>
                  <a:pt x="104515" y="80070"/>
                </a:lnTo>
                <a:lnTo>
                  <a:pt x="109798" y="74786"/>
                </a:lnTo>
                <a:cubicBezTo>
                  <a:pt x="111361" y="73223"/>
                  <a:pt x="113333" y="72368"/>
                  <a:pt x="115342" y="72219"/>
                </a:cubicBezTo>
                <a:cubicBezTo>
                  <a:pt x="117872" y="71996"/>
                  <a:pt x="120476" y="72851"/>
                  <a:pt x="122411" y="74786"/>
                </a:cubicBezTo>
                <a:lnTo>
                  <a:pt x="188119" y="139898"/>
                </a:lnTo>
                <a:lnTo>
                  <a:pt x="214313" y="119063"/>
                </a:lnTo>
                <a:lnTo>
                  <a:pt x="214313" y="11906"/>
                </a:lnTo>
                <a:lnTo>
                  <a:pt x="172641" y="35719"/>
                </a:lnTo>
                <a:lnTo>
                  <a:pt x="163785" y="29803"/>
                </a:lnTo>
                <a:cubicBezTo>
                  <a:pt x="157907" y="25896"/>
                  <a:pt x="151023" y="23812"/>
                  <a:pt x="143954" y="23812"/>
                </a:cubicBezTo>
                <a:lnTo>
                  <a:pt x="117760" y="23812"/>
                </a:lnTo>
                <a:cubicBezTo>
                  <a:pt x="117351" y="23812"/>
                  <a:pt x="116904" y="23812"/>
                  <a:pt x="116495" y="23850"/>
                </a:cubicBezTo>
                <a:cubicBezTo>
                  <a:pt x="110207" y="24185"/>
                  <a:pt x="104291" y="27012"/>
                  <a:pt x="100050" y="31700"/>
                </a:cubicBezTo>
                <a:lnTo>
                  <a:pt x="79288" y="54806"/>
                </a:lnTo>
                <a:lnTo>
                  <a:pt x="66638" y="42156"/>
                </a:lnTo>
                <a:lnTo>
                  <a:pt x="83121" y="23850"/>
                </a:lnTo>
                <a:lnTo>
                  <a:pt x="68349" y="23850"/>
                </a:lnTo>
                <a:cubicBezTo>
                  <a:pt x="62657" y="23850"/>
                  <a:pt x="57150" y="25189"/>
                  <a:pt x="52164" y="27719"/>
                </a:cubicBezTo>
                <a:lnTo>
                  <a:pt x="15255" y="-9265"/>
                </a:lnTo>
                <a:close/>
                <a:moveTo>
                  <a:pt x="0" y="25971"/>
                </a:moveTo>
                <a:lnTo>
                  <a:pt x="0" y="119063"/>
                </a:lnTo>
                <a:lnTo>
                  <a:pt x="58192" y="167543"/>
                </a:lnTo>
                <a:cubicBezTo>
                  <a:pt x="66749" y="174687"/>
                  <a:pt x="77539" y="178594"/>
                  <a:pt x="88664" y="178594"/>
                </a:cubicBezTo>
                <a:lnTo>
                  <a:pt x="94506" y="178594"/>
                </a:lnTo>
                <a:lnTo>
                  <a:pt x="91901" y="175989"/>
                </a:lnTo>
                <a:cubicBezTo>
                  <a:pt x="88404" y="172492"/>
                  <a:pt x="88404" y="166836"/>
                  <a:pt x="91901" y="163376"/>
                </a:cubicBezTo>
                <a:cubicBezTo>
                  <a:pt x="95399" y="159916"/>
                  <a:pt x="101054" y="159879"/>
                  <a:pt x="104515" y="163376"/>
                </a:cubicBezTo>
                <a:lnTo>
                  <a:pt x="119769" y="178631"/>
                </a:lnTo>
                <a:lnTo>
                  <a:pt x="123118" y="178631"/>
                </a:lnTo>
                <a:cubicBezTo>
                  <a:pt x="131378" y="178631"/>
                  <a:pt x="139415" y="176473"/>
                  <a:pt x="146484" y="172529"/>
                </a:cubicBezTo>
                <a:lnTo>
                  <a:pt x="0" y="25971"/>
                </a:lnTo>
                <a:close/>
              </a:path>
            </a:pathLst>
          </a:custGeom>
          <a:solidFill>
            <a:srgbClr val="000000"/>
          </a:solidFill>
          <a:ln/>
        </p:spPr>
      </p:sp>
      <p:sp>
        <p:nvSpPr>
          <p:cNvPr id="69" name="Text 67"/>
          <p:cNvSpPr/>
          <p:nvPr/>
        </p:nvSpPr>
        <p:spPr>
          <a:xfrm>
            <a:off x="4038600" y="4476750"/>
            <a:ext cx="1000125" cy="266700"/>
          </a:xfrm>
          <a:prstGeom prst="rect">
            <a:avLst/>
          </a:prstGeom>
          <a:noFill/>
          <a:ln/>
        </p:spPr>
        <p:txBody>
          <a:bodyPr wrap="square" lIns="0" tIns="0" rIns="0" bIns="0" rtlCol="0" anchor="ctr"/>
          <a:lstStyle/>
          <a:p>
            <a:pPr>
              <a:lnSpc>
                <a:spcPct val="130000"/>
              </a:lnSpc>
            </a:pPr>
            <a:r>
              <a:rPr lang="en-US" sz="1350" b="1" dirty="0">
                <a:solidFill>
                  <a:srgbClr val="FFFFFF"/>
                </a:solidFill>
                <a:latin typeface="Liter" pitchFamily="34" charset="0"/>
                <a:ea typeface="Liter" pitchFamily="34" charset="-122"/>
                <a:cs typeface="Liter" pitchFamily="34" charset="-120"/>
              </a:rPr>
              <a:t>Trust Issues</a:t>
            </a:r>
            <a:endParaRPr lang="en-US" sz="1600" dirty="0"/>
          </a:p>
        </p:txBody>
      </p:sp>
      <p:sp>
        <p:nvSpPr>
          <p:cNvPr id="70" name="Text 68"/>
          <p:cNvSpPr/>
          <p:nvPr/>
        </p:nvSpPr>
        <p:spPr>
          <a:xfrm>
            <a:off x="3467100" y="4953000"/>
            <a:ext cx="2476500" cy="495300"/>
          </a:xfrm>
          <a:prstGeom prst="rect">
            <a:avLst/>
          </a:prstGeom>
          <a:noFill/>
          <a:ln/>
        </p:spPr>
        <p:txBody>
          <a:bodyPr wrap="square" lIns="0" tIns="0" rIns="0" bIns="0" rtlCol="0" anchor="ctr"/>
          <a:lstStyle/>
          <a:p>
            <a:pPr>
              <a:lnSpc>
                <a:spcPct val="130000"/>
              </a:lnSpc>
            </a:pPr>
            <a:r>
              <a:rPr lang="en-US" sz="1200" dirty="0">
                <a:solidFill>
                  <a:srgbClr val="FFFFFF">
                    <a:alpha val="80000"/>
                  </a:srgbClr>
                </a:solidFill>
                <a:latin typeface="Liter" pitchFamily="34" charset="0"/>
                <a:ea typeface="Liter" pitchFamily="34" charset="-122"/>
                <a:cs typeface="Liter" pitchFamily="34" charset="-120"/>
              </a:rPr>
              <a:t>Concerns about product authenticity and review reliability.</a:t>
            </a:r>
            <a:endParaRPr lang="en-US" sz="1600" dirty="0"/>
          </a:p>
        </p:txBody>
      </p:sp>
      <p:sp>
        <p:nvSpPr>
          <p:cNvPr id="71" name="Shape 69"/>
          <p:cNvSpPr/>
          <p:nvPr/>
        </p:nvSpPr>
        <p:spPr>
          <a:xfrm>
            <a:off x="3467100" y="5562600"/>
            <a:ext cx="2400300" cy="342900"/>
          </a:xfrm>
          <a:custGeom>
            <a:avLst/>
            <a:gdLst/>
            <a:ahLst/>
            <a:cxnLst/>
            <a:rect l="l" t="t" r="r" b="b"/>
            <a:pathLst>
              <a:path w="2400300" h="342900">
                <a:moveTo>
                  <a:pt x="0" y="0"/>
                </a:moveTo>
                <a:lnTo>
                  <a:pt x="2400300" y="0"/>
                </a:lnTo>
                <a:lnTo>
                  <a:pt x="2400300" y="342900"/>
                </a:lnTo>
                <a:lnTo>
                  <a:pt x="0" y="342900"/>
                </a:lnTo>
                <a:lnTo>
                  <a:pt x="0" y="0"/>
                </a:lnTo>
                <a:close/>
              </a:path>
            </a:pathLst>
          </a:custGeom>
          <a:solidFill>
            <a:srgbClr val="000000"/>
          </a:solidFill>
          <a:ln/>
        </p:spPr>
      </p:sp>
      <p:sp>
        <p:nvSpPr>
          <p:cNvPr id="72" name="Shape 70"/>
          <p:cNvSpPr/>
          <p:nvPr/>
        </p:nvSpPr>
        <p:spPr>
          <a:xfrm>
            <a:off x="3562350" y="5667375"/>
            <a:ext cx="133350" cy="133350"/>
          </a:xfrm>
          <a:custGeom>
            <a:avLst/>
            <a:gdLst/>
            <a:ahLst/>
            <a:cxnLst/>
            <a:rect l="l" t="t" r="r" b="b"/>
            <a:pathLst>
              <a:path w="133350" h="133350">
                <a:moveTo>
                  <a:pt x="75009" y="116681"/>
                </a:moveTo>
                <a:lnTo>
                  <a:pt x="16669" y="116681"/>
                </a:lnTo>
                <a:lnTo>
                  <a:pt x="16669" y="58341"/>
                </a:lnTo>
                <a:lnTo>
                  <a:pt x="29170" y="58341"/>
                </a:lnTo>
                <a:lnTo>
                  <a:pt x="29170" y="41672"/>
                </a:lnTo>
                <a:lnTo>
                  <a:pt x="16669" y="41672"/>
                </a:lnTo>
                <a:cubicBezTo>
                  <a:pt x="7475" y="41672"/>
                  <a:pt x="0" y="49147"/>
                  <a:pt x="0" y="58341"/>
                </a:cubicBezTo>
                <a:lnTo>
                  <a:pt x="0" y="116681"/>
                </a:lnTo>
                <a:cubicBezTo>
                  <a:pt x="0" y="125875"/>
                  <a:pt x="7475" y="133350"/>
                  <a:pt x="16669" y="133350"/>
                </a:cubicBezTo>
                <a:lnTo>
                  <a:pt x="75009" y="133350"/>
                </a:lnTo>
                <a:cubicBezTo>
                  <a:pt x="84203" y="133350"/>
                  <a:pt x="91678" y="125875"/>
                  <a:pt x="91678" y="116681"/>
                </a:cubicBezTo>
                <a:lnTo>
                  <a:pt x="91678" y="104180"/>
                </a:lnTo>
                <a:lnTo>
                  <a:pt x="75009" y="104180"/>
                </a:lnTo>
                <a:lnTo>
                  <a:pt x="75009" y="116681"/>
                </a:lnTo>
                <a:close/>
                <a:moveTo>
                  <a:pt x="58341" y="91678"/>
                </a:moveTo>
                <a:lnTo>
                  <a:pt x="116681" y="91678"/>
                </a:lnTo>
                <a:cubicBezTo>
                  <a:pt x="125875" y="91678"/>
                  <a:pt x="133350" y="84203"/>
                  <a:pt x="133350" y="75009"/>
                </a:cubicBezTo>
                <a:lnTo>
                  <a:pt x="133350" y="16669"/>
                </a:lnTo>
                <a:cubicBezTo>
                  <a:pt x="133350" y="7475"/>
                  <a:pt x="125875" y="0"/>
                  <a:pt x="116681" y="0"/>
                </a:cubicBezTo>
                <a:lnTo>
                  <a:pt x="58341" y="0"/>
                </a:lnTo>
                <a:cubicBezTo>
                  <a:pt x="49147" y="0"/>
                  <a:pt x="41672" y="7475"/>
                  <a:pt x="41672" y="16669"/>
                </a:cubicBezTo>
                <a:lnTo>
                  <a:pt x="41672" y="75009"/>
                </a:lnTo>
                <a:cubicBezTo>
                  <a:pt x="41672" y="84203"/>
                  <a:pt x="49147" y="91678"/>
                  <a:pt x="58341" y="91678"/>
                </a:cubicBezTo>
                <a:close/>
              </a:path>
            </a:pathLst>
          </a:custGeom>
          <a:solidFill>
            <a:srgbClr val="DDFF00"/>
          </a:solidFill>
          <a:ln/>
        </p:spPr>
      </p:sp>
      <p:sp>
        <p:nvSpPr>
          <p:cNvPr id="73" name="Text 71"/>
          <p:cNvSpPr/>
          <p:nvPr/>
        </p:nvSpPr>
        <p:spPr>
          <a:xfrm>
            <a:off x="3786188" y="5638800"/>
            <a:ext cx="904875" cy="190500"/>
          </a:xfrm>
          <a:prstGeom prst="rect">
            <a:avLst/>
          </a:prstGeom>
          <a:noFill/>
          <a:ln/>
        </p:spPr>
        <p:txBody>
          <a:bodyPr wrap="square" lIns="0" tIns="0" rIns="0" bIns="0" rtlCol="0" anchor="ctr"/>
          <a:lstStyle/>
          <a:p>
            <a:pPr>
              <a:lnSpc>
                <a:spcPct val="120000"/>
              </a:lnSpc>
            </a:pPr>
            <a:r>
              <a:rPr lang="en-US" sz="1050" dirty="0">
                <a:solidFill>
                  <a:srgbClr val="FFFFFF"/>
                </a:solidFill>
                <a:latin typeface="Liter" pitchFamily="34" charset="0"/>
                <a:ea typeface="Liter" pitchFamily="34" charset="-122"/>
                <a:cs typeface="Liter" pitchFamily="34" charset="-120"/>
              </a:rPr>
              <a:t>Fake Products</a:t>
            </a:r>
            <a:endParaRPr lang="en-US" sz="1600" dirty="0"/>
          </a:p>
        </p:txBody>
      </p:sp>
      <p:sp>
        <p:nvSpPr>
          <p:cNvPr id="74" name="Shape 72"/>
          <p:cNvSpPr/>
          <p:nvPr/>
        </p:nvSpPr>
        <p:spPr>
          <a:xfrm>
            <a:off x="3467100" y="5981700"/>
            <a:ext cx="2400300" cy="342900"/>
          </a:xfrm>
          <a:custGeom>
            <a:avLst/>
            <a:gdLst/>
            <a:ahLst/>
            <a:cxnLst/>
            <a:rect l="l" t="t" r="r" b="b"/>
            <a:pathLst>
              <a:path w="2400300" h="342900">
                <a:moveTo>
                  <a:pt x="0" y="0"/>
                </a:moveTo>
                <a:lnTo>
                  <a:pt x="2400300" y="0"/>
                </a:lnTo>
                <a:lnTo>
                  <a:pt x="2400300" y="342900"/>
                </a:lnTo>
                <a:lnTo>
                  <a:pt x="0" y="342900"/>
                </a:lnTo>
                <a:lnTo>
                  <a:pt x="0" y="0"/>
                </a:lnTo>
                <a:close/>
              </a:path>
            </a:pathLst>
          </a:custGeom>
          <a:solidFill>
            <a:srgbClr val="000000"/>
          </a:solidFill>
          <a:ln/>
        </p:spPr>
      </p:sp>
      <p:sp>
        <p:nvSpPr>
          <p:cNvPr id="75" name="Shape 73"/>
          <p:cNvSpPr/>
          <p:nvPr/>
        </p:nvSpPr>
        <p:spPr>
          <a:xfrm>
            <a:off x="3554016" y="6086475"/>
            <a:ext cx="150019" cy="133350"/>
          </a:xfrm>
          <a:custGeom>
            <a:avLst/>
            <a:gdLst/>
            <a:ahLst/>
            <a:cxnLst/>
            <a:rect l="l" t="t" r="r" b="b"/>
            <a:pathLst>
              <a:path w="150019" h="133350">
                <a:moveTo>
                  <a:pt x="75035" y="92095"/>
                </a:moveTo>
                <a:cubicBezTo>
                  <a:pt x="77640" y="92095"/>
                  <a:pt x="80218" y="92694"/>
                  <a:pt x="82588" y="93918"/>
                </a:cubicBezTo>
                <a:lnTo>
                  <a:pt x="101966" y="103789"/>
                </a:lnTo>
                <a:lnTo>
                  <a:pt x="98580" y="82302"/>
                </a:lnTo>
                <a:cubicBezTo>
                  <a:pt x="97747" y="77041"/>
                  <a:pt x="99492" y="71702"/>
                  <a:pt x="103242" y="67925"/>
                </a:cubicBezTo>
                <a:lnTo>
                  <a:pt x="118609" y="52533"/>
                </a:lnTo>
                <a:lnTo>
                  <a:pt x="97122" y="49121"/>
                </a:lnTo>
                <a:cubicBezTo>
                  <a:pt x="91860" y="48287"/>
                  <a:pt x="87303" y="44980"/>
                  <a:pt x="84880" y="40239"/>
                </a:cubicBezTo>
                <a:lnTo>
                  <a:pt x="74983" y="20862"/>
                </a:lnTo>
                <a:lnTo>
                  <a:pt x="74983" y="92121"/>
                </a:lnTo>
                <a:close/>
                <a:moveTo>
                  <a:pt x="119129" y="127360"/>
                </a:moveTo>
                <a:cubicBezTo>
                  <a:pt x="117228" y="128740"/>
                  <a:pt x="114702" y="128948"/>
                  <a:pt x="112618" y="127881"/>
                </a:cubicBezTo>
                <a:lnTo>
                  <a:pt x="75035" y="108764"/>
                </a:lnTo>
                <a:lnTo>
                  <a:pt x="37453" y="127881"/>
                </a:lnTo>
                <a:cubicBezTo>
                  <a:pt x="35369" y="128948"/>
                  <a:pt x="32843" y="128740"/>
                  <a:pt x="30941" y="127360"/>
                </a:cubicBezTo>
                <a:cubicBezTo>
                  <a:pt x="29040" y="125979"/>
                  <a:pt x="28076" y="123661"/>
                  <a:pt x="28441" y="121317"/>
                </a:cubicBezTo>
                <a:lnTo>
                  <a:pt x="35004" y="79671"/>
                </a:lnTo>
                <a:lnTo>
                  <a:pt x="5209" y="49850"/>
                </a:lnTo>
                <a:cubicBezTo>
                  <a:pt x="3542" y="48183"/>
                  <a:pt x="2969" y="45735"/>
                  <a:pt x="3698" y="43495"/>
                </a:cubicBezTo>
                <a:cubicBezTo>
                  <a:pt x="4428" y="41255"/>
                  <a:pt x="6329" y="39614"/>
                  <a:pt x="8673" y="39250"/>
                </a:cubicBezTo>
                <a:lnTo>
                  <a:pt x="50319" y="32634"/>
                </a:lnTo>
                <a:lnTo>
                  <a:pt x="69488" y="-4922"/>
                </a:lnTo>
                <a:cubicBezTo>
                  <a:pt x="70556" y="-7006"/>
                  <a:pt x="72717" y="-8334"/>
                  <a:pt x="75061" y="-8334"/>
                </a:cubicBezTo>
                <a:cubicBezTo>
                  <a:pt x="77406" y="-8334"/>
                  <a:pt x="79567" y="-7006"/>
                  <a:pt x="80635" y="-4922"/>
                </a:cubicBezTo>
                <a:lnTo>
                  <a:pt x="99752" y="32634"/>
                </a:lnTo>
                <a:lnTo>
                  <a:pt x="141398" y="39250"/>
                </a:lnTo>
                <a:cubicBezTo>
                  <a:pt x="143716" y="39614"/>
                  <a:pt x="145643" y="41255"/>
                  <a:pt x="146372" y="43495"/>
                </a:cubicBezTo>
                <a:cubicBezTo>
                  <a:pt x="147102" y="45735"/>
                  <a:pt x="146503" y="48183"/>
                  <a:pt x="144862" y="49850"/>
                </a:cubicBezTo>
                <a:lnTo>
                  <a:pt x="115040" y="79671"/>
                </a:lnTo>
                <a:lnTo>
                  <a:pt x="121630" y="121317"/>
                </a:lnTo>
                <a:cubicBezTo>
                  <a:pt x="121994" y="123635"/>
                  <a:pt x="121031" y="125979"/>
                  <a:pt x="119129" y="127360"/>
                </a:cubicBezTo>
                <a:close/>
              </a:path>
            </a:pathLst>
          </a:custGeom>
          <a:solidFill>
            <a:srgbClr val="DDFF00"/>
          </a:solidFill>
          <a:ln/>
        </p:spPr>
      </p:sp>
      <p:sp>
        <p:nvSpPr>
          <p:cNvPr id="76" name="Text 74"/>
          <p:cNvSpPr/>
          <p:nvPr/>
        </p:nvSpPr>
        <p:spPr>
          <a:xfrm>
            <a:off x="3786188" y="6057900"/>
            <a:ext cx="1228725" cy="190500"/>
          </a:xfrm>
          <a:prstGeom prst="rect">
            <a:avLst/>
          </a:prstGeom>
          <a:noFill/>
          <a:ln/>
        </p:spPr>
        <p:txBody>
          <a:bodyPr wrap="square" lIns="0" tIns="0" rIns="0" bIns="0" rtlCol="0" anchor="ctr"/>
          <a:lstStyle/>
          <a:p>
            <a:pPr>
              <a:lnSpc>
                <a:spcPct val="120000"/>
              </a:lnSpc>
            </a:pPr>
            <a:r>
              <a:rPr lang="en-US" sz="1050" dirty="0">
                <a:solidFill>
                  <a:srgbClr val="FFFFFF"/>
                </a:solidFill>
                <a:latin typeface="Liter" pitchFamily="34" charset="0"/>
                <a:ea typeface="Liter" pitchFamily="34" charset="-122"/>
                <a:cs typeface="Liter" pitchFamily="34" charset="-120"/>
              </a:rPr>
              <a:t>Misleading Reviews</a:t>
            </a:r>
            <a:endParaRPr lang="en-US" sz="1600" dirty="0"/>
          </a:p>
        </p:txBody>
      </p:sp>
      <p:sp>
        <p:nvSpPr>
          <p:cNvPr id="77" name="Shape 75"/>
          <p:cNvSpPr/>
          <p:nvPr/>
        </p:nvSpPr>
        <p:spPr>
          <a:xfrm>
            <a:off x="6191250" y="4229100"/>
            <a:ext cx="2724150" cy="2247900"/>
          </a:xfrm>
          <a:custGeom>
            <a:avLst/>
            <a:gdLst/>
            <a:ahLst/>
            <a:cxnLst/>
            <a:rect l="l" t="t" r="r" b="b"/>
            <a:pathLst>
              <a:path w="2724150" h="2247900">
                <a:moveTo>
                  <a:pt x="0" y="0"/>
                </a:moveTo>
                <a:lnTo>
                  <a:pt x="2724150" y="0"/>
                </a:lnTo>
                <a:lnTo>
                  <a:pt x="2724150" y="2247900"/>
                </a:lnTo>
                <a:lnTo>
                  <a:pt x="0" y="2247900"/>
                </a:lnTo>
                <a:lnTo>
                  <a:pt x="0" y="0"/>
                </a:lnTo>
                <a:close/>
              </a:path>
            </a:pathLst>
          </a:custGeom>
          <a:solidFill>
            <a:srgbClr val="111111"/>
          </a:solidFill>
          <a:ln/>
        </p:spPr>
      </p:sp>
      <p:sp>
        <p:nvSpPr>
          <p:cNvPr id="78" name="Shape 76"/>
          <p:cNvSpPr/>
          <p:nvPr/>
        </p:nvSpPr>
        <p:spPr>
          <a:xfrm>
            <a:off x="6191250" y="4229100"/>
            <a:ext cx="38100" cy="2247900"/>
          </a:xfrm>
          <a:custGeom>
            <a:avLst/>
            <a:gdLst/>
            <a:ahLst/>
            <a:cxnLst/>
            <a:rect l="l" t="t" r="r" b="b"/>
            <a:pathLst>
              <a:path w="38100" h="2247900">
                <a:moveTo>
                  <a:pt x="0" y="0"/>
                </a:moveTo>
                <a:lnTo>
                  <a:pt x="38100" y="0"/>
                </a:lnTo>
                <a:lnTo>
                  <a:pt x="38100" y="2247900"/>
                </a:lnTo>
                <a:lnTo>
                  <a:pt x="0" y="2247900"/>
                </a:lnTo>
                <a:lnTo>
                  <a:pt x="0" y="0"/>
                </a:lnTo>
                <a:close/>
              </a:path>
            </a:pathLst>
          </a:custGeom>
          <a:solidFill>
            <a:srgbClr val="DDFF00"/>
          </a:solidFill>
          <a:ln/>
        </p:spPr>
      </p:sp>
      <p:sp>
        <p:nvSpPr>
          <p:cNvPr id="79" name="Shape 77"/>
          <p:cNvSpPr/>
          <p:nvPr/>
        </p:nvSpPr>
        <p:spPr>
          <a:xfrm>
            <a:off x="6362700" y="4381500"/>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solidFill>
            <a:srgbClr val="DDFF00"/>
          </a:solidFill>
          <a:ln/>
        </p:spPr>
      </p:sp>
      <p:sp>
        <p:nvSpPr>
          <p:cNvPr id="80" name="Shape 78"/>
          <p:cNvSpPr/>
          <p:nvPr/>
        </p:nvSpPr>
        <p:spPr>
          <a:xfrm>
            <a:off x="6472238" y="4514850"/>
            <a:ext cx="238125" cy="190500"/>
          </a:xfrm>
          <a:custGeom>
            <a:avLst/>
            <a:gdLst/>
            <a:ahLst/>
            <a:cxnLst/>
            <a:rect l="l" t="t" r="r" b="b"/>
            <a:pathLst>
              <a:path w="238125" h="190500">
                <a:moveTo>
                  <a:pt x="23812" y="35719"/>
                </a:moveTo>
                <a:cubicBezTo>
                  <a:pt x="23812" y="22585"/>
                  <a:pt x="34491" y="11906"/>
                  <a:pt x="47625" y="11906"/>
                </a:cubicBezTo>
                <a:lnTo>
                  <a:pt x="154781" y="11906"/>
                </a:lnTo>
                <a:cubicBezTo>
                  <a:pt x="167915" y="11906"/>
                  <a:pt x="178594" y="22585"/>
                  <a:pt x="178594" y="35719"/>
                </a:cubicBezTo>
                <a:lnTo>
                  <a:pt x="178594" y="47625"/>
                </a:lnTo>
                <a:lnTo>
                  <a:pt x="197458" y="47625"/>
                </a:lnTo>
                <a:cubicBezTo>
                  <a:pt x="203783" y="47625"/>
                  <a:pt x="209848" y="50118"/>
                  <a:pt x="214313" y="54583"/>
                </a:cubicBezTo>
                <a:lnTo>
                  <a:pt x="231167" y="71438"/>
                </a:lnTo>
                <a:cubicBezTo>
                  <a:pt x="235632" y="75902"/>
                  <a:pt x="238125" y="81967"/>
                  <a:pt x="238125" y="88292"/>
                </a:cubicBezTo>
                <a:lnTo>
                  <a:pt x="238125" y="142875"/>
                </a:lnTo>
                <a:cubicBezTo>
                  <a:pt x="238125" y="156009"/>
                  <a:pt x="227447" y="166688"/>
                  <a:pt x="214313" y="166688"/>
                </a:cubicBezTo>
                <a:lnTo>
                  <a:pt x="213085" y="166688"/>
                </a:lnTo>
                <a:cubicBezTo>
                  <a:pt x="209215" y="180417"/>
                  <a:pt x="196565" y="190500"/>
                  <a:pt x="181570" y="190500"/>
                </a:cubicBezTo>
                <a:cubicBezTo>
                  <a:pt x="166576" y="190500"/>
                  <a:pt x="153963" y="180417"/>
                  <a:pt x="150056" y="166688"/>
                </a:cubicBezTo>
                <a:lnTo>
                  <a:pt x="111882" y="166688"/>
                </a:lnTo>
                <a:cubicBezTo>
                  <a:pt x="108012" y="180417"/>
                  <a:pt x="95362" y="190500"/>
                  <a:pt x="80367" y="190500"/>
                </a:cubicBezTo>
                <a:cubicBezTo>
                  <a:pt x="65373" y="190500"/>
                  <a:pt x="52760" y="180417"/>
                  <a:pt x="48853" y="166688"/>
                </a:cubicBezTo>
                <a:lnTo>
                  <a:pt x="47625" y="166688"/>
                </a:lnTo>
                <a:cubicBezTo>
                  <a:pt x="34491" y="166688"/>
                  <a:pt x="23813" y="156009"/>
                  <a:pt x="23813" y="142875"/>
                </a:cubicBezTo>
                <a:lnTo>
                  <a:pt x="23813" y="125016"/>
                </a:lnTo>
                <a:lnTo>
                  <a:pt x="8930" y="125016"/>
                </a:lnTo>
                <a:cubicBezTo>
                  <a:pt x="3981" y="125016"/>
                  <a:pt x="0" y="121034"/>
                  <a:pt x="0" y="116086"/>
                </a:cubicBezTo>
                <a:cubicBezTo>
                  <a:pt x="0" y="111137"/>
                  <a:pt x="3981" y="107156"/>
                  <a:pt x="8930" y="107156"/>
                </a:cubicBezTo>
                <a:lnTo>
                  <a:pt x="50602" y="107156"/>
                </a:lnTo>
                <a:cubicBezTo>
                  <a:pt x="55550" y="107156"/>
                  <a:pt x="59531" y="103175"/>
                  <a:pt x="59531" y="98227"/>
                </a:cubicBezTo>
                <a:cubicBezTo>
                  <a:pt x="59531" y="93278"/>
                  <a:pt x="55550" y="89297"/>
                  <a:pt x="50602" y="89297"/>
                </a:cubicBezTo>
                <a:lnTo>
                  <a:pt x="8930" y="89297"/>
                </a:lnTo>
                <a:cubicBezTo>
                  <a:pt x="3981" y="89297"/>
                  <a:pt x="0" y="85316"/>
                  <a:pt x="0" y="80367"/>
                </a:cubicBezTo>
                <a:cubicBezTo>
                  <a:pt x="0" y="75419"/>
                  <a:pt x="3981" y="71438"/>
                  <a:pt x="8930" y="71438"/>
                </a:cubicBezTo>
                <a:lnTo>
                  <a:pt x="74414" y="71438"/>
                </a:lnTo>
                <a:cubicBezTo>
                  <a:pt x="79363" y="71438"/>
                  <a:pt x="83344" y="67456"/>
                  <a:pt x="83344" y="62508"/>
                </a:cubicBezTo>
                <a:cubicBezTo>
                  <a:pt x="83344" y="57559"/>
                  <a:pt x="79363" y="53578"/>
                  <a:pt x="74414" y="53578"/>
                </a:cubicBezTo>
                <a:lnTo>
                  <a:pt x="8930" y="53578"/>
                </a:lnTo>
                <a:cubicBezTo>
                  <a:pt x="3981" y="53578"/>
                  <a:pt x="0" y="49597"/>
                  <a:pt x="0" y="44648"/>
                </a:cubicBezTo>
                <a:cubicBezTo>
                  <a:pt x="0" y="39700"/>
                  <a:pt x="3981" y="35719"/>
                  <a:pt x="8930" y="35719"/>
                </a:cubicBezTo>
                <a:lnTo>
                  <a:pt x="23812" y="35719"/>
                </a:lnTo>
                <a:close/>
                <a:moveTo>
                  <a:pt x="214313" y="107156"/>
                </a:moveTo>
                <a:lnTo>
                  <a:pt x="214313" y="88292"/>
                </a:lnTo>
                <a:lnTo>
                  <a:pt x="197458" y="71438"/>
                </a:lnTo>
                <a:lnTo>
                  <a:pt x="178594" y="71438"/>
                </a:lnTo>
                <a:lnTo>
                  <a:pt x="178594" y="107156"/>
                </a:lnTo>
                <a:lnTo>
                  <a:pt x="214313" y="107156"/>
                </a:lnTo>
                <a:close/>
                <a:moveTo>
                  <a:pt x="95250" y="157758"/>
                </a:moveTo>
                <a:cubicBezTo>
                  <a:pt x="95250" y="149544"/>
                  <a:pt x="88581" y="142875"/>
                  <a:pt x="80367" y="142875"/>
                </a:cubicBezTo>
                <a:cubicBezTo>
                  <a:pt x="72153" y="142875"/>
                  <a:pt x="65484" y="149544"/>
                  <a:pt x="65484" y="157758"/>
                </a:cubicBezTo>
                <a:cubicBezTo>
                  <a:pt x="65484" y="165972"/>
                  <a:pt x="72153" y="172641"/>
                  <a:pt x="80367" y="172641"/>
                </a:cubicBezTo>
                <a:cubicBezTo>
                  <a:pt x="88581" y="172641"/>
                  <a:pt x="95250" y="165972"/>
                  <a:pt x="95250" y="157758"/>
                </a:cubicBezTo>
                <a:close/>
                <a:moveTo>
                  <a:pt x="181570" y="172641"/>
                </a:moveTo>
                <a:cubicBezTo>
                  <a:pt x="189784" y="172641"/>
                  <a:pt x="196453" y="165972"/>
                  <a:pt x="196453" y="157758"/>
                </a:cubicBezTo>
                <a:cubicBezTo>
                  <a:pt x="196453" y="149544"/>
                  <a:pt x="189784" y="142875"/>
                  <a:pt x="181570" y="142875"/>
                </a:cubicBezTo>
                <a:cubicBezTo>
                  <a:pt x="173356" y="142875"/>
                  <a:pt x="166688" y="149544"/>
                  <a:pt x="166688" y="157758"/>
                </a:cubicBezTo>
                <a:cubicBezTo>
                  <a:pt x="166688" y="165972"/>
                  <a:pt x="173356" y="172641"/>
                  <a:pt x="181570" y="172641"/>
                </a:cubicBezTo>
                <a:close/>
              </a:path>
            </a:pathLst>
          </a:custGeom>
          <a:solidFill>
            <a:srgbClr val="000000"/>
          </a:solidFill>
          <a:ln/>
        </p:spPr>
      </p:sp>
      <p:sp>
        <p:nvSpPr>
          <p:cNvPr id="81" name="Text 79"/>
          <p:cNvSpPr/>
          <p:nvPr/>
        </p:nvSpPr>
        <p:spPr>
          <a:xfrm>
            <a:off x="6934200" y="4476750"/>
            <a:ext cx="1219200" cy="266700"/>
          </a:xfrm>
          <a:prstGeom prst="rect">
            <a:avLst/>
          </a:prstGeom>
          <a:noFill/>
          <a:ln/>
        </p:spPr>
        <p:txBody>
          <a:bodyPr wrap="square" lIns="0" tIns="0" rIns="0" bIns="0" rtlCol="0" anchor="ctr"/>
          <a:lstStyle/>
          <a:p>
            <a:pPr>
              <a:lnSpc>
                <a:spcPct val="130000"/>
              </a:lnSpc>
            </a:pPr>
            <a:r>
              <a:rPr lang="en-US" sz="1350" b="1" dirty="0">
                <a:solidFill>
                  <a:srgbClr val="FFFFFF"/>
                </a:solidFill>
                <a:latin typeface="Liter" pitchFamily="34" charset="0"/>
                <a:ea typeface="Liter" pitchFamily="34" charset="-122"/>
                <a:cs typeface="Liter" pitchFamily="34" charset="-120"/>
              </a:rPr>
              <a:t>Delivery Issues</a:t>
            </a:r>
            <a:endParaRPr lang="en-US" sz="1600" dirty="0"/>
          </a:p>
        </p:txBody>
      </p:sp>
      <p:sp>
        <p:nvSpPr>
          <p:cNvPr id="82" name="Text 80"/>
          <p:cNvSpPr/>
          <p:nvPr/>
        </p:nvSpPr>
        <p:spPr>
          <a:xfrm>
            <a:off x="6362700" y="4953000"/>
            <a:ext cx="2476500" cy="533400"/>
          </a:xfrm>
          <a:prstGeom prst="rect">
            <a:avLst/>
          </a:prstGeom>
          <a:noFill/>
          <a:ln/>
        </p:spPr>
        <p:txBody>
          <a:bodyPr wrap="square" lIns="0" tIns="0" rIns="0" bIns="0" rtlCol="0" anchor="ctr"/>
          <a:lstStyle/>
          <a:p>
            <a:pPr>
              <a:lnSpc>
                <a:spcPct val="130000"/>
              </a:lnSpc>
            </a:pPr>
            <a:r>
              <a:rPr lang="en-US" sz="1200" dirty="0">
                <a:solidFill>
                  <a:srgbClr val="FFFFFF">
                    <a:alpha val="80000"/>
                  </a:srgbClr>
                </a:solidFill>
                <a:latin typeface="Liter" pitchFamily="34" charset="0"/>
                <a:ea typeface="Liter" pitchFamily="34" charset="-122"/>
                <a:cs typeface="Liter" pitchFamily="34" charset="-120"/>
              </a:rPr>
              <a:t>Problems in logistics and product delivery to customers.</a:t>
            </a:r>
            <a:endParaRPr lang="en-US" sz="1600" dirty="0"/>
          </a:p>
        </p:txBody>
      </p:sp>
      <p:sp>
        <p:nvSpPr>
          <p:cNvPr id="83" name="Shape 81"/>
          <p:cNvSpPr/>
          <p:nvPr/>
        </p:nvSpPr>
        <p:spPr>
          <a:xfrm>
            <a:off x="6381750" y="5629275"/>
            <a:ext cx="133350" cy="133350"/>
          </a:xfrm>
          <a:custGeom>
            <a:avLst/>
            <a:gdLst/>
            <a:ahLst/>
            <a:cxnLst/>
            <a:rect l="l" t="t" r="r" b="b"/>
            <a:pathLst>
              <a:path w="133350" h="133350">
                <a:moveTo>
                  <a:pt x="66675" y="0"/>
                </a:moveTo>
                <a:cubicBezTo>
                  <a:pt x="103474" y="0"/>
                  <a:pt x="133350" y="29876"/>
                  <a:pt x="133350" y="66675"/>
                </a:cubicBezTo>
                <a:cubicBezTo>
                  <a:pt x="133350" y="103474"/>
                  <a:pt x="103474" y="133350"/>
                  <a:pt x="66675" y="133350"/>
                </a:cubicBezTo>
                <a:cubicBezTo>
                  <a:pt x="29876" y="133350"/>
                  <a:pt x="0" y="103474"/>
                  <a:pt x="0" y="66675"/>
                </a:cubicBezTo>
                <a:cubicBezTo>
                  <a:pt x="0" y="29876"/>
                  <a:pt x="29876" y="0"/>
                  <a:pt x="66675" y="0"/>
                </a:cubicBezTo>
                <a:close/>
                <a:moveTo>
                  <a:pt x="60424" y="31254"/>
                </a:moveTo>
                <a:lnTo>
                  <a:pt x="60424" y="66675"/>
                </a:lnTo>
                <a:cubicBezTo>
                  <a:pt x="60424" y="68759"/>
                  <a:pt x="61466" y="70712"/>
                  <a:pt x="63211" y="71884"/>
                </a:cubicBezTo>
                <a:lnTo>
                  <a:pt x="88214" y="88553"/>
                </a:lnTo>
                <a:cubicBezTo>
                  <a:pt x="91079" y="90480"/>
                  <a:pt x="94960" y="89699"/>
                  <a:pt x="96887" y="86808"/>
                </a:cubicBezTo>
                <a:cubicBezTo>
                  <a:pt x="98814" y="83917"/>
                  <a:pt x="98033" y="80062"/>
                  <a:pt x="95142" y="78135"/>
                </a:cubicBezTo>
                <a:lnTo>
                  <a:pt x="72926" y="63341"/>
                </a:lnTo>
                <a:lnTo>
                  <a:pt x="72926" y="31254"/>
                </a:lnTo>
                <a:cubicBezTo>
                  <a:pt x="72926" y="27790"/>
                  <a:pt x="70139" y="25003"/>
                  <a:pt x="66675" y="25003"/>
                </a:cubicBezTo>
                <a:cubicBezTo>
                  <a:pt x="63211" y="25003"/>
                  <a:pt x="60424" y="27790"/>
                  <a:pt x="60424" y="31254"/>
                </a:cubicBezTo>
                <a:close/>
              </a:path>
            </a:pathLst>
          </a:custGeom>
          <a:solidFill>
            <a:srgbClr val="DDFF00"/>
          </a:solidFill>
          <a:ln/>
        </p:spPr>
      </p:sp>
      <p:sp>
        <p:nvSpPr>
          <p:cNvPr id="84" name="Text 82"/>
          <p:cNvSpPr/>
          <p:nvPr/>
        </p:nvSpPr>
        <p:spPr>
          <a:xfrm>
            <a:off x="6605588" y="5600700"/>
            <a:ext cx="1076325" cy="190500"/>
          </a:xfrm>
          <a:prstGeom prst="rect">
            <a:avLst/>
          </a:prstGeom>
          <a:noFill/>
          <a:ln/>
        </p:spPr>
        <p:txBody>
          <a:bodyPr wrap="square" lIns="0" tIns="0" rIns="0" bIns="0" rtlCol="0" anchor="ctr"/>
          <a:lstStyle/>
          <a:p>
            <a:pPr>
              <a:lnSpc>
                <a:spcPct val="120000"/>
              </a:lnSpc>
            </a:pPr>
            <a:r>
              <a:rPr lang="en-US" sz="1050" dirty="0">
                <a:solidFill>
                  <a:srgbClr val="FFFFFF">
                    <a:alpha val="70000"/>
                  </a:srgbClr>
                </a:solidFill>
                <a:latin typeface="Liter" pitchFamily="34" charset="0"/>
                <a:ea typeface="Liter" pitchFamily="34" charset="-122"/>
                <a:cs typeface="Liter" pitchFamily="34" charset="-120"/>
              </a:rPr>
              <a:t>Delayed shipping</a:t>
            </a:r>
            <a:endParaRPr lang="en-US" sz="1600" dirty="0"/>
          </a:p>
        </p:txBody>
      </p:sp>
      <p:sp>
        <p:nvSpPr>
          <p:cNvPr id="85" name="Shape 83"/>
          <p:cNvSpPr/>
          <p:nvPr/>
        </p:nvSpPr>
        <p:spPr>
          <a:xfrm>
            <a:off x="6365081" y="5895975"/>
            <a:ext cx="166688" cy="133350"/>
          </a:xfrm>
          <a:custGeom>
            <a:avLst/>
            <a:gdLst/>
            <a:ahLst/>
            <a:cxnLst/>
            <a:rect l="l" t="t" r="r" b="b"/>
            <a:pathLst>
              <a:path w="166688" h="133350">
                <a:moveTo>
                  <a:pt x="145930" y="61779"/>
                </a:moveTo>
                <a:cubicBezTo>
                  <a:pt x="148638" y="64852"/>
                  <a:pt x="153300" y="65529"/>
                  <a:pt x="156816" y="63211"/>
                </a:cubicBezTo>
                <a:cubicBezTo>
                  <a:pt x="160645" y="60659"/>
                  <a:pt x="161687" y="55476"/>
                  <a:pt x="159134" y="51647"/>
                </a:cubicBezTo>
                <a:lnTo>
                  <a:pt x="146633" y="32895"/>
                </a:lnTo>
                <a:cubicBezTo>
                  <a:pt x="145904" y="31801"/>
                  <a:pt x="144914" y="30889"/>
                  <a:pt x="143742" y="30238"/>
                </a:cubicBezTo>
                <a:lnTo>
                  <a:pt x="91522" y="1224"/>
                </a:lnTo>
                <a:cubicBezTo>
                  <a:pt x="86495" y="-1563"/>
                  <a:pt x="80375" y="-1563"/>
                  <a:pt x="75322" y="1224"/>
                </a:cubicBezTo>
                <a:lnTo>
                  <a:pt x="23128" y="30212"/>
                </a:lnTo>
                <a:cubicBezTo>
                  <a:pt x="21721" y="30993"/>
                  <a:pt x="20602" y="32139"/>
                  <a:pt x="19846" y="33546"/>
                </a:cubicBezTo>
                <a:lnTo>
                  <a:pt x="7214" y="56960"/>
                </a:lnTo>
                <a:cubicBezTo>
                  <a:pt x="3933" y="63055"/>
                  <a:pt x="6225" y="70634"/>
                  <a:pt x="12319" y="73915"/>
                </a:cubicBezTo>
                <a:lnTo>
                  <a:pt x="20914" y="78525"/>
                </a:lnTo>
                <a:lnTo>
                  <a:pt x="20914" y="92407"/>
                </a:lnTo>
                <a:cubicBezTo>
                  <a:pt x="20914" y="98398"/>
                  <a:pt x="24144" y="103945"/>
                  <a:pt x="29353" y="106914"/>
                </a:cubicBezTo>
                <a:lnTo>
                  <a:pt x="75192" y="132881"/>
                </a:lnTo>
                <a:cubicBezTo>
                  <a:pt x="80296" y="135772"/>
                  <a:pt x="86521" y="135772"/>
                  <a:pt x="91626" y="132881"/>
                </a:cubicBezTo>
                <a:lnTo>
                  <a:pt x="137465" y="106914"/>
                </a:lnTo>
                <a:cubicBezTo>
                  <a:pt x="142700" y="103945"/>
                  <a:pt x="145904" y="98424"/>
                  <a:pt x="145904" y="92407"/>
                </a:cubicBezTo>
                <a:lnTo>
                  <a:pt x="145904" y="61805"/>
                </a:lnTo>
                <a:close/>
                <a:moveTo>
                  <a:pt x="83422" y="59226"/>
                </a:moveTo>
                <a:lnTo>
                  <a:pt x="44328" y="37505"/>
                </a:lnTo>
                <a:lnTo>
                  <a:pt x="83422" y="15783"/>
                </a:lnTo>
                <a:lnTo>
                  <a:pt x="122515" y="37505"/>
                </a:lnTo>
                <a:lnTo>
                  <a:pt x="83422" y="59226"/>
                </a:lnTo>
                <a:close/>
                <a:moveTo>
                  <a:pt x="72613" y="72301"/>
                </a:moveTo>
                <a:lnTo>
                  <a:pt x="67066" y="84333"/>
                </a:lnTo>
                <a:lnTo>
                  <a:pt x="23883" y="61206"/>
                </a:lnTo>
                <a:lnTo>
                  <a:pt x="30499" y="48912"/>
                </a:lnTo>
                <a:lnTo>
                  <a:pt x="72613" y="72301"/>
                </a:lnTo>
                <a:close/>
              </a:path>
            </a:pathLst>
          </a:custGeom>
          <a:solidFill>
            <a:srgbClr val="DDFF00"/>
          </a:solidFill>
          <a:ln/>
        </p:spPr>
      </p:sp>
      <p:sp>
        <p:nvSpPr>
          <p:cNvPr id="86" name="Text 84"/>
          <p:cNvSpPr/>
          <p:nvPr/>
        </p:nvSpPr>
        <p:spPr>
          <a:xfrm>
            <a:off x="6605588" y="5867400"/>
            <a:ext cx="1028700" cy="190500"/>
          </a:xfrm>
          <a:prstGeom prst="rect">
            <a:avLst/>
          </a:prstGeom>
          <a:noFill/>
          <a:ln/>
        </p:spPr>
        <p:txBody>
          <a:bodyPr wrap="square" lIns="0" tIns="0" rIns="0" bIns="0" rtlCol="0" anchor="ctr"/>
          <a:lstStyle/>
          <a:p>
            <a:pPr>
              <a:lnSpc>
                <a:spcPct val="120000"/>
              </a:lnSpc>
            </a:pPr>
            <a:r>
              <a:rPr lang="en-US" sz="1050" dirty="0">
                <a:solidFill>
                  <a:srgbClr val="FFFFFF">
                    <a:alpha val="70000"/>
                  </a:srgbClr>
                </a:solidFill>
                <a:latin typeface="Liter" pitchFamily="34" charset="0"/>
                <a:ea typeface="Liter" pitchFamily="34" charset="-122"/>
                <a:cs typeface="Liter" pitchFamily="34" charset="-120"/>
              </a:rPr>
              <a:t>Damaged goods</a:t>
            </a:r>
            <a:endParaRPr lang="en-US" sz="1600" dirty="0"/>
          </a:p>
        </p:txBody>
      </p:sp>
      <p:sp>
        <p:nvSpPr>
          <p:cNvPr id="87" name="Shape 85"/>
          <p:cNvSpPr/>
          <p:nvPr/>
        </p:nvSpPr>
        <p:spPr>
          <a:xfrm>
            <a:off x="6398419" y="6162675"/>
            <a:ext cx="100013" cy="133350"/>
          </a:xfrm>
          <a:custGeom>
            <a:avLst/>
            <a:gdLst/>
            <a:ahLst/>
            <a:cxnLst/>
            <a:rect l="l" t="t" r="r" b="b"/>
            <a:pathLst>
              <a:path w="100013" h="133350">
                <a:moveTo>
                  <a:pt x="0" y="49121"/>
                </a:moveTo>
                <a:cubicBezTo>
                  <a:pt x="0" y="21982"/>
                  <a:pt x="22399" y="0"/>
                  <a:pt x="50006" y="0"/>
                </a:cubicBezTo>
                <a:cubicBezTo>
                  <a:pt x="77614" y="0"/>
                  <a:pt x="100013" y="21982"/>
                  <a:pt x="100013" y="49121"/>
                </a:cubicBezTo>
                <a:cubicBezTo>
                  <a:pt x="100013" y="80192"/>
                  <a:pt x="68707" y="117437"/>
                  <a:pt x="55632" y="131631"/>
                </a:cubicBezTo>
                <a:cubicBezTo>
                  <a:pt x="52559" y="134965"/>
                  <a:pt x="47428" y="134965"/>
                  <a:pt x="44355" y="131631"/>
                </a:cubicBezTo>
                <a:cubicBezTo>
                  <a:pt x="31280" y="117437"/>
                  <a:pt x="-26" y="80192"/>
                  <a:pt x="-26" y="49121"/>
                </a:cubicBezTo>
                <a:close/>
                <a:moveTo>
                  <a:pt x="50006" y="66675"/>
                </a:moveTo>
                <a:cubicBezTo>
                  <a:pt x="59206" y="66675"/>
                  <a:pt x="66675" y="59206"/>
                  <a:pt x="66675" y="50006"/>
                </a:cubicBezTo>
                <a:cubicBezTo>
                  <a:pt x="66675" y="40807"/>
                  <a:pt x="59206" y="33337"/>
                  <a:pt x="50006" y="33337"/>
                </a:cubicBezTo>
                <a:cubicBezTo>
                  <a:pt x="40807" y="33337"/>
                  <a:pt x="33337" y="40807"/>
                  <a:pt x="33337" y="50006"/>
                </a:cubicBezTo>
                <a:cubicBezTo>
                  <a:pt x="33337" y="59206"/>
                  <a:pt x="40807" y="66675"/>
                  <a:pt x="50006" y="66675"/>
                </a:cubicBezTo>
                <a:close/>
              </a:path>
            </a:pathLst>
          </a:custGeom>
          <a:solidFill>
            <a:srgbClr val="DDFF00"/>
          </a:solidFill>
          <a:ln/>
        </p:spPr>
      </p:sp>
      <p:sp>
        <p:nvSpPr>
          <p:cNvPr id="88" name="Text 86"/>
          <p:cNvSpPr/>
          <p:nvPr/>
        </p:nvSpPr>
        <p:spPr>
          <a:xfrm>
            <a:off x="6605588" y="6134100"/>
            <a:ext cx="962025" cy="190500"/>
          </a:xfrm>
          <a:prstGeom prst="rect">
            <a:avLst/>
          </a:prstGeom>
          <a:noFill/>
          <a:ln/>
        </p:spPr>
        <p:txBody>
          <a:bodyPr wrap="square" lIns="0" tIns="0" rIns="0" bIns="0" rtlCol="0" anchor="ctr"/>
          <a:lstStyle/>
          <a:p>
            <a:pPr>
              <a:lnSpc>
                <a:spcPct val="120000"/>
              </a:lnSpc>
            </a:pPr>
            <a:r>
              <a:rPr lang="en-US" sz="1050" dirty="0">
                <a:solidFill>
                  <a:srgbClr val="FFFFFF">
                    <a:alpha val="70000"/>
                  </a:srgbClr>
                </a:solidFill>
                <a:latin typeface="Liter" pitchFamily="34" charset="0"/>
                <a:ea typeface="Liter" pitchFamily="34" charset="-122"/>
                <a:cs typeface="Liter" pitchFamily="34" charset="-120"/>
              </a:rPr>
              <a:t>Wrong delivery</a:t>
            </a:r>
            <a:endParaRPr lang="en-US" sz="1600" dirty="0"/>
          </a:p>
        </p:txBody>
      </p:sp>
      <p:sp>
        <p:nvSpPr>
          <p:cNvPr id="89" name="Shape 87"/>
          <p:cNvSpPr/>
          <p:nvPr/>
        </p:nvSpPr>
        <p:spPr>
          <a:xfrm>
            <a:off x="9067800" y="4229100"/>
            <a:ext cx="2743200" cy="2247900"/>
          </a:xfrm>
          <a:custGeom>
            <a:avLst/>
            <a:gdLst/>
            <a:ahLst/>
            <a:cxnLst/>
            <a:rect l="l" t="t" r="r" b="b"/>
            <a:pathLst>
              <a:path w="2743200" h="2247900">
                <a:moveTo>
                  <a:pt x="0" y="0"/>
                </a:moveTo>
                <a:lnTo>
                  <a:pt x="2743200" y="0"/>
                </a:lnTo>
                <a:lnTo>
                  <a:pt x="2743200" y="2247900"/>
                </a:lnTo>
                <a:lnTo>
                  <a:pt x="0" y="2247900"/>
                </a:lnTo>
                <a:lnTo>
                  <a:pt x="0" y="0"/>
                </a:lnTo>
                <a:close/>
              </a:path>
            </a:pathLst>
          </a:custGeom>
          <a:solidFill>
            <a:srgbClr val="DDFF00"/>
          </a:solidFill>
          <a:ln/>
        </p:spPr>
      </p:sp>
      <p:sp>
        <p:nvSpPr>
          <p:cNvPr id="90" name="Shape 88"/>
          <p:cNvSpPr/>
          <p:nvPr/>
        </p:nvSpPr>
        <p:spPr>
          <a:xfrm>
            <a:off x="10334625" y="4638675"/>
            <a:ext cx="214313" cy="285750"/>
          </a:xfrm>
          <a:custGeom>
            <a:avLst/>
            <a:gdLst/>
            <a:ahLst/>
            <a:cxnLst/>
            <a:rect l="l" t="t" r="r" b="b"/>
            <a:pathLst>
              <a:path w="214313" h="285750">
                <a:moveTo>
                  <a:pt x="163469" y="214313"/>
                </a:moveTo>
                <a:cubicBezTo>
                  <a:pt x="167543" y="201867"/>
                  <a:pt x="175692" y="190593"/>
                  <a:pt x="184900" y="180882"/>
                </a:cubicBezTo>
                <a:cubicBezTo>
                  <a:pt x="203150" y="161683"/>
                  <a:pt x="214312" y="135731"/>
                  <a:pt x="214312" y="107156"/>
                </a:cubicBezTo>
                <a:cubicBezTo>
                  <a:pt x="214312" y="47997"/>
                  <a:pt x="166315" y="0"/>
                  <a:pt x="107156" y="0"/>
                </a:cubicBezTo>
                <a:cubicBezTo>
                  <a:pt x="47997" y="0"/>
                  <a:pt x="0" y="47997"/>
                  <a:pt x="0" y="107156"/>
                </a:cubicBezTo>
                <a:cubicBezTo>
                  <a:pt x="0" y="135731"/>
                  <a:pt x="11162" y="161683"/>
                  <a:pt x="29412" y="180882"/>
                </a:cubicBezTo>
                <a:cubicBezTo>
                  <a:pt x="38621" y="190593"/>
                  <a:pt x="46825" y="201867"/>
                  <a:pt x="50843" y="214313"/>
                </a:cubicBezTo>
                <a:lnTo>
                  <a:pt x="163413" y="214313"/>
                </a:lnTo>
                <a:close/>
                <a:moveTo>
                  <a:pt x="160734" y="241102"/>
                </a:moveTo>
                <a:lnTo>
                  <a:pt x="53578" y="241102"/>
                </a:lnTo>
                <a:lnTo>
                  <a:pt x="53578" y="250031"/>
                </a:lnTo>
                <a:cubicBezTo>
                  <a:pt x="53578" y="274700"/>
                  <a:pt x="73558" y="294680"/>
                  <a:pt x="98227" y="294680"/>
                </a:cubicBezTo>
                <a:lnTo>
                  <a:pt x="116086" y="294680"/>
                </a:lnTo>
                <a:cubicBezTo>
                  <a:pt x="140754" y="294680"/>
                  <a:pt x="160734" y="274700"/>
                  <a:pt x="160734" y="250031"/>
                </a:cubicBezTo>
                <a:lnTo>
                  <a:pt x="160734" y="241102"/>
                </a:lnTo>
                <a:close/>
                <a:moveTo>
                  <a:pt x="102691" y="62508"/>
                </a:moveTo>
                <a:cubicBezTo>
                  <a:pt x="80479" y="62508"/>
                  <a:pt x="62508" y="80479"/>
                  <a:pt x="62508" y="102691"/>
                </a:cubicBezTo>
                <a:cubicBezTo>
                  <a:pt x="62508" y="110114"/>
                  <a:pt x="56536" y="116086"/>
                  <a:pt x="49113" y="116086"/>
                </a:cubicBezTo>
                <a:cubicBezTo>
                  <a:pt x="41690" y="116086"/>
                  <a:pt x="35719" y="110114"/>
                  <a:pt x="35719" y="102691"/>
                </a:cubicBezTo>
                <a:cubicBezTo>
                  <a:pt x="35719" y="65689"/>
                  <a:pt x="65689" y="35719"/>
                  <a:pt x="102691" y="35719"/>
                </a:cubicBezTo>
                <a:cubicBezTo>
                  <a:pt x="110114" y="35719"/>
                  <a:pt x="116086" y="41690"/>
                  <a:pt x="116086" y="49113"/>
                </a:cubicBezTo>
                <a:cubicBezTo>
                  <a:pt x="116086" y="56536"/>
                  <a:pt x="110114" y="62508"/>
                  <a:pt x="102691" y="62508"/>
                </a:cubicBezTo>
                <a:close/>
              </a:path>
            </a:pathLst>
          </a:custGeom>
          <a:solidFill>
            <a:srgbClr val="000000"/>
          </a:solidFill>
          <a:ln/>
        </p:spPr>
      </p:sp>
      <p:sp>
        <p:nvSpPr>
          <p:cNvPr id="91" name="Text 89"/>
          <p:cNvSpPr/>
          <p:nvPr/>
        </p:nvSpPr>
        <p:spPr>
          <a:xfrm>
            <a:off x="9865995" y="5038725"/>
            <a:ext cx="1143000" cy="266700"/>
          </a:xfrm>
          <a:prstGeom prst="rect">
            <a:avLst/>
          </a:prstGeom>
          <a:noFill/>
          <a:ln/>
        </p:spPr>
        <p:txBody>
          <a:bodyPr wrap="square" lIns="0" tIns="0" rIns="0" bIns="0" rtlCol="0" anchor="ctr"/>
          <a:lstStyle/>
          <a:p>
            <a:pPr algn="ctr">
              <a:lnSpc>
                <a:spcPct val="120000"/>
              </a:lnSpc>
            </a:pPr>
            <a:r>
              <a:rPr lang="en-US" sz="1500" b="1" dirty="0">
                <a:solidFill>
                  <a:srgbClr val="000000"/>
                </a:solidFill>
                <a:latin typeface="Liter" pitchFamily="34" charset="0"/>
                <a:ea typeface="Liter" pitchFamily="34" charset="-122"/>
                <a:cs typeface="Liter" pitchFamily="34" charset="-120"/>
              </a:rPr>
              <a:t>The Solution</a:t>
            </a:r>
            <a:endParaRPr lang="en-US" sz="1600" dirty="0"/>
          </a:p>
        </p:txBody>
      </p:sp>
      <p:sp>
        <p:nvSpPr>
          <p:cNvPr id="92" name="Text 90"/>
          <p:cNvSpPr/>
          <p:nvPr/>
        </p:nvSpPr>
        <p:spPr>
          <a:xfrm>
            <a:off x="9182100" y="5381625"/>
            <a:ext cx="2514600" cy="685800"/>
          </a:xfrm>
          <a:prstGeom prst="rect">
            <a:avLst/>
          </a:prstGeom>
          <a:noFill/>
          <a:ln/>
        </p:spPr>
        <p:txBody>
          <a:bodyPr wrap="square" lIns="0" tIns="0" rIns="0" bIns="0" rtlCol="0" anchor="ctr"/>
          <a:lstStyle/>
          <a:p>
            <a:pPr algn="ctr">
              <a:lnSpc>
                <a:spcPct val="130000"/>
              </a:lnSpc>
            </a:pPr>
            <a:r>
              <a:rPr lang="en-US" sz="1200" b="1" dirty="0">
                <a:solidFill>
                  <a:srgbClr val="000000"/>
                </a:solidFill>
                <a:latin typeface="Liter" pitchFamily="34" charset="0"/>
                <a:ea typeface="Liter" pitchFamily="34" charset="-122"/>
                <a:cs typeface="Liter" pitchFamily="34" charset="-120"/>
              </a:rPr>
              <a:t>Strong cyber laws and robust security frameworks can address these challenges effectively</a:t>
            </a:r>
            <a:endParaRPr lang="en-US" sz="1600" dirty="0"/>
          </a:p>
        </p:txBody>
      </p:sp>
    </p:spTree>
  </p:cSld>
  <p:clrMapOvr>
    <a:masterClrMapping/>
  </p:clrMapOvr>
  <p:transition>
    <p:fade/>
    <p:spd val="med"/>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17500" y="396875"/>
            <a:ext cx="63500" cy="381000"/>
          </a:xfrm>
          <a:custGeom>
            <a:avLst/>
            <a:gdLst/>
            <a:ahLst/>
            <a:cxnLst/>
            <a:rect l="l" t="t" r="r" b="b"/>
            <a:pathLst>
              <a:path w="63500" h="381000">
                <a:moveTo>
                  <a:pt x="0" y="0"/>
                </a:moveTo>
                <a:lnTo>
                  <a:pt x="63500" y="0"/>
                </a:lnTo>
                <a:lnTo>
                  <a:pt x="63500" y="381000"/>
                </a:lnTo>
                <a:lnTo>
                  <a:pt x="0" y="381000"/>
                </a:lnTo>
                <a:lnTo>
                  <a:pt x="0" y="0"/>
                </a:lnTo>
                <a:close/>
              </a:path>
            </a:pathLst>
          </a:custGeom>
          <a:solidFill>
            <a:srgbClr val="DDFF00"/>
          </a:solidFill>
          <a:ln/>
        </p:spPr>
      </p:sp>
      <p:sp>
        <p:nvSpPr>
          <p:cNvPr id="3" name="Text 1"/>
          <p:cNvSpPr/>
          <p:nvPr/>
        </p:nvSpPr>
        <p:spPr>
          <a:xfrm>
            <a:off x="508000" y="317500"/>
            <a:ext cx="5500688" cy="158750"/>
          </a:xfrm>
          <a:prstGeom prst="rect">
            <a:avLst/>
          </a:prstGeom>
          <a:noFill/>
          <a:ln/>
        </p:spPr>
        <p:txBody>
          <a:bodyPr wrap="square" lIns="0" tIns="0" rIns="0" bIns="0" rtlCol="0" anchor="ctr"/>
          <a:lstStyle/>
          <a:p>
            <a:pPr>
              <a:lnSpc>
                <a:spcPct val="120000"/>
              </a:lnSpc>
            </a:pPr>
            <a:r>
              <a:rPr lang="en-US" sz="875" b="1" spc="88" kern="0" dirty="0">
                <a:solidFill>
                  <a:srgbClr val="DDFF00"/>
                </a:solidFill>
                <a:latin typeface="Liter" pitchFamily="34" charset="0"/>
                <a:ea typeface="Liter" pitchFamily="34" charset="-122"/>
                <a:cs typeface="Liter" pitchFamily="34" charset="-120"/>
              </a:rPr>
              <a:t>CHAPTER 11</a:t>
            </a:r>
            <a:endParaRPr lang="en-US" sz="1600" dirty="0"/>
          </a:p>
        </p:txBody>
      </p:sp>
      <p:sp>
        <p:nvSpPr>
          <p:cNvPr id="4" name="Text 2"/>
          <p:cNvSpPr/>
          <p:nvPr/>
        </p:nvSpPr>
        <p:spPr>
          <a:xfrm>
            <a:off x="508000" y="476250"/>
            <a:ext cx="5635625" cy="381000"/>
          </a:xfrm>
          <a:prstGeom prst="rect">
            <a:avLst/>
          </a:prstGeom>
          <a:noFill/>
          <a:ln/>
        </p:spPr>
        <p:txBody>
          <a:bodyPr wrap="square" lIns="0" tIns="0" rIns="0" bIns="0" rtlCol="0" anchor="ctr"/>
          <a:lstStyle/>
          <a:p>
            <a:pPr>
              <a:lnSpc>
                <a:spcPct val="80000"/>
              </a:lnSpc>
            </a:pPr>
            <a:r>
              <a:rPr lang="en-US" sz="3000" b="1" dirty="0">
                <a:solidFill>
                  <a:srgbClr val="FFFFFF"/>
                </a:solidFill>
                <a:latin typeface="Liter" pitchFamily="34" charset="0"/>
                <a:ea typeface="Liter" pitchFamily="34" charset="-122"/>
                <a:cs typeface="Liter" pitchFamily="34" charset="-120"/>
              </a:rPr>
              <a:t>Computer Software &amp; IPR Issues</a:t>
            </a:r>
            <a:endParaRPr lang="en-US" sz="1600" dirty="0"/>
          </a:p>
        </p:txBody>
      </p:sp>
      <p:sp>
        <p:nvSpPr>
          <p:cNvPr id="5" name="Shape 3"/>
          <p:cNvSpPr/>
          <p:nvPr/>
        </p:nvSpPr>
        <p:spPr>
          <a:xfrm>
            <a:off x="333375" y="1079500"/>
            <a:ext cx="5667375" cy="1365250"/>
          </a:xfrm>
          <a:custGeom>
            <a:avLst/>
            <a:gdLst/>
            <a:ahLst/>
            <a:cxnLst/>
            <a:rect l="l" t="t" r="r" b="b"/>
            <a:pathLst>
              <a:path w="5667375" h="1365250">
                <a:moveTo>
                  <a:pt x="0" y="0"/>
                </a:moveTo>
                <a:lnTo>
                  <a:pt x="5667375" y="0"/>
                </a:lnTo>
                <a:lnTo>
                  <a:pt x="5667375" y="1365250"/>
                </a:lnTo>
                <a:lnTo>
                  <a:pt x="0" y="1365250"/>
                </a:lnTo>
                <a:lnTo>
                  <a:pt x="0" y="0"/>
                </a:lnTo>
                <a:close/>
              </a:path>
            </a:pathLst>
          </a:custGeom>
          <a:solidFill>
            <a:srgbClr val="111111"/>
          </a:solidFill>
          <a:ln/>
        </p:spPr>
      </p:sp>
      <p:sp>
        <p:nvSpPr>
          <p:cNvPr id="6" name="Shape 4"/>
          <p:cNvSpPr/>
          <p:nvPr/>
        </p:nvSpPr>
        <p:spPr>
          <a:xfrm>
            <a:off x="333375" y="1079500"/>
            <a:ext cx="31750" cy="1365250"/>
          </a:xfrm>
          <a:custGeom>
            <a:avLst/>
            <a:gdLst/>
            <a:ahLst/>
            <a:cxnLst/>
            <a:rect l="l" t="t" r="r" b="b"/>
            <a:pathLst>
              <a:path w="31750" h="1365250">
                <a:moveTo>
                  <a:pt x="0" y="0"/>
                </a:moveTo>
                <a:lnTo>
                  <a:pt x="31750" y="0"/>
                </a:lnTo>
                <a:lnTo>
                  <a:pt x="31750" y="1365250"/>
                </a:lnTo>
                <a:lnTo>
                  <a:pt x="0" y="1365250"/>
                </a:lnTo>
                <a:lnTo>
                  <a:pt x="0" y="0"/>
                </a:lnTo>
                <a:close/>
              </a:path>
            </a:pathLst>
          </a:custGeom>
          <a:solidFill>
            <a:srgbClr val="DDFF00"/>
          </a:solidFill>
          <a:ln/>
        </p:spPr>
      </p:sp>
      <p:sp>
        <p:nvSpPr>
          <p:cNvPr id="7" name="Text 5"/>
          <p:cNvSpPr/>
          <p:nvPr/>
        </p:nvSpPr>
        <p:spPr>
          <a:xfrm>
            <a:off x="508000" y="1238250"/>
            <a:ext cx="5429250" cy="254000"/>
          </a:xfrm>
          <a:prstGeom prst="rect">
            <a:avLst/>
          </a:prstGeom>
          <a:noFill/>
          <a:ln/>
        </p:spPr>
        <p:txBody>
          <a:bodyPr wrap="square" lIns="0" tIns="0" rIns="0" bIns="0" rtlCol="0" anchor="ctr"/>
          <a:lstStyle/>
          <a:p>
            <a:pPr>
              <a:lnSpc>
                <a:spcPct val="110000"/>
              </a:lnSpc>
            </a:pPr>
            <a:r>
              <a:rPr lang="en-US" sz="1500" b="1" dirty="0">
                <a:solidFill>
                  <a:srgbClr val="DDFF00"/>
                </a:solidFill>
                <a:latin typeface="Liter" pitchFamily="34" charset="0"/>
                <a:ea typeface="Liter" pitchFamily="34" charset="-122"/>
                <a:cs typeface="Liter" pitchFamily="34" charset="-120"/>
              </a:rPr>
              <a:t>Software &amp; IPR Protection</a:t>
            </a:r>
            <a:endParaRPr lang="en-US" sz="1600" dirty="0"/>
          </a:p>
        </p:txBody>
      </p:sp>
      <p:sp>
        <p:nvSpPr>
          <p:cNvPr id="8" name="Text 6"/>
          <p:cNvSpPr/>
          <p:nvPr/>
        </p:nvSpPr>
        <p:spPr>
          <a:xfrm>
            <a:off x="508000" y="1587399"/>
            <a:ext cx="5405438" cy="698500"/>
          </a:xfrm>
          <a:prstGeom prst="rect">
            <a:avLst/>
          </a:prstGeom>
          <a:noFill/>
          <a:ln/>
        </p:spPr>
        <p:txBody>
          <a:bodyPr wrap="square" lIns="0" tIns="0" rIns="0" bIns="0" rtlCol="0" anchor="ctr"/>
          <a:lstStyle/>
          <a:p>
            <a:pPr>
              <a:lnSpc>
                <a:spcPct val="140000"/>
              </a:lnSpc>
            </a:pPr>
            <a:r>
              <a:rPr lang="en-US" sz="1125" dirty="0">
                <a:solidFill>
                  <a:srgbClr val="FFFFFF">
                    <a:alpha val="90000"/>
                  </a:srgbClr>
                </a:solidFill>
                <a:latin typeface="Liter" pitchFamily="34" charset="0"/>
                <a:ea typeface="Liter" pitchFamily="34" charset="-122"/>
                <a:cs typeface="Liter" pitchFamily="34" charset="-120"/>
              </a:rPr>
              <a:t>Software is protected under </a:t>
            </a:r>
            <a:pPr>
              <a:lnSpc>
                <a:spcPct val="140000"/>
              </a:lnSpc>
            </a:pPr>
            <a:r>
              <a:rPr lang="en-US" sz="1125" dirty="0">
                <a:solidFill>
                  <a:srgbClr val="DDFF00"/>
                </a:solidFill>
                <a:highlight>
                  <a:srgbClr val="DDFF00">
                    <a:alpha val="20000"/>
                  </a:srgbClr>
                </a:highlight>
                <a:latin typeface="Liter" pitchFamily="34" charset="0"/>
                <a:ea typeface="Liter" pitchFamily="34" charset="-122"/>
                <a:cs typeface="Liter" pitchFamily="34" charset="-120"/>
              </a:rPr>
              <a:t>Intellectual Property Rights (IPR) </a:t>
            </a:r>
            <a:pPr>
              <a:lnSpc>
                <a:spcPct val="140000"/>
              </a:lnSpc>
            </a:pPr>
            <a:r>
              <a:rPr lang="en-US" sz="1125" dirty="0">
                <a:solidFill>
                  <a:srgbClr val="FFFFFF">
                    <a:alpha val="90000"/>
                  </a:srgbClr>
                </a:solidFill>
                <a:latin typeface="Liter" pitchFamily="34" charset="0"/>
                <a:ea typeface="Liter" pitchFamily="34" charset="-122"/>
                <a:cs typeface="Liter" pitchFamily="34" charset="-120"/>
              </a:rPr>
              <a:t>. This legal framework ensures that software developers and creators have exclusive rights to their creations, preventing unauthorized use and distribution.</a:t>
            </a:r>
            <a:endParaRPr lang="en-US" sz="1600" dirty="0"/>
          </a:p>
        </p:txBody>
      </p:sp>
      <p:sp>
        <p:nvSpPr>
          <p:cNvPr id="9" name="Shape 7"/>
          <p:cNvSpPr/>
          <p:nvPr/>
        </p:nvSpPr>
        <p:spPr>
          <a:xfrm>
            <a:off x="317500" y="2569665"/>
            <a:ext cx="5683250" cy="3968750"/>
          </a:xfrm>
          <a:custGeom>
            <a:avLst/>
            <a:gdLst/>
            <a:ahLst/>
            <a:cxnLst/>
            <a:rect l="l" t="t" r="r" b="b"/>
            <a:pathLst>
              <a:path w="5683250" h="3968750">
                <a:moveTo>
                  <a:pt x="0" y="0"/>
                </a:moveTo>
                <a:lnTo>
                  <a:pt x="5683250" y="0"/>
                </a:lnTo>
                <a:lnTo>
                  <a:pt x="5683250" y="3968750"/>
                </a:lnTo>
                <a:lnTo>
                  <a:pt x="0" y="3968750"/>
                </a:lnTo>
                <a:lnTo>
                  <a:pt x="0" y="0"/>
                </a:lnTo>
                <a:close/>
              </a:path>
            </a:pathLst>
          </a:custGeom>
          <a:solidFill>
            <a:srgbClr val="111111"/>
          </a:solidFill>
          <a:ln/>
        </p:spPr>
      </p:sp>
      <p:sp>
        <p:nvSpPr>
          <p:cNvPr id="10" name="Shape 8"/>
          <p:cNvSpPr/>
          <p:nvPr/>
        </p:nvSpPr>
        <p:spPr>
          <a:xfrm>
            <a:off x="496094" y="2760165"/>
            <a:ext cx="158750" cy="158750"/>
          </a:xfrm>
          <a:custGeom>
            <a:avLst/>
            <a:gdLst/>
            <a:ahLst/>
            <a:cxnLst/>
            <a:rect l="l" t="t" r="r" b="b"/>
            <a:pathLst>
              <a:path w="158750" h="158750">
                <a:moveTo>
                  <a:pt x="79375" y="0"/>
                </a:moveTo>
                <a:cubicBezTo>
                  <a:pt x="80801" y="0"/>
                  <a:pt x="82228" y="310"/>
                  <a:pt x="83530" y="899"/>
                </a:cubicBezTo>
                <a:lnTo>
                  <a:pt x="141945" y="25673"/>
                </a:lnTo>
                <a:cubicBezTo>
                  <a:pt x="148766" y="28556"/>
                  <a:pt x="153851" y="35285"/>
                  <a:pt x="153820" y="43408"/>
                </a:cubicBezTo>
                <a:cubicBezTo>
                  <a:pt x="153665" y="74166"/>
                  <a:pt x="141015" y="130442"/>
                  <a:pt x="87592" y="156021"/>
                </a:cubicBezTo>
                <a:cubicBezTo>
                  <a:pt x="82414" y="158502"/>
                  <a:pt x="76398" y="158502"/>
                  <a:pt x="71220" y="156021"/>
                </a:cubicBezTo>
                <a:cubicBezTo>
                  <a:pt x="17766" y="130442"/>
                  <a:pt x="5147" y="74166"/>
                  <a:pt x="4992" y="43408"/>
                </a:cubicBezTo>
                <a:cubicBezTo>
                  <a:pt x="4961" y="35285"/>
                  <a:pt x="10046" y="28556"/>
                  <a:pt x="16867" y="25673"/>
                </a:cubicBezTo>
                <a:lnTo>
                  <a:pt x="75251" y="899"/>
                </a:lnTo>
                <a:cubicBezTo>
                  <a:pt x="76553" y="310"/>
                  <a:pt x="77949" y="0"/>
                  <a:pt x="79375" y="0"/>
                </a:cubicBezTo>
                <a:close/>
                <a:moveTo>
                  <a:pt x="79375" y="20712"/>
                </a:moveTo>
                <a:lnTo>
                  <a:pt x="79375" y="137945"/>
                </a:lnTo>
                <a:cubicBezTo>
                  <a:pt x="122163" y="117233"/>
                  <a:pt x="133666" y="71344"/>
                  <a:pt x="133945" y="43873"/>
                </a:cubicBezTo>
                <a:lnTo>
                  <a:pt x="79375" y="20743"/>
                </a:lnTo>
                <a:lnTo>
                  <a:pt x="79375" y="20743"/>
                </a:lnTo>
                <a:close/>
              </a:path>
            </a:pathLst>
          </a:custGeom>
          <a:solidFill>
            <a:srgbClr val="DDFF00"/>
          </a:solidFill>
          <a:ln/>
        </p:spPr>
      </p:sp>
      <p:sp>
        <p:nvSpPr>
          <p:cNvPr id="11" name="Text 9"/>
          <p:cNvSpPr/>
          <p:nvPr/>
        </p:nvSpPr>
        <p:spPr>
          <a:xfrm>
            <a:off x="674688" y="2728415"/>
            <a:ext cx="5246688" cy="222250"/>
          </a:xfrm>
          <a:prstGeom prst="rect">
            <a:avLst/>
          </a:prstGeom>
          <a:noFill/>
          <a:ln/>
        </p:spPr>
        <p:txBody>
          <a:bodyPr wrap="square" lIns="0" tIns="0" rIns="0" bIns="0" rtlCol="0" anchor="ctr"/>
          <a:lstStyle/>
          <a:p>
            <a:pPr>
              <a:lnSpc>
                <a:spcPct val="120000"/>
              </a:lnSpc>
            </a:pPr>
            <a:r>
              <a:rPr lang="en-US" sz="1250" b="1" dirty="0">
                <a:solidFill>
                  <a:srgbClr val="DDFF00"/>
                </a:solidFill>
                <a:latin typeface="Liter" pitchFamily="34" charset="0"/>
                <a:ea typeface="Liter" pitchFamily="34" charset="-122"/>
                <a:cs typeface="Liter" pitchFamily="34" charset="-120"/>
              </a:rPr>
              <a:t>Forms of IPR Protection</a:t>
            </a:r>
            <a:endParaRPr lang="en-US" sz="1600" dirty="0"/>
          </a:p>
        </p:txBody>
      </p:sp>
      <p:sp>
        <p:nvSpPr>
          <p:cNvPr id="12" name="Shape 10"/>
          <p:cNvSpPr/>
          <p:nvPr/>
        </p:nvSpPr>
        <p:spPr>
          <a:xfrm>
            <a:off x="476250" y="3077665"/>
            <a:ext cx="5365750" cy="889000"/>
          </a:xfrm>
          <a:custGeom>
            <a:avLst/>
            <a:gdLst/>
            <a:ahLst/>
            <a:cxnLst/>
            <a:rect l="l" t="t" r="r" b="b"/>
            <a:pathLst>
              <a:path w="5365750" h="889000">
                <a:moveTo>
                  <a:pt x="0" y="0"/>
                </a:moveTo>
                <a:lnTo>
                  <a:pt x="5365750" y="0"/>
                </a:lnTo>
                <a:lnTo>
                  <a:pt x="5365750" y="889000"/>
                </a:lnTo>
                <a:lnTo>
                  <a:pt x="0" y="889000"/>
                </a:lnTo>
                <a:lnTo>
                  <a:pt x="0" y="0"/>
                </a:lnTo>
                <a:close/>
              </a:path>
            </a:pathLst>
          </a:custGeom>
          <a:solidFill>
            <a:srgbClr val="000000"/>
          </a:solidFill>
          <a:ln/>
        </p:spPr>
      </p:sp>
      <p:sp>
        <p:nvSpPr>
          <p:cNvPr id="13" name="Shape 11"/>
          <p:cNvSpPr/>
          <p:nvPr/>
        </p:nvSpPr>
        <p:spPr>
          <a:xfrm>
            <a:off x="603250" y="3204665"/>
            <a:ext cx="444500" cy="444500"/>
          </a:xfrm>
          <a:custGeom>
            <a:avLst/>
            <a:gdLst/>
            <a:ahLst/>
            <a:cxnLst/>
            <a:rect l="l" t="t" r="r" b="b"/>
            <a:pathLst>
              <a:path w="444500" h="444500">
                <a:moveTo>
                  <a:pt x="0" y="0"/>
                </a:moveTo>
                <a:lnTo>
                  <a:pt x="444500" y="0"/>
                </a:lnTo>
                <a:lnTo>
                  <a:pt x="444500" y="444500"/>
                </a:lnTo>
                <a:lnTo>
                  <a:pt x="0" y="444500"/>
                </a:lnTo>
                <a:lnTo>
                  <a:pt x="0" y="0"/>
                </a:lnTo>
                <a:close/>
              </a:path>
            </a:pathLst>
          </a:custGeom>
          <a:solidFill>
            <a:srgbClr val="DDFF00"/>
          </a:solidFill>
          <a:ln/>
        </p:spPr>
      </p:sp>
      <p:sp>
        <p:nvSpPr>
          <p:cNvPr id="14" name="Shape 12"/>
          <p:cNvSpPr/>
          <p:nvPr/>
        </p:nvSpPr>
        <p:spPr>
          <a:xfrm>
            <a:off x="730250" y="3331665"/>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76312" y="114188"/>
                </a:moveTo>
                <a:cubicBezTo>
                  <a:pt x="86767" y="124644"/>
                  <a:pt x="103733" y="124644"/>
                  <a:pt x="114188" y="114188"/>
                </a:cubicBezTo>
                <a:cubicBezTo>
                  <a:pt x="117686" y="110691"/>
                  <a:pt x="123341" y="110691"/>
                  <a:pt x="126802" y="114188"/>
                </a:cubicBezTo>
                <a:cubicBezTo>
                  <a:pt x="130262" y="117686"/>
                  <a:pt x="130299" y="123341"/>
                  <a:pt x="126802" y="126802"/>
                </a:cubicBezTo>
                <a:cubicBezTo>
                  <a:pt x="109351" y="144252"/>
                  <a:pt x="81111" y="144252"/>
                  <a:pt x="63661" y="126802"/>
                </a:cubicBezTo>
                <a:cubicBezTo>
                  <a:pt x="46211" y="109351"/>
                  <a:pt x="46211" y="81111"/>
                  <a:pt x="63661" y="63661"/>
                </a:cubicBezTo>
                <a:cubicBezTo>
                  <a:pt x="81111" y="46211"/>
                  <a:pt x="109351" y="46211"/>
                  <a:pt x="126802" y="63661"/>
                </a:cubicBezTo>
                <a:cubicBezTo>
                  <a:pt x="130299" y="67159"/>
                  <a:pt x="130299" y="72814"/>
                  <a:pt x="126802" y="76274"/>
                </a:cubicBezTo>
                <a:cubicBezTo>
                  <a:pt x="123304" y="79735"/>
                  <a:pt x="117649" y="79772"/>
                  <a:pt x="114188" y="76274"/>
                </a:cubicBezTo>
                <a:cubicBezTo>
                  <a:pt x="103733" y="65819"/>
                  <a:pt x="86767" y="65819"/>
                  <a:pt x="76312" y="76274"/>
                </a:cubicBezTo>
                <a:cubicBezTo>
                  <a:pt x="65856" y="86730"/>
                  <a:pt x="65856" y="103696"/>
                  <a:pt x="76312" y="114151"/>
                </a:cubicBezTo>
                <a:close/>
              </a:path>
            </a:pathLst>
          </a:custGeom>
          <a:solidFill>
            <a:srgbClr val="000000"/>
          </a:solidFill>
          <a:ln/>
        </p:spPr>
      </p:sp>
      <p:sp>
        <p:nvSpPr>
          <p:cNvPr id="15" name="Text 13"/>
          <p:cNvSpPr/>
          <p:nvPr/>
        </p:nvSpPr>
        <p:spPr>
          <a:xfrm>
            <a:off x="1174750" y="3204665"/>
            <a:ext cx="4611688"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Copyright</a:t>
            </a:r>
            <a:endParaRPr lang="en-US" sz="1600" dirty="0"/>
          </a:p>
        </p:txBody>
      </p:sp>
      <p:sp>
        <p:nvSpPr>
          <p:cNvPr id="16" name="Text 14"/>
          <p:cNvSpPr/>
          <p:nvPr/>
        </p:nvSpPr>
        <p:spPr>
          <a:xfrm>
            <a:off x="1174750" y="3458665"/>
            <a:ext cx="4603750" cy="3810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Protects the expression of ideas in software code, preventing unauthorized copying and distribution</a:t>
            </a:r>
            <a:endParaRPr lang="en-US" sz="1600" dirty="0"/>
          </a:p>
        </p:txBody>
      </p:sp>
      <p:sp>
        <p:nvSpPr>
          <p:cNvPr id="17" name="Shape 15"/>
          <p:cNvSpPr/>
          <p:nvPr/>
        </p:nvSpPr>
        <p:spPr>
          <a:xfrm>
            <a:off x="476250" y="4093665"/>
            <a:ext cx="5365750" cy="889000"/>
          </a:xfrm>
          <a:custGeom>
            <a:avLst/>
            <a:gdLst/>
            <a:ahLst/>
            <a:cxnLst/>
            <a:rect l="l" t="t" r="r" b="b"/>
            <a:pathLst>
              <a:path w="5365750" h="889000">
                <a:moveTo>
                  <a:pt x="0" y="0"/>
                </a:moveTo>
                <a:lnTo>
                  <a:pt x="5365750" y="0"/>
                </a:lnTo>
                <a:lnTo>
                  <a:pt x="5365750" y="889000"/>
                </a:lnTo>
                <a:lnTo>
                  <a:pt x="0" y="889000"/>
                </a:lnTo>
                <a:lnTo>
                  <a:pt x="0" y="0"/>
                </a:lnTo>
                <a:close/>
              </a:path>
            </a:pathLst>
          </a:custGeom>
          <a:solidFill>
            <a:srgbClr val="000000"/>
          </a:solidFill>
          <a:ln/>
        </p:spPr>
      </p:sp>
      <p:sp>
        <p:nvSpPr>
          <p:cNvPr id="18" name="Shape 16"/>
          <p:cNvSpPr/>
          <p:nvPr/>
        </p:nvSpPr>
        <p:spPr>
          <a:xfrm>
            <a:off x="603250" y="4220665"/>
            <a:ext cx="444500" cy="444500"/>
          </a:xfrm>
          <a:custGeom>
            <a:avLst/>
            <a:gdLst/>
            <a:ahLst/>
            <a:cxnLst/>
            <a:rect l="l" t="t" r="r" b="b"/>
            <a:pathLst>
              <a:path w="444500" h="444500">
                <a:moveTo>
                  <a:pt x="0" y="0"/>
                </a:moveTo>
                <a:lnTo>
                  <a:pt x="444500" y="0"/>
                </a:lnTo>
                <a:lnTo>
                  <a:pt x="444500" y="444500"/>
                </a:lnTo>
                <a:lnTo>
                  <a:pt x="0" y="444500"/>
                </a:lnTo>
                <a:lnTo>
                  <a:pt x="0" y="0"/>
                </a:lnTo>
                <a:close/>
              </a:path>
            </a:pathLst>
          </a:custGeom>
          <a:solidFill>
            <a:srgbClr val="DDFF00"/>
          </a:solidFill>
          <a:ln/>
        </p:spPr>
      </p:sp>
      <p:sp>
        <p:nvSpPr>
          <p:cNvPr id="19" name="Shape 17"/>
          <p:cNvSpPr/>
          <p:nvPr/>
        </p:nvSpPr>
        <p:spPr>
          <a:xfrm>
            <a:off x="718344" y="4347665"/>
            <a:ext cx="214313" cy="190500"/>
          </a:xfrm>
          <a:custGeom>
            <a:avLst/>
            <a:gdLst/>
            <a:ahLst/>
            <a:cxnLst/>
            <a:rect l="l" t="t" r="r" b="b"/>
            <a:pathLst>
              <a:path w="214313" h="190500">
                <a:moveTo>
                  <a:pt x="88999" y="-2977"/>
                </a:moveTo>
                <a:cubicBezTo>
                  <a:pt x="86730" y="-5283"/>
                  <a:pt x="83418" y="-6214"/>
                  <a:pt x="80293" y="-5358"/>
                </a:cubicBezTo>
                <a:cubicBezTo>
                  <a:pt x="77167" y="-4502"/>
                  <a:pt x="74749" y="-2084"/>
                  <a:pt x="73968" y="1042"/>
                </a:cubicBezTo>
                <a:lnTo>
                  <a:pt x="68275" y="23440"/>
                </a:lnTo>
                <a:cubicBezTo>
                  <a:pt x="67866" y="25078"/>
                  <a:pt x="66191" y="26045"/>
                  <a:pt x="64591" y="25561"/>
                </a:cubicBezTo>
                <a:lnTo>
                  <a:pt x="42342" y="19310"/>
                </a:lnTo>
                <a:cubicBezTo>
                  <a:pt x="39216" y="18417"/>
                  <a:pt x="35868" y="19310"/>
                  <a:pt x="33598" y="21580"/>
                </a:cubicBezTo>
                <a:cubicBezTo>
                  <a:pt x="31328" y="23850"/>
                  <a:pt x="30435" y="27198"/>
                  <a:pt x="31328" y="30324"/>
                </a:cubicBezTo>
                <a:lnTo>
                  <a:pt x="37616" y="52574"/>
                </a:lnTo>
                <a:cubicBezTo>
                  <a:pt x="38063" y="54173"/>
                  <a:pt x="37095" y="55848"/>
                  <a:pt x="35496" y="56257"/>
                </a:cubicBezTo>
                <a:lnTo>
                  <a:pt x="13060" y="61950"/>
                </a:lnTo>
                <a:cubicBezTo>
                  <a:pt x="9934" y="62731"/>
                  <a:pt x="7479" y="65187"/>
                  <a:pt x="6623" y="68312"/>
                </a:cubicBezTo>
                <a:cubicBezTo>
                  <a:pt x="5767" y="71438"/>
                  <a:pt x="6697" y="74749"/>
                  <a:pt x="9004" y="77019"/>
                </a:cubicBezTo>
                <a:lnTo>
                  <a:pt x="25561" y="93129"/>
                </a:lnTo>
                <a:cubicBezTo>
                  <a:pt x="26752" y="94283"/>
                  <a:pt x="26752" y="96217"/>
                  <a:pt x="25561" y="97408"/>
                </a:cubicBezTo>
                <a:lnTo>
                  <a:pt x="9041" y="113519"/>
                </a:lnTo>
                <a:cubicBezTo>
                  <a:pt x="6734" y="115788"/>
                  <a:pt x="5804" y="119100"/>
                  <a:pt x="6660" y="122225"/>
                </a:cubicBezTo>
                <a:cubicBezTo>
                  <a:pt x="7516" y="125350"/>
                  <a:pt x="9971" y="127769"/>
                  <a:pt x="13097" y="128588"/>
                </a:cubicBezTo>
                <a:lnTo>
                  <a:pt x="35496" y="134280"/>
                </a:lnTo>
                <a:cubicBezTo>
                  <a:pt x="37133" y="134689"/>
                  <a:pt x="38100" y="136364"/>
                  <a:pt x="37616" y="137964"/>
                </a:cubicBezTo>
                <a:lnTo>
                  <a:pt x="31328" y="160176"/>
                </a:lnTo>
                <a:cubicBezTo>
                  <a:pt x="30435" y="163302"/>
                  <a:pt x="31328" y="166650"/>
                  <a:pt x="33598" y="168920"/>
                </a:cubicBezTo>
                <a:cubicBezTo>
                  <a:pt x="35868" y="171190"/>
                  <a:pt x="39216" y="172083"/>
                  <a:pt x="42342" y="171190"/>
                </a:cubicBezTo>
                <a:lnTo>
                  <a:pt x="64591" y="164902"/>
                </a:lnTo>
                <a:cubicBezTo>
                  <a:pt x="66191" y="164455"/>
                  <a:pt x="67866" y="165422"/>
                  <a:pt x="68275" y="167022"/>
                </a:cubicBezTo>
                <a:lnTo>
                  <a:pt x="73968" y="189421"/>
                </a:lnTo>
                <a:cubicBezTo>
                  <a:pt x="74749" y="192546"/>
                  <a:pt x="77205" y="195002"/>
                  <a:pt x="80330" y="195858"/>
                </a:cubicBezTo>
                <a:cubicBezTo>
                  <a:pt x="83455" y="196714"/>
                  <a:pt x="86767" y="195783"/>
                  <a:pt x="89036" y="193477"/>
                </a:cubicBezTo>
                <a:lnTo>
                  <a:pt x="105147" y="176919"/>
                </a:lnTo>
                <a:cubicBezTo>
                  <a:pt x="106300" y="175729"/>
                  <a:pt x="108235" y="175729"/>
                  <a:pt x="109426" y="176919"/>
                </a:cubicBezTo>
                <a:lnTo>
                  <a:pt x="125499" y="193477"/>
                </a:lnTo>
                <a:cubicBezTo>
                  <a:pt x="127769" y="195783"/>
                  <a:pt x="131080" y="196714"/>
                  <a:pt x="134206" y="195858"/>
                </a:cubicBezTo>
                <a:cubicBezTo>
                  <a:pt x="137331" y="195002"/>
                  <a:pt x="139750" y="192546"/>
                  <a:pt x="140568" y="189421"/>
                </a:cubicBezTo>
                <a:lnTo>
                  <a:pt x="146261" y="167060"/>
                </a:lnTo>
                <a:cubicBezTo>
                  <a:pt x="146670" y="165422"/>
                  <a:pt x="148344" y="164455"/>
                  <a:pt x="149944" y="164939"/>
                </a:cubicBezTo>
                <a:lnTo>
                  <a:pt x="172194" y="171227"/>
                </a:lnTo>
                <a:cubicBezTo>
                  <a:pt x="175320" y="172120"/>
                  <a:pt x="178668" y="171227"/>
                  <a:pt x="180938" y="168957"/>
                </a:cubicBezTo>
                <a:cubicBezTo>
                  <a:pt x="183207" y="166687"/>
                  <a:pt x="184100" y="163339"/>
                  <a:pt x="183207" y="160213"/>
                </a:cubicBezTo>
                <a:lnTo>
                  <a:pt x="176919" y="137964"/>
                </a:lnTo>
                <a:cubicBezTo>
                  <a:pt x="176473" y="136364"/>
                  <a:pt x="177440" y="134689"/>
                  <a:pt x="179040" y="134280"/>
                </a:cubicBezTo>
                <a:lnTo>
                  <a:pt x="201439" y="128588"/>
                </a:lnTo>
                <a:cubicBezTo>
                  <a:pt x="204564" y="127806"/>
                  <a:pt x="207020" y="125350"/>
                  <a:pt x="207876" y="122225"/>
                </a:cubicBezTo>
                <a:cubicBezTo>
                  <a:pt x="208731" y="119100"/>
                  <a:pt x="207801" y="115751"/>
                  <a:pt x="205494" y="113519"/>
                </a:cubicBezTo>
                <a:lnTo>
                  <a:pt x="188937" y="97408"/>
                </a:lnTo>
                <a:cubicBezTo>
                  <a:pt x="187747" y="96255"/>
                  <a:pt x="187747" y="94320"/>
                  <a:pt x="188937" y="93129"/>
                </a:cubicBezTo>
                <a:lnTo>
                  <a:pt x="205494" y="77019"/>
                </a:lnTo>
                <a:cubicBezTo>
                  <a:pt x="207801" y="74749"/>
                  <a:pt x="208731" y="71437"/>
                  <a:pt x="207876" y="68312"/>
                </a:cubicBezTo>
                <a:cubicBezTo>
                  <a:pt x="207020" y="65187"/>
                  <a:pt x="204564" y="62768"/>
                  <a:pt x="201439" y="61950"/>
                </a:cubicBezTo>
                <a:lnTo>
                  <a:pt x="179040" y="56257"/>
                </a:lnTo>
                <a:cubicBezTo>
                  <a:pt x="177403" y="55848"/>
                  <a:pt x="176436" y="54173"/>
                  <a:pt x="176919" y="52574"/>
                </a:cubicBezTo>
                <a:lnTo>
                  <a:pt x="183207" y="30324"/>
                </a:lnTo>
                <a:cubicBezTo>
                  <a:pt x="184100" y="27198"/>
                  <a:pt x="183207" y="23850"/>
                  <a:pt x="180938" y="21580"/>
                </a:cubicBezTo>
                <a:cubicBezTo>
                  <a:pt x="178668" y="19310"/>
                  <a:pt x="175320" y="18417"/>
                  <a:pt x="172194" y="19310"/>
                </a:cubicBezTo>
                <a:lnTo>
                  <a:pt x="149944" y="25598"/>
                </a:lnTo>
                <a:cubicBezTo>
                  <a:pt x="148344" y="26045"/>
                  <a:pt x="146670" y="25078"/>
                  <a:pt x="146261" y="23478"/>
                </a:cubicBezTo>
                <a:lnTo>
                  <a:pt x="140568" y="1042"/>
                </a:lnTo>
                <a:cubicBezTo>
                  <a:pt x="139787" y="-2084"/>
                  <a:pt x="137331" y="-4539"/>
                  <a:pt x="134206" y="-5395"/>
                </a:cubicBezTo>
                <a:cubicBezTo>
                  <a:pt x="131080" y="-6251"/>
                  <a:pt x="127769" y="-5321"/>
                  <a:pt x="125499" y="-3014"/>
                </a:cubicBezTo>
                <a:lnTo>
                  <a:pt x="109389" y="13581"/>
                </a:lnTo>
                <a:cubicBezTo>
                  <a:pt x="108235" y="14771"/>
                  <a:pt x="106300" y="14771"/>
                  <a:pt x="105110" y="13581"/>
                </a:cubicBezTo>
                <a:lnTo>
                  <a:pt x="88999" y="-2977"/>
                </a:lnTo>
                <a:close/>
              </a:path>
            </a:pathLst>
          </a:custGeom>
          <a:solidFill>
            <a:srgbClr val="000000"/>
          </a:solidFill>
          <a:ln/>
        </p:spPr>
      </p:sp>
      <p:sp>
        <p:nvSpPr>
          <p:cNvPr id="20" name="Text 18"/>
          <p:cNvSpPr/>
          <p:nvPr/>
        </p:nvSpPr>
        <p:spPr>
          <a:xfrm>
            <a:off x="1174750" y="4220665"/>
            <a:ext cx="4611688"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Patent</a:t>
            </a:r>
            <a:endParaRPr lang="en-US" sz="1600" dirty="0"/>
          </a:p>
        </p:txBody>
      </p:sp>
      <p:sp>
        <p:nvSpPr>
          <p:cNvPr id="21" name="Text 19"/>
          <p:cNvSpPr/>
          <p:nvPr/>
        </p:nvSpPr>
        <p:spPr>
          <a:xfrm>
            <a:off x="1174750" y="4474665"/>
            <a:ext cx="4603750" cy="3810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Protects innovative software processes, algorithms, and technical solutions that are novel and useful</a:t>
            </a:r>
            <a:endParaRPr lang="en-US" sz="1600" dirty="0"/>
          </a:p>
        </p:txBody>
      </p:sp>
      <p:sp>
        <p:nvSpPr>
          <p:cNvPr id="22" name="Shape 20"/>
          <p:cNvSpPr/>
          <p:nvPr/>
        </p:nvSpPr>
        <p:spPr>
          <a:xfrm>
            <a:off x="476250" y="5109665"/>
            <a:ext cx="5365750" cy="889000"/>
          </a:xfrm>
          <a:custGeom>
            <a:avLst/>
            <a:gdLst/>
            <a:ahLst/>
            <a:cxnLst/>
            <a:rect l="l" t="t" r="r" b="b"/>
            <a:pathLst>
              <a:path w="5365750" h="889000">
                <a:moveTo>
                  <a:pt x="0" y="0"/>
                </a:moveTo>
                <a:lnTo>
                  <a:pt x="5365750" y="0"/>
                </a:lnTo>
                <a:lnTo>
                  <a:pt x="5365750" y="889000"/>
                </a:lnTo>
                <a:lnTo>
                  <a:pt x="0" y="889000"/>
                </a:lnTo>
                <a:lnTo>
                  <a:pt x="0" y="0"/>
                </a:lnTo>
                <a:close/>
              </a:path>
            </a:pathLst>
          </a:custGeom>
          <a:solidFill>
            <a:srgbClr val="000000"/>
          </a:solidFill>
          <a:ln/>
        </p:spPr>
      </p:sp>
      <p:sp>
        <p:nvSpPr>
          <p:cNvPr id="23" name="Shape 21"/>
          <p:cNvSpPr/>
          <p:nvPr/>
        </p:nvSpPr>
        <p:spPr>
          <a:xfrm>
            <a:off x="603250" y="5236665"/>
            <a:ext cx="444500" cy="444500"/>
          </a:xfrm>
          <a:custGeom>
            <a:avLst/>
            <a:gdLst/>
            <a:ahLst/>
            <a:cxnLst/>
            <a:rect l="l" t="t" r="r" b="b"/>
            <a:pathLst>
              <a:path w="444500" h="444500">
                <a:moveTo>
                  <a:pt x="0" y="0"/>
                </a:moveTo>
                <a:lnTo>
                  <a:pt x="444500" y="0"/>
                </a:lnTo>
                <a:lnTo>
                  <a:pt x="444500" y="444500"/>
                </a:lnTo>
                <a:lnTo>
                  <a:pt x="0" y="444500"/>
                </a:lnTo>
                <a:lnTo>
                  <a:pt x="0" y="0"/>
                </a:lnTo>
                <a:close/>
              </a:path>
            </a:pathLst>
          </a:custGeom>
          <a:solidFill>
            <a:srgbClr val="DDFF00"/>
          </a:solidFill>
          <a:ln/>
        </p:spPr>
      </p:sp>
      <p:sp>
        <p:nvSpPr>
          <p:cNvPr id="24" name="Shape 22"/>
          <p:cNvSpPr/>
          <p:nvPr/>
        </p:nvSpPr>
        <p:spPr>
          <a:xfrm>
            <a:off x="706438" y="5363665"/>
            <a:ext cx="238125" cy="190500"/>
          </a:xfrm>
          <a:custGeom>
            <a:avLst/>
            <a:gdLst/>
            <a:ahLst/>
            <a:cxnLst/>
            <a:rect l="l" t="t" r="r" b="b"/>
            <a:pathLst>
              <a:path w="238125" h="190500">
                <a:moveTo>
                  <a:pt x="128960" y="41002"/>
                </a:moveTo>
                <a:cubicBezTo>
                  <a:pt x="126057" y="36649"/>
                  <a:pt x="120625" y="34677"/>
                  <a:pt x="115602" y="36202"/>
                </a:cubicBezTo>
                <a:cubicBezTo>
                  <a:pt x="110579" y="37728"/>
                  <a:pt x="107156" y="42379"/>
                  <a:pt x="107156" y="47625"/>
                </a:cubicBezTo>
                <a:lnTo>
                  <a:pt x="107156" y="142875"/>
                </a:lnTo>
                <a:cubicBezTo>
                  <a:pt x="107156" y="149461"/>
                  <a:pt x="112477" y="154781"/>
                  <a:pt x="119063" y="154781"/>
                </a:cubicBezTo>
                <a:cubicBezTo>
                  <a:pt x="125648" y="154781"/>
                  <a:pt x="130969" y="149461"/>
                  <a:pt x="130969" y="142875"/>
                </a:cubicBezTo>
                <a:lnTo>
                  <a:pt x="130969" y="86953"/>
                </a:lnTo>
                <a:lnTo>
                  <a:pt x="156790" y="125685"/>
                </a:lnTo>
                <a:cubicBezTo>
                  <a:pt x="158986" y="128997"/>
                  <a:pt x="162706" y="130969"/>
                  <a:pt x="166688" y="130969"/>
                </a:cubicBezTo>
                <a:cubicBezTo>
                  <a:pt x="170669" y="130969"/>
                  <a:pt x="174389" y="128997"/>
                  <a:pt x="176585" y="125685"/>
                </a:cubicBezTo>
                <a:lnTo>
                  <a:pt x="202406" y="86953"/>
                </a:lnTo>
                <a:lnTo>
                  <a:pt x="202406" y="142875"/>
                </a:lnTo>
                <a:cubicBezTo>
                  <a:pt x="202406" y="149461"/>
                  <a:pt x="207727" y="154781"/>
                  <a:pt x="214313" y="154781"/>
                </a:cubicBezTo>
                <a:cubicBezTo>
                  <a:pt x="220898" y="154781"/>
                  <a:pt x="226219" y="149461"/>
                  <a:pt x="226219" y="142875"/>
                </a:cubicBezTo>
                <a:lnTo>
                  <a:pt x="226219" y="47625"/>
                </a:lnTo>
                <a:cubicBezTo>
                  <a:pt x="226219" y="42379"/>
                  <a:pt x="222796" y="37765"/>
                  <a:pt x="217773" y="36240"/>
                </a:cubicBezTo>
                <a:cubicBezTo>
                  <a:pt x="212750" y="34714"/>
                  <a:pt x="207318" y="36649"/>
                  <a:pt x="204415" y="41039"/>
                </a:cubicBezTo>
                <a:lnTo>
                  <a:pt x="166688" y="97594"/>
                </a:lnTo>
                <a:lnTo>
                  <a:pt x="128960" y="41002"/>
                </a:lnTo>
                <a:close/>
                <a:moveTo>
                  <a:pt x="11906" y="35719"/>
                </a:moveTo>
                <a:cubicBezTo>
                  <a:pt x="5321" y="35719"/>
                  <a:pt x="0" y="41039"/>
                  <a:pt x="0" y="47625"/>
                </a:cubicBezTo>
                <a:cubicBezTo>
                  <a:pt x="0" y="54211"/>
                  <a:pt x="5321" y="59531"/>
                  <a:pt x="11906" y="59531"/>
                </a:cubicBezTo>
                <a:lnTo>
                  <a:pt x="35719" y="59531"/>
                </a:lnTo>
                <a:lnTo>
                  <a:pt x="35719" y="142875"/>
                </a:lnTo>
                <a:cubicBezTo>
                  <a:pt x="35719" y="149461"/>
                  <a:pt x="41039" y="154781"/>
                  <a:pt x="47625" y="154781"/>
                </a:cubicBezTo>
                <a:cubicBezTo>
                  <a:pt x="54211" y="154781"/>
                  <a:pt x="59531" y="149461"/>
                  <a:pt x="59531" y="142875"/>
                </a:cubicBezTo>
                <a:lnTo>
                  <a:pt x="59531" y="59531"/>
                </a:lnTo>
                <a:lnTo>
                  <a:pt x="83344" y="59531"/>
                </a:lnTo>
                <a:cubicBezTo>
                  <a:pt x="89929" y="59531"/>
                  <a:pt x="95250" y="54211"/>
                  <a:pt x="95250" y="47625"/>
                </a:cubicBezTo>
                <a:cubicBezTo>
                  <a:pt x="95250" y="41039"/>
                  <a:pt x="89929" y="35719"/>
                  <a:pt x="83344" y="35719"/>
                </a:cubicBezTo>
                <a:lnTo>
                  <a:pt x="11906" y="35719"/>
                </a:lnTo>
                <a:close/>
              </a:path>
            </a:pathLst>
          </a:custGeom>
          <a:solidFill>
            <a:srgbClr val="000000"/>
          </a:solidFill>
          <a:ln/>
        </p:spPr>
      </p:sp>
      <p:sp>
        <p:nvSpPr>
          <p:cNvPr id="25" name="Text 23"/>
          <p:cNvSpPr/>
          <p:nvPr/>
        </p:nvSpPr>
        <p:spPr>
          <a:xfrm>
            <a:off x="1174750" y="5236665"/>
            <a:ext cx="4611688"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Trademark</a:t>
            </a:r>
            <a:endParaRPr lang="en-US" sz="1600" dirty="0"/>
          </a:p>
        </p:txBody>
      </p:sp>
      <p:sp>
        <p:nvSpPr>
          <p:cNvPr id="26" name="Text 24"/>
          <p:cNvSpPr/>
          <p:nvPr/>
        </p:nvSpPr>
        <p:spPr>
          <a:xfrm>
            <a:off x="1174750" y="5490665"/>
            <a:ext cx="4603750" cy="3810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Protects brand names, logos, and distinctive marks associated with software products</a:t>
            </a:r>
            <a:endParaRPr lang="en-US" sz="1600" dirty="0"/>
          </a:p>
        </p:txBody>
      </p:sp>
      <p:sp>
        <p:nvSpPr>
          <p:cNvPr id="27" name="Shape 25"/>
          <p:cNvSpPr/>
          <p:nvPr/>
        </p:nvSpPr>
        <p:spPr>
          <a:xfrm>
            <a:off x="6191250" y="1079500"/>
            <a:ext cx="5683250" cy="4000500"/>
          </a:xfrm>
          <a:custGeom>
            <a:avLst/>
            <a:gdLst/>
            <a:ahLst/>
            <a:cxnLst/>
            <a:rect l="l" t="t" r="r" b="b"/>
            <a:pathLst>
              <a:path w="5683250" h="4000500">
                <a:moveTo>
                  <a:pt x="0" y="0"/>
                </a:moveTo>
                <a:lnTo>
                  <a:pt x="5683250" y="0"/>
                </a:lnTo>
                <a:lnTo>
                  <a:pt x="5683250" y="4000500"/>
                </a:lnTo>
                <a:lnTo>
                  <a:pt x="0" y="4000500"/>
                </a:lnTo>
                <a:lnTo>
                  <a:pt x="0" y="0"/>
                </a:lnTo>
                <a:close/>
              </a:path>
            </a:pathLst>
          </a:custGeom>
          <a:solidFill>
            <a:srgbClr val="111111"/>
          </a:solidFill>
          <a:ln/>
        </p:spPr>
      </p:sp>
      <p:sp>
        <p:nvSpPr>
          <p:cNvPr id="28" name="Shape 26"/>
          <p:cNvSpPr/>
          <p:nvPr/>
        </p:nvSpPr>
        <p:spPr>
          <a:xfrm>
            <a:off x="6369844" y="1270000"/>
            <a:ext cx="158750" cy="158750"/>
          </a:xfrm>
          <a:custGeom>
            <a:avLst/>
            <a:gdLst/>
            <a:ahLst/>
            <a:cxnLst/>
            <a:rect l="l" t="t" r="r" b="b"/>
            <a:pathLst>
              <a:path w="158750" h="158750">
                <a:moveTo>
                  <a:pt x="79375" y="158750"/>
                </a:moveTo>
                <a:cubicBezTo>
                  <a:pt x="123183" y="158750"/>
                  <a:pt x="158750" y="123183"/>
                  <a:pt x="158750" y="79375"/>
                </a:cubicBezTo>
                <a:cubicBezTo>
                  <a:pt x="158750" y="35567"/>
                  <a:pt x="123183" y="0"/>
                  <a:pt x="79375" y="0"/>
                </a:cubicBezTo>
                <a:cubicBezTo>
                  <a:pt x="35567" y="0"/>
                  <a:pt x="0" y="35567"/>
                  <a:pt x="0" y="79375"/>
                </a:cubicBezTo>
                <a:cubicBezTo>
                  <a:pt x="0" y="123183"/>
                  <a:pt x="35567" y="158750"/>
                  <a:pt x="79375" y="158750"/>
                </a:cubicBezTo>
                <a:close/>
                <a:moveTo>
                  <a:pt x="79375" y="42168"/>
                </a:moveTo>
                <a:cubicBezTo>
                  <a:pt x="83499" y="42168"/>
                  <a:pt x="86816" y="45486"/>
                  <a:pt x="86816" y="49609"/>
                </a:cubicBezTo>
                <a:lnTo>
                  <a:pt x="86816" y="84336"/>
                </a:lnTo>
                <a:cubicBezTo>
                  <a:pt x="86816" y="88460"/>
                  <a:pt x="83499" y="91777"/>
                  <a:pt x="79375" y="91777"/>
                </a:cubicBezTo>
                <a:cubicBezTo>
                  <a:pt x="75251" y="91777"/>
                  <a:pt x="71934" y="88460"/>
                  <a:pt x="71934" y="84336"/>
                </a:cubicBezTo>
                <a:lnTo>
                  <a:pt x="71934" y="49609"/>
                </a:lnTo>
                <a:cubicBezTo>
                  <a:pt x="71934" y="45486"/>
                  <a:pt x="75251" y="42168"/>
                  <a:pt x="79375" y="42168"/>
                </a:cubicBezTo>
                <a:close/>
                <a:moveTo>
                  <a:pt x="71096" y="109141"/>
                </a:moveTo>
                <a:cubicBezTo>
                  <a:pt x="70908" y="106068"/>
                  <a:pt x="72441" y="103144"/>
                  <a:pt x="75075" y="101551"/>
                </a:cubicBezTo>
                <a:cubicBezTo>
                  <a:pt x="77709" y="99957"/>
                  <a:pt x="81010" y="99957"/>
                  <a:pt x="83644" y="101551"/>
                </a:cubicBezTo>
                <a:cubicBezTo>
                  <a:pt x="86278" y="103144"/>
                  <a:pt x="87811" y="106068"/>
                  <a:pt x="87623" y="109141"/>
                </a:cubicBezTo>
                <a:cubicBezTo>
                  <a:pt x="87811" y="112214"/>
                  <a:pt x="86278" y="115137"/>
                  <a:pt x="83644" y="116731"/>
                </a:cubicBezTo>
                <a:cubicBezTo>
                  <a:pt x="81010" y="118324"/>
                  <a:pt x="77709" y="118324"/>
                  <a:pt x="75075" y="116731"/>
                </a:cubicBezTo>
                <a:cubicBezTo>
                  <a:pt x="72441" y="115137"/>
                  <a:pt x="70908" y="112214"/>
                  <a:pt x="71096" y="109141"/>
                </a:cubicBezTo>
                <a:close/>
              </a:path>
            </a:pathLst>
          </a:custGeom>
          <a:solidFill>
            <a:srgbClr val="DDFF00"/>
          </a:solidFill>
          <a:ln/>
        </p:spPr>
      </p:sp>
      <p:sp>
        <p:nvSpPr>
          <p:cNvPr id="29" name="Text 27"/>
          <p:cNvSpPr/>
          <p:nvPr/>
        </p:nvSpPr>
        <p:spPr>
          <a:xfrm>
            <a:off x="6548438" y="1238250"/>
            <a:ext cx="5246688" cy="222250"/>
          </a:xfrm>
          <a:prstGeom prst="rect">
            <a:avLst/>
          </a:prstGeom>
          <a:noFill/>
          <a:ln/>
        </p:spPr>
        <p:txBody>
          <a:bodyPr wrap="square" lIns="0" tIns="0" rIns="0" bIns="0" rtlCol="0" anchor="ctr"/>
          <a:lstStyle/>
          <a:p>
            <a:pPr>
              <a:lnSpc>
                <a:spcPct val="120000"/>
              </a:lnSpc>
            </a:pPr>
            <a:r>
              <a:rPr lang="en-US" sz="1250" b="1" dirty="0">
                <a:solidFill>
                  <a:srgbClr val="DDFF00"/>
                </a:solidFill>
                <a:latin typeface="Liter" pitchFamily="34" charset="0"/>
                <a:ea typeface="Liter" pitchFamily="34" charset="-122"/>
                <a:cs typeface="Liter" pitchFamily="34" charset="-120"/>
              </a:rPr>
              <a:t>Major IPR Issues in Software</a:t>
            </a:r>
            <a:endParaRPr lang="en-US" sz="1600" dirty="0"/>
          </a:p>
        </p:txBody>
      </p:sp>
      <p:sp>
        <p:nvSpPr>
          <p:cNvPr id="30" name="Shape 28"/>
          <p:cNvSpPr/>
          <p:nvPr/>
        </p:nvSpPr>
        <p:spPr>
          <a:xfrm>
            <a:off x="6353175" y="1590675"/>
            <a:ext cx="5356225" cy="736600"/>
          </a:xfrm>
          <a:custGeom>
            <a:avLst/>
            <a:gdLst/>
            <a:ahLst/>
            <a:cxnLst/>
            <a:rect l="l" t="t" r="r" b="b"/>
            <a:pathLst>
              <a:path w="5356225" h="736600">
                <a:moveTo>
                  <a:pt x="0" y="0"/>
                </a:moveTo>
                <a:lnTo>
                  <a:pt x="5356225" y="0"/>
                </a:lnTo>
                <a:lnTo>
                  <a:pt x="5356225" y="736600"/>
                </a:lnTo>
                <a:lnTo>
                  <a:pt x="0" y="736600"/>
                </a:lnTo>
                <a:lnTo>
                  <a:pt x="0" y="0"/>
                </a:lnTo>
                <a:close/>
              </a:path>
            </a:pathLst>
          </a:custGeom>
          <a:solidFill>
            <a:srgbClr val="000000"/>
          </a:solidFill>
          <a:ln w="10160">
            <a:solidFill>
              <a:srgbClr val="DDFF00">
                <a:alpha val="30196"/>
              </a:srgbClr>
            </a:solidFill>
            <a:prstDash val="solid"/>
          </a:ln>
        </p:spPr>
      </p:sp>
      <p:sp>
        <p:nvSpPr>
          <p:cNvPr id="31" name="Shape 29"/>
          <p:cNvSpPr/>
          <p:nvPr/>
        </p:nvSpPr>
        <p:spPr>
          <a:xfrm>
            <a:off x="6503194" y="1752598"/>
            <a:ext cx="158750" cy="158750"/>
          </a:xfrm>
          <a:custGeom>
            <a:avLst/>
            <a:gdLst/>
            <a:ahLst/>
            <a:cxnLst/>
            <a:rect l="l" t="t" r="r" b="b"/>
            <a:pathLst>
              <a:path w="158750" h="158750">
                <a:moveTo>
                  <a:pt x="20433" y="70848"/>
                </a:moveTo>
                <a:cubicBezTo>
                  <a:pt x="24557" y="42013"/>
                  <a:pt x="49392" y="19844"/>
                  <a:pt x="79375" y="19844"/>
                </a:cubicBezTo>
                <a:cubicBezTo>
                  <a:pt x="95808" y="19844"/>
                  <a:pt x="110691" y="26510"/>
                  <a:pt x="121481" y="37269"/>
                </a:cubicBezTo>
                <a:cubicBezTo>
                  <a:pt x="121543" y="37331"/>
                  <a:pt x="121605" y="37393"/>
                  <a:pt x="121667" y="37455"/>
                </a:cubicBezTo>
                <a:lnTo>
                  <a:pt x="124023" y="39688"/>
                </a:lnTo>
                <a:lnTo>
                  <a:pt x="109172" y="39688"/>
                </a:lnTo>
                <a:cubicBezTo>
                  <a:pt x="103684" y="39688"/>
                  <a:pt x="99250" y="44121"/>
                  <a:pt x="99250" y="49609"/>
                </a:cubicBezTo>
                <a:cubicBezTo>
                  <a:pt x="99250" y="55097"/>
                  <a:pt x="103684" y="59531"/>
                  <a:pt x="109172" y="59531"/>
                </a:cubicBezTo>
                <a:lnTo>
                  <a:pt x="148859" y="59531"/>
                </a:lnTo>
                <a:cubicBezTo>
                  <a:pt x="154347" y="59531"/>
                  <a:pt x="158781" y="55097"/>
                  <a:pt x="158781" y="49609"/>
                </a:cubicBezTo>
                <a:lnTo>
                  <a:pt x="158781" y="9922"/>
                </a:lnTo>
                <a:cubicBezTo>
                  <a:pt x="158781" y="4434"/>
                  <a:pt x="154347" y="0"/>
                  <a:pt x="148859" y="0"/>
                </a:cubicBezTo>
                <a:cubicBezTo>
                  <a:pt x="143371" y="0"/>
                  <a:pt x="138937" y="4434"/>
                  <a:pt x="138937" y="9922"/>
                </a:cubicBezTo>
                <a:lnTo>
                  <a:pt x="138937" y="26479"/>
                </a:lnTo>
                <a:lnTo>
                  <a:pt x="135434" y="23161"/>
                </a:lnTo>
                <a:cubicBezTo>
                  <a:pt x="121078" y="8868"/>
                  <a:pt x="101234" y="0"/>
                  <a:pt x="79375" y="0"/>
                </a:cubicBezTo>
                <a:cubicBezTo>
                  <a:pt x="39377" y="0"/>
                  <a:pt x="6294" y="29580"/>
                  <a:pt x="806" y="68058"/>
                </a:cubicBezTo>
                <a:cubicBezTo>
                  <a:pt x="31" y="73484"/>
                  <a:pt x="3783" y="78507"/>
                  <a:pt x="9209" y="79282"/>
                </a:cubicBezTo>
                <a:cubicBezTo>
                  <a:pt x="14635" y="80057"/>
                  <a:pt x="19658" y="76274"/>
                  <a:pt x="20433" y="70879"/>
                </a:cubicBezTo>
                <a:close/>
                <a:moveTo>
                  <a:pt x="157944" y="90692"/>
                </a:moveTo>
                <a:cubicBezTo>
                  <a:pt x="158719" y="85266"/>
                  <a:pt x="154936" y="80243"/>
                  <a:pt x="149541" y="79468"/>
                </a:cubicBezTo>
                <a:cubicBezTo>
                  <a:pt x="144146" y="78693"/>
                  <a:pt x="139092" y="82476"/>
                  <a:pt x="138317" y="87871"/>
                </a:cubicBezTo>
                <a:cubicBezTo>
                  <a:pt x="134193" y="116706"/>
                  <a:pt x="109358" y="138875"/>
                  <a:pt x="79375" y="138875"/>
                </a:cubicBezTo>
                <a:cubicBezTo>
                  <a:pt x="62942" y="138875"/>
                  <a:pt x="48059" y="132209"/>
                  <a:pt x="37269" y="121450"/>
                </a:cubicBezTo>
                <a:cubicBezTo>
                  <a:pt x="37207" y="121388"/>
                  <a:pt x="37145" y="121326"/>
                  <a:pt x="37083" y="121264"/>
                </a:cubicBezTo>
                <a:lnTo>
                  <a:pt x="34727" y="119031"/>
                </a:lnTo>
                <a:lnTo>
                  <a:pt x="49578" y="119031"/>
                </a:lnTo>
                <a:cubicBezTo>
                  <a:pt x="55066" y="119031"/>
                  <a:pt x="59500" y="114598"/>
                  <a:pt x="59500" y="109110"/>
                </a:cubicBezTo>
                <a:cubicBezTo>
                  <a:pt x="59500" y="103622"/>
                  <a:pt x="55066" y="99188"/>
                  <a:pt x="49578" y="99188"/>
                </a:cubicBezTo>
                <a:lnTo>
                  <a:pt x="9922" y="99219"/>
                </a:lnTo>
                <a:cubicBezTo>
                  <a:pt x="7286" y="99219"/>
                  <a:pt x="4744" y="100273"/>
                  <a:pt x="2884" y="102164"/>
                </a:cubicBezTo>
                <a:cubicBezTo>
                  <a:pt x="1023" y="104056"/>
                  <a:pt x="-31" y="106567"/>
                  <a:pt x="0" y="109234"/>
                </a:cubicBezTo>
                <a:lnTo>
                  <a:pt x="310" y="148611"/>
                </a:lnTo>
                <a:cubicBezTo>
                  <a:pt x="341" y="154099"/>
                  <a:pt x="4837" y="158502"/>
                  <a:pt x="10325" y="158440"/>
                </a:cubicBezTo>
                <a:cubicBezTo>
                  <a:pt x="15813" y="158378"/>
                  <a:pt x="20216" y="153913"/>
                  <a:pt x="20154" y="148425"/>
                </a:cubicBezTo>
                <a:lnTo>
                  <a:pt x="20030" y="132457"/>
                </a:lnTo>
                <a:lnTo>
                  <a:pt x="23347" y="135589"/>
                </a:lnTo>
                <a:cubicBezTo>
                  <a:pt x="37703" y="149882"/>
                  <a:pt x="57516" y="158750"/>
                  <a:pt x="79375" y="158750"/>
                </a:cubicBezTo>
                <a:cubicBezTo>
                  <a:pt x="119373" y="158750"/>
                  <a:pt x="152456" y="129170"/>
                  <a:pt x="157944" y="90692"/>
                </a:cubicBezTo>
                <a:close/>
              </a:path>
            </a:pathLst>
          </a:custGeom>
          <a:solidFill>
            <a:srgbClr val="DDFF00"/>
          </a:solidFill>
          <a:ln/>
        </p:spPr>
      </p:sp>
      <p:sp>
        <p:nvSpPr>
          <p:cNvPr id="32" name="Text 30"/>
          <p:cNvSpPr/>
          <p:nvPr/>
        </p:nvSpPr>
        <p:spPr>
          <a:xfrm>
            <a:off x="6777037" y="1720848"/>
            <a:ext cx="1063625"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Software Piracy</a:t>
            </a:r>
            <a:endParaRPr lang="en-US" sz="1600" dirty="0"/>
          </a:p>
        </p:txBody>
      </p:sp>
      <p:sp>
        <p:nvSpPr>
          <p:cNvPr id="33" name="Text 31"/>
          <p:cNvSpPr/>
          <p:nvPr/>
        </p:nvSpPr>
        <p:spPr>
          <a:xfrm>
            <a:off x="6483350" y="2006598"/>
            <a:ext cx="5159375"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Unauthorized copying, distribution, or use of copyrighted software without proper licensing</a:t>
            </a:r>
            <a:endParaRPr lang="en-US" sz="1600" dirty="0"/>
          </a:p>
        </p:txBody>
      </p:sp>
      <p:sp>
        <p:nvSpPr>
          <p:cNvPr id="34" name="Shape 32"/>
          <p:cNvSpPr/>
          <p:nvPr/>
        </p:nvSpPr>
        <p:spPr>
          <a:xfrm>
            <a:off x="6353175" y="2428880"/>
            <a:ext cx="5356225" cy="736600"/>
          </a:xfrm>
          <a:custGeom>
            <a:avLst/>
            <a:gdLst/>
            <a:ahLst/>
            <a:cxnLst/>
            <a:rect l="l" t="t" r="r" b="b"/>
            <a:pathLst>
              <a:path w="5356225" h="736600">
                <a:moveTo>
                  <a:pt x="0" y="0"/>
                </a:moveTo>
                <a:lnTo>
                  <a:pt x="5356225" y="0"/>
                </a:lnTo>
                <a:lnTo>
                  <a:pt x="5356225" y="736600"/>
                </a:lnTo>
                <a:lnTo>
                  <a:pt x="0" y="736600"/>
                </a:lnTo>
                <a:lnTo>
                  <a:pt x="0" y="0"/>
                </a:lnTo>
                <a:close/>
              </a:path>
            </a:pathLst>
          </a:custGeom>
          <a:solidFill>
            <a:srgbClr val="000000"/>
          </a:solidFill>
          <a:ln w="10160">
            <a:solidFill>
              <a:srgbClr val="DDFF00">
                <a:alpha val="30196"/>
              </a:srgbClr>
            </a:solidFill>
            <a:prstDash val="solid"/>
          </a:ln>
        </p:spPr>
      </p:sp>
      <p:sp>
        <p:nvSpPr>
          <p:cNvPr id="35" name="Shape 33"/>
          <p:cNvSpPr/>
          <p:nvPr/>
        </p:nvSpPr>
        <p:spPr>
          <a:xfrm>
            <a:off x="6493272" y="2590803"/>
            <a:ext cx="178594" cy="158750"/>
          </a:xfrm>
          <a:custGeom>
            <a:avLst/>
            <a:gdLst/>
            <a:ahLst/>
            <a:cxnLst/>
            <a:rect l="l" t="t" r="r" b="b"/>
            <a:pathLst>
              <a:path w="178594" h="158750">
                <a:moveTo>
                  <a:pt x="69484" y="30107"/>
                </a:moveTo>
                <a:lnTo>
                  <a:pt x="69484" y="45486"/>
                </a:lnTo>
                <a:lnTo>
                  <a:pt x="69639" y="45641"/>
                </a:lnTo>
                <a:cubicBezTo>
                  <a:pt x="71655" y="20092"/>
                  <a:pt x="93018" y="0"/>
                  <a:pt x="119094" y="0"/>
                </a:cubicBezTo>
                <a:cubicBezTo>
                  <a:pt x="125326" y="0"/>
                  <a:pt x="131310" y="1147"/>
                  <a:pt x="136798" y="3256"/>
                </a:cubicBezTo>
                <a:cubicBezTo>
                  <a:pt x="139898" y="4434"/>
                  <a:pt x="140457" y="8372"/>
                  <a:pt x="138131" y="10728"/>
                </a:cubicBezTo>
                <a:lnTo>
                  <a:pt x="110629" y="38230"/>
                </a:lnTo>
                <a:cubicBezTo>
                  <a:pt x="109699" y="39160"/>
                  <a:pt x="109172" y="40432"/>
                  <a:pt x="109172" y="41734"/>
                </a:cubicBezTo>
                <a:lnTo>
                  <a:pt x="109172" y="54570"/>
                </a:lnTo>
                <a:cubicBezTo>
                  <a:pt x="109172" y="57299"/>
                  <a:pt x="111404" y="59531"/>
                  <a:pt x="114133" y="59531"/>
                </a:cubicBezTo>
                <a:lnTo>
                  <a:pt x="126969" y="59531"/>
                </a:lnTo>
                <a:cubicBezTo>
                  <a:pt x="128271" y="59531"/>
                  <a:pt x="129542" y="59004"/>
                  <a:pt x="130473" y="58074"/>
                </a:cubicBezTo>
                <a:lnTo>
                  <a:pt x="157975" y="30572"/>
                </a:lnTo>
                <a:cubicBezTo>
                  <a:pt x="160331" y="28215"/>
                  <a:pt x="164269" y="28804"/>
                  <a:pt x="165447" y="31905"/>
                </a:cubicBezTo>
                <a:cubicBezTo>
                  <a:pt x="167556" y="37393"/>
                  <a:pt x="168703" y="43377"/>
                  <a:pt x="168703" y="49609"/>
                </a:cubicBezTo>
                <a:cubicBezTo>
                  <a:pt x="168703" y="68399"/>
                  <a:pt x="158254" y="84770"/>
                  <a:pt x="142813" y="93173"/>
                </a:cubicBezTo>
                <a:lnTo>
                  <a:pt x="168083" y="118442"/>
                </a:lnTo>
                <a:cubicBezTo>
                  <a:pt x="173881" y="124240"/>
                  <a:pt x="173881" y="133666"/>
                  <a:pt x="168083" y="139495"/>
                </a:cubicBezTo>
                <a:lnTo>
                  <a:pt x="149448" y="158130"/>
                </a:lnTo>
                <a:cubicBezTo>
                  <a:pt x="143650" y="163928"/>
                  <a:pt x="134224" y="163928"/>
                  <a:pt x="128395" y="158130"/>
                </a:cubicBezTo>
                <a:lnTo>
                  <a:pt x="89328" y="119062"/>
                </a:lnTo>
                <a:cubicBezTo>
                  <a:pt x="80832" y="110567"/>
                  <a:pt x="78910" y="98010"/>
                  <a:pt x="83592" y="87654"/>
                </a:cubicBezTo>
                <a:lnTo>
                  <a:pt x="55469" y="59531"/>
                </a:lnTo>
                <a:lnTo>
                  <a:pt x="40091" y="59531"/>
                </a:lnTo>
                <a:cubicBezTo>
                  <a:pt x="36773" y="59531"/>
                  <a:pt x="33672" y="57888"/>
                  <a:pt x="31843" y="55128"/>
                </a:cubicBezTo>
                <a:lnTo>
                  <a:pt x="7255" y="18262"/>
                </a:lnTo>
                <a:cubicBezTo>
                  <a:pt x="5953" y="16309"/>
                  <a:pt x="6201" y="13674"/>
                  <a:pt x="7875" y="11999"/>
                </a:cubicBezTo>
                <a:lnTo>
                  <a:pt x="21952" y="-2077"/>
                </a:lnTo>
                <a:cubicBezTo>
                  <a:pt x="23626" y="-3752"/>
                  <a:pt x="26231" y="-4000"/>
                  <a:pt x="28215" y="-2698"/>
                </a:cubicBezTo>
                <a:lnTo>
                  <a:pt x="65081" y="21859"/>
                </a:lnTo>
                <a:cubicBezTo>
                  <a:pt x="67841" y="23688"/>
                  <a:pt x="69484" y="26789"/>
                  <a:pt x="69484" y="30107"/>
                </a:cubicBezTo>
                <a:close/>
                <a:moveTo>
                  <a:pt x="66849" y="91963"/>
                </a:moveTo>
                <a:cubicBezTo>
                  <a:pt x="64895" y="103436"/>
                  <a:pt x="67593" y="115559"/>
                  <a:pt x="75034" y="125264"/>
                </a:cubicBezTo>
                <a:lnTo>
                  <a:pt x="45579" y="154688"/>
                </a:lnTo>
                <a:cubicBezTo>
                  <a:pt x="36866" y="163401"/>
                  <a:pt x="22727" y="163401"/>
                  <a:pt x="14015" y="154688"/>
                </a:cubicBezTo>
                <a:cubicBezTo>
                  <a:pt x="5302" y="145976"/>
                  <a:pt x="5302" y="131837"/>
                  <a:pt x="14015" y="123124"/>
                </a:cubicBezTo>
                <a:lnTo>
                  <a:pt x="55997" y="81142"/>
                </a:lnTo>
                <a:lnTo>
                  <a:pt x="66849" y="91994"/>
                </a:lnTo>
                <a:close/>
              </a:path>
            </a:pathLst>
          </a:custGeom>
          <a:solidFill>
            <a:srgbClr val="DDFF00"/>
          </a:solidFill>
          <a:ln/>
        </p:spPr>
      </p:sp>
      <p:sp>
        <p:nvSpPr>
          <p:cNvPr id="36" name="Text 34"/>
          <p:cNvSpPr/>
          <p:nvPr/>
        </p:nvSpPr>
        <p:spPr>
          <a:xfrm>
            <a:off x="6777037" y="2559053"/>
            <a:ext cx="1198563"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Cracked Software</a:t>
            </a:r>
            <a:endParaRPr lang="en-US" sz="1600" dirty="0"/>
          </a:p>
        </p:txBody>
      </p:sp>
      <p:sp>
        <p:nvSpPr>
          <p:cNvPr id="37" name="Text 35"/>
          <p:cNvSpPr/>
          <p:nvPr/>
        </p:nvSpPr>
        <p:spPr>
          <a:xfrm>
            <a:off x="6483350" y="2844803"/>
            <a:ext cx="5159375"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Modified software that bypasses licensing restrictions and security measures</a:t>
            </a:r>
            <a:endParaRPr lang="en-US" sz="1600" dirty="0"/>
          </a:p>
        </p:txBody>
      </p:sp>
      <p:sp>
        <p:nvSpPr>
          <p:cNvPr id="38" name="Shape 36"/>
          <p:cNvSpPr/>
          <p:nvPr/>
        </p:nvSpPr>
        <p:spPr>
          <a:xfrm>
            <a:off x="6353175" y="3267077"/>
            <a:ext cx="5356225" cy="736600"/>
          </a:xfrm>
          <a:custGeom>
            <a:avLst/>
            <a:gdLst/>
            <a:ahLst/>
            <a:cxnLst/>
            <a:rect l="l" t="t" r="r" b="b"/>
            <a:pathLst>
              <a:path w="5356225" h="736600">
                <a:moveTo>
                  <a:pt x="0" y="0"/>
                </a:moveTo>
                <a:lnTo>
                  <a:pt x="5356225" y="0"/>
                </a:lnTo>
                <a:lnTo>
                  <a:pt x="5356225" y="736600"/>
                </a:lnTo>
                <a:lnTo>
                  <a:pt x="0" y="736600"/>
                </a:lnTo>
                <a:lnTo>
                  <a:pt x="0" y="0"/>
                </a:lnTo>
                <a:close/>
              </a:path>
            </a:pathLst>
          </a:custGeom>
          <a:solidFill>
            <a:srgbClr val="000000"/>
          </a:solidFill>
          <a:ln w="10160">
            <a:solidFill>
              <a:srgbClr val="DDFF00">
                <a:alpha val="30196"/>
              </a:srgbClr>
            </a:solidFill>
            <a:prstDash val="solid"/>
          </a:ln>
        </p:spPr>
      </p:sp>
      <p:sp>
        <p:nvSpPr>
          <p:cNvPr id="39" name="Shape 37"/>
          <p:cNvSpPr/>
          <p:nvPr/>
        </p:nvSpPr>
        <p:spPr>
          <a:xfrm>
            <a:off x="6503194" y="3429000"/>
            <a:ext cx="158750" cy="158750"/>
          </a:xfrm>
          <a:custGeom>
            <a:avLst/>
            <a:gdLst/>
            <a:ahLst/>
            <a:cxnLst/>
            <a:rect l="l" t="t" r="r" b="b"/>
            <a:pathLst>
              <a:path w="158750" h="158750">
                <a:moveTo>
                  <a:pt x="119062" y="59531"/>
                </a:moveTo>
                <a:cubicBezTo>
                  <a:pt x="135496" y="59531"/>
                  <a:pt x="148828" y="46199"/>
                  <a:pt x="148828" y="29766"/>
                </a:cubicBezTo>
                <a:cubicBezTo>
                  <a:pt x="148828" y="13333"/>
                  <a:pt x="135496" y="0"/>
                  <a:pt x="119062" y="0"/>
                </a:cubicBezTo>
                <a:cubicBezTo>
                  <a:pt x="102629" y="0"/>
                  <a:pt x="89297" y="13333"/>
                  <a:pt x="89297" y="29766"/>
                </a:cubicBezTo>
                <a:cubicBezTo>
                  <a:pt x="89297" y="31440"/>
                  <a:pt x="89452" y="33114"/>
                  <a:pt x="89700" y="34727"/>
                </a:cubicBezTo>
                <a:lnTo>
                  <a:pt x="49485" y="57082"/>
                </a:lnTo>
                <a:cubicBezTo>
                  <a:pt x="44245" y="52431"/>
                  <a:pt x="37331" y="49609"/>
                  <a:pt x="29766" y="49609"/>
                </a:cubicBezTo>
                <a:cubicBezTo>
                  <a:pt x="13333" y="49609"/>
                  <a:pt x="0" y="62942"/>
                  <a:pt x="0" y="79375"/>
                </a:cubicBezTo>
                <a:cubicBezTo>
                  <a:pt x="0" y="95808"/>
                  <a:pt x="13333" y="109141"/>
                  <a:pt x="29766" y="109141"/>
                </a:cubicBezTo>
                <a:cubicBezTo>
                  <a:pt x="37331" y="109141"/>
                  <a:pt x="44214" y="106319"/>
                  <a:pt x="49485" y="101668"/>
                </a:cubicBezTo>
                <a:lnTo>
                  <a:pt x="89700" y="124023"/>
                </a:lnTo>
                <a:cubicBezTo>
                  <a:pt x="89421" y="125636"/>
                  <a:pt x="89297" y="127279"/>
                  <a:pt x="89297" y="128984"/>
                </a:cubicBezTo>
                <a:cubicBezTo>
                  <a:pt x="89297" y="145417"/>
                  <a:pt x="102629" y="158750"/>
                  <a:pt x="119062" y="158750"/>
                </a:cubicBezTo>
                <a:cubicBezTo>
                  <a:pt x="135496" y="158750"/>
                  <a:pt x="148828" y="145417"/>
                  <a:pt x="148828" y="128984"/>
                </a:cubicBezTo>
                <a:cubicBezTo>
                  <a:pt x="148828" y="112551"/>
                  <a:pt x="135496" y="99219"/>
                  <a:pt x="119062" y="99219"/>
                </a:cubicBezTo>
                <a:cubicBezTo>
                  <a:pt x="111497" y="99219"/>
                  <a:pt x="104614" y="102040"/>
                  <a:pt x="99343" y="106691"/>
                </a:cubicBezTo>
                <a:lnTo>
                  <a:pt x="59128" y="84336"/>
                </a:lnTo>
                <a:cubicBezTo>
                  <a:pt x="59407" y="82724"/>
                  <a:pt x="59531" y="81080"/>
                  <a:pt x="59531" y="79375"/>
                </a:cubicBezTo>
                <a:cubicBezTo>
                  <a:pt x="59531" y="77670"/>
                  <a:pt x="59376" y="76026"/>
                  <a:pt x="59128" y="74414"/>
                </a:cubicBezTo>
                <a:lnTo>
                  <a:pt x="99343" y="52059"/>
                </a:lnTo>
                <a:cubicBezTo>
                  <a:pt x="104583" y="56710"/>
                  <a:pt x="111497" y="59531"/>
                  <a:pt x="119062" y="59531"/>
                </a:cubicBezTo>
                <a:close/>
              </a:path>
            </a:pathLst>
          </a:custGeom>
          <a:solidFill>
            <a:srgbClr val="DDFF00"/>
          </a:solidFill>
          <a:ln/>
        </p:spPr>
      </p:sp>
      <p:sp>
        <p:nvSpPr>
          <p:cNvPr id="40" name="Text 38"/>
          <p:cNvSpPr/>
          <p:nvPr/>
        </p:nvSpPr>
        <p:spPr>
          <a:xfrm>
            <a:off x="6777037" y="3397250"/>
            <a:ext cx="168275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Unauthorized Distribution</a:t>
            </a:r>
            <a:endParaRPr lang="en-US" sz="1600" dirty="0"/>
          </a:p>
        </p:txBody>
      </p:sp>
      <p:sp>
        <p:nvSpPr>
          <p:cNvPr id="41" name="Text 39"/>
          <p:cNvSpPr/>
          <p:nvPr/>
        </p:nvSpPr>
        <p:spPr>
          <a:xfrm>
            <a:off x="6483350" y="3683000"/>
            <a:ext cx="5159375"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Sharing software through peer-to-peer networks or unauthorized download sites</a:t>
            </a:r>
            <a:endParaRPr lang="en-US" sz="1600" dirty="0"/>
          </a:p>
        </p:txBody>
      </p:sp>
      <p:sp>
        <p:nvSpPr>
          <p:cNvPr id="42" name="Shape 40"/>
          <p:cNvSpPr/>
          <p:nvPr/>
        </p:nvSpPr>
        <p:spPr>
          <a:xfrm>
            <a:off x="6353175" y="4105273"/>
            <a:ext cx="5356225" cy="736600"/>
          </a:xfrm>
          <a:custGeom>
            <a:avLst/>
            <a:gdLst/>
            <a:ahLst/>
            <a:cxnLst/>
            <a:rect l="l" t="t" r="r" b="b"/>
            <a:pathLst>
              <a:path w="5356225" h="736600">
                <a:moveTo>
                  <a:pt x="0" y="0"/>
                </a:moveTo>
                <a:lnTo>
                  <a:pt x="5356225" y="0"/>
                </a:lnTo>
                <a:lnTo>
                  <a:pt x="5356225" y="736600"/>
                </a:lnTo>
                <a:lnTo>
                  <a:pt x="0" y="736600"/>
                </a:lnTo>
                <a:lnTo>
                  <a:pt x="0" y="0"/>
                </a:lnTo>
                <a:close/>
              </a:path>
            </a:pathLst>
          </a:custGeom>
          <a:solidFill>
            <a:srgbClr val="000000"/>
          </a:solidFill>
          <a:ln w="10160">
            <a:solidFill>
              <a:srgbClr val="DDFF00">
                <a:alpha val="30196"/>
              </a:srgbClr>
            </a:solidFill>
            <a:prstDash val="solid"/>
          </a:ln>
        </p:spPr>
      </p:sp>
      <p:sp>
        <p:nvSpPr>
          <p:cNvPr id="43" name="Shape 41"/>
          <p:cNvSpPr/>
          <p:nvPr/>
        </p:nvSpPr>
        <p:spPr>
          <a:xfrm>
            <a:off x="6513116" y="4267205"/>
            <a:ext cx="138906" cy="158750"/>
          </a:xfrm>
          <a:custGeom>
            <a:avLst/>
            <a:gdLst/>
            <a:ahLst/>
            <a:cxnLst/>
            <a:rect l="l" t="t" r="r" b="b"/>
            <a:pathLst>
              <a:path w="138906" h="158750">
                <a:moveTo>
                  <a:pt x="24805" y="32246"/>
                </a:moveTo>
                <a:cubicBezTo>
                  <a:pt x="28912" y="32246"/>
                  <a:pt x="32246" y="28912"/>
                  <a:pt x="32246" y="24805"/>
                </a:cubicBezTo>
                <a:cubicBezTo>
                  <a:pt x="32246" y="20698"/>
                  <a:pt x="28912" y="17363"/>
                  <a:pt x="24805" y="17363"/>
                </a:cubicBezTo>
                <a:cubicBezTo>
                  <a:pt x="20698" y="17363"/>
                  <a:pt x="17363" y="20698"/>
                  <a:pt x="17363" y="24805"/>
                </a:cubicBezTo>
                <a:cubicBezTo>
                  <a:pt x="17363" y="28912"/>
                  <a:pt x="20698" y="32246"/>
                  <a:pt x="24805" y="32246"/>
                </a:cubicBezTo>
                <a:close/>
                <a:moveTo>
                  <a:pt x="49609" y="24805"/>
                </a:moveTo>
                <a:cubicBezTo>
                  <a:pt x="49609" y="34975"/>
                  <a:pt x="43501" y="43718"/>
                  <a:pt x="34727" y="47532"/>
                </a:cubicBezTo>
                <a:lnTo>
                  <a:pt x="34727" y="69453"/>
                </a:lnTo>
                <a:lnTo>
                  <a:pt x="89297" y="69453"/>
                </a:lnTo>
                <a:cubicBezTo>
                  <a:pt x="97513" y="69453"/>
                  <a:pt x="104180" y="62787"/>
                  <a:pt x="104180" y="54570"/>
                </a:cubicBezTo>
                <a:lnTo>
                  <a:pt x="104180" y="47532"/>
                </a:lnTo>
                <a:cubicBezTo>
                  <a:pt x="95405" y="43718"/>
                  <a:pt x="89297" y="34975"/>
                  <a:pt x="89297" y="24805"/>
                </a:cubicBezTo>
                <a:cubicBezTo>
                  <a:pt x="89297" y="11100"/>
                  <a:pt x="100397" y="0"/>
                  <a:pt x="114102" y="0"/>
                </a:cubicBezTo>
                <a:cubicBezTo>
                  <a:pt x="127806" y="0"/>
                  <a:pt x="138906" y="11100"/>
                  <a:pt x="138906" y="24805"/>
                </a:cubicBezTo>
                <a:cubicBezTo>
                  <a:pt x="138906" y="34975"/>
                  <a:pt x="132798" y="43718"/>
                  <a:pt x="124023" y="47532"/>
                </a:cubicBezTo>
                <a:lnTo>
                  <a:pt x="124023" y="54570"/>
                </a:lnTo>
                <a:cubicBezTo>
                  <a:pt x="124023" y="73763"/>
                  <a:pt x="108490" y="89297"/>
                  <a:pt x="89297" y="89297"/>
                </a:cubicBezTo>
                <a:lnTo>
                  <a:pt x="34727" y="89297"/>
                </a:lnTo>
                <a:lnTo>
                  <a:pt x="34727" y="111218"/>
                </a:lnTo>
                <a:cubicBezTo>
                  <a:pt x="43501" y="115032"/>
                  <a:pt x="49609" y="123775"/>
                  <a:pt x="49609" y="133945"/>
                </a:cubicBezTo>
                <a:cubicBezTo>
                  <a:pt x="49609" y="147650"/>
                  <a:pt x="38509" y="158750"/>
                  <a:pt x="24805" y="158750"/>
                </a:cubicBezTo>
                <a:cubicBezTo>
                  <a:pt x="11100" y="158750"/>
                  <a:pt x="0" y="147650"/>
                  <a:pt x="0" y="133945"/>
                </a:cubicBezTo>
                <a:cubicBezTo>
                  <a:pt x="0" y="123775"/>
                  <a:pt x="6108" y="115032"/>
                  <a:pt x="14883" y="111218"/>
                </a:cubicBezTo>
                <a:lnTo>
                  <a:pt x="14883" y="47563"/>
                </a:lnTo>
                <a:cubicBezTo>
                  <a:pt x="6108" y="43718"/>
                  <a:pt x="0" y="34975"/>
                  <a:pt x="0" y="24805"/>
                </a:cubicBezTo>
                <a:cubicBezTo>
                  <a:pt x="0" y="11100"/>
                  <a:pt x="11100" y="0"/>
                  <a:pt x="24805" y="0"/>
                </a:cubicBezTo>
                <a:cubicBezTo>
                  <a:pt x="38509" y="0"/>
                  <a:pt x="49609" y="11100"/>
                  <a:pt x="49609" y="24805"/>
                </a:cubicBezTo>
                <a:close/>
                <a:moveTo>
                  <a:pt x="121543" y="24805"/>
                </a:moveTo>
                <a:cubicBezTo>
                  <a:pt x="121543" y="20698"/>
                  <a:pt x="118209" y="17363"/>
                  <a:pt x="114102" y="17363"/>
                </a:cubicBezTo>
                <a:cubicBezTo>
                  <a:pt x="109995" y="17363"/>
                  <a:pt x="106660" y="20698"/>
                  <a:pt x="106660" y="24805"/>
                </a:cubicBezTo>
                <a:cubicBezTo>
                  <a:pt x="106660" y="28912"/>
                  <a:pt x="109995" y="32246"/>
                  <a:pt x="114102" y="32246"/>
                </a:cubicBezTo>
                <a:cubicBezTo>
                  <a:pt x="118209" y="32246"/>
                  <a:pt x="121543" y="28912"/>
                  <a:pt x="121543" y="24805"/>
                </a:cubicBezTo>
                <a:close/>
                <a:moveTo>
                  <a:pt x="24805" y="141387"/>
                </a:moveTo>
                <a:cubicBezTo>
                  <a:pt x="28912" y="141387"/>
                  <a:pt x="32246" y="138052"/>
                  <a:pt x="32246" y="133945"/>
                </a:cubicBezTo>
                <a:cubicBezTo>
                  <a:pt x="32246" y="129838"/>
                  <a:pt x="28912" y="126504"/>
                  <a:pt x="24805" y="126504"/>
                </a:cubicBezTo>
                <a:cubicBezTo>
                  <a:pt x="20698" y="126504"/>
                  <a:pt x="17363" y="129838"/>
                  <a:pt x="17363" y="133945"/>
                </a:cubicBezTo>
                <a:cubicBezTo>
                  <a:pt x="17363" y="138052"/>
                  <a:pt x="20698" y="141387"/>
                  <a:pt x="24805" y="141387"/>
                </a:cubicBezTo>
                <a:close/>
              </a:path>
            </a:pathLst>
          </a:custGeom>
          <a:solidFill>
            <a:srgbClr val="DDFF00"/>
          </a:solidFill>
          <a:ln/>
        </p:spPr>
      </p:sp>
      <p:sp>
        <p:nvSpPr>
          <p:cNvPr id="44" name="Text 42"/>
          <p:cNvSpPr/>
          <p:nvPr/>
        </p:nvSpPr>
        <p:spPr>
          <a:xfrm>
            <a:off x="6777037" y="4235455"/>
            <a:ext cx="1365250"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Liter" pitchFamily="34" charset="0"/>
                <a:ea typeface="Liter" pitchFamily="34" charset="-122"/>
                <a:cs typeface="Liter" pitchFamily="34" charset="-120"/>
              </a:rPr>
              <a:t>Reverse Engineering</a:t>
            </a:r>
            <a:endParaRPr lang="en-US" sz="1600" dirty="0"/>
          </a:p>
        </p:txBody>
      </p:sp>
      <p:sp>
        <p:nvSpPr>
          <p:cNvPr id="45" name="Text 43"/>
          <p:cNvSpPr/>
          <p:nvPr/>
        </p:nvSpPr>
        <p:spPr>
          <a:xfrm>
            <a:off x="6483350" y="4521205"/>
            <a:ext cx="5159375" cy="190500"/>
          </a:xfrm>
          <a:prstGeom prst="rect">
            <a:avLst/>
          </a:prstGeom>
          <a:noFill/>
          <a:ln/>
        </p:spPr>
        <p:txBody>
          <a:bodyPr wrap="square" lIns="0" tIns="0" rIns="0" bIns="0" rtlCol="0" anchor="ctr"/>
          <a:lstStyle/>
          <a:p>
            <a:pPr>
              <a:lnSpc>
                <a:spcPct val="130000"/>
              </a:lnSpc>
            </a:pPr>
            <a:r>
              <a:rPr lang="en-US" sz="1000" dirty="0">
                <a:solidFill>
                  <a:srgbClr val="FFFFFF">
                    <a:alpha val="70000"/>
                  </a:srgbClr>
                </a:solidFill>
                <a:latin typeface="Liter" pitchFamily="34" charset="0"/>
                <a:ea typeface="Liter" pitchFamily="34" charset="-122"/>
                <a:cs typeface="Liter" pitchFamily="34" charset="-120"/>
              </a:rPr>
              <a:t>Decompiling or disassembling software to extract proprietary algorithms or code</a:t>
            </a:r>
            <a:endParaRPr lang="en-US" sz="1600" dirty="0"/>
          </a:p>
        </p:txBody>
      </p:sp>
      <p:sp>
        <p:nvSpPr>
          <p:cNvPr id="46" name="Shape 44"/>
          <p:cNvSpPr/>
          <p:nvPr/>
        </p:nvSpPr>
        <p:spPr>
          <a:xfrm>
            <a:off x="6191250" y="5207000"/>
            <a:ext cx="5683250" cy="1333500"/>
          </a:xfrm>
          <a:custGeom>
            <a:avLst/>
            <a:gdLst/>
            <a:ahLst/>
            <a:cxnLst/>
            <a:rect l="l" t="t" r="r" b="b"/>
            <a:pathLst>
              <a:path w="5683250" h="1333500">
                <a:moveTo>
                  <a:pt x="0" y="0"/>
                </a:moveTo>
                <a:lnTo>
                  <a:pt x="5683250" y="0"/>
                </a:lnTo>
                <a:lnTo>
                  <a:pt x="5683250" y="1333500"/>
                </a:lnTo>
                <a:lnTo>
                  <a:pt x="0" y="1333500"/>
                </a:lnTo>
                <a:lnTo>
                  <a:pt x="0" y="0"/>
                </a:lnTo>
                <a:close/>
              </a:path>
            </a:pathLst>
          </a:custGeom>
          <a:solidFill>
            <a:srgbClr val="DDFF00"/>
          </a:solidFill>
          <a:ln/>
        </p:spPr>
      </p:sp>
      <p:sp>
        <p:nvSpPr>
          <p:cNvPr id="47" name="Shape 45"/>
          <p:cNvSpPr/>
          <p:nvPr/>
        </p:nvSpPr>
        <p:spPr>
          <a:xfrm>
            <a:off x="6359922" y="5397500"/>
            <a:ext cx="178594" cy="158750"/>
          </a:xfrm>
          <a:custGeom>
            <a:avLst/>
            <a:gdLst/>
            <a:ahLst/>
            <a:cxnLst/>
            <a:rect l="l" t="t" r="r" b="b"/>
            <a:pathLst>
              <a:path w="178594" h="158750">
                <a:moveTo>
                  <a:pt x="95963" y="-5860"/>
                </a:moveTo>
                <a:cubicBezTo>
                  <a:pt x="94692" y="-8341"/>
                  <a:pt x="92118" y="-9922"/>
                  <a:pt x="89328" y="-9922"/>
                </a:cubicBezTo>
                <a:cubicBezTo>
                  <a:pt x="86537" y="-9922"/>
                  <a:pt x="83964" y="-8341"/>
                  <a:pt x="82693" y="-5860"/>
                </a:cubicBezTo>
                <a:lnTo>
                  <a:pt x="59872" y="38850"/>
                </a:lnTo>
                <a:lnTo>
                  <a:pt x="10294" y="46726"/>
                </a:lnTo>
                <a:cubicBezTo>
                  <a:pt x="7534" y="47160"/>
                  <a:pt x="5240" y="49113"/>
                  <a:pt x="4372" y="51780"/>
                </a:cubicBezTo>
                <a:cubicBezTo>
                  <a:pt x="3504" y="54446"/>
                  <a:pt x="4217" y="57361"/>
                  <a:pt x="6170" y="59345"/>
                </a:cubicBezTo>
                <a:lnTo>
                  <a:pt x="41641" y="94847"/>
                </a:lnTo>
                <a:lnTo>
                  <a:pt x="33827" y="144425"/>
                </a:lnTo>
                <a:cubicBezTo>
                  <a:pt x="33393" y="147185"/>
                  <a:pt x="34541" y="149975"/>
                  <a:pt x="36804" y="151619"/>
                </a:cubicBezTo>
                <a:cubicBezTo>
                  <a:pt x="39067" y="153262"/>
                  <a:pt x="42044" y="153510"/>
                  <a:pt x="44555" y="152239"/>
                </a:cubicBezTo>
                <a:lnTo>
                  <a:pt x="89328" y="129480"/>
                </a:lnTo>
                <a:lnTo>
                  <a:pt x="134069" y="152239"/>
                </a:lnTo>
                <a:cubicBezTo>
                  <a:pt x="136550" y="153510"/>
                  <a:pt x="139557" y="153262"/>
                  <a:pt x="141821" y="151619"/>
                </a:cubicBezTo>
                <a:cubicBezTo>
                  <a:pt x="144084" y="149975"/>
                  <a:pt x="145231" y="147216"/>
                  <a:pt x="144797" y="144425"/>
                </a:cubicBezTo>
                <a:lnTo>
                  <a:pt x="136953" y="94847"/>
                </a:lnTo>
                <a:lnTo>
                  <a:pt x="172424" y="59345"/>
                </a:lnTo>
                <a:cubicBezTo>
                  <a:pt x="174408" y="57361"/>
                  <a:pt x="175090" y="54446"/>
                  <a:pt x="174222" y="51780"/>
                </a:cubicBezTo>
                <a:cubicBezTo>
                  <a:pt x="173354" y="49113"/>
                  <a:pt x="171090" y="47160"/>
                  <a:pt x="168300" y="46726"/>
                </a:cubicBezTo>
                <a:lnTo>
                  <a:pt x="118752" y="38850"/>
                </a:lnTo>
                <a:lnTo>
                  <a:pt x="95963" y="-5860"/>
                </a:lnTo>
                <a:close/>
              </a:path>
            </a:pathLst>
          </a:custGeom>
          <a:solidFill>
            <a:srgbClr val="000000"/>
          </a:solidFill>
          <a:ln/>
        </p:spPr>
      </p:sp>
      <p:sp>
        <p:nvSpPr>
          <p:cNvPr id="48" name="Text 46"/>
          <p:cNvSpPr/>
          <p:nvPr/>
        </p:nvSpPr>
        <p:spPr>
          <a:xfrm>
            <a:off x="6548438" y="5365750"/>
            <a:ext cx="5246688" cy="222250"/>
          </a:xfrm>
          <a:prstGeom prst="rect">
            <a:avLst/>
          </a:prstGeom>
          <a:noFill/>
          <a:ln/>
        </p:spPr>
        <p:txBody>
          <a:bodyPr wrap="square" lIns="0" tIns="0" rIns="0" bIns="0" rtlCol="0" anchor="ctr"/>
          <a:lstStyle/>
          <a:p>
            <a:pPr>
              <a:lnSpc>
                <a:spcPct val="120000"/>
              </a:lnSpc>
            </a:pPr>
            <a:r>
              <a:rPr lang="en-US" sz="1250" b="1" dirty="0">
                <a:solidFill>
                  <a:srgbClr val="000000"/>
                </a:solidFill>
                <a:latin typeface="Liter" pitchFamily="34" charset="0"/>
                <a:ea typeface="Liter" pitchFamily="34" charset="-122"/>
                <a:cs typeface="Liter" pitchFamily="34" charset="-120"/>
              </a:rPr>
              <a:t>Importance of IPR</a:t>
            </a:r>
            <a:endParaRPr lang="en-US" sz="1600" dirty="0"/>
          </a:p>
        </p:txBody>
      </p:sp>
      <p:sp>
        <p:nvSpPr>
          <p:cNvPr id="49" name="Shape 47"/>
          <p:cNvSpPr/>
          <p:nvPr/>
        </p:nvSpPr>
        <p:spPr>
          <a:xfrm>
            <a:off x="6365875" y="5715000"/>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84435" y="52760"/>
                </a:moveTo>
                <a:lnTo>
                  <a:pt x="64591" y="84510"/>
                </a:lnTo>
                <a:cubicBezTo>
                  <a:pt x="63550" y="86171"/>
                  <a:pt x="61764" y="87213"/>
                  <a:pt x="59804" y="87313"/>
                </a:cubicBezTo>
                <a:cubicBezTo>
                  <a:pt x="57845" y="87412"/>
                  <a:pt x="55959" y="86519"/>
                  <a:pt x="54794" y="84931"/>
                </a:cubicBezTo>
                <a:lnTo>
                  <a:pt x="42887" y="69056"/>
                </a:lnTo>
                <a:cubicBezTo>
                  <a:pt x="40903" y="66427"/>
                  <a:pt x="41449" y="62706"/>
                  <a:pt x="44078" y="60722"/>
                </a:cubicBezTo>
                <a:cubicBezTo>
                  <a:pt x="46707" y="58737"/>
                  <a:pt x="50428" y="59283"/>
                  <a:pt x="52412" y="61913"/>
                </a:cubicBezTo>
                <a:lnTo>
                  <a:pt x="59110" y="70842"/>
                </a:lnTo>
                <a:lnTo>
                  <a:pt x="74340" y="46459"/>
                </a:lnTo>
                <a:cubicBezTo>
                  <a:pt x="76076" y="43681"/>
                  <a:pt x="79747" y="42813"/>
                  <a:pt x="82550" y="44574"/>
                </a:cubicBezTo>
                <a:cubicBezTo>
                  <a:pt x="85353" y="46335"/>
                  <a:pt x="86196" y="49981"/>
                  <a:pt x="84435" y="52784"/>
                </a:cubicBezTo>
                <a:close/>
              </a:path>
            </a:pathLst>
          </a:custGeom>
          <a:solidFill>
            <a:srgbClr val="000000"/>
          </a:solidFill>
          <a:ln/>
        </p:spPr>
      </p:sp>
      <p:sp>
        <p:nvSpPr>
          <p:cNvPr id="50" name="Text 48"/>
          <p:cNvSpPr/>
          <p:nvPr/>
        </p:nvSpPr>
        <p:spPr>
          <a:xfrm>
            <a:off x="6572250" y="5683250"/>
            <a:ext cx="2119313" cy="190500"/>
          </a:xfrm>
          <a:prstGeom prst="rect">
            <a:avLst/>
          </a:prstGeom>
          <a:noFill/>
          <a:ln/>
        </p:spPr>
        <p:txBody>
          <a:bodyPr wrap="square" lIns="0" tIns="0" rIns="0" bIns="0" rtlCol="0" anchor="ctr"/>
          <a:lstStyle/>
          <a:p>
            <a:pPr>
              <a:lnSpc>
                <a:spcPct val="130000"/>
              </a:lnSpc>
            </a:pPr>
            <a:r>
              <a:rPr lang="en-US" sz="1000" b="1" dirty="0">
                <a:solidFill>
                  <a:srgbClr val="000000"/>
                </a:solidFill>
                <a:latin typeface="Liter" pitchFamily="34" charset="0"/>
                <a:ea typeface="Liter" pitchFamily="34" charset="-122"/>
                <a:cs typeface="Liter" pitchFamily="34" charset="-120"/>
              </a:rPr>
              <a:t>Encourages innovation and creativity</a:t>
            </a:r>
            <a:endParaRPr lang="en-US" sz="1600" dirty="0"/>
          </a:p>
        </p:txBody>
      </p:sp>
      <p:sp>
        <p:nvSpPr>
          <p:cNvPr id="51" name="Shape 49"/>
          <p:cNvSpPr/>
          <p:nvPr/>
        </p:nvSpPr>
        <p:spPr>
          <a:xfrm>
            <a:off x="6365875" y="5969000"/>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84435" y="52760"/>
                </a:moveTo>
                <a:lnTo>
                  <a:pt x="64591" y="84510"/>
                </a:lnTo>
                <a:cubicBezTo>
                  <a:pt x="63550" y="86171"/>
                  <a:pt x="61764" y="87213"/>
                  <a:pt x="59804" y="87313"/>
                </a:cubicBezTo>
                <a:cubicBezTo>
                  <a:pt x="57845" y="87412"/>
                  <a:pt x="55959" y="86519"/>
                  <a:pt x="54794" y="84931"/>
                </a:cubicBezTo>
                <a:lnTo>
                  <a:pt x="42887" y="69056"/>
                </a:lnTo>
                <a:cubicBezTo>
                  <a:pt x="40903" y="66427"/>
                  <a:pt x="41449" y="62706"/>
                  <a:pt x="44078" y="60722"/>
                </a:cubicBezTo>
                <a:cubicBezTo>
                  <a:pt x="46707" y="58737"/>
                  <a:pt x="50428" y="59283"/>
                  <a:pt x="52412" y="61913"/>
                </a:cubicBezTo>
                <a:lnTo>
                  <a:pt x="59110" y="70842"/>
                </a:lnTo>
                <a:lnTo>
                  <a:pt x="74340" y="46459"/>
                </a:lnTo>
                <a:cubicBezTo>
                  <a:pt x="76076" y="43681"/>
                  <a:pt x="79747" y="42813"/>
                  <a:pt x="82550" y="44574"/>
                </a:cubicBezTo>
                <a:cubicBezTo>
                  <a:pt x="85353" y="46335"/>
                  <a:pt x="86196" y="49981"/>
                  <a:pt x="84435" y="52784"/>
                </a:cubicBezTo>
                <a:close/>
              </a:path>
            </a:pathLst>
          </a:custGeom>
          <a:solidFill>
            <a:srgbClr val="000000"/>
          </a:solidFill>
          <a:ln/>
        </p:spPr>
      </p:sp>
      <p:sp>
        <p:nvSpPr>
          <p:cNvPr id="52" name="Text 50"/>
          <p:cNvSpPr/>
          <p:nvPr/>
        </p:nvSpPr>
        <p:spPr>
          <a:xfrm>
            <a:off x="6572250" y="5937250"/>
            <a:ext cx="2413000" cy="190500"/>
          </a:xfrm>
          <a:prstGeom prst="rect">
            <a:avLst/>
          </a:prstGeom>
          <a:noFill/>
          <a:ln/>
        </p:spPr>
        <p:txBody>
          <a:bodyPr wrap="square" lIns="0" tIns="0" rIns="0" bIns="0" rtlCol="0" anchor="ctr"/>
          <a:lstStyle/>
          <a:p>
            <a:pPr>
              <a:lnSpc>
                <a:spcPct val="130000"/>
              </a:lnSpc>
            </a:pPr>
            <a:r>
              <a:rPr lang="en-US" sz="1000" b="1" dirty="0">
                <a:solidFill>
                  <a:srgbClr val="000000"/>
                </a:solidFill>
                <a:latin typeface="Liter" pitchFamily="34" charset="0"/>
                <a:ea typeface="Liter" pitchFamily="34" charset="-122"/>
                <a:cs typeface="Liter" pitchFamily="34" charset="-120"/>
              </a:rPr>
              <a:t>Protects developer rights and investments</a:t>
            </a:r>
            <a:endParaRPr lang="en-US" sz="1600" dirty="0"/>
          </a:p>
        </p:txBody>
      </p:sp>
      <p:sp>
        <p:nvSpPr>
          <p:cNvPr id="53" name="Shape 51"/>
          <p:cNvSpPr/>
          <p:nvPr/>
        </p:nvSpPr>
        <p:spPr>
          <a:xfrm>
            <a:off x="6365875" y="6223000"/>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84435" y="52760"/>
                </a:moveTo>
                <a:lnTo>
                  <a:pt x="64591" y="84510"/>
                </a:lnTo>
                <a:cubicBezTo>
                  <a:pt x="63550" y="86171"/>
                  <a:pt x="61764" y="87213"/>
                  <a:pt x="59804" y="87313"/>
                </a:cubicBezTo>
                <a:cubicBezTo>
                  <a:pt x="57845" y="87412"/>
                  <a:pt x="55959" y="86519"/>
                  <a:pt x="54794" y="84931"/>
                </a:cubicBezTo>
                <a:lnTo>
                  <a:pt x="42887" y="69056"/>
                </a:lnTo>
                <a:cubicBezTo>
                  <a:pt x="40903" y="66427"/>
                  <a:pt x="41449" y="62706"/>
                  <a:pt x="44078" y="60722"/>
                </a:cubicBezTo>
                <a:cubicBezTo>
                  <a:pt x="46707" y="58737"/>
                  <a:pt x="50428" y="59283"/>
                  <a:pt x="52412" y="61913"/>
                </a:cubicBezTo>
                <a:lnTo>
                  <a:pt x="59110" y="70842"/>
                </a:lnTo>
                <a:lnTo>
                  <a:pt x="74340" y="46459"/>
                </a:lnTo>
                <a:cubicBezTo>
                  <a:pt x="76076" y="43681"/>
                  <a:pt x="79747" y="42813"/>
                  <a:pt x="82550" y="44574"/>
                </a:cubicBezTo>
                <a:cubicBezTo>
                  <a:pt x="85353" y="46335"/>
                  <a:pt x="86196" y="49981"/>
                  <a:pt x="84435" y="52784"/>
                </a:cubicBezTo>
                <a:close/>
              </a:path>
            </a:pathLst>
          </a:custGeom>
          <a:solidFill>
            <a:srgbClr val="000000"/>
          </a:solidFill>
          <a:ln/>
        </p:spPr>
      </p:sp>
      <p:sp>
        <p:nvSpPr>
          <p:cNvPr id="54" name="Text 52"/>
          <p:cNvSpPr/>
          <p:nvPr/>
        </p:nvSpPr>
        <p:spPr>
          <a:xfrm>
            <a:off x="6572250" y="6191250"/>
            <a:ext cx="2166938" cy="190500"/>
          </a:xfrm>
          <a:prstGeom prst="rect">
            <a:avLst/>
          </a:prstGeom>
          <a:noFill/>
          <a:ln/>
        </p:spPr>
        <p:txBody>
          <a:bodyPr wrap="square" lIns="0" tIns="0" rIns="0" bIns="0" rtlCol="0" anchor="ctr"/>
          <a:lstStyle/>
          <a:p>
            <a:pPr>
              <a:lnSpc>
                <a:spcPct val="130000"/>
              </a:lnSpc>
            </a:pPr>
            <a:r>
              <a:rPr lang="en-US" sz="1000" b="1" dirty="0">
                <a:solidFill>
                  <a:srgbClr val="000000"/>
                </a:solidFill>
                <a:latin typeface="Liter" pitchFamily="34" charset="0"/>
                <a:ea typeface="Liter" pitchFamily="34" charset="-122"/>
                <a:cs typeface="Liter" pitchFamily="34" charset="-120"/>
              </a:rPr>
              <a:t>Ensures fair competition in the market</a:t>
            </a:r>
            <a:endParaRPr lang="en-US" sz="1600" dirty="0"/>
          </a:p>
        </p:txBody>
      </p:sp>
    </p:spTree>
  </p:cSld>
  <p:clrMapOvr>
    <a:masterClrMapping/>
  </p:clrMapOvr>
  <p:transition>
    <p:fade/>
    <p:spd val="med"/>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p:bgPr>
    </p:bg>
    <p:spTree>
      <p:nvGrpSpPr>
        <p:cNvPr id="1" name=""/>
        <p:cNvGrpSpPr/>
        <p:nvPr/>
      </p:nvGrpSpPr>
      <p:grpSpPr>
        <a:xfrm>
          <a:off x="0" y="0"/>
          <a:ext cx="0" cy="0"/>
          <a:chOff x="0" y="0"/>
          <a:chExt cx="0" cy="0"/>
        </a:xfrm>
      </p:grpSpPr>
      <p:pic>
        <p:nvPicPr>
          <p:cNvPr id="2" name="Image 0" descr="https://kimi-web-img.moonshot.cn/img/www.shutterstock.com/7383e5e5211bd73e150216c580e905917e31ee97.jpg">    </p:cNvPr>
          <p:cNvPicPr>
            <a:picLocks noChangeAspect="1"/>
          </p:cNvPicPr>
          <p:nvPr/>
        </p:nvPicPr>
        <p:blipFill>
          <a:blip r:embed="rId1">
            <a:alphaModFix amt="30000"/>
          </a:blip>
          <a:stretch>
            <a:fillRect/>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000000"/>
              </a:gs>
              <a:gs pos="50000">
                <a:srgbClr val="000000">
                  <a:alpha val="90000"/>
                </a:srgbClr>
              </a:gs>
              <a:gs pos="100000">
                <a:srgbClr val="000000">
                  <a:alpha val="70000"/>
                </a:srgbClr>
              </a:gs>
            </a:gsLst>
            <a:lin ang="2700000" scaled="1"/>
          </a:gradFill>
          <a:ln/>
        </p:spPr>
      </p:sp>
      <p:sp>
        <p:nvSpPr>
          <p:cNvPr id="4" name="Shape 1"/>
          <p:cNvSpPr/>
          <p:nvPr/>
        </p:nvSpPr>
        <p:spPr>
          <a:xfrm>
            <a:off x="4825257" y="-378776"/>
            <a:ext cx="2438400" cy="474133"/>
          </a:xfrm>
          <a:custGeom>
            <a:avLst/>
            <a:gdLst/>
            <a:ahLst/>
            <a:cxnLst/>
            <a:rect l="l" t="t" r="r" b="b"/>
            <a:pathLst>
              <a:path w="2438400" h="474133">
                <a:moveTo>
                  <a:pt x="0" y="0"/>
                </a:moveTo>
                <a:lnTo>
                  <a:pt x="2438400" y="0"/>
                </a:lnTo>
                <a:lnTo>
                  <a:pt x="2438400" y="474133"/>
                </a:lnTo>
                <a:lnTo>
                  <a:pt x="0" y="474133"/>
                </a:lnTo>
                <a:lnTo>
                  <a:pt x="0" y="0"/>
                </a:lnTo>
                <a:close/>
              </a:path>
            </a:pathLst>
          </a:custGeom>
          <a:solidFill>
            <a:srgbClr val="DDFF00"/>
          </a:solidFill>
          <a:ln/>
        </p:spPr>
      </p:sp>
      <p:sp>
        <p:nvSpPr>
          <p:cNvPr id="5" name="Text 2"/>
          <p:cNvSpPr/>
          <p:nvPr/>
        </p:nvSpPr>
        <p:spPr>
          <a:xfrm>
            <a:off x="5095769" y="-277176"/>
            <a:ext cx="1998133" cy="270933"/>
          </a:xfrm>
          <a:prstGeom prst="rect">
            <a:avLst/>
          </a:prstGeom>
          <a:noFill/>
          <a:ln/>
        </p:spPr>
        <p:txBody>
          <a:bodyPr wrap="square" lIns="0" tIns="0" rIns="0" bIns="0" rtlCol="0" anchor="ctr"/>
          <a:lstStyle/>
          <a:p>
            <a:pPr algn="ctr">
              <a:lnSpc>
                <a:spcPct val="110000"/>
              </a:lnSpc>
            </a:pPr>
            <a:r>
              <a:rPr lang="en-US" sz="1600" b="1" spc="160" kern="0" dirty="0">
                <a:solidFill>
                  <a:srgbClr val="000000"/>
                </a:solidFill>
                <a:latin typeface="Liter" pitchFamily="34" charset="0"/>
                <a:ea typeface="Liter" pitchFamily="34" charset="-122"/>
                <a:cs typeface="Liter" pitchFamily="34" charset="-120"/>
              </a:rPr>
              <a:t>KEY TAKEAWAYS</a:t>
            </a:r>
            <a:endParaRPr lang="en-US" sz="1600" dirty="0"/>
          </a:p>
        </p:txBody>
      </p:sp>
      <p:sp>
        <p:nvSpPr>
          <p:cNvPr id="6" name="Text 3"/>
          <p:cNvSpPr/>
          <p:nvPr/>
        </p:nvSpPr>
        <p:spPr>
          <a:xfrm>
            <a:off x="3565843" y="298450"/>
            <a:ext cx="5063067" cy="609600"/>
          </a:xfrm>
          <a:prstGeom prst="rect">
            <a:avLst/>
          </a:prstGeom>
          <a:noFill/>
          <a:ln/>
        </p:spPr>
        <p:txBody>
          <a:bodyPr wrap="square" lIns="0" tIns="0" rIns="0" bIns="0" rtlCol="0" anchor="ctr"/>
          <a:lstStyle/>
          <a:p>
            <a:pPr algn="ctr">
              <a:lnSpc>
                <a:spcPct val="80000"/>
              </a:lnSpc>
            </a:pPr>
            <a:r>
              <a:rPr lang="en-US" sz="4800" b="1" dirty="0">
                <a:solidFill>
                  <a:srgbClr val="FFFFFF"/>
                </a:solidFill>
                <a:latin typeface="Liter" pitchFamily="34" charset="0"/>
                <a:ea typeface="Liter" pitchFamily="34" charset="-122"/>
                <a:cs typeface="Liter" pitchFamily="34" charset="-120"/>
              </a:rPr>
              <a:t>The Digital Future</a:t>
            </a:r>
            <a:endParaRPr lang="en-US" sz="1600" dirty="0"/>
          </a:p>
        </p:txBody>
      </p:sp>
      <p:sp>
        <p:nvSpPr>
          <p:cNvPr id="7" name="Shape 4"/>
          <p:cNvSpPr/>
          <p:nvPr/>
        </p:nvSpPr>
        <p:spPr>
          <a:xfrm>
            <a:off x="5283200" y="1043517"/>
            <a:ext cx="1625600" cy="67733"/>
          </a:xfrm>
          <a:custGeom>
            <a:avLst/>
            <a:gdLst/>
            <a:ahLst/>
            <a:cxnLst/>
            <a:rect l="l" t="t" r="r" b="b"/>
            <a:pathLst>
              <a:path w="1625600" h="67733">
                <a:moveTo>
                  <a:pt x="0" y="0"/>
                </a:moveTo>
                <a:lnTo>
                  <a:pt x="1625600" y="0"/>
                </a:lnTo>
                <a:lnTo>
                  <a:pt x="1625600" y="67733"/>
                </a:lnTo>
                <a:lnTo>
                  <a:pt x="0" y="67733"/>
                </a:lnTo>
                <a:lnTo>
                  <a:pt x="0" y="0"/>
                </a:lnTo>
                <a:close/>
              </a:path>
            </a:pathLst>
          </a:custGeom>
          <a:solidFill>
            <a:srgbClr val="DDFF00"/>
          </a:solidFill>
          <a:ln/>
        </p:spPr>
      </p:sp>
      <p:sp>
        <p:nvSpPr>
          <p:cNvPr id="8" name="Shape 5"/>
          <p:cNvSpPr/>
          <p:nvPr/>
        </p:nvSpPr>
        <p:spPr>
          <a:xfrm>
            <a:off x="1778000" y="1466850"/>
            <a:ext cx="4165600" cy="2353733"/>
          </a:xfrm>
          <a:custGeom>
            <a:avLst/>
            <a:gdLst/>
            <a:ahLst/>
            <a:cxnLst/>
            <a:rect l="l" t="t" r="r" b="b"/>
            <a:pathLst>
              <a:path w="4165600" h="2353733">
                <a:moveTo>
                  <a:pt x="0" y="0"/>
                </a:moveTo>
                <a:lnTo>
                  <a:pt x="4165600" y="0"/>
                </a:lnTo>
                <a:lnTo>
                  <a:pt x="4165600" y="2353733"/>
                </a:lnTo>
                <a:lnTo>
                  <a:pt x="0" y="2353733"/>
                </a:lnTo>
                <a:lnTo>
                  <a:pt x="0" y="0"/>
                </a:lnTo>
                <a:close/>
              </a:path>
            </a:pathLst>
          </a:custGeom>
          <a:solidFill>
            <a:srgbClr val="111111">
              <a:alpha val="90196"/>
            </a:srgbClr>
          </a:solidFill>
          <a:ln w="50800">
            <a:solidFill>
              <a:srgbClr val="DDFF00"/>
            </a:solidFill>
            <a:prstDash val="solid"/>
          </a:ln>
        </p:spPr>
      </p:sp>
      <p:sp>
        <p:nvSpPr>
          <p:cNvPr id="9" name="Shape 6"/>
          <p:cNvSpPr/>
          <p:nvPr/>
        </p:nvSpPr>
        <p:spPr>
          <a:xfrm>
            <a:off x="2065867" y="1754717"/>
            <a:ext cx="541867" cy="541867"/>
          </a:xfrm>
          <a:custGeom>
            <a:avLst/>
            <a:gdLst/>
            <a:ahLst/>
            <a:cxnLst/>
            <a:rect l="l" t="t" r="r" b="b"/>
            <a:pathLst>
              <a:path w="541867" h="541867">
                <a:moveTo>
                  <a:pt x="0" y="0"/>
                </a:moveTo>
                <a:lnTo>
                  <a:pt x="541867" y="0"/>
                </a:lnTo>
                <a:lnTo>
                  <a:pt x="541867" y="541867"/>
                </a:lnTo>
                <a:lnTo>
                  <a:pt x="0" y="541867"/>
                </a:lnTo>
                <a:lnTo>
                  <a:pt x="0" y="0"/>
                </a:lnTo>
                <a:close/>
              </a:path>
            </a:pathLst>
          </a:custGeom>
          <a:solidFill>
            <a:srgbClr val="DDFF00"/>
          </a:solidFill>
          <a:ln/>
        </p:spPr>
      </p:sp>
      <p:sp>
        <p:nvSpPr>
          <p:cNvPr id="10" name="Shape 7"/>
          <p:cNvSpPr/>
          <p:nvPr/>
        </p:nvSpPr>
        <p:spPr>
          <a:xfrm>
            <a:off x="2196042" y="1898650"/>
            <a:ext cx="285750" cy="254000"/>
          </a:xfrm>
          <a:custGeom>
            <a:avLst/>
            <a:gdLst/>
            <a:ahLst/>
            <a:cxnLst/>
            <a:rect l="l" t="t" r="r" b="b"/>
            <a:pathLst>
              <a:path w="285750" h="254000">
                <a:moveTo>
                  <a:pt x="84138" y="76101"/>
                </a:moveTo>
                <a:lnTo>
                  <a:pt x="74861" y="66824"/>
                </a:lnTo>
                <a:cubicBezTo>
                  <a:pt x="68659" y="60623"/>
                  <a:pt x="68659" y="50552"/>
                  <a:pt x="74861" y="44351"/>
                </a:cubicBezTo>
                <a:lnTo>
                  <a:pt x="131763" y="-12601"/>
                </a:lnTo>
                <a:cubicBezTo>
                  <a:pt x="137964" y="-18802"/>
                  <a:pt x="148034" y="-18802"/>
                  <a:pt x="154236" y="-12601"/>
                </a:cubicBezTo>
                <a:lnTo>
                  <a:pt x="163513" y="-3274"/>
                </a:lnTo>
                <a:cubicBezTo>
                  <a:pt x="169714" y="2927"/>
                  <a:pt x="169714" y="12998"/>
                  <a:pt x="163513" y="19199"/>
                </a:cubicBezTo>
                <a:lnTo>
                  <a:pt x="106611" y="76101"/>
                </a:lnTo>
                <a:cubicBezTo>
                  <a:pt x="100409" y="82302"/>
                  <a:pt x="90339" y="82302"/>
                  <a:pt x="84138" y="76101"/>
                </a:cubicBezTo>
                <a:close/>
                <a:moveTo>
                  <a:pt x="136922" y="105023"/>
                </a:moveTo>
                <a:lnTo>
                  <a:pt x="121345" y="89446"/>
                </a:lnTo>
                <a:lnTo>
                  <a:pt x="176907" y="33883"/>
                </a:lnTo>
                <a:lnTo>
                  <a:pt x="236141" y="93117"/>
                </a:lnTo>
                <a:lnTo>
                  <a:pt x="180578" y="148679"/>
                </a:lnTo>
                <a:lnTo>
                  <a:pt x="165001" y="133102"/>
                </a:lnTo>
                <a:lnTo>
                  <a:pt x="49907" y="248196"/>
                </a:lnTo>
                <a:cubicBezTo>
                  <a:pt x="42168" y="255935"/>
                  <a:pt x="29617" y="255935"/>
                  <a:pt x="21828" y="248196"/>
                </a:cubicBezTo>
                <a:cubicBezTo>
                  <a:pt x="14039" y="240457"/>
                  <a:pt x="14089" y="227905"/>
                  <a:pt x="21828" y="220117"/>
                </a:cubicBezTo>
                <a:lnTo>
                  <a:pt x="136922" y="105023"/>
                </a:lnTo>
                <a:close/>
                <a:moveTo>
                  <a:pt x="193923" y="185837"/>
                </a:moveTo>
                <a:cubicBezTo>
                  <a:pt x="187722" y="179636"/>
                  <a:pt x="187722" y="169565"/>
                  <a:pt x="193923" y="163364"/>
                </a:cubicBezTo>
                <a:lnTo>
                  <a:pt x="250825" y="106462"/>
                </a:lnTo>
                <a:cubicBezTo>
                  <a:pt x="257026" y="100261"/>
                  <a:pt x="267097" y="100261"/>
                  <a:pt x="273298" y="106462"/>
                </a:cubicBezTo>
                <a:lnTo>
                  <a:pt x="282575" y="115739"/>
                </a:lnTo>
                <a:cubicBezTo>
                  <a:pt x="288776" y="121940"/>
                  <a:pt x="288776" y="132011"/>
                  <a:pt x="282575" y="138212"/>
                </a:cubicBezTo>
                <a:lnTo>
                  <a:pt x="225673" y="195163"/>
                </a:lnTo>
                <a:cubicBezTo>
                  <a:pt x="219472" y="201364"/>
                  <a:pt x="209401" y="201364"/>
                  <a:pt x="203200" y="195163"/>
                </a:cubicBezTo>
                <a:lnTo>
                  <a:pt x="193923" y="185886"/>
                </a:lnTo>
                <a:close/>
              </a:path>
            </a:pathLst>
          </a:custGeom>
          <a:solidFill>
            <a:srgbClr val="000000"/>
          </a:solidFill>
          <a:ln/>
        </p:spPr>
      </p:sp>
      <p:sp>
        <p:nvSpPr>
          <p:cNvPr id="11" name="Text 8"/>
          <p:cNvSpPr/>
          <p:nvPr/>
        </p:nvSpPr>
        <p:spPr>
          <a:xfrm>
            <a:off x="2743200" y="1890183"/>
            <a:ext cx="1151467" cy="270933"/>
          </a:xfrm>
          <a:prstGeom prst="rect">
            <a:avLst/>
          </a:prstGeom>
          <a:noFill/>
          <a:ln/>
        </p:spPr>
        <p:txBody>
          <a:bodyPr wrap="square" lIns="0" tIns="0" rIns="0" bIns="0" rtlCol="0" anchor="ctr"/>
          <a:lstStyle/>
          <a:p>
            <a:pPr>
              <a:lnSpc>
                <a:spcPct val="110000"/>
              </a:lnSpc>
            </a:pPr>
            <a:r>
              <a:rPr lang="en-US" sz="1600" b="1" dirty="0">
                <a:solidFill>
                  <a:srgbClr val="DDFF00"/>
                </a:solidFill>
                <a:latin typeface="Liter" pitchFamily="34" charset="0"/>
                <a:ea typeface="Liter" pitchFamily="34" charset="-122"/>
                <a:cs typeface="Liter" pitchFamily="34" charset="-120"/>
              </a:rPr>
              <a:t>Cyber Laws</a:t>
            </a:r>
            <a:endParaRPr lang="en-US" sz="1600" dirty="0"/>
          </a:p>
        </p:txBody>
      </p:sp>
      <p:sp>
        <p:nvSpPr>
          <p:cNvPr id="12" name="Text 9"/>
          <p:cNvSpPr/>
          <p:nvPr/>
        </p:nvSpPr>
        <p:spPr>
          <a:xfrm>
            <a:off x="2065867" y="2432050"/>
            <a:ext cx="3674533" cy="1100667"/>
          </a:xfrm>
          <a:prstGeom prst="rect">
            <a:avLst/>
          </a:prstGeom>
          <a:noFill/>
          <a:ln/>
        </p:spPr>
        <p:txBody>
          <a:bodyPr wrap="square" lIns="0" tIns="0" rIns="0" bIns="0" rtlCol="0" anchor="ctr"/>
          <a:lstStyle/>
          <a:p>
            <a:pPr>
              <a:lnSpc>
                <a:spcPct val="140000"/>
              </a:lnSpc>
            </a:pPr>
            <a:r>
              <a:rPr lang="en-US" sz="1333" dirty="0">
                <a:solidFill>
                  <a:srgbClr val="FFFFFF"/>
                </a:solidFill>
                <a:latin typeface="Liter" pitchFamily="34" charset="0"/>
                <a:ea typeface="Liter" pitchFamily="34" charset="-122"/>
                <a:cs typeface="Liter" pitchFamily="34" charset="-120"/>
              </a:rPr>
              <a:t>Cyber laws are </a:t>
            </a:r>
            <a:pPr>
              <a:lnSpc>
                <a:spcPct val="140000"/>
              </a:lnSpc>
            </a:pPr>
            <a:r>
              <a:rPr lang="en-US" sz="1333" dirty="0">
                <a:solidFill>
                  <a:srgbClr val="DDFF00"/>
                </a:solidFill>
                <a:highlight>
                  <a:srgbClr val="DDFF00">
                    <a:alpha val="20000"/>
                  </a:srgbClr>
                </a:highlight>
                <a:latin typeface="Liter" pitchFamily="34" charset="0"/>
                <a:ea typeface="Liter" pitchFamily="34" charset="-122"/>
                <a:cs typeface="Liter" pitchFamily="34" charset="-120"/>
              </a:rPr>
              <a:t>essential for digital security </a:t>
            </a:r>
            <a:pPr>
              <a:lnSpc>
                <a:spcPct val="140000"/>
              </a:lnSpc>
            </a:pPr>
            <a:r>
              <a:rPr lang="en-US" sz="1333" dirty="0">
                <a:solidFill>
                  <a:srgbClr val="FFFFFF"/>
                </a:solidFill>
                <a:latin typeface="Liter" pitchFamily="34" charset="0"/>
                <a:ea typeface="Liter" pitchFamily="34" charset="-122"/>
                <a:cs typeface="Liter" pitchFamily="34" charset="-120"/>
              </a:rPr>
              <a:t>, providing the legal framework to prevent crimes, protect users, and enable safe digital transactions.</a:t>
            </a:r>
            <a:endParaRPr lang="en-US" sz="1600" dirty="0"/>
          </a:p>
        </p:txBody>
      </p:sp>
      <p:sp>
        <p:nvSpPr>
          <p:cNvPr id="13" name="Shape 10"/>
          <p:cNvSpPr/>
          <p:nvPr/>
        </p:nvSpPr>
        <p:spPr>
          <a:xfrm>
            <a:off x="6248400" y="1466850"/>
            <a:ext cx="4165600" cy="2353733"/>
          </a:xfrm>
          <a:custGeom>
            <a:avLst/>
            <a:gdLst/>
            <a:ahLst/>
            <a:cxnLst/>
            <a:rect l="l" t="t" r="r" b="b"/>
            <a:pathLst>
              <a:path w="4165600" h="2353733">
                <a:moveTo>
                  <a:pt x="0" y="0"/>
                </a:moveTo>
                <a:lnTo>
                  <a:pt x="4165600" y="0"/>
                </a:lnTo>
                <a:lnTo>
                  <a:pt x="4165600" y="2353733"/>
                </a:lnTo>
                <a:lnTo>
                  <a:pt x="0" y="2353733"/>
                </a:lnTo>
                <a:lnTo>
                  <a:pt x="0" y="0"/>
                </a:lnTo>
                <a:close/>
              </a:path>
            </a:pathLst>
          </a:custGeom>
          <a:solidFill>
            <a:srgbClr val="111111">
              <a:alpha val="90196"/>
            </a:srgbClr>
          </a:solidFill>
          <a:ln w="50800">
            <a:solidFill>
              <a:srgbClr val="DDFF00"/>
            </a:solidFill>
            <a:prstDash val="solid"/>
          </a:ln>
        </p:spPr>
      </p:sp>
      <p:sp>
        <p:nvSpPr>
          <p:cNvPr id="14" name="Shape 11"/>
          <p:cNvSpPr/>
          <p:nvPr/>
        </p:nvSpPr>
        <p:spPr>
          <a:xfrm>
            <a:off x="6536267" y="1754717"/>
            <a:ext cx="541867" cy="541867"/>
          </a:xfrm>
          <a:custGeom>
            <a:avLst/>
            <a:gdLst/>
            <a:ahLst/>
            <a:cxnLst/>
            <a:rect l="l" t="t" r="r" b="b"/>
            <a:pathLst>
              <a:path w="541867" h="541867">
                <a:moveTo>
                  <a:pt x="0" y="0"/>
                </a:moveTo>
                <a:lnTo>
                  <a:pt x="541867" y="0"/>
                </a:lnTo>
                <a:lnTo>
                  <a:pt x="541867" y="541867"/>
                </a:lnTo>
                <a:lnTo>
                  <a:pt x="0" y="541867"/>
                </a:lnTo>
                <a:lnTo>
                  <a:pt x="0" y="0"/>
                </a:lnTo>
                <a:close/>
              </a:path>
            </a:pathLst>
          </a:custGeom>
          <a:solidFill>
            <a:srgbClr val="DDFF00"/>
          </a:solidFill>
          <a:ln/>
        </p:spPr>
      </p:sp>
      <p:sp>
        <p:nvSpPr>
          <p:cNvPr id="15" name="Shape 12"/>
          <p:cNvSpPr/>
          <p:nvPr/>
        </p:nvSpPr>
        <p:spPr>
          <a:xfrm>
            <a:off x="6650567" y="1898650"/>
            <a:ext cx="317500" cy="254000"/>
          </a:xfrm>
          <a:custGeom>
            <a:avLst/>
            <a:gdLst/>
            <a:ahLst/>
            <a:cxnLst/>
            <a:rect l="l" t="t" r="r" b="b"/>
            <a:pathLst>
              <a:path w="317500" h="254000">
                <a:moveTo>
                  <a:pt x="11906" y="-7937"/>
                </a:moveTo>
                <a:cubicBezTo>
                  <a:pt x="5308" y="-7937"/>
                  <a:pt x="0" y="-2629"/>
                  <a:pt x="0" y="3969"/>
                </a:cubicBezTo>
                <a:cubicBezTo>
                  <a:pt x="0" y="10567"/>
                  <a:pt x="5308" y="15875"/>
                  <a:pt x="11906" y="15875"/>
                </a:cubicBezTo>
                <a:lnTo>
                  <a:pt x="34379" y="15875"/>
                </a:lnTo>
                <a:cubicBezTo>
                  <a:pt x="36314" y="15875"/>
                  <a:pt x="37951" y="17264"/>
                  <a:pt x="38298" y="19149"/>
                </a:cubicBezTo>
                <a:lnTo>
                  <a:pt x="64145" y="161181"/>
                </a:lnTo>
                <a:cubicBezTo>
                  <a:pt x="67221" y="178147"/>
                  <a:pt x="82004" y="190500"/>
                  <a:pt x="99268" y="190500"/>
                </a:cubicBezTo>
                <a:lnTo>
                  <a:pt x="226219" y="190500"/>
                </a:lnTo>
                <a:cubicBezTo>
                  <a:pt x="232817" y="190500"/>
                  <a:pt x="238125" y="185192"/>
                  <a:pt x="238125" y="178594"/>
                </a:cubicBezTo>
                <a:cubicBezTo>
                  <a:pt x="238125" y="171996"/>
                  <a:pt x="232817" y="166688"/>
                  <a:pt x="226219" y="166688"/>
                </a:cubicBezTo>
                <a:lnTo>
                  <a:pt x="99268" y="166688"/>
                </a:lnTo>
                <a:cubicBezTo>
                  <a:pt x="93514" y="166688"/>
                  <a:pt x="88602" y="162570"/>
                  <a:pt x="87561" y="156914"/>
                </a:cubicBezTo>
                <a:lnTo>
                  <a:pt x="85030" y="142875"/>
                </a:lnTo>
                <a:lnTo>
                  <a:pt x="235645" y="142875"/>
                </a:lnTo>
                <a:cubicBezTo>
                  <a:pt x="250924" y="142875"/>
                  <a:pt x="264021" y="132011"/>
                  <a:pt x="266849" y="116979"/>
                </a:cubicBezTo>
                <a:lnTo>
                  <a:pt x="282228" y="34677"/>
                </a:lnTo>
                <a:cubicBezTo>
                  <a:pt x="284063" y="24904"/>
                  <a:pt x="276572" y="15875"/>
                  <a:pt x="266601" y="15875"/>
                </a:cubicBezTo>
                <a:lnTo>
                  <a:pt x="61863" y="15875"/>
                </a:lnTo>
                <a:lnTo>
                  <a:pt x="61664" y="14883"/>
                </a:lnTo>
                <a:cubicBezTo>
                  <a:pt x="59283" y="1687"/>
                  <a:pt x="47774" y="-7937"/>
                  <a:pt x="34330" y="-7937"/>
                </a:cubicBezTo>
                <a:lnTo>
                  <a:pt x="11906" y="-7937"/>
                </a:lnTo>
                <a:close/>
                <a:moveTo>
                  <a:pt x="103188" y="254000"/>
                </a:moveTo>
                <a:cubicBezTo>
                  <a:pt x="116330" y="254000"/>
                  <a:pt x="127000" y="243330"/>
                  <a:pt x="127000" y="230188"/>
                </a:cubicBezTo>
                <a:cubicBezTo>
                  <a:pt x="127000" y="217045"/>
                  <a:pt x="116330" y="206375"/>
                  <a:pt x="103188" y="206375"/>
                </a:cubicBezTo>
                <a:cubicBezTo>
                  <a:pt x="90045" y="206375"/>
                  <a:pt x="79375" y="217045"/>
                  <a:pt x="79375" y="230188"/>
                </a:cubicBezTo>
                <a:cubicBezTo>
                  <a:pt x="79375" y="243330"/>
                  <a:pt x="90045" y="254000"/>
                  <a:pt x="103188" y="254000"/>
                </a:cubicBezTo>
                <a:close/>
                <a:moveTo>
                  <a:pt x="214313" y="254000"/>
                </a:moveTo>
                <a:cubicBezTo>
                  <a:pt x="227455" y="254000"/>
                  <a:pt x="238125" y="243330"/>
                  <a:pt x="238125" y="230188"/>
                </a:cubicBezTo>
                <a:cubicBezTo>
                  <a:pt x="238125" y="217045"/>
                  <a:pt x="227455" y="206375"/>
                  <a:pt x="214313" y="206375"/>
                </a:cubicBezTo>
                <a:cubicBezTo>
                  <a:pt x="201170" y="206375"/>
                  <a:pt x="190500" y="217045"/>
                  <a:pt x="190500" y="230188"/>
                </a:cubicBezTo>
                <a:cubicBezTo>
                  <a:pt x="190500" y="243330"/>
                  <a:pt x="201170" y="254000"/>
                  <a:pt x="214313" y="254000"/>
                </a:cubicBezTo>
                <a:close/>
              </a:path>
            </a:pathLst>
          </a:custGeom>
          <a:solidFill>
            <a:srgbClr val="000000"/>
          </a:solidFill>
          <a:ln/>
        </p:spPr>
      </p:sp>
      <p:sp>
        <p:nvSpPr>
          <p:cNvPr id="16" name="Text 13"/>
          <p:cNvSpPr/>
          <p:nvPr/>
        </p:nvSpPr>
        <p:spPr>
          <a:xfrm>
            <a:off x="7213600" y="1890183"/>
            <a:ext cx="1295400" cy="270933"/>
          </a:xfrm>
          <a:prstGeom prst="rect">
            <a:avLst/>
          </a:prstGeom>
          <a:noFill/>
          <a:ln/>
        </p:spPr>
        <p:txBody>
          <a:bodyPr wrap="square" lIns="0" tIns="0" rIns="0" bIns="0" rtlCol="0" anchor="ctr"/>
          <a:lstStyle/>
          <a:p>
            <a:pPr>
              <a:lnSpc>
                <a:spcPct val="110000"/>
              </a:lnSpc>
            </a:pPr>
            <a:r>
              <a:rPr lang="en-US" sz="1600" b="1" dirty="0">
                <a:solidFill>
                  <a:srgbClr val="DDFF00"/>
                </a:solidFill>
                <a:latin typeface="Liter" pitchFamily="34" charset="0"/>
                <a:ea typeface="Liter" pitchFamily="34" charset="-122"/>
                <a:cs typeface="Liter" pitchFamily="34" charset="-120"/>
              </a:rPr>
              <a:t>E-Commerce</a:t>
            </a:r>
            <a:endParaRPr lang="en-US" sz="1600" dirty="0"/>
          </a:p>
        </p:txBody>
      </p:sp>
      <p:sp>
        <p:nvSpPr>
          <p:cNvPr id="17" name="Text 14"/>
          <p:cNvSpPr/>
          <p:nvPr/>
        </p:nvSpPr>
        <p:spPr>
          <a:xfrm>
            <a:off x="6536267" y="2432050"/>
            <a:ext cx="3674533" cy="829733"/>
          </a:xfrm>
          <a:prstGeom prst="rect">
            <a:avLst/>
          </a:prstGeom>
          <a:noFill/>
          <a:ln/>
        </p:spPr>
        <p:txBody>
          <a:bodyPr wrap="square" lIns="0" tIns="0" rIns="0" bIns="0" rtlCol="0" anchor="ctr"/>
          <a:lstStyle/>
          <a:p>
            <a:pPr>
              <a:lnSpc>
                <a:spcPct val="140000"/>
              </a:lnSpc>
            </a:pPr>
            <a:r>
              <a:rPr lang="en-US" sz="1333" dirty="0">
                <a:solidFill>
                  <a:srgbClr val="FFFFFF"/>
                </a:solidFill>
                <a:latin typeface="Liter" pitchFamily="34" charset="0"/>
                <a:ea typeface="Liter" pitchFamily="34" charset="-122"/>
                <a:cs typeface="Liter" pitchFamily="34" charset="-120"/>
              </a:rPr>
              <a:t>E-commerce </a:t>
            </a:r>
            <a:pPr>
              <a:lnSpc>
                <a:spcPct val="140000"/>
              </a:lnSpc>
            </a:pPr>
            <a:r>
              <a:rPr lang="en-US" sz="1333" dirty="0">
                <a:solidFill>
                  <a:srgbClr val="DDFF00"/>
                </a:solidFill>
                <a:highlight>
                  <a:srgbClr val="DDFF00">
                    <a:alpha val="20000"/>
                  </a:srgbClr>
                </a:highlight>
                <a:latin typeface="Liter" pitchFamily="34" charset="0"/>
                <a:ea typeface="Liter" pitchFamily="34" charset="-122"/>
                <a:cs typeface="Liter" pitchFamily="34" charset="-120"/>
              </a:rPr>
              <a:t>drives economic growth </a:t>
            </a:r>
            <a:pPr>
              <a:lnSpc>
                <a:spcPct val="140000"/>
              </a:lnSpc>
            </a:pPr>
            <a:r>
              <a:rPr lang="en-US" sz="1333" dirty="0">
                <a:solidFill>
                  <a:srgbClr val="FFFFFF"/>
                </a:solidFill>
                <a:latin typeface="Liter" pitchFamily="34" charset="0"/>
                <a:ea typeface="Liter" pitchFamily="34" charset="-122"/>
                <a:cs typeface="Liter" pitchFamily="34" charset="-120"/>
              </a:rPr>
              <a:t>by expanding market reach, reducing costs, and creating new business opportunities globally.</a:t>
            </a:r>
            <a:endParaRPr lang="en-US" sz="1600" dirty="0"/>
          </a:p>
        </p:txBody>
      </p:sp>
      <p:sp>
        <p:nvSpPr>
          <p:cNvPr id="18" name="Shape 15"/>
          <p:cNvSpPr/>
          <p:nvPr/>
        </p:nvSpPr>
        <p:spPr>
          <a:xfrm>
            <a:off x="1778000" y="4125383"/>
            <a:ext cx="4165600" cy="2082800"/>
          </a:xfrm>
          <a:custGeom>
            <a:avLst/>
            <a:gdLst/>
            <a:ahLst/>
            <a:cxnLst/>
            <a:rect l="l" t="t" r="r" b="b"/>
            <a:pathLst>
              <a:path w="4165600" h="2082800">
                <a:moveTo>
                  <a:pt x="0" y="0"/>
                </a:moveTo>
                <a:lnTo>
                  <a:pt x="4165600" y="0"/>
                </a:lnTo>
                <a:lnTo>
                  <a:pt x="4165600" y="2082800"/>
                </a:lnTo>
                <a:lnTo>
                  <a:pt x="0" y="2082800"/>
                </a:lnTo>
                <a:lnTo>
                  <a:pt x="0" y="0"/>
                </a:lnTo>
                <a:close/>
              </a:path>
            </a:pathLst>
          </a:custGeom>
          <a:solidFill>
            <a:srgbClr val="111111">
              <a:alpha val="90196"/>
            </a:srgbClr>
          </a:solidFill>
          <a:ln w="50800">
            <a:solidFill>
              <a:srgbClr val="DDFF00"/>
            </a:solidFill>
            <a:prstDash val="solid"/>
          </a:ln>
        </p:spPr>
      </p:sp>
      <p:sp>
        <p:nvSpPr>
          <p:cNvPr id="19" name="Shape 16"/>
          <p:cNvSpPr/>
          <p:nvPr/>
        </p:nvSpPr>
        <p:spPr>
          <a:xfrm>
            <a:off x="2065867" y="4413250"/>
            <a:ext cx="541867" cy="541867"/>
          </a:xfrm>
          <a:custGeom>
            <a:avLst/>
            <a:gdLst/>
            <a:ahLst/>
            <a:cxnLst/>
            <a:rect l="l" t="t" r="r" b="b"/>
            <a:pathLst>
              <a:path w="541867" h="541867">
                <a:moveTo>
                  <a:pt x="0" y="0"/>
                </a:moveTo>
                <a:lnTo>
                  <a:pt x="541867" y="0"/>
                </a:lnTo>
                <a:lnTo>
                  <a:pt x="541867" y="541867"/>
                </a:lnTo>
                <a:lnTo>
                  <a:pt x="0" y="541867"/>
                </a:lnTo>
                <a:lnTo>
                  <a:pt x="0" y="0"/>
                </a:lnTo>
                <a:close/>
              </a:path>
            </a:pathLst>
          </a:custGeom>
          <a:solidFill>
            <a:srgbClr val="DDFF00"/>
          </a:solidFill>
          <a:ln/>
        </p:spPr>
      </p:sp>
      <p:sp>
        <p:nvSpPr>
          <p:cNvPr id="20" name="Shape 17"/>
          <p:cNvSpPr/>
          <p:nvPr/>
        </p:nvSpPr>
        <p:spPr>
          <a:xfrm>
            <a:off x="2180167" y="4557183"/>
            <a:ext cx="317500" cy="254000"/>
          </a:xfrm>
          <a:custGeom>
            <a:avLst/>
            <a:gdLst/>
            <a:ahLst/>
            <a:cxnLst/>
            <a:rect l="l" t="t" r="r" b="b"/>
            <a:pathLst>
              <a:path w="317500" h="254000">
                <a:moveTo>
                  <a:pt x="190500" y="15875"/>
                </a:moveTo>
                <a:lnTo>
                  <a:pt x="254000" y="15875"/>
                </a:lnTo>
                <a:cubicBezTo>
                  <a:pt x="262781" y="15875"/>
                  <a:pt x="269875" y="22969"/>
                  <a:pt x="269875" y="31750"/>
                </a:cubicBezTo>
                <a:cubicBezTo>
                  <a:pt x="269875" y="40531"/>
                  <a:pt x="262781" y="47625"/>
                  <a:pt x="254000" y="47625"/>
                </a:cubicBezTo>
                <a:lnTo>
                  <a:pt x="197644" y="47625"/>
                </a:lnTo>
                <a:cubicBezTo>
                  <a:pt x="195064" y="60424"/>
                  <a:pt x="186283" y="70991"/>
                  <a:pt x="174625" y="76051"/>
                </a:cubicBezTo>
                <a:lnTo>
                  <a:pt x="174625" y="222250"/>
                </a:lnTo>
                <a:lnTo>
                  <a:pt x="254000" y="222250"/>
                </a:lnTo>
                <a:cubicBezTo>
                  <a:pt x="262781" y="222250"/>
                  <a:pt x="269875" y="229344"/>
                  <a:pt x="269875" y="238125"/>
                </a:cubicBezTo>
                <a:cubicBezTo>
                  <a:pt x="269875" y="246906"/>
                  <a:pt x="262781" y="254000"/>
                  <a:pt x="254000" y="254000"/>
                </a:cubicBezTo>
                <a:lnTo>
                  <a:pt x="63500" y="254000"/>
                </a:lnTo>
                <a:cubicBezTo>
                  <a:pt x="54719" y="254000"/>
                  <a:pt x="47625" y="246906"/>
                  <a:pt x="47625" y="238125"/>
                </a:cubicBezTo>
                <a:cubicBezTo>
                  <a:pt x="47625" y="229344"/>
                  <a:pt x="54719" y="222250"/>
                  <a:pt x="63500" y="222250"/>
                </a:cubicBezTo>
                <a:lnTo>
                  <a:pt x="142875" y="222250"/>
                </a:lnTo>
                <a:lnTo>
                  <a:pt x="142875" y="76051"/>
                </a:lnTo>
                <a:cubicBezTo>
                  <a:pt x="131217" y="70941"/>
                  <a:pt x="122436" y="60375"/>
                  <a:pt x="119856" y="47625"/>
                </a:cubicBezTo>
                <a:lnTo>
                  <a:pt x="63500" y="47625"/>
                </a:lnTo>
                <a:cubicBezTo>
                  <a:pt x="54719" y="47625"/>
                  <a:pt x="47625" y="40531"/>
                  <a:pt x="47625" y="31750"/>
                </a:cubicBezTo>
                <a:cubicBezTo>
                  <a:pt x="47625" y="22969"/>
                  <a:pt x="54719" y="15875"/>
                  <a:pt x="63500" y="15875"/>
                </a:cubicBezTo>
                <a:lnTo>
                  <a:pt x="127000" y="15875"/>
                </a:lnTo>
                <a:cubicBezTo>
                  <a:pt x="134243" y="6251"/>
                  <a:pt x="145752" y="0"/>
                  <a:pt x="158750" y="0"/>
                </a:cubicBezTo>
                <a:cubicBezTo>
                  <a:pt x="171748" y="0"/>
                  <a:pt x="183257" y="6251"/>
                  <a:pt x="190500" y="15875"/>
                </a:cubicBezTo>
                <a:close/>
                <a:moveTo>
                  <a:pt x="218083" y="158750"/>
                </a:moveTo>
                <a:lnTo>
                  <a:pt x="289917" y="158750"/>
                </a:lnTo>
                <a:lnTo>
                  <a:pt x="254000" y="97135"/>
                </a:lnTo>
                <a:lnTo>
                  <a:pt x="218083" y="158750"/>
                </a:lnTo>
                <a:close/>
                <a:moveTo>
                  <a:pt x="254000" y="206375"/>
                </a:moveTo>
                <a:cubicBezTo>
                  <a:pt x="222796" y="206375"/>
                  <a:pt x="196850" y="189508"/>
                  <a:pt x="191492" y="167233"/>
                </a:cubicBezTo>
                <a:cubicBezTo>
                  <a:pt x="190202" y="161776"/>
                  <a:pt x="191988" y="156170"/>
                  <a:pt x="194816" y="151309"/>
                </a:cubicBezTo>
                <a:lnTo>
                  <a:pt x="242044" y="70346"/>
                </a:lnTo>
                <a:cubicBezTo>
                  <a:pt x="244525" y="66080"/>
                  <a:pt x="249089" y="63500"/>
                  <a:pt x="254000" y="63500"/>
                </a:cubicBezTo>
                <a:cubicBezTo>
                  <a:pt x="258911" y="63500"/>
                  <a:pt x="263475" y="66129"/>
                  <a:pt x="265956" y="70346"/>
                </a:cubicBezTo>
                <a:lnTo>
                  <a:pt x="313184" y="151309"/>
                </a:lnTo>
                <a:cubicBezTo>
                  <a:pt x="316012" y="156170"/>
                  <a:pt x="317798" y="161776"/>
                  <a:pt x="316508" y="167233"/>
                </a:cubicBezTo>
                <a:cubicBezTo>
                  <a:pt x="311150" y="189458"/>
                  <a:pt x="285204" y="206375"/>
                  <a:pt x="254000" y="206375"/>
                </a:cubicBezTo>
                <a:close/>
                <a:moveTo>
                  <a:pt x="62905" y="97135"/>
                </a:moveTo>
                <a:lnTo>
                  <a:pt x="26988" y="158750"/>
                </a:lnTo>
                <a:lnTo>
                  <a:pt x="98871" y="158750"/>
                </a:lnTo>
                <a:lnTo>
                  <a:pt x="62905" y="97135"/>
                </a:lnTo>
                <a:close/>
                <a:moveTo>
                  <a:pt x="446" y="167233"/>
                </a:moveTo>
                <a:cubicBezTo>
                  <a:pt x="-843" y="161776"/>
                  <a:pt x="943" y="156170"/>
                  <a:pt x="3770" y="151309"/>
                </a:cubicBezTo>
                <a:lnTo>
                  <a:pt x="50998" y="70346"/>
                </a:lnTo>
                <a:cubicBezTo>
                  <a:pt x="53479" y="66080"/>
                  <a:pt x="58043" y="63500"/>
                  <a:pt x="62954" y="63500"/>
                </a:cubicBezTo>
                <a:cubicBezTo>
                  <a:pt x="67866" y="63500"/>
                  <a:pt x="72430" y="66129"/>
                  <a:pt x="74910" y="70346"/>
                </a:cubicBezTo>
                <a:lnTo>
                  <a:pt x="122138" y="151309"/>
                </a:lnTo>
                <a:cubicBezTo>
                  <a:pt x="124966" y="156170"/>
                  <a:pt x="126752" y="161776"/>
                  <a:pt x="125462" y="167233"/>
                </a:cubicBezTo>
                <a:cubicBezTo>
                  <a:pt x="120104" y="189458"/>
                  <a:pt x="94159" y="206375"/>
                  <a:pt x="62954" y="206375"/>
                </a:cubicBezTo>
                <a:cubicBezTo>
                  <a:pt x="31750" y="206375"/>
                  <a:pt x="5804" y="189508"/>
                  <a:pt x="446" y="167233"/>
                </a:cubicBezTo>
                <a:close/>
              </a:path>
            </a:pathLst>
          </a:custGeom>
          <a:solidFill>
            <a:srgbClr val="000000"/>
          </a:solidFill>
          <a:ln/>
        </p:spPr>
      </p:sp>
      <p:sp>
        <p:nvSpPr>
          <p:cNvPr id="21" name="Text 18"/>
          <p:cNvSpPr/>
          <p:nvPr/>
        </p:nvSpPr>
        <p:spPr>
          <a:xfrm>
            <a:off x="2743200" y="4548717"/>
            <a:ext cx="1642533" cy="270933"/>
          </a:xfrm>
          <a:prstGeom prst="rect">
            <a:avLst/>
          </a:prstGeom>
          <a:noFill/>
          <a:ln/>
        </p:spPr>
        <p:txBody>
          <a:bodyPr wrap="square" lIns="0" tIns="0" rIns="0" bIns="0" rtlCol="0" anchor="ctr"/>
          <a:lstStyle/>
          <a:p>
            <a:pPr>
              <a:lnSpc>
                <a:spcPct val="110000"/>
              </a:lnSpc>
            </a:pPr>
            <a:r>
              <a:rPr lang="en-US" sz="1600" b="1" dirty="0">
                <a:solidFill>
                  <a:srgbClr val="DDFF00"/>
                </a:solidFill>
                <a:latin typeface="Liter" pitchFamily="34" charset="0"/>
                <a:ea typeface="Liter" pitchFamily="34" charset="-122"/>
                <a:cs typeface="Liter" pitchFamily="34" charset="-120"/>
              </a:rPr>
              <a:t>Legal Framework</a:t>
            </a:r>
            <a:endParaRPr lang="en-US" sz="1600" dirty="0"/>
          </a:p>
        </p:txBody>
      </p:sp>
      <p:sp>
        <p:nvSpPr>
          <p:cNvPr id="22" name="Text 19"/>
          <p:cNvSpPr/>
          <p:nvPr/>
        </p:nvSpPr>
        <p:spPr>
          <a:xfrm>
            <a:off x="2065867" y="5090583"/>
            <a:ext cx="3674533" cy="829733"/>
          </a:xfrm>
          <a:prstGeom prst="rect">
            <a:avLst/>
          </a:prstGeom>
          <a:noFill/>
          <a:ln/>
        </p:spPr>
        <p:txBody>
          <a:bodyPr wrap="square" lIns="0" tIns="0" rIns="0" bIns="0" rtlCol="0" anchor="ctr"/>
          <a:lstStyle/>
          <a:p>
            <a:pPr>
              <a:lnSpc>
                <a:spcPct val="140000"/>
              </a:lnSpc>
            </a:pPr>
            <a:r>
              <a:rPr lang="en-US" sz="1333" dirty="0">
                <a:solidFill>
                  <a:srgbClr val="FFFFFF"/>
                </a:solidFill>
                <a:latin typeface="Liter" pitchFamily="34" charset="0"/>
                <a:ea typeface="Liter" pitchFamily="34" charset="-122"/>
                <a:cs typeface="Liter" pitchFamily="34" charset="-120"/>
              </a:rPr>
              <a:t>A strong legal framework </a:t>
            </a:r>
            <a:pPr>
              <a:lnSpc>
                <a:spcPct val="140000"/>
              </a:lnSpc>
            </a:pPr>
            <a:r>
              <a:rPr lang="en-US" sz="1333" dirty="0">
                <a:solidFill>
                  <a:srgbClr val="DDFF00"/>
                </a:solidFill>
                <a:highlight>
                  <a:srgbClr val="DDFF00">
                    <a:alpha val="20000"/>
                  </a:srgbClr>
                </a:highlight>
                <a:latin typeface="Liter" pitchFamily="34" charset="0"/>
                <a:ea typeface="Liter" pitchFamily="34" charset="-122"/>
                <a:cs typeface="Liter" pitchFamily="34" charset="-120"/>
              </a:rPr>
              <a:t>ensures safe digital transformation </a:t>
            </a:r>
            <a:pPr>
              <a:lnSpc>
                <a:spcPct val="140000"/>
              </a:lnSpc>
            </a:pPr>
            <a:r>
              <a:rPr lang="en-US" sz="1333" dirty="0">
                <a:solidFill>
                  <a:srgbClr val="FFFFFF"/>
                </a:solidFill>
                <a:latin typeface="Liter" pitchFamily="34" charset="0"/>
                <a:ea typeface="Liter" pitchFamily="34" charset="-122"/>
                <a:cs typeface="Liter" pitchFamily="34" charset="-120"/>
              </a:rPr>
              <a:t>, building trust and confidence in digital ecosystems.</a:t>
            </a:r>
            <a:endParaRPr lang="en-US" sz="1600" dirty="0"/>
          </a:p>
        </p:txBody>
      </p:sp>
      <p:sp>
        <p:nvSpPr>
          <p:cNvPr id="23" name="Shape 20"/>
          <p:cNvSpPr/>
          <p:nvPr/>
        </p:nvSpPr>
        <p:spPr>
          <a:xfrm>
            <a:off x="6248400" y="4125383"/>
            <a:ext cx="4165600" cy="2082800"/>
          </a:xfrm>
          <a:custGeom>
            <a:avLst/>
            <a:gdLst/>
            <a:ahLst/>
            <a:cxnLst/>
            <a:rect l="l" t="t" r="r" b="b"/>
            <a:pathLst>
              <a:path w="4165600" h="2082800">
                <a:moveTo>
                  <a:pt x="0" y="0"/>
                </a:moveTo>
                <a:lnTo>
                  <a:pt x="4165600" y="0"/>
                </a:lnTo>
                <a:lnTo>
                  <a:pt x="4165600" y="2082800"/>
                </a:lnTo>
                <a:lnTo>
                  <a:pt x="0" y="2082800"/>
                </a:lnTo>
                <a:lnTo>
                  <a:pt x="0" y="0"/>
                </a:lnTo>
                <a:close/>
              </a:path>
            </a:pathLst>
          </a:custGeom>
          <a:solidFill>
            <a:srgbClr val="111111">
              <a:alpha val="90196"/>
            </a:srgbClr>
          </a:solidFill>
          <a:ln w="50800">
            <a:solidFill>
              <a:srgbClr val="DDFF00"/>
            </a:solidFill>
            <a:prstDash val="solid"/>
          </a:ln>
        </p:spPr>
      </p:sp>
      <p:sp>
        <p:nvSpPr>
          <p:cNvPr id="24" name="Shape 21"/>
          <p:cNvSpPr/>
          <p:nvPr/>
        </p:nvSpPr>
        <p:spPr>
          <a:xfrm>
            <a:off x="6536267" y="4413250"/>
            <a:ext cx="541867" cy="541867"/>
          </a:xfrm>
          <a:custGeom>
            <a:avLst/>
            <a:gdLst/>
            <a:ahLst/>
            <a:cxnLst/>
            <a:rect l="l" t="t" r="r" b="b"/>
            <a:pathLst>
              <a:path w="541867" h="541867">
                <a:moveTo>
                  <a:pt x="0" y="0"/>
                </a:moveTo>
                <a:lnTo>
                  <a:pt x="541867" y="0"/>
                </a:lnTo>
                <a:lnTo>
                  <a:pt x="541867" y="541867"/>
                </a:lnTo>
                <a:lnTo>
                  <a:pt x="0" y="541867"/>
                </a:lnTo>
                <a:lnTo>
                  <a:pt x="0" y="0"/>
                </a:lnTo>
                <a:close/>
              </a:path>
            </a:pathLst>
          </a:custGeom>
          <a:solidFill>
            <a:srgbClr val="DDFF00"/>
          </a:solidFill>
          <a:ln/>
        </p:spPr>
      </p:sp>
      <p:sp>
        <p:nvSpPr>
          <p:cNvPr id="25" name="Shape 22"/>
          <p:cNvSpPr/>
          <p:nvPr/>
        </p:nvSpPr>
        <p:spPr>
          <a:xfrm>
            <a:off x="6682317" y="4557183"/>
            <a:ext cx="254000" cy="254000"/>
          </a:xfrm>
          <a:custGeom>
            <a:avLst/>
            <a:gdLst/>
            <a:ahLst/>
            <a:cxnLst/>
            <a:rect l="l" t="t" r="r" b="b"/>
            <a:pathLst>
              <a:path w="254000" h="254000">
                <a:moveTo>
                  <a:pt x="63500" y="158750"/>
                </a:moveTo>
                <a:lnTo>
                  <a:pt x="12154" y="158750"/>
                </a:lnTo>
                <a:cubicBezTo>
                  <a:pt x="-198" y="158750"/>
                  <a:pt x="-7789" y="145306"/>
                  <a:pt x="-1439" y="134689"/>
                </a:cubicBezTo>
                <a:lnTo>
                  <a:pt x="24805" y="90934"/>
                </a:lnTo>
                <a:cubicBezTo>
                  <a:pt x="29121" y="83741"/>
                  <a:pt x="36860" y="79375"/>
                  <a:pt x="45244" y="79375"/>
                </a:cubicBezTo>
                <a:lnTo>
                  <a:pt x="92373" y="79375"/>
                </a:lnTo>
                <a:cubicBezTo>
                  <a:pt x="130125" y="15429"/>
                  <a:pt x="186432" y="12204"/>
                  <a:pt x="224086" y="17711"/>
                </a:cubicBezTo>
                <a:cubicBezTo>
                  <a:pt x="230436" y="18653"/>
                  <a:pt x="235396" y="23614"/>
                  <a:pt x="236289" y="29914"/>
                </a:cubicBezTo>
                <a:cubicBezTo>
                  <a:pt x="241796" y="67568"/>
                  <a:pt x="238571" y="123875"/>
                  <a:pt x="174625" y="161627"/>
                </a:cubicBezTo>
                <a:lnTo>
                  <a:pt x="174625" y="208756"/>
                </a:lnTo>
                <a:cubicBezTo>
                  <a:pt x="174625" y="217140"/>
                  <a:pt x="170259" y="224879"/>
                  <a:pt x="163066" y="229195"/>
                </a:cubicBezTo>
                <a:lnTo>
                  <a:pt x="119311" y="255439"/>
                </a:lnTo>
                <a:cubicBezTo>
                  <a:pt x="108744" y="261789"/>
                  <a:pt x="95250" y="254149"/>
                  <a:pt x="95250" y="241846"/>
                </a:cubicBezTo>
                <a:lnTo>
                  <a:pt x="95250" y="190500"/>
                </a:lnTo>
                <a:cubicBezTo>
                  <a:pt x="95250" y="172988"/>
                  <a:pt x="81012" y="158750"/>
                  <a:pt x="63500" y="158750"/>
                </a:cubicBezTo>
                <a:lnTo>
                  <a:pt x="63450" y="158750"/>
                </a:lnTo>
                <a:close/>
                <a:moveTo>
                  <a:pt x="198438" y="79375"/>
                </a:moveTo>
                <a:cubicBezTo>
                  <a:pt x="198438" y="66233"/>
                  <a:pt x="187767" y="55563"/>
                  <a:pt x="174625" y="55563"/>
                </a:cubicBezTo>
                <a:cubicBezTo>
                  <a:pt x="161483" y="55563"/>
                  <a:pt x="150813" y="66233"/>
                  <a:pt x="150813" y="79375"/>
                </a:cubicBezTo>
                <a:cubicBezTo>
                  <a:pt x="150813" y="92517"/>
                  <a:pt x="161483" y="103188"/>
                  <a:pt x="174625" y="103188"/>
                </a:cubicBezTo>
                <a:cubicBezTo>
                  <a:pt x="187767" y="103188"/>
                  <a:pt x="198438" y="92517"/>
                  <a:pt x="198438" y="79375"/>
                </a:cubicBezTo>
                <a:close/>
              </a:path>
            </a:pathLst>
          </a:custGeom>
          <a:solidFill>
            <a:srgbClr val="000000"/>
          </a:solidFill>
          <a:ln/>
        </p:spPr>
      </p:sp>
      <p:sp>
        <p:nvSpPr>
          <p:cNvPr id="26" name="Text 23"/>
          <p:cNvSpPr/>
          <p:nvPr/>
        </p:nvSpPr>
        <p:spPr>
          <a:xfrm>
            <a:off x="7213600" y="4548717"/>
            <a:ext cx="1286933" cy="270933"/>
          </a:xfrm>
          <a:prstGeom prst="rect">
            <a:avLst/>
          </a:prstGeom>
          <a:noFill/>
          <a:ln/>
        </p:spPr>
        <p:txBody>
          <a:bodyPr wrap="square" lIns="0" tIns="0" rIns="0" bIns="0" rtlCol="0" anchor="ctr"/>
          <a:lstStyle/>
          <a:p>
            <a:pPr>
              <a:lnSpc>
                <a:spcPct val="110000"/>
              </a:lnSpc>
            </a:pPr>
            <a:r>
              <a:rPr lang="en-US" sz="1600" b="1" dirty="0">
                <a:solidFill>
                  <a:srgbClr val="DDFF00"/>
                </a:solidFill>
                <a:latin typeface="Liter" pitchFamily="34" charset="0"/>
                <a:ea typeface="Liter" pitchFamily="34" charset="-122"/>
                <a:cs typeface="Liter" pitchFamily="34" charset="-120"/>
              </a:rPr>
              <a:t>Future Vision</a:t>
            </a:r>
            <a:endParaRPr lang="en-US" sz="1600" dirty="0"/>
          </a:p>
        </p:txBody>
      </p:sp>
      <p:sp>
        <p:nvSpPr>
          <p:cNvPr id="27" name="Text 24"/>
          <p:cNvSpPr/>
          <p:nvPr/>
        </p:nvSpPr>
        <p:spPr>
          <a:xfrm>
            <a:off x="6536267" y="5090583"/>
            <a:ext cx="3674533" cy="829733"/>
          </a:xfrm>
          <a:prstGeom prst="rect">
            <a:avLst/>
          </a:prstGeom>
          <a:noFill/>
          <a:ln/>
        </p:spPr>
        <p:txBody>
          <a:bodyPr wrap="square" lIns="0" tIns="0" rIns="0" bIns="0" rtlCol="0" anchor="ctr"/>
          <a:lstStyle/>
          <a:p>
            <a:pPr>
              <a:lnSpc>
                <a:spcPct val="140000"/>
              </a:lnSpc>
            </a:pPr>
            <a:r>
              <a:rPr lang="en-US" sz="1333" dirty="0">
                <a:solidFill>
                  <a:srgbClr val="FFFFFF"/>
                </a:solidFill>
                <a:latin typeface="Liter" pitchFamily="34" charset="0"/>
                <a:ea typeface="Liter" pitchFamily="34" charset="-122"/>
                <a:cs typeface="Liter" pitchFamily="34" charset="-120"/>
              </a:rPr>
              <a:t>Our future depends on </a:t>
            </a:r>
            <a:pPr>
              <a:lnSpc>
                <a:spcPct val="140000"/>
              </a:lnSpc>
            </a:pPr>
            <a:r>
              <a:rPr lang="en-US" sz="1333" dirty="0">
                <a:solidFill>
                  <a:srgbClr val="DDFF00"/>
                </a:solidFill>
                <a:highlight>
                  <a:srgbClr val="DDFF00">
                    <a:alpha val="20000"/>
                  </a:srgbClr>
                </a:highlight>
                <a:latin typeface="Liter" pitchFamily="34" charset="0"/>
                <a:ea typeface="Liter" pitchFamily="34" charset="-122"/>
                <a:cs typeface="Liter" pitchFamily="34" charset="-120"/>
              </a:rPr>
              <a:t>secure, trusted digital ecosystems </a:t>
            </a:r>
            <a:pPr>
              <a:lnSpc>
                <a:spcPct val="140000"/>
              </a:lnSpc>
            </a:pPr>
            <a:r>
              <a:rPr lang="en-US" sz="1333" dirty="0">
                <a:solidFill>
                  <a:srgbClr val="FFFFFF"/>
                </a:solidFill>
                <a:latin typeface="Liter" pitchFamily="34" charset="0"/>
                <a:ea typeface="Liter" pitchFamily="34" charset="-122"/>
                <a:cs typeface="Liter" pitchFamily="34" charset="-120"/>
              </a:rPr>
              <a:t>that balance innovation with protection.</a:t>
            </a:r>
            <a:endParaRPr lang="en-US" sz="1600" dirty="0"/>
          </a:p>
        </p:txBody>
      </p:sp>
      <p:sp>
        <p:nvSpPr>
          <p:cNvPr id="28" name="Shape 25"/>
          <p:cNvSpPr/>
          <p:nvPr/>
        </p:nvSpPr>
        <p:spPr>
          <a:xfrm>
            <a:off x="3651009" y="6559550"/>
            <a:ext cx="4817533" cy="677333"/>
          </a:xfrm>
          <a:custGeom>
            <a:avLst/>
            <a:gdLst/>
            <a:ahLst/>
            <a:cxnLst/>
            <a:rect l="l" t="t" r="r" b="b"/>
            <a:pathLst>
              <a:path w="4817533" h="677333">
                <a:moveTo>
                  <a:pt x="0" y="0"/>
                </a:moveTo>
                <a:lnTo>
                  <a:pt x="4817533" y="0"/>
                </a:lnTo>
                <a:lnTo>
                  <a:pt x="4817533" y="677333"/>
                </a:lnTo>
                <a:lnTo>
                  <a:pt x="0" y="677333"/>
                </a:lnTo>
                <a:lnTo>
                  <a:pt x="0" y="0"/>
                </a:lnTo>
                <a:close/>
              </a:path>
            </a:pathLst>
          </a:custGeom>
          <a:solidFill>
            <a:srgbClr val="DDFF00"/>
          </a:solidFill>
          <a:ln/>
        </p:spPr>
      </p:sp>
      <p:sp>
        <p:nvSpPr>
          <p:cNvPr id="29" name="Shape 26"/>
          <p:cNvSpPr/>
          <p:nvPr/>
        </p:nvSpPr>
        <p:spPr>
          <a:xfrm>
            <a:off x="4118398" y="6789845"/>
            <a:ext cx="203200" cy="203200"/>
          </a:xfrm>
          <a:custGeom>
            <a:avLst/>
            <a:gdLst/>
            <a:ahLst/>
            <a:cxnLst/>
            <a:rect l="l" t="t" r="r" b="b"/>
            <a:pathLst>
              <a:path w="203200" h="203200">
                <a:moveTo>
                  <a:pt x="101600" y="0"/>
                </a:moveTo>
                <a:cubicBezTo>
                  <a:pt x="103426" y="0"/>
                  <a:pt x="105251" y="397"/>
                  <a:pt x="106918" y="1151"/>
                </a:cubicBezTo>
                <a:lnTo>
                  <a:pt x="181689" y="32861"/>
                </a:lnTo>
                <a:cubicBezTo>
                  <a:pt x="190421" y="36552"/>
                  <a:pt x="196929" y="45164"/>
                  <a:pt x="196890" y="55563"/>
                </a:cubicBezTo>
                <a:cubicBezTo>
                  <a:pt x="196691" y="94932"/>
                  <a:pt x="180499" y="166965"/>
                  <a:pt x="112117" y="199708"/>
                </a:cubicBezTo>
                <a:cubicBezTo>
                  <a:pt x="105489" y="202883"/>
                  <a:pt x="97790" y="202883"/>
                  <a:pt x="91162" y="199708"/>
                </a:cubicBezTo>
                <a:cubicBezTo>
                  <a:pt x="22741" y="166965"/>
                  <a:pt x="6588" y="94932"/>
                  <a:pt x="6390" y="55563"/>
                </a:cubicBezTo>
                <a:cubicBezTo>
                  <a:pt x="6350" y="45164"/>
                  <a:pt x="12859" y="36552"/>
                  <a:pt x="21590" y="32861"/>
                </a:cubicBezTo>
                <a:lnTo>
                  <a:pt x="96322" y="1151"/>
                </a:lnTo>
                <a:cubicBezTo>
                  <a:pt x="97988" y="397"/>
                  <a:pt x="99774" y="0"/>
                  <a:pt x="101600" y="0"/>
                </a:cubicBezTo>
                <a:close/>
                <a:moveTo>
                  <a:pt x="101600" y="26511"/>
                </a:moveTo>
                <a:lnTo>
                  <a:pt x="101600" y="176570"/>
                </a:lnTo>
                <a:cubicBezTo>
                  <a:pt x="156369" y="150058"/>
                  <a:pt x="171093" y="91321"/>
                  <a:pt x="171450" y="56158"/>
                </a:cubicBezTo>
                <a:lnTo>
                  <a:pt x="101600" y="26551"/>
                </a:lnTo>
                <a:lnTo>
                  <a:pt x="101600" y="26551"/>
                </a:lnTo>
                <a:close/>
              </a:path>
            </a:pathLst>
          </a:custGeom>
          <a:solidFill>
            <a:srgbClr val="000000"/>
          </a:solidFill>
          <a:ln/>
        </p:spPr>
      </p:sp>
      <p:sp>
        <p:nvSpPr>
          <p:cNvPr id="30" name="Text 27"/>
          <p:cNvSpPr/>
          <p:nvPr/>
        </p:nvSpPr>
        <p:spPr>
          <a:xfrm>
            <a:off x="4363932" y="6762750"/>
            <a:ext cx="3784600" cy="270933"/>
          </a:xfrm>
          <a:prstGeom prst="rect">
            <a:avLst/>
          </a:prstGeom>
          <a:noFill/>
          <a:ln/>
        </p:spPr>
        <p:txBody>
          <a:bodyPr wrap="square" lIns="0" tIns="0" rIns="0" bIns="0" rtlCol="0" anchor="ctr"/>
          <a:lstStyle/>
          <a:p>
            <a:pPr algn="ctr">
              <a:lnSpc>
                <a:spcPct val="110000"/>
              </a:lnSpc>
            </a:pPr>
            <a:r>
              <a:rPr lang="en-US" sz="1600" b="1" dirty="0">
                <a:solidFill>
                  <a:srgbClr val="000000"/>
                </a:solidFill>
                <a:latin typeface="Liter" pitchFamily="34" charset="0"/>
                <a:ea typeface="Liter" pitchFamily="34" charset="-122"/>
                <a:cs typeface="Liter" pitchFamily="34" charset="-120"/>
              </a:rPr>
              <a:t>Secure • Comply • Grow • Transform</a:t>
            </a:r>
            <a:endParaRPr lang="en-US" sz="1600" dirty="0"/>
          </a:p>
        </p:txBody>
      </p:sp>
    </p:spTree>
  </p:cSld>
  <p:clrMapOvr>
    <a:masterClrMapping/>
  </p:clrMapOvr>
  <p:transition>
    <p:fade/>
    <p:spd val="med"/>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 Laws &amp; Digital Security</dc:title>
  <dc:subject>Cyber Laws &amp; Digital Security</dc:subject>
  <dc:creator>Kimi</dc:creator>
  <cp:lastModifiedBy>Kimi</cp:lastModifiedBy>
  <cp:revision>1</cp:revision>
  <dcterms:created xsi:type="dcterms:W3CDTF">2026-02-19T14:16:28Z</dcterms:created>
  <dcterms:modified xsi:type="dcterms:W3CDTF">2026-02-19T14:16:28Z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{"Label":"Cyber Laws &amp; Digital Security","ContentProducer":"001191110108MACG2KBH8F10000","ProduceID":"19c7633f-f8e2-8012-8000-0000a7247b81","ReservedCode1":"","ContentPropagator":"001191110108MACG2KBH8F20000","PropagateID":"19c7633f-f8e2-8012-8000-0000a7247b81","ReservedCode2":""}</vt:lpwstr>
  </property>
</Properties>
</file>